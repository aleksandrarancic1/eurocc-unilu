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Lst>
  <p:sldIdLst>
    <p:sldId id="256" r:id="rId2"/>
    <p:sldId id="258" r:id="rId3"/>
    <p:sldId id="259" r:id="rId4"/>
    <p:sldId id="260" r:id="rId5"/>
    <p:sldId id="261" r:id="rId6"/>
    <p:sldId id="262" r:id="rId7"/>
    <p:sldId id="265" r:id="rId8"/>
    <p:sldId id="263" r:id="rId9"/>
    <p:sldId id="267" r:id="rId10"/>
    <p:sldId id="268" r:id="rId11"/>
    <p:sldId id="269" r:id="rId12"/>
    <p:sldId id="266" r:id="rId13"/>
    <p:sldId id="264"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3" r:id="rId47"/>
    <p:sldId id="305" r:id="rId48"/>
    <p:sldId id="302" r:id="rId49"/>
  </p:sldIdLst>
  <p:sldSz cx="12192000" cy="6858000"/>
  <p:notesSz cx="6858000" cy="9144000"/>
  <p:defaultTextStyle>
    <a:defPPr>
      <a:defRPr lang="en-L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737"/>
    <p:restoredTop sz="94635"/>
  </p:normalViewPr>
  <p:slideViewPr>
    <p:cSldViewPr snapToGrid="0">
      <p:cViewPr>
        <p:scale>
          <a:sx n="55" d="100"/>
          <a:sy n="55" d="100"/>
        </p:scale>
        <p:origin x="208" y="15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3/4/26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948330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3/4/26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898440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3/4/26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123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3/4/26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314492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3/4/26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31544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3/4/26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27616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3/4/26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27265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3/4/26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411388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3/4/26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5808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3/4/26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70227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3/4/26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4895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3/4/26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78749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5" r:id="rId6"/>
    <p:sldLayoutId id="2147483680" r:id="rId7"/>
    <p:sldLayoutId id="2147483681" r:id="rId8"/>
    <p:sldLayoutId id="2147483682" r:id="rId9"/>
    <p:sldLayoutId id="2147483684" r:id="rId10"/>
    <p:sldLayoutId id="2147483683"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455B193-DA94-CA8E-4740-E4708F0E058A}"/>
              </a:ext>
            </a:extLst>
          </p:cNvPr>
          <p:cNvPicPr>
            <a:picLocks noChangeAspect="1"/>
          </p:cNvPicPr>
          <p:nvPr/>
        </p:nvPicPr>
        <p:blipFill>
          <a:blip r:embed="rId2"/>
          <a:srcRect t="6209" b="18792"/>
          <a:stretch>
            <a:fillRect/>
          </a:stretch>
        </p:blipFill>
        <p:spPr>
          <a:xfrm>
            <a:off x="-406" y="0"/>
            <a:ext cx="12191979" cy="6857990"/>
          </a:xfrm>
          <a:prstGeom prst="rect">
            <a:avLst/>
          </a:prstGeom>
        </p:spPr>
      </p:pic>
      <p:sp>
        <p:nvSpPr>
          <p:cNvPr id="20" name="Rectangle 19">
            <a:extLst>
              <a:ext uri="{FF2B5EF4-FFF2-40B4-BE49-F238E27FC236}">
                <a16:creationId xmlns:a16="http://schemas.microsoft.com/office/drawing/2014/main" id="{9E9D00D9-C4F5-471E-BE2C-126CB112A6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9DED25-5A65-FB8B-0B22-FDF487E3EDEF}"/>
              </a:ext>
            </a:extLst>
          </p:cNvPr>
          <p:cNvSpPr>
            <a:spLocks noGrp="1"/>
          </p:cNvSpPr>
          <p:nvPr>
            <p:ph type="ctrTitle"/>
          </p:nvPr>
        </p:nvSpPr>
        <p:spPr>
          <a:xfrm>
            <a:off x="640080" y="914400"/>
            <a:ext cx="4892948" cy="3427867"/>
          </a:xfrm>
        </p:spPr>
        <p:txBody>
          <a:bodyPr anchor="t">
            <a:normAutofit/>
          </a:bodyPr>
          <a:lstStyle/>
          <a:p>
            <a:pPr>
              <a:lnSpc>
                <a:spcPct val="90000"/>
              </a:lnSpc>
            </a:pPr>
            <a:r>
              <a:rPr lang="en-LU" sz="4800" dirty="0"/>
              <a:t>Accelerating Generative Adversarial Networks with HPC</a:t>
            </a:r>
          </a:p>
        </p:txBody>
      </p:sp>
      <p:sp>
        <p:nvSpPr>
          <p:cNvPr id="3" name="Subtitle 2">
            <a:extLst>
              <a:ext uri="{FF2B5EF4-FFF2-40B4-BE49-F238E27FC236}">
                <a16:creationId xmlns:a16="http://schemas.microsoft.com/office/drawing/2014/main" id="{07E5D42D-6A5C-008F-3389-E505949F93D5}"/>
              </a:ext>
            </a:extLst>
          </p:cNvPr>
          <p:cNvSpPr>
            <a:spLocks noGrp="1"/>
          </p:cNvSpPr>
          <p:nvPr>
            <p:ph type="subTitle" idx="1"/>
          </p:nvPr>
        </p:nvSpPr>
        <p:spPr>
          <a:xfrm>
            <a:off x="650970" y="5253051"/>
            <a:ext cx="4892948" cy="812923"/>
          </a:xfrm>
        </p:spPr>
        <p:txBody>
          <a:bodyPr anchor="t">
            <a:normAutofit/>
          </a:bodyPr>
          <a:lstStyle/>
          <a:p>
            <a:r>
              <a:rPr lang="en-LU" dirty="0">
                <a:solidFill>
                  <a:srgbClr val="FFFFFF"/>
                </a:solidFill>
              </a:rPr>
              <a:t>EUROCC2 training</a:t>
            </a:r>
          </a:p>
        </p:txBody>
      </p:sp>
      <p:cxnSp>
        <p:nvCxnSpPr>
          <p:cNvPr id="22" name="Straight Connector 21">
            <a:extLst>
              <a:ext uri="{FF2B5EF4-FFF2-40B4-BE49-F238E27FC236}">
                <a16:creationId xmlns:a16="http://schemas.microsoft.com/office/drawing/2014/main" id="{97CC2FE6-3AD0-4131-B4BC-1F4D65E25E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209" y="48612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766560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70713-694A-4934-ADF9-EB7E27E22996}"/>
              </a:ext>
            </a:extLst>
          </p:cNvPr>
          <p:cNvSpPr>
            <a:spLocks noGrp="1"/>
          </p:cNvSpPr>
          <p:nvPr>
            <p:ph type="title"/>
          </p:nvPr>
        </p:nvSpPr>
        <p:spPr/>
        <p:txBody>
          <a:bodyPr/>
          <a:lstStyle/>
          <a:p>
            <a:r>
              <a:rPr lang="en-LU" dirty="0"/>
              <a:t>Generative Models</a:t>
            </a:r>
          </a:p>
        </p:txBody>
      </p:sp>
      <p:sp>
        <p:nvSpPr>
          <p:cNvPr id="3" name="Content Placeholder 2">
            <a:extLst>
              <a:ext uri="{FF2B5EF4-FFF2-40B4-BE49-F238E27FC236}">
                <a16:creationId xmlns:a16="http://schemas.microsoft.com/office/drawing/2014/main" id="{997CB826-3F0B-E9AF-74A8-0AA2964CC88D}"/>
              </a:ext>
            </a:extLst>
          </p:cNvPr>
          <p:cNvSpPr>
            <a:spLocks noGrp="1"/>
          </p:cNvSpPr>
          <p:nvPr>
            <p:ph idx="1"/>
          </p:nvPr>
        </p:nvSpPr>
        <p:spPr>
          <a:xfrm>
            <a:off x="640080" y="2212848"/>
            <a:ext cx="10890928" cy="4407408"/>
          </a:xfrm>
        </p:spPr>
        <p:txBody>
          <a:bodyPr/>
          <a:lstStyle/>
          <a:p>
            <a:pPr marL="0" indent="0">
              <a:buNone/>
            </a:pPr>
            <a:r>
              <a:rPr lang="en-LU" b="1" dirty="0"/>
              <a:t>Generative models aim to learn the underlying probability distribution of data;</a:t>
            </a:r>
          </a:p>
          <a:p>
            <a:pPr marL="0" indent="0">
              <a:buNone/>
            </a:pPr>
            <a:r>
              <a:rPr lang="en-LU" dirty="0"/>
              <a:t>The aim is to generate </a:t>
            </a:r>
            <a:r>
              <a:rPr lang="en-LU" b="1" dirty="0"/>
              <a:t>new, previously unseen </a:t>
            </a:r>
            <a:r>
              <a:rPr lang="en-LU" dirty="0"/>
              <a:t>samples that resemble the training data.</a:t>
            </a:r>
          </a:p>
          <a:p>
            <a:pPr marL="0" indent="0">
              <a:buNone/>
            </a:pPr>
            <a:r>
              <a:rPr lang="en-LU" dirty="0"/>
              <a:t>Discriminative models predict labels; Generative models attempt </a:t>
            </a:r>
            <a:r>
              <a:rPr lang="en-LU" b="1" dirty="0"/>
              <a:t>to model the structure </a:t>
            </a:r>
            <a:r>
              <a:rPr lang="en-LU" dirty="0"/>
              <a:t>and </a:t>
            </a:r>
            <a:r>
              <a:rPr lang="en-LU" b="1" dirty="0"/>
              <a:t>variability</a:t>
            </a:r>
            <a:r>
              <a:rPr lang="en-LU" dirty="0"/>
              <a:t> of the data itself.</a:t>
            </a:r>
          </a:p>
          <a:p>
            <a:pPr marL="0" indent="0">
              <a:buNone/>
            </a:pPr>
            <a:r>
              <a:rPr lang="en-LU" b="1" dirty="0"/>
              <a:t>What is a Generative Model?</a:t>
            </a:r>
          </a:p>
          <a:p>
            <a:r>
              <a:rPr lang="en-LU" dirty="0"/>
              <a:t>Learns the probability distribution of data P(x) or joint distribution P(x, y)</a:t>
            </a:r>
          </a:p>
          <a:p>
            <a:r>
              <a:rPr lang="en-LU" dirty="0"/>
              <a:t>Can generate new synthetic samples</a:t>
            </a:r>
          </a:p>
          <a:p>
            <a:r>
              <a:rPr lang="en-LU" dirty="0"/>
              <a:t>Captures structure, correlations, and variability in data</a:t>
            </a:r>
          </a:p>
          <a:p>
            <a:r>
              <a:rPr lang="en-LU" dirty="0"/>
              <a:t>Works in high-dimensional spaces (images, audio, text, simulation)</a:t>
            </a:r>
          </a:p>
        </p:txBody>
      </p:sp>
    </p:spTree>
    <p:extLst>
      <p:ext uri="{BB962C8B-B14F-4D97-AF65-F5344CB8AC3E}">
        <p14:creationId xmlns:p14="http://schemas.microsoft.com/office/powerpoint/2010/main" val="2370433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4B6D9-C4A8-40EC-609D-BCA906C35E61}"/>
              </a:ext>
            </a:extLst>
          </p:cNvPr>
          <p:cNvSpPr>
            <a:spLocks noGrp="1"/>
          </p:cNvSpPr>
          <p:nvPr>
            <p:ph type="title"/>
          </p:nvPr>
        </p:nvSpPr>
        <p:spPr/>
        <p:txBody>
          <a:bodyPr/>
          <a:lstStyle/>
          <a:p>
            <a:r>
              <a:rPr lang="en-LU" dirty="0"/>
              <a:t>Discriminative vs Generative</a:t>
            </a:r>
          </a:p>
        </p:txBody>
      </p:sp>
      <p:sp>
        <p:nvSpPr>
          <p:cNvPr id="3" name="Content Placeholder 2">
            <a:extLst>
              <a:ext uri="{FF2B5EF4-FFF2-40B4-BE49-F238E27FC236}">
                <a16:creationId xmlns:a16="http://schemas.microsoft.com/office/drawing/2014/main" id="{343FC11A-7C0D-5738-9E0B-ADF39A0BE3D2}"/>
              </a:ext>
            </a:extLst>
          </p:cNvPr>
          <p:cNvSpPr>
            <a:spLocks noGrp="1"/>
          </p:cNvSpPr>
          <p:nvPr>
            <p:ph idx="1"/>
          </p:nvPr>
        </p:nvSpPr>
        <p:spPr>
          <a:xfrm>
            <a:off x="660992" y="2377442"/>
            <a:ext cx="10890928" cy="3566160"/>
          </a:xfrm>
        </p:spPr>
        <p:txBody>
          <a:bodyPr/>
          <a:lstStyle/>
          <a:p>
            <a:r>
              <a:rPr lang="en-LU" dirty="0"/>
              <a:t>Discriminative Models:</a:t>
            </a:r>
          </a:p>
          <a:p>
            <a:pPr lvl="1"/>
            <a:r>
              <a:rPr lang="en-GB" dirty="0"/>
              <a:t>L</a:t>
            </a:r>
            <a:r>
              <a:rPr lang="en-LU" dirty="0"/>
              <a:t>earn P(y/midx)</a:t>
            </a:r>
          </a:p>
          <a:p>
            <a:pPr lvl="1"/>
            <a:r>
              <a:rPr lang="en-GB" dirty="0"/>
              <a:t>F</a:t>
            </a:r>
            <a:r>
              <a:rPr lang="en-LU" dirty="0"/>
              <a:t>ocus on decision boundaries</a:t>
            </a:r>
          </a:p>
          <a:p>
            <a:pPr lvl="1"/>
            <a:r>
              <a:rPr lang="en-GB" dirty="0"/>
              <a:t>E</a:t>
            </a:r>
            <a:r>
              <a:rPr lang="en-LU" dirty="0"/>
              <a:t>xample: image classifier</a:t>
            </a:r>
          </a:p>
          <a:p>
            <a:r>
              <a:rPr lang="en-LU" dirty="0"/>
              <a:t>Generative Models:</a:t>
            </a:r>
          </a:p>
          <a:p>
            <a:pPr lvl="1"/>
            <a:r>
              <a:rPr lang="en-LU" dirty="0"/>
              <a:t>Learn how data is produced</a:t>
            </a:r>
          </a:p>
          <a:p>
            <a:pPr lvl="1"/>
            <a:r>
              <a:rPr lang="en-LU" dirty="0"/>
              <a:t>Model the full data distribution</a:t>
            </a:r>
          </a:p>
          <a:p>
            <a:pPr lvl="1"/>
            <a:r>
              <a:rPr lang="en-GB" dirty="0"/>
              <a:t>E</a:t>
            </a:r>
            <a:r>
              <a:rPr lang="en-LU" dirty="0"/>
              <a:t>nable sampling and synthesis</a:t>
            </a:r>
          </a:p>
        </p:txBody>
      </p:sp>
    </p:spTree>
    <p:extLst>
      <p:ext uri="{BB962C8B-B14F-4D97-AF65-F5344CB8AC3E}">
        <p14:creationId xmlns:p14="http://schemas.microsoft.com/office/powerpoint/2010/main" val="593617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89485-E985-827A-FFA9-0061EE9527A6}"/>
              </a:ext>
            </a:extLst>
          </p:cNvPr>
          <p:cNvSpPr>
            <a:spLocks noGrp="1"/>
          </p:cNvSpPr>
          <p:nvPr>
            <p:ph type="title"/>
          </p:nvPr>
        </p:nvSpPr>
        <p:spPr/>
        <p:txBody>
          <a:bodyPr/>
          <a:lstStyle/>
          <a:p>
            <a:r>
              <a:rPr lang="en-LU" dirty="0"/>
              <a:t>Major Families of Generative Models</a:t>
            </a:r>
          </a:p>
        </p:txBody>
      </p:sp>
      <p:sp>
        <p:nvSpPr>
          <p:cNvPr id="3" name="Content Placeholder 2">
            <a:extLst>
              <a:ext uri="{FF2B5EF4-FFF2-40B4-BE49-F238E27FC236}">
                <a16:creationId xmlns:a16="http://schemas.microsoft.com/office/drawing/2014/main" id="{8D615C2C-C83E-EB8B-1161-D5C1D878F174}"/>
              </a:ext>
            </a:extLst>
          </p:cNvPr>
          <p:cNvSpPr>
            <a:spLocks noGrp="1"/>
          </p:cNvSpPr>
          <p:nvPr>
            <p:ph idx="1"/>
          </p:nvPr>
        </p:nvSpPr>
        <p:spPr>
          <a:xfrm>
            <a:off x="640079" y="2468881"/>
            <a:ext cx="4937760" cy="3566160"/>
          </a:xfrm>
        </p:spPr>
        <p:txBody>
          <a:bodyPr>
            <a:normAutofit/>
          </a:bodyPr>
          <a:lstStyle/>
          <a:p>
            <a:r>
              <a:rPr lang="en-LU" b="1" dirty="0"/>
              <a:t>Autoregressive Models</a:t>
            </a:r>
          </a:p>
          <a:p>
            <a:pPr lvl="1"/>
            <a:r>
              <a:rPr lang="en-LU" dirty="0"/>
              <a:t>Generate data sequentially</a:t>
            </a:r>
          </a:p>
          <a:p>
            <a:pPr lvl="1"/>
            <a:r>
              <a:rPr lang="en-GB" dirty="0"/>
              <a:t>E</a:t>
            </a:r>
            <a:r>
              <a:rPr lang="en-LU" dirty="0"/>
              <a:t>xample: PixelCNN, GPT-style models</a:t>
            </a:r>
          </a:p>
          <a:p>
            <a:pPr lvl="1"/>
            <a:r>
              <a:rPr lang="en-GB" dirty="0"/>
              <a:t>E</a:t>
            </a:r>
            <a:r>
              <a:rPr lang="en-LU" dirty="0"/>
              <a:t>xplicit likelihood modeling</a:t>
            </a:r>
          </a:p>
          <a:p>
            <a:r>
              <a:rPr lang="en-LU" b="1" dirty="0"/>
              <a:t>Variational Autoencoders (VAE)</a:t>
            </a:r>
          </a:p>
          <a:p>
            <a:pPr lvl="1"/>
            <a:r>
              <a:rPr lang="en-LU" dirty="0"/>
              <a:t>Latent variable models</a:t>
            </a:r>
          </a:p>
          <a:p>
            <a:pPr lvl="1"/>
            <a:r>
              <a:rPr lang="en-LU" dirty="0"/>
              <a:t>Probabilistic encoder-decoder structure</a:t>
            </a:r>
          </a:p>
          <a:p>
            <a:pPr lvl="1"/>
            <a:r>
              <a:rPr lang="en-LU" dirty="0"/>
              <a:t>Explicit likelihood approximation</a:t>
            </a:r>
          </a:p>
        </p:txBody>
      </p:sp>
      <p:sp>
        <p:nvSpPr>
          <p:cNvPr id="4" name="TextBox 3">
            <a:extLst>
              <a:ext uri="{FF2B5EF4-FFF2-40B4-BE49-F238E27FC236}">
                <a16:creationId xmlns:a16="http://schemas.microsoft.com/office/drawing/2014/main" id="{BF4817B5-9D28-669A-983D-502EC6839DC9}"/>
              </a:ext>
            </a:extLst>
          </p:cNvPr>
          <p:cNvSpPr txBox="1"/>
          <p:nvPr/>
        </p:nvSpPr>
        <p:spPr>
          <a:xfrm>
            <a:off x="5943600" y="2468881"/>
            <a:ext cx="5888736" cy="3693319"/>
          </a:xfrm>
          <a:prstGeom prst="rect">
            <a:avLst/>
          </a:prstGeom>
          <a:noFill/>
        </p:spPr>
        <p:txBody>
          <a:bodyPr wrap="square" rtlCol="0">
            <a:spAutoFit/>
          </a:bodyPr>
          <a:lstStyle/>
          <a:p>
            <a:pPr marL="285750" indent="-285750">
              <a:buFont typeface="Arial" panose="020B0604020202020204" pitchFamily="34" charset="0"/>
              <a:buChar char="•"/>
            </a:pPr>
            <a:r>
              <a:rPr lang="en-LU" b="1" dirty="0"/>
              <a:t>Flow-based Models</a:t>
            </a:r>
          </a:p>
          <a:p>
            <a:pPr marL="742950" lvl="1" indent="-285750">
              <a:buFont typeface="Arial" panose="020B0604020202020204" pitchFamily="34" charset="0"/>
              <a:buChar char="•"/>
            </a:pPr>
            <a:r>
              <a:rPr lang="en-LU" dirty="0"/>
              <a:t>Invertible transformations</a:t>
            </a:r>
          </a:p>
          <a:p>
            <a:pPr marL="742950" lvl="1" indent="-285750">
              <a:buFont typeface="Arial" panose="020B0604020202020204" pitchFamily="34" charset="0"/>
              <a:buChar char="•"/>
            </a:pPr>
            <a:r>
              <a:rPr lang="en-GB" dirty="0"/>
              <a:t>E</a:t>
            </a:r>
            <a:r>
              <a:rPr lang="en-LU" dirty="0"/>
              <a:t>xact likelihood computation</a:t>
            </a:r>
          </a:p>
          <a:p>
            <a:pPr marL="742950" lvl="1" indent="-285750">
              <a:buFont typeface="Arial" panose="020B0604020202020204" pitchFamily="34" charset="0"/>
              <a:buChar char="•"/>
            </a:pPr>
            <a:r>
              <a:rPr lang="en-LU" dirty="0"/>
              <a:t>structured latent mapping</a:t>
            </a:r>
          </a:p>
          <a:p>
            <a:pPr marL="285750" indent="-285750">
              <a:buFont typeface="Arial" panose="020B0604020202020204" pitchFamily="34" charset="0"/>
              <a:buChar char="•"/>
            </a:pPr>
            <a:r>
              <a:rPr lang="en-LU" b="1" dirty="0"/>
              <a:t>Generative Adversarial Networks (GANs)</a:t>
            </a:r>
          </a:p>
          <a:p>
            <a:pPr marL="742950" lvl="1" indent="-285750">
              <a:buFont typeface="Arial" panose="020B0604020202020204" pitchFamily="34" charset="0"/>
              <a:buChar char="•"/>
            </a:pPr>
            <a:r>
              <a:rPr lang="en-GB" dirty="0"/>
              <a:t>I</a:t>
            </a:r>
            <a:r>
              <a:rPr lang="en-LU" dirty="0"/>
              <a:t>mplicit generative modeling</a:t>
            </a:r>
          </a:p>
          <a:p>
            <a:pPr marL="742950" lvl="1" indent="-285750">
              <a:buFont typeface="Arial" panose="020B0604020202020204" pitchFamily="34" charset="0"/>
              <a:buChar char="•"/>
            </a:pPr>
            <a:r>
              <a:rPr lang="en-GB" dirty="0"/>
              <a:t>N</a:t>
            </a:r>
            <a:r>
              <a:rPr lang="en-LU" dirty="0"/>
              <a:t>o explicit likelihood</a:t>
            </a:r>
          </a:p>
          <a:p>
            <a:pPr marL="742950" lvl="1" indent="-285750">
              <a:buFont typeface="Arial" panose="020B0604020202020204" pitchFamily="34" charset="0"/>
              <a:buChar char="•"/>
            </a:pPr>
            <a:r>
              <a:rPr lang="en-GB" dirty="0"/>
              <a:t>A</a:t>
            </a:r>
            <a:r>
              <a:rPr lang="en-LU" dirty="0"/>
              <a:t>dversarial training mechanism</a:t>
            </a:r>
          </a:p>
          <a:p>
            <a:pPr marL="285750" indent="-285750">
              <a:buFont typeface="Arial" panose="020B0604020202020204" pitchFamily="34" charset="0"/>
              <a:buChar char="•"/>
            </a:pPr>
            <a:r>
              <a:rPr lang="en-LU" b="1" dirty="0"/>
              <a:t>Diffusion Models</a:t>
            </a:r>
          </a:p>
          <a:p>
            <a:pPr marL="742950" lvl="1" indent="-285750">
              <a:buFont typeface="Arial" panose="020B0604020202020204" pitchFamily="34" charset="0"/>
              <a:buChar char="•"/>
            </a:pPr>
            <a:r>
              <a:rPr lang="en-GB" dirty="0"/>
              <a:t>I</a:t>
            </a:r>
            <a:r>
              <a:rPr lang="en-LU" dirty="0"/>
              <a:t>terative denoising process</a:t>
            </a:r>
          </a:p>
          <a:p>
            <a:pPr marL="742950" lvl="1" indent="-285750">
              <a:buFont typeface="Arial" panose="020B0604020202020204" pitchFamily="34" charset="0"/>
              <a:buChar char="•"/>
            </a:pPr>
            <a:r>
              <a:rPr lang="en-GB" dirty="0"/>
              <a:t>S</a:t>
            </a:r>
            <a:r>
              <a:rPr lang="en-LU" dirty="0"/>
              <a:t>trong theoretical foundation</a:t>
            </a:r>
          </a:p>
          <a:p>
            <a:pPr marL="742950" lvl="1" indent="-285750">
              <a:buFont typeface="Arial" panose="020B0604020202020204" pitchFamily="34" charset="0"/>
              <a:buChar char="•"/>
            </a:pPr>
            <a:r>
              <a:rPr lang="en-GB" dirty="0"/>
              <a:t>C</a:t>
            </a:r>
            <a:r>
              <a:rPr lang="en-LU" dirty="0"/>
              <a:t>urrently dominant in high-fidelity generation</a:t>
            </a:r>
          </a:p>
          <a:p>
            <a:endParaRPr lang="en-LU" dirty="0"/>
          </a:p>
        </p:txBody>
      </p:sp>
    </p:spTree>
    <p:extLst>
      <p:ext uri="{BB962C8B-B14F-4D97-AF65-F5344CB8AC3E}">
        <p14:creationId xmlns:p14="http://schemas.microsoft.com/office/powerpoint/2010/main" val="373555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D001D-D17F-0756-49E3-0D6C2C547AF7}"/>
              </a:ext>
            </a:extLst>
          </p:cNvPr>
          <p:cNvSpPr>
            <a:spLocks noGrp="1"/>
          </p:cNvSpPr>
          <p:nvPr>
            <p:ph type="title"/>
          </p:nvPr>
        </p:nvSpPr>
        <p:spPr/>
        <p:txBody>
          <a:bodyPr/>
          <a:lstStyle/>
          <a:p>
            <a:r>
              <a:rPr lang="en-LU" dirty="0"/>
              <a:t>Key Differences Between Families</a:t>
            </a:r>
          </a:p>
        </p:txBody>
      </p:sp>
      <p:sp>
        <p:nvSpPr>
          <p:cNvPr id="3" name="Content Placeholder 2">
            <a:extLst>
              <a:ext uri="{FF2B5EF4-FFF2-40B4-BE49-F238E27FC236}">
                <a16:creationId xmlns:a16="http://schemas.microsoft.com/office/drawing/2014/main" id="{CFA22FCE-5AD0-8AE2-198D-5A8BF77AA4F8}"/>
              </a:ext>
            </a:extLst>
          </p:cNvPr>
          <p:cNvSpPr>
            <a:spLocks noGrp="1"/>
          </p:cNvSpPr>
          <p:nvPr>
            <p:ph idx="1"/>
          </p:nvPr>
        </p:nvSpPr>
        <p:spPr>
          <a:xfrm>
            <a:off x="640079" y="2404872"/>
            <a:ext cx="5230368" cy="4160520"/>
          </a:xfrm>
        </p:spPr>
        <p:txBody>
          <a:bodyPr>
            <a:normAutofit/>
          </a:bodyPr>
          <a:lstStyle/>
          <a:p>
            <a:pPr marL="457200" indent="-457200">
              <a:buFont typeface="+mj-lt"/>
              <a:buAutoNum type="arabicPeriod"/>
            </a:pPr>
            <a:r>
              <a:rPr lang="en-LU" b="1" dirty="0"/>
              <a:t>Density Modeling</a:t>
            </a:r>
          </a:p>
          <a:p>
            <a:pPr lvl="1"/>
            <a:r>
              <a:rPr lang="en-GB" dirty="0"/>
              <a:t>E</a:t>
            </a:r>
            <a:r>
              <a:rPr lang="en-LU" dirty="0"/>
              <a:t>xact likelihood </a:t>
            </a:r>
            <a:r>
              <a:rPr lang="en-LU" dirty="0">
                <a:sym typeface="Wingdings" pitchFamily="2" charset="2"/>
              </a:rPr>
              <a:t> Autoregressive, Flow</a:t>
            </a:r>
          </a:p>
          <a:p>
            <a:pPr lvl="1"/>
            <a:r>
              <a:rPr lang="en-LU" dirty="0">
                <a:sym typeface="Wingdings" pitchFamily="2" charset="2"/>
              </a:rPr>
              <a:t>Approximate likelihood  VAE</a:t>
            </a:r>
          </a:p>
          <a:p>
            <a:pPr lvl="1"/>
            <a:r>
              <a:rPr lang="en-LU" dirty="0">
                <a:sym typeface="Wingdings" pitchFamily="2" charset="2"/>
              </a:rPr>
              <a:t>No likelihood  GAN</a:t>
            </a:r>
          </a:p>
          <a:p>
            <a:pPr lvl="1"/>
            <a:r>
              <a:rPr lang="en-LU" dirty="0">
                <a:sym typeface="Wingdings" pitchFamily="2" charset="2"/>
              </a:rPr>
              <a:t>Score-based density estimation  Diffusion</a:t>
            </a:r>
            <a:endParaRPr lang="en-LU" dirty="0"/>
          </a:p>
          <a:p>
            <a:pPr marL="457200" indent="-457200">
              <a:buFont typeface="+mj-lt"/>
              <a:buAutoNum type="arabicPeriod"/>
            </a:pPr>
            <a:r>
              <a:rPr lang="en-LU" b="1" dirty="0"/>
              <a:t>Sampling Process</a:t>
            </a:r>
          </a:p>
          <a:p>
            <a:pPr lvl="1"/>
            <a:r>
              <a:rPr lang="en-LU" dirty="0"/>
              <a:t>Sequential </a:t>
            </a:r>
            <a:r>
              <a:rPr lang="en-LU" dirty="0">
                <a:sym typeface="Wingdings" pitchFamily="2" charset="2"/>
              </a:rPr>
              <a:t> Autoregressive</a:t>
            </a:r>
          </a:p>
          <a:p>
            <a:pPr lvl="1"/>
            <a:r>
              <a:rPr lang="en-LU" dirty="0">
                <a:sym typeface="Wingdings" pitchFamily="2" charset="2"/>
              </a:rPr>
              <a:t>Single-pass  GAN</a:t>
            </a:r>
          </a:p>
          <a:p>
            <a:pPr lvl="1"/>
            <a:r>
              <a:rPr lang="en-LU" dirty="0"/>
              <a:t>Iterative refinement </a:t>
            </a:r>
            <a:r>
              <a:rPr lang="en-LU" dirty="0">
                <a:sym typeface="Wingdings" pitchFamily="2" charset="2"/>
              </a:rPr>
              <a:t> Diffusion</a:t>
            </a:r>
          </a:p>
          <a:p>
            <a:pPr lvl="1"/>
            <a:r>
              <a:rPr lang="en-LU" dirty="0"/>
              <a:t>Deterministic invertible mapping </a:t>
            </a:r>
            <a:r>
              <a:rPr lang="en-LU" dirty="0">
                <a:sym typeface="Wingdings" pitchFamily="2" charset="2"/>
              </a:rPr>
              <a:t> Flow</a:t>
            </a:r>
            <a:endParaRPr lang="en-LU" dirty="0"/>
          </a:p>
        </p:txBody>
      </p:sp>
      <p:sp>
        <p:nvSpPr>
          <p:cNvPr id="4" name="TextBox 3">
            <a:extLst>
              <a:ext uri="{FF2B5EF4-FFF2-40B4-BE49-F238E27FC236}">
                <a16:creationId xmlns:a16="http://schemas.microsoft.com/office/drawing/2014/main" id="{5DDEB5D3-1B98-6A5E-232A-A82C28435B41}"/>
              </a:ext>
            </a:extLst>
          </p:cNvPr>
          <p:cNvSpPr txBox="1"/>
          <p:nvPr/>
        </p:nvSpPr>
        <p:spPr>
          <a:xfrm>
            <a:off x="6309360" y="2468880"/>
            <a:ext cx="5882640" cy="3739422"/>
          </a:xfrm>
          <a:prstGeom prst="rect">
            <a:avLst/>
          </a:prstGeom>
          <a:noFill/>
        </p:spPr>
        <p:txBody>
          <a:bodyPr wrap="square" rtlCol="0">
            <a:spAutoFit/>
          </a:bodyPr>
          <a:lstStyle/>
          <a:p>
            <a:pPr marL="342900" indent="-342900">
              <a:lnSpc>
                <a:spcPct val="130000"/>
              </a:lnSpc>
              <a:buFont typeface="+mj-lt"/>
              <a:buAutoNum type="arabicPeriod" startAt="3"/>
            </a:pPr>
            <a:r>
              <a:rPr lang="en-LU" sz="2000" b="1" dirty="0"/>
              <a:t>Latent Space Structure</a:t>
            </a:r>
          </a:p>
          <a:p>
            <a:pPr marL="800100" lvl="1" indent="-342900">
              <a:lnSpc>
                <a:spcPct val="130000"/>
              </a:lnSpc>
              <a:buFont typeface="Arial" panose="020B0604020202020204" pitchFamily="34" charset="0"/>
              <a:buChar char="•"/>
            </a:pPr>
            <a:r>
              <a:rPr lang="en-LU" dirty="0"/>
              <a:t>Strong Latent Structure </a:t>
            </a:r>
            <a:r>
              <a:rPr lang="en-LU" dirty="0">
                <a:sym typeface="Wingdings" pitchFamily="2" charset="2"/>
              </a:rPr>
              <a:t> VAE, GAN</a:t>
            </a:r>
          </a:p>
          <a:p>
            <a:pPr marL="800100" lvl="1" indent="-342900">
              <a:lnSpc>
                <a:spcPct val="130000"/>
              </a:lnSpc>
              <a:buFont typeface="Arial" panose="020B0604020202020204" pitchFamily="34" charset="0"/>
              <a:buChar char="•"/>
            </a:pPr>
            <a:r>
              <a:rPr lang="en-LU" dirty="0">
                <a:sym typeface="Wingdings" pitchFamily="2" charset="2"/>
              </a:rPr>
              <a:t>Week/implicit latent structure  Autoregressive</a:t>
            </a:r>
          </a:p>
          <a:p>
            <a:pPr marL="800100" lvl="1" indent="-342900">
              <a:lnSpc>
                <a:spcPct val="130000"/>
              </a:lnSpc>
              <a:buFont typeface="Arial" panose="020B0604020202020204" pitchFamily="34" charset="0"/>
              <a:buChar char="•"/>
            </a:pPr>
            <a:r>
              <a:rPr lang="en-LU" dirty="0">
                <a:sym typeface="Wingdings" pitchFamily="2" charset="2"/>
              </a:rPr>
              <a:t>Noise trajectory space  Diffusion</a:t>
            </a:r>
          </a:p>
          <a:p>
            <a:pPr lvl="1">
              <a:lnSpc>
                <a:spcPct val="130000"/>
              </a:lnSpc>
            </a:pPr>
            <a:endParaRPr lang="en-LU" dirty="0"/>
          </a:p>
          <a:p>
            <a:pPr marL="342900" indent="-342900">
              <a:lnSpc>
                <a:spcPct val="130000"/>
              </a:lnSpc>
              <a:buFont typeface="+mj-lt"/>
              <a:buAutoNum type="arabicPeriod" startAt="3"/>
            </a:pPr>
            <a:r>
              <a:rPr lang="en-LU" sz="2000" b="1" dirty="0"/>
              <a:t>Training Objective Type</a:t>
            </a:r>
          </a:p>
          <a:p>
            <a:pPr marL="800100" lvl="1" indent="-342900">
              <a:lnSpc>
                <a:spcPct val="130000"/>
              </a:lnSpc>
              <a:buFont typeface="Arial" panose="020B0604020202020204" pitchFamily="34" charset="0"/>
              <a:buChar char="•"/>
            </a:pPr>
            <a:r>
              <a:rPr lang="en-LU" dirty="0"/>
              <a:t>Maximum likelihood </a:t>
            </a:r>
            <a:r>
              <a:rPr lang="en-LU" dirty="0">
                <a:sym typeface="Wingdings" pitchFamily="2" charset="2"/>
              </a:rPr>
              <a:t> Autoregressive, Flow</a:t>
            </a:r>
          </a:p>
          <a:p>
            <a:pPr marL="800100" lvl="1" indent="-342900">
              <a:lnSpc>
                <a:spcPct val="130000"/>
              </a:lnSpc>
              <a:buFont typeface="Arial" panose="020B0604020202020204" pitchFamily="34" charset="0"/>
              <a:buChar char="•"/>
            </a:pPr>
            <a:r>
              <a:rPr lang="en-LU" dirty="0">
                <a:sym typeface="Wingdings" pitchFamily="2" charset="2"/>
              </a:rPr>
              <a:t>Variational inference  VAE</a:t>
            </a:r>
          </a:p>
          <a:p>
            <a:pPr marL="800100" lvl="1" indent="-342900">
              <a:lnSpc>
                <a:spcPct val="130000"/>
              </a:lnSpc>
              <a:buFont typeface="Arial" panose="020B0604020202020204" pitchFamily="34" charset="0"/>
              <a:buChar char="•"/>
            </a:pPr>
            <a:r>
              <a:rPr lang="en-LU" dirty="0">
                <a:sym typeface="Wingdings" pitchFamily="2" charset="2"/>
              </a:rPr>
              <a:t>Minmax game  GAN</a:t>
            </a:r>
          </a:p>
          <a:p>
            <a:pPr marL="800100" lvl="1" indent="-342900">
              <a:lnSpc>
                <a:spcPct val="130000"/>
              </a:lnSpc>
              <a:buFont typeface="Arial" panose="020B0604020202020204" pitchFamily="34" charset="0"/>
              <a:buChar char="•"/>
            </a:pPr>
            <a:r>
              <a:rPr lang="en-LU" dirty="0">
                <a:sym typeface="Wingdings" pitchFamily="2" charset="2"/>
              </a:rPr>
              <a:t>Score matching / denoising  Diffusion</a:t>
            </a:r>
            <a:endParaRPr lang="en-LU" dirty="0"/>
          </a:p>
        </p:txBody>
      </p:sp>
    </p:spTree>
    <p:extLst>
      <p:ext uri="{BB962C8B-B14F-4D97-AF65-F5344CB8AC3E}">
        <p14:creationId xmlns:p14="http://schemas.microsoft.com/office/powerpoint/2010/main" val="2837555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129F6-08AC-2BD4-F78E-AE63A4D38202}"/>
              </a:ext>
            </a:extLst>
          </p:cNvPr>
          <p:cNvSpPr>
            <a:spLocks noGrp="1"/>
          </p:cNvSpPr>
          <p:nvPr>
            <p:ph type="title"/>
          </p:nvPr>
        </p:nvSpPr>
        <p:spPr/>
        <p:txBody>
          <a:bodyPr/>
          <a:lstStyle/>
          <a:p>
            <a:r>
              <a:rPr lang="en-LU" dirty="0"/>
              <a:t>What is a GAN?</a:t>
            </a:r>
          </a:p>
        </p:txBody>
      </p:sp>
      <p:sp>
        <p:nvSpPr>
          <p:cNvPr id="3" name="Content Placeholder 2">
            <a:extLst>
              <a:ext uri="{FF2B5EF4-FFF2-40B4-BE49-F238E27FC236}">
                <a16:creationId xmlns:a16="http://schemas.microsoft.com/office/drawing/2014/main" id="{74E1FE7D-FDED-376A-AAA0-501CC1B129C5}"/>
              </a:ext>
            </a:extLst>
          </p:cNvPr>
          <p:cNvSpPr>
            <a:spLocks noGrp="1"/>
          </p:cNvSpPr>
          <p:nvPr>
            <p:ph idx="1"/>
          </p:nvPr>
        </p:nvSpPr>
        <p:spPr>
          <a:xfrm>
            <a:off x="201167" y="2104068"/>
            <a:ext cx="4352545" cy="4113851"/>
          </a:xfrm>
        </p:spPr>
        <p:txBody>
          <a:bodyPr>
            <a:normAutofit fontScale="92500" lnSpcReduction="10000"/>
          </a:bodyPr>
          <a:lstStyle/>
          <a:p>
            <a:r>
              <a:rPr lang="en-LU" dirty="0"/>
              <a:t>A Generative Adversarial Network is a framework for training a generative model through adversarial competition between two neural networks: a Generator and a Discriminator.</a:t>
            </a:r>
          </a:p>
          <a:p>
            <a:r>
              <a:rPr lang="en-GB" dirty="0"/>
              <a:t>T</a:t>
            </a:r>
            <a:r>
              <a:rPr lang="en-LU" dirty="0"/>
              <a:t>he Generator learns to produce synthetic samples</a:t>
            </a:r>
          </a:p>
          <a:p>
            <a:r>
              <a:rPr lang="en-LU" dirty="0"/>
              <a:t>The Discriminator learns to distinguish real data from generated data.</a:t>
            </a:r>
          </a:p>
        </p:txBody>
      </p:sp>
      <p:pic>
        <p:nvPicPr>
          <p:cNvPr id="5" name="Picture 4" descr="A diagram of a fake image&#10;&#10;AI-generated content may be incorrect.">
            <a:extLst>
              <a:ext uri="{FF2B5EF4-FFF2-40B4-BE49-F238E27FC236}">
                <a16:creationId xmlns:a16="http://schemas.microsoft.com/office/drawing/2014/main" id="{27FD92D4-6F39-84FC-7D46-27500D86267B}"/>
              </a:ext>
            </a:extLst>
          </p:cNvPr>
          <p:cNvPicPr>
            <a:picLocks noChangeAspect="1"/>
          </p:cNvPicPr>
          <p:nvPr/>
        </p:nvPicPr>
        <p:blipFill>
          <a:blip r:embed="rId2"/>
          <a:stretch>
            <a:fillRect/>
          </a:stretch>
        </p:blipFill>
        <p:spPr>
          <a:xfrm>
            <a:off x="4517920" y="1703536"/>
            <a:ext cx="7452000" cy="3450927"/>
          </a:xfrm>
          <a:prstGeom prst="rect">
            <a:avLst/>
          </a:prstGeom>
        </p:spPr>
      </p:pic>
    </p:spTree>
    <p:extLst>
      <p:ext uri="{BB962C8B-B14F-4D97-AF65-F5344CB8AC3E}">
        <p14:creationId xmlns:p14="http://schemas.microsoft.com/office/powerpoint/2010/main" val="2833147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864DC-221E-6570-FA77-8039F2DF3D96}"/>
              </a:ext>
            </a:extLst>
          </p:cNvPr>
          <p:cNvSpPr>
            <a:spLocks noGrp="1"/>
          </p:cNvSpPr>
          <p:nvPr>
            <p:ph type="title"/>
          </p:nvPr>
        </p:nvSpPr>
        <p:spPr>
          <a:xfrm>
            <a:off x="640079" y="1371601"/>
            <a:ext cx="10890929" cy="749807"/>
          </a:xfrm>
        </p:spPr>
        <p:txBody>
          <a:bodyPr>
            <a:normAutofit/>
          </a:bodyPr>
          <a:lstStyle/>
          <a:p>
            <a:r>
              <a:rPr lang="en-LU" dirty="0"/>
              <a:t>What is a GAN?</a:t>
            </a:r>
          </a:p>
        </p:txBody>
      </p:sp>
      <p:sp>
        <p:nvSpPr>
          <p:cNvPr id="3" name="Content Placeholder 2">
            <a:extLst>
              <a:ext uri="{FF2B5EF4-FFF2-40B4-BE49-F238E27FC236}">
                <a16:creationId xmlns:a16="http://schemas.microsoft.com/office/drawing/2014/main" id="{634B751A-83AB-2A70-5A8C-5F8271F122F3}"/>
              </a:ext>
            </a:extLst>
          </p:cNvPr>
          <p:cNvSpPr>
            <a:spLocks noGrp="1"/>
          </p:cNvSpPr>
          <p:nvPr>
            <p:ph idx="1"/>
          </p:nvPr>
        </p:nvSpPr>
        <p:spPr>
          <a:xfrm>
            <a:off x="640080" y="2121408"/>
            <a:ext cx="10890928" cy="4498848"/>
          </a:xfrm>
        </p:spPr>
        <p:txBody>
          <a:bodyPr>
            <a:normAutofit/>
          </a:bodyPr>
          <a:lstStyle/>
          <a:p>
            <a:r>
              <a:rPr lang="en-GB" dirty="0"/>
              <a:t>GAN training is formulated as a two-player minimax optimization problem. The generator and discriminator have opposing objectives, forming a zero-sum game.</a:t>
            </a:r>
          </a:p>
          <a:p>
            <a:r>
              <a:rPr lang="en-GB" b="1" dirty="0"/>
              <a:t>Original GAN Objective (Goodfellow et al., 2014):</a:t>
            </a:r>
          </a:p>
          <a:p>
            <a:pPr lvl="1"/>
            <a:r>
              <a:rPr lang="en-GB" dirty="0"/>
              <a:t>Discriminator maximizes correct classification</a:t>
            </a:r>
          </a:p>
          <a:p>
            <a:pPr lvl="1"/>
            <a:r>
              <a:rPr lang="en-GB" dirty="0"/>
              <a:t>Generator minimizes discriminator’s ability to detect fakes</a:t>
            </a:r>
          </a:p>
          <a:p>
            <a:r>
              <a:rPr lang="en-GB" b="1" dirty="0"/>
              <a:t>Optimization Structure</a:t>
            </a:r>
          </a:p>
          <a:p>
            <a:pPr lvl="1"/>
            <a:r>
              <a:rPr lang="en-GB" dirty="0"/>
              <a:t>Alternate updates:</a:t>
            </a:r>
          </a:p>
          <a:p>
            <a:pPr lvl="2"/>
            <a:r>
              <a:rPr lang="en-GB" dirty="0"/>
              <a:t>Update D using real and fake samples</a:t>
            </a:r>
          </a:p>
          <a:p>
            <a:pPr lvl="2"/>
            <a:r>
              <a:rPr lang="en-GB" dirty="0"/>
              <a:t>Update G using discriminator gradients</a:t>
            </a:r>
          </a:p>
          <a:p>
            <a:pPr lvl="1"/>
            <a:r>
              <a:rPr lang="en-GB" dirty="0"/>
              <a:t>Nash equilibrium when:</a:t>
            </a:r>
          </a:p>
          <a:p>
            <a:pPr lvl="1"/>
            <a:endParaRPr lang="en-GB" dirty="0"/>
          </a:p>
          <a:p>
            <a:pPr marL="0" indent="0">
              <a:buNone/>
            </a:pPr>
            <a:endParaRPr lang="en-LU" dirty="0"/>
          </a:p>
        </p:txBody>
      </p:sp>
      <p:pic>
        <p:nvPicPr>
          <p:cNvPr id="5" name="Picture 4">
            <a:extLst>
              <a:ext uri="{FF2B5EF4-FFF2-40B4-BE49-F238E27FC236}">
                <a16:creationId xmlns:a16="http://schemas.microsoft.com/office/drawing/2014/main" id="{7CEEB4F7-944E-DE1F-BE19-B8ED9A1685F3}"/>
              </a:ext>
            </a:extLst>
          </p:cNvPr>
          <p:cNvPicPr>
            <a:picLocks noChangeAspect="1"/>
          </p:cNvPicPr>
          <p:nvPr/>
        </p:nvPicPr>
        <p:blipFill>
          <a:blip r:embed="rId2"/>
          <a:stretch>
            <a:fillRect/>
          </a:stretch>
        </p:blipFill>
        <p:spPr>
          <a:xfrm>
            <a:off x="6370320" y="3060700"/>
            <a:ext cx="5181600" cy="368300"/>
          </a:xfrm>
          <a:prstGeom prst="rect">
            <a:avLst/>
          </a:prstGeom>
        </p:spPr>
      </p:pic>
      <p:pic>
        <p:nvPicPr>
          <p:cNvPr id="7" name="Picture 6" descr="A black text with a equal sign&#10;&#10;AI-generated content may be incorrect.">
            <a:extLst>
              <a:ext uri="{FF2B5EF4-FFF2-40B4-BE49-F238E27FC236}">
                <a16:creationId xmlns:a16="http://schemas.microsoft.com/office/drawing/2014/main" id="{24527B50-BA37-9CB7-9D3B-66A248891A5B}"/>
              </a:ext>
            </a:extLst>
          </p:cNvPr>
          <p:cNvPicPr>
            <a:picLocks noChangeAspect="1"/>
          </p:cNvPicPr>
          <p:nvPr/>
        </p:nvPicPr>
        <p:blipFill>
          <a:blip r:embed="rId3"/>
          <a:stretch>
            <a:fillRect/>
          </a:stretch>
        </p:blipFill>
        <p:spPr>
          <a:xfrm>
            <a:off x="1622298" y="6235700"/>
            <a:ext cx="1485900" cy="393700"/>
          </a:xfrm>
          <a:prstGeom prst="rect">
            <a:avLst/>
          </a:prstGeom>
        </p:spPr>
      </p:pic>
      <p:sp>
        <p:nvSpPr>
          <p:cNvPr id="8" name="TextBox 7">
            <a:extLst>
              <a:ext uri="{FF2B5EF4-FFF2-40B4-BE49-F238E27FC236}">
                <a16:creationId xmlns:a16="http://schemas.microsoft.com/office/drawing/2014/main" id="{2B42C0DE-B5D2-9CC8-C2F4-B1D5425DA75B}"/>
              </a:ext>
            </a:extLst>
          </p:cNvPr>
          <p:cNvSpPr txBox="1"/>
          <p:nvPr/>
        </p:nvSpPr>
        <p:spPr>
          <a:xfrm>
            <a:off x="7187184" y="4590288"/>
            <a:ext cx="4364736" cy="1477328"/>
          </a:xfrm>
          <a:prstGeom prst="rect">
            <a:avLst/>
          </a:prstGeom>
          <a:noFill/>
        </p:spPr>
        <p:txBody>
          <a:bodyPr wrap="square" rtlCol="0">
            <a:spAutoFit/>
          </a:bodyPr>
          <a:lstStyle/>
          <a:p>
            <a:pPr marL="285750" indent="-285750">
              <a:buFont typeface="Arial" panose="020B0604020202020204" pitchFamily="34" charset="0"/>
              <a:buChar char="•"/>
            </a:pPr>
            <a:r>
              <a:rPr lang="en-LU" dirty="0"/>
              <a:t>Latent Space</a:t>
            </a:r>
          </a:p>
          <a:p>
            <a:pPr marL="742950" lvl="1" indent="-285750">
              <a:buFont typeface="Arial" panose="020B0604020202020204" pitchFamily="34" charset="0"/>
              <a:buChar char="•"/>
            </a:pPr>
            <a:r>
              <a:rPr lang="en-GB" dirty="0"/>
              <a:t>Uniform distribution or</a:t>
            </a:r>
          </a:p>
          <a:p>
            <a:pPr marL="742950" lvl="1" indent="-285750">
              <a:buFont typeface="Arial" panose="020B0604020202020204" pitchFamily="34" charset="0"/>
              <a:buChar char="•"/>
            </a:pPr>
            <a:r>
              <a:rPr lang="en-GB" dirty="0"/>
              <a:t>Typically 64-512 dimensions</a:t>
            </a:r>
          </a:p>
          <a:p>
            <a:pPr marL="742950" lvl="1" indent="-285750">
              <a:buFont typeface="Arial" panose="020B0604020202020204" pitchFamily="34" charset="0"/>
              <a:buChar char="•"/>
            </a:pPr>
            <a:r>
              <a:rPr lang="en-GB" dirty="0"/>
              <a:t>Encodes generative factors implicitly</a:t>
            </a:r>
            <a:r>
              <a:rPr lang="en-LU" dirty="0"/>
              <a:t> </a:t>
            </a:r>
          </a:p>
        </p:txBody>
      </p:sp>
      <p:pic>
        <p:nvPicPr>
          <p:cNvPr id="10" name="Picture 9" descr="A black text on a white background&#10;&#10;AI-generated content may be incorrect.">
            <a:extLst>
              <a:ext uri="{FF2B5EF4-FFF2-40B4-BE49-F238E27FC236}">
                <a16:creationId xmlns:a16="http://schemas.microsoft.com/office/drawing/2014/main" id="{0BA7F4BB-B7FB-DA3C-F9E3-67C9CDD40EB4}"/>
              </a:ext>
            </a:extLst>
          </p:cNvPr>
          <p:cNvPicPr>
            <a:picLocks noChangeAspect="1"/>
          </p:cNvPicPr>
          <p:nvPr/>
        </p:nvPicPr>
        <p:blipFill>
          <a:blip r:embed="rId4"/>
          <a:stretch>
            <a:fillRect/>
          </a:stretch>
        </p:blipFill>
        <p:spPr>
          <a:xfrm>
            <a:off x="10472632" y="4847491"/>
            <a:ext cx="889000" cy="393700"/>
          </a:xfrm>
          <a:prstGeom prst="rect">
            <a:avLst/>
          </a:prstGeom>
        </p:spPr>
      </p:pic>
    </p:spTree>
    <p:extLst>
      <p:ext uri="{BB962C8B-B14F-4D97-AF65-F5344CB8AC3E}">
        <p14:creationId xmlns:p14="http://schemas.microsoft.com/office/powerpoint/2010/main" val="1148756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1B966-D158-833C-EC1B-E647C4DDFCEE}"/>
              </a:ext>
            </a:extLst>
          </p:cNvPr>
          <p:cNvSpPr>
            <a:spLocks noGrp="1"/>
          </p:cNvSpPr>
          <p:nvPr>
            <p:ph type="title"/>
          </p:nvPr>
        </p:nvSpPr>
        <p:spPr/>
        <p:txBody>
          <a:bodyPr/>
          <a:lstStyle/>
          <a:p>
            <a:r>
              <a:rPr lang="en-LU" dirty="0"/>
              <a:t>What is a GAN?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7875E78-8352-E819-1B56-2947AFE5F9C6}"/>
                  </a:ext>
                </a:extLst>
              </p:cNvPr>
              <p:cNvSpPr>
                <a:spLocks noGrp="1"/>
              </p:cNvSpPr>
              <p:nvPr>
                <p:ph idx="1"/>
              </p:nvPr>
            </p:nvSpPr>
            <p:spPr/>
            <p:txBody>
              <a:bodyPr/>
              <a:lstStyle/>
              <a:p>
                <a:r>
                  <a:rPr lang="en-LU" dirty="0"/>
                  <a:t>Generator </a:t>
                </a:r>
                <a14:m>
                  <m:oMath xmlns:m="http://schemas.openxmlformats.org/officeDocument/2006/math">
                    <m:r>
                      <a:rPr lang="en-US" b="0" i="1" smtClean="0">
                        <a:latin typeface="Cambria Math" panose="02040503050406030204" pitchFamily="18" charset="0"/>
                      </a:rPr>
                      <m:t>𝐺</m:t>
                    </m:r>
                    <m:r>
                      <a:rPr lang="en-US" b="0" i="0" smtClean="0">
                        <a:latin typeface="Cambria Math" panose="02040503050406030204" pitchFamily="18" charset="0"/>
                      </a:rPr>
                      <m:t>:</m:t>
                    </m:r>
                  </m:oMath>
                </a14:m>
                <a:endParaRPr lang="en-US" b="0" dirty="0"/>
              </a:p>
              <a:p>
                <a:pPr lvl="1"/>
                <a:r>
                  <a:rPr lang="en-GB" dirty="0"/>
                  <a:t>M</a:t>
                </a:r>
                <a:r>
                  <a:rPr lang="en-LU" dirty="0"/>
                  <a:t>aps a latent vector to data space </a:t>
                </a:r>
                <a14:m>
                  <m:oMath xmlns:m="http://schemas.openxmlformats.org/officeDocument/2006/math">
                    <m:r>
                      <a:rPr lang="en-US" b="0" i="1" smtClean="0">
                        <a:latin typeface="Cambria Math" panose="02040503050406030204" pitchFamily="18" charset="0"/>
                      </a:rPr>
                      <m:t>𝑧</m:t>
                    </m:r>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𝑧</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𝑧</m:t>
                        </m:r>
                      </m:e>
                    </m:d>
                  </m:oMath>
                </a14:m>
                <a:r>
                  <a:rPr lang="en-US" b="0" dirty="0"/>
                  <a:t>	Common choices: </a:t>
                </a:r>
              </a:p>
              <a:p>
                <a:pPr lvl="1"/>
                <a:r>
                  <a:rPr lang="en-LU" dirty="0"/>
                  <a:t>Learns transformation: </a:t>
                </a:r>
              </a:p>
              <a:p>
                <a:pPr lvl="1"/>
                <a:r>
                  <a:rPr lang="en-LU" dirty="0"/>
                  <a:t>Goal </a:t>
                </a:r>
                <a:r>
                  <a:rPr lang="en-LU" dirty="0">
                    <a:sym typeface="Wingdings" pitchFamily="2" charset="2"/>
                  </a:rPr>
                  <a:t> produce realistic samples</a:t>
                </a:r>
              </a:p>
              <a:p>
                <a:r>
                  <a:rPr lang="en-LU" dirty="0">
                    <a:sym typeface="Wingdings" pitchFamily="2" charset="2"/>
                  </a:rPr>
                  <a:t>Discriminator </a:t>
                </a:r>
                <a14:m>
                  <m:oMath xmlns:m="http://schemas.openxmlformats.org/officeDocument/2006/math">
                    <m:r>
                      <a:rPr lang="en-US" b="0" i="1" smtClean="0">
                        <a:latin typeface="Cambria Math" panose="02040503050406030204" pitchFamily="18" charset="0"/>
                        <a:sym typeface="Wingdings" pitchFamily="2" charset="2"/>
                      </a:rPr>
                      <m:t>𝐷</m:t>
                    </m:r>
                    <m:r>
                      <a:rPr lang="en-US" b="0" i="1" smtClean="0">
                        <a:latin typeface="Cambria Math" panose="02040503050406030204" pitchFamily="18" charset="0"/>
                        <a:sym typeface="Wingdings" pitchFamily="2" charset="2"/>
                      </a:rPr>
                      <m:t>:</m:t>
                    </m:r>
                  </m:oMath>
                </a14:m>
                <a:endParaRPr lang="en-US" b="0" dirty="0">
                  <a:sym typeface="Wingdings" pitchFamily="2" charset="2"/>
                </a:endParaRPr>
              </a:p>
              <a:p>
                <a:pPr lvl="1"/>
                <a:r>
                  <a:rPr lang="en-LU" dirty="0"/>
                  <a:t>Binary classifier</a:t>
                </a:r>
              </a:p>
              <a:p>
                <a:pPr lvl="1"/>
                <a:r>
                  <a:rPr lang="en-LU" dirty="0"/>
                  <a:t>Outputs probability that input is real</a:t>
                </a:r>
              </a:p>
              <a:p>
                <a:pPr lvl="1"/>
                <a:r>
                  <a:rPr lang="en-LU" dirty="0"/>
                  <a:t>Learn decision function:  </a:t>
                </a:r>
              </a:p>
            </p:txBody>
          </p:sp>
        </mc:Choice>
        <mc:Fallback xmlns="">
          <p:sp>
            <p:nvSpPr>
              <p:cNvPr id="3" name="Content Placeholder 2">
                <a:extLst>
                  <a:ext uri="{FF2B5EF4-FFF2-40B4-BE49-F238E27FC236}">
                    <a16:creationId xmlns:a16="http://schemas.microsoft.com/office/drawing/2014/main" id="{C7875E78-8352-E819-1B56-2947AFE5F9C6}"/>
                  </a:ext>
                </a:extLst>
              </p:cNvPr>
              <p:cNvSpPr>
                <a:spLocks noGrp="1" noRot="1" noChangeAspect="1" noMove="1" noResize="1" noEditPoints="1" noAdjustHandles="1" noChangeArrowheads="1" noChangeShapeType="1" noTextEdit="1"/>
              </p:cNvSpPr>
              <p:nvPr>
                <p:ph idx="1"/>
              </p:nvPr>
            </p:nvSpPr>
            <p:spPr>
              <a:blipFill>
                <a:blip r:embed="rId2"/>
                <a:stretch>
                  <a:fillRect l="-233"/>
                </a:stretch>
              </a:blipFill>
            </p:spPr>
            <p:txBody>
              <a:bodyPr/>
              <a:lstStyle/>
              <a:p>
                <a:r>
                  <a:rPr lang="en-LU">
                    <a:noFill/>
                  </a:rPr>
                  <a:t> </a:t>
                </a:r>
              </a:p>
            </p:txBody>
          </p:sp>
        </mc:Fallback>
      </mc:AlternateContent>
      <p:pic>
        <p:nvPicPr>
          <p:cNvPr id="5" name="Picture 4">
            <a:extLst>
              <a:ext uri="{FF2B5EF4-FFF2-40B4-BE49-F238E27FC236}">
                <a16:creationId xmlns:a16="http://schemas.microsoft.com/office/drawing/2014/main" id="{691DA9DB-4E15-155D-E47F-AF465A079A4E}"/>
              </a:ext>
            </a:extLst>
          </p:cNvPr>
          <p:cNvPicPr>
            <a:picLocks noChangeAspect="1"/>
          </p:cNvPicPr>
          <p:nvPr/>
        </p:nvPicPr>
        <p:blipFill>
          <a:blip r:embed="rId3"/>
          <a:stretch>
            <a:fillRect/>
          </a:stretch>
        </p:blipFill>
        <p:spPr>
          <a:xfrm>
            <a:off x="8102008" y="3150108"/>
            <a:ext cx="3429000" cy="342900"/>
          </a:xfrm>
          <a:prstGeom prst="rect">
            <a:avLst/>
          </a:prstGeom>
        </p:spPr>
      </p:pic>
      <p:pic>
        <p:nvPicPr>
          <p:cNvPr id="7" name="Picture 6" descr="A black and white image of a number and arrow&#10;&#10;AI-generated content may be incorrect.">
            <a:extLst>
              <a:ext uri="{FF2B5EF4-FFF2-40B4-BE49-F238E27FC236}">
                <a16:creationId xmlns:a16="http://schemas.microsoft.com/office/drawing/2014/main" id="{9EE99BFD-A8EA-FC99-BB6F-61A2C2954D9B}"/>
              </a:ext>
            </a:extLst>
          </p:cNvPr>
          <p:cNvPicPr>
            <a:picLocks noChangeAspect="1"/>
          </p:cNvPicPr>
          <p:nvPr/>
        </p:nvPicPr>
        <p:blipFill>
          <a:blip r:embed="rId4"/>
          <a:stretch>
            <a:fillRect/>
          </a:stretch>
        </p:blipFill>
        <p:spPr>
          <a:xfrm>
            <a:off x="3748744" y="3520440"/>
            <a:ext cx="1244600" cy="355600"/>
          </a:xfrm>
          <a:prstGeom prst="rect">
            <a:avLst/>
          </a:prstGeom>
        </p:spPr>
      </p:pic>
      <p:pic>
        <p:nvPicPr>
          <p:cNvPr id="9" name="Picture 8" descr="A black text with a white background&#10;&#10;AI-generated content may be incorrect.">
            <a:extLst>
              <a:ext uri="{FF2B5EF4-FFF2-40B4-BE49-F238E27FC236}">
                <a16:creationId xmlns:a16="http://schemas.microsoft.com/office/drawing/2014/main" id="{C1EBF134-2682-C344-050B-FB763788C366}"/>
              </a:ext>
            </a:extLst>
          </p:cNvPr>
          <p:cNvPicPr>
            <a:picLocks noChangeAspect="1"/>
          </p:cNvPicPr>
          <p:nvPr/>
        </p:nvPicPr>
        <p:blipFill>
          <a:blip r:embed="rId5"/>
          <a:stretch>
            <a:fillRect/>
          </a:stretch>
        </p:blipFill>
        <p:spPr>
          <a:xfrm>
            <a:off x="4993344" y="3520440"/>
            <a:ext cx="800100" cy="355600"/>
          </a:xfrm>
          <a:prstGeom prst="rect">
            <a:avLst/>
          </a:prstGeom>
        </p:spPr>
      </p:pic>
      <p:pic>
        <p:nvPicPr>
          <p:cNvPr id="11" name="Picture 10" descr="A black text on a white background&#10;&#10;AI-generated content may be incorrect.">
            <a:extLst>
              <a:ext uri="{FF2B5EF4-FFF2-40B4-BE49-F238E27FC236}">
                <a16:creationId xmlns:a16="http://schemas.microsoft.com/office/drawing/2014/main" id="{CEC18611-1EE0-D6C3-A03A-8515000E35BA}"/>
              </a:ext>
            </a:extLst>
          </p:cNvPr>
          <p:cNvPicPr>
            <a:picLocks noChangeAspect="1"/>
          </p:cNvPicPr>
          <p:nvPr/>
        </p:nvPicPr>
        <p:blipFill>
          <a:blip r:embed="rId6"/>
          <a:stretch>
            <a:fillRect/>
          </a:stretch>
        </p:blipFill>
        <p:spPr>
          <a:xfrm>
            <a:off x="4936956" y="5153151"/>
            <a:ext cx="1676400" cy="406400"/>
          </a:xfrm>
          <a:prstGeom prst="rect">
            <a:avLst/>
          </a:prstGeom>
        </p:spPr>
      </p:pic>
      <p:pic>
        <p:nvPicPr>
          <p:cNvPr id="13" name="Picture 12" descr="A black symbol with a arrow pointing to the left&#10;&#10;AI-generated content may be incorrect.">
            <a:extLst>
              <a:ext uri="{FF2B5EF4-FFF2-40B4-BE49-F238E27FC236}">
                <a16:creationId xmlns:a16="http://schemas.microsoft.com/office/drawing/2014/main" id="{F2901B8D-7B45-4265-2E0F-CD718F6029B3}"/>
              </a:ext>
            </a:extLst>
          </p:cNvPr>
          <p:cNvPicPr>
            <a:picLocks noChangeAspect="1"/>
          </p:cNvPicPr>
          <p:nvPr/>
        </p:nvPicPr>
        <p:blipFill>
          <a:blip r:embed="rId7"/>
          <a:stretch>
            <a:fillRect/>
          </a:stretch>
        </p:blipFill>
        <p:spPr>
          <a:xfrm>
            <a:off x="3748744" y="5508242"/>
            <a:ext cx="1270000" cy="431800"/>
          </a:xfrm>
          <a:prstGeom prst="rect">
            <a:avLst/>
          </a:prstGeom>
        </p:spPr>
      </p:pic>
    </p:spTree>
    <p:extLst>
      <p:ext uri="{BB962C8B-B14F-4D97-AF65-F5344CB8AC3E}">
        <p14:creationId xmlns:p14="http://schemas.microsoft.com/office/powerpoint/2010/main" val="4283774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E4127-D033-18B2-9513-B8163E6D272A}"/>
              </a:ext>
            </a:extLst>
          </p:cNvPr>
          <p:cNvSpPr>
            <a:spLocks noGrp="1"/>
          </p:cNvSpPr>
          <p:nvPr>
            <p:ph type="title"/>
          </p:nvPr>
        </p:nvSpPr>
        <p:spPr/>
        <p:txBody>
          <a:bodyPr/>
          <a:lstStyle/>
          <a:p>
            <a:r>
              <a:rPr lang="en-LU" dirty="0"/>
              <a:t>GAN Mechanism</a:t>
            </a:r>
          </a:p>
        </p:txBody>
      </p:sp>
      <p:sp>
        <p:nvSpPr>
          <p:cNvPr id="3" name="Content Placeholder 2">
            <a:extLst>
              <a:ext uri="{FF2B5EF4-FFF2-40B4-BE49-F238E27FC236}">
                <a16:creationId xmlns:a16="http://schemas.microsoft.com/office/drawing/2014/main" id="{54D1E52E-356B-6B9D-B4E7-03AA50B08196}"/>
              </a:ext>
            </a:extLst>
          </p:cNvPr>
          <p:cNvSpPr>
            <a:spLocks noGrp="1"/>
          </p:cNvSpPr>
          <p:nvPr>
            <p:ph idx="1"/>
          </p:nvPr>
        </p:nvSpPr>
        <p:spPr/>
        <p:txBody>
          <a:bodyPr>
            <a:normAutofit fontScale="92500" lnSpcReduction="20000"/>
          </a:bodyPr>
          <a:lstStyle/>
          <a:p>
            <a:r>
              <a:rPr lang="en-LU" dirty="0"/>
              <a:t>GAN </a:t>
            </a:r>
            <a:r>
              <a:rPr lang="en-GB" dirty="0"/>
              <a:t>training is a dynamic, adversarial optimization process in which two neural networks — the Generator and the Discriminator — are updated alternately. </a:t>
            </a:r>
            <a:r>
              <a:rPr lang="en-GB" b="1" dirty="0"/>
              <a:t>Their interaction defines the learning signal and determines training stability</a:t>
            </a:r>
            <a:r>
              <a:rPr lang="en-GB" dirty="0"/>
              <a:t>.</a:t>
            </a:r>
          </a:p>
          <a:p>
            <a:pPr marL="457200" indent="-457200">
              <a:buAutoNum type="arabicPeriod"/>
            </a:pPr>
            <a:r>
              <a:rPr lang="en-GB" b="1" dirty="0"/>
              <a:t>Alternating Optimization</a:t>
            </a:r>
          </a:p>
          <a:p>
            <a:pPr lvl="1"/>
            <a:r>
              <a:rPr lang="en-GB" dirty="0"/>
              <a:t>Train Discriminator on:</a:t>
            </a:r>
          </a:p>
          <a:p>
            <a:pPr lvl="2"/>
            <a:r>
              <a:rPr lang="en-GB" dirty="0"/>
              <a:t>Real samples → label = 1</a:t>
            </a:r>
          </a:p>
          <a:p>
            <a:pPr lvl="2"/>
            <a:r>
              <a:rPr lang="en-GB" dirty="0"/>
              <a:t>Generated samples → label = 0</a:t>
            </a:r>
          </a:p>
          <a:p>
            <a:pPr lvl="1"/>
            <a:r>
              <a:rPr lang="en-GB" dirty="0"/>
              <a:t>Freeze D, train Generator using gradients flowing through D</a:t>
            </a:r>
          </a:p>
          <a:p>
            <a:pPr lvl="1"/>
            <a:r>
              <a:rPr lang="en-GB" dirty="0"/>
              <a:t> Repeat iteratively</a:t>
            </a:r>
          </a:p>
          <a:p>
            <a:pPr marL="0" indent="0">
              <a:buNone/>
            </a:pPr>
            <a:r>
              <a:rPr lang="en-GB" dirty="0"/>
              <a:t>This creates a continuously shifting objective landscape.</a:t>
            </a:r>
          </a:p>
          <a:p>
            <a:pPr marL="0" indent="0">
              <a:buNone/>
            </a:pPr>
            <a:endParaRPr lang="en-LU" dirty="0"/>
          </a:p>
        </p:txBody>
      </p:sp>
    </p:spTree>
    <p:extLst>
      <p:ext uri="{BB962C8B-B14F-4D97-AF65-F5344CB8AC3E}">
        <p14:creationId xmlns:p14="http://schemas.microsoft.com/office/powerpoint/2010/main" val="74061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B749E-1E4A-0B6C-3E7F-5977B3B8EE40}"/>
              </a:ext>
            </a:extLst>
          </p:cNvPr>
          <p:cNvSpPr>
            <a:spLocks noGrp="1"/>
          </p:cNvSpPr>
          <p:nvPr>
            <p:ph type="title"/>
          </p:nvPr>
        </p:nvSpPr>
        <p:spPr/>
        <p:txBody>
          <a:bodyPr/>
          <a:lstStyle/>
          <a:p>
            <a:r>
              <a:rPr lang="en-LU" dirty="0"/>
              <a:t>GAN Mechanism</a:t>
            </a:r>
          </a:p>
        </p:txBody>
      </p:sp>
      <p:sp>
        <p:nvSpPr>
          <p:cNvPr id="3" name="Content Placeholder 2">
            <a:extLst>
              <a:ext uri="{FF2B5EF4-FFF2-40B4-BE49-F238E27FC236}">
                <a16:creationId xmlns:a16="http://schemas.microsoft.com/office/drawing/2014/main" id="{897F970C-7E47-8EE3-E5D4-1CFD29D1CE53}"/>
              </a:ext>
            </a:extLst>
          </p:cNvPr>
          <p:cNvSpPr>
            <a:spLocks noGrp="1"/>
          </p:cNvSpPr>
          <p:nvPr>
            <p:ph idx="1"/>
          </p:nvPr>
        </p:nvSpPr>
        <p:spPr/>
        <p:txBody>
          <a:bodyPr>
            <a:normAutofit/>
          </a:bodyPr>
          <a:lstStyle/>
          <a:p>
            <a:pPr marL="0" indent="0">
              <a:buNone/>
            </a:pPr>
            <a:r>
              <a:rPr lang="en-LU" b="1" dirty="0"/>
              <a:t>2. Gradient Flow Structure</a:t>
            </a:r>
          </a:p>
          <a:p>
            <a:r>
              <a:rPr lang="en-LU" dirty="0"/>
              <a:t>Generator does not compare output directly to real images</a:t>
            </a:r>
          </a:p>
          <a:p>
            <a:r>
              <a:rPr lang="en-LU" dirty="0"/>
              <a:t>Generator learns through:</a:t>
            </a:r>
          </a:p>
          <a:p>
            <a:r>
              <a:rPr lang="en-GB" dirty="0"/>
              <a:t> Discriminator defines the gradient quality</a:t>
            </a:r>
          </a:p>
          <a:p>
            <a:r>
              <a:rPr lang="en-GB" dirty="0"/>
              <a:t> Weak D → meaningless gradients</a:t>
            </a:r>
          </a:p>
          <a:p>
            <a:r>
              <a:rPr lang="en-GB" dirty="0"/>
              <a:t>Overpowering D → vanishing gradients</a:t>
            </a:r>
          </a:p>
          <a:p>
            <a:r>
              <a:rPr lang="en-GB" dirty="0"/>
              <a:t>The discriminator is effectively a learned loss function.</a:t>
            </a:r>
          </a:p>
          <a:p>
            <a:endParaRPr lang="en-LU" dirty="0"/>
          </a:p>
        </p:txBody>
      </p:sp>
      <p:pic>
        <p:nvPicPr>
          <p:cNvPr id="5" name="Picture 4" descr="A black text on a white background&#10;&#10;AI-generated content may be incorrect.">
            <a:extLst>
              <a:ext uri="{FF2B5EF4-FFF2-40B4-BE49-F238E27FC236}">
                <a16:creationId xmlns:a16="http://schemas.microsoft.com/office/drawing/2014/main" id="{3FD5A6DF-8449-BA7E-3B52-C08A8C38FBAA}"/>
              </a:ext>
            </a:extLst>
          </p:cNvPr>
          <p:cNvPicPr>
            <a:picLocks noChangeAspect="1"/>
          </p:cNvPicPr>
          <p:nvPr/>
        </p:nvPicPr>
        <p:blipFill>
          <a:blip r:embed="rId2"/>
          <a:stretch>
            <a:fillRect/>
          </a:stretch>
        </p:blipFill>
        <p:spPr>
          <a:xfrm>
            <a:off x="3932428" y="3621024"/>
            <a:ext cx="1803400" cy="444500"/>
          </a:xfrm>
          <a:prstGeom prst="rect">
            <a:avLst/>
          </a:prstGeom>
        </p:spPr>
      </p:pic>
    </p:spTree>
    <p:extLst>
      <p:ext uri="{BB962C8B-B14F-4D97-AF65-F5344CB8AC3E}">
        <p14:creationId xmlns:p14="http://schemas.microsoft.com/office/powerpoint/2010/main" val="2311944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6C8793-CA88-08E0-3E86-1FD8B6EF7EDF}"/>
              </a:ext>
            </a:extLst>
          </p:cNvPr>
          <p:cNvSpPr>
            <a:spLocks noGrp="1"/>
          </p:cNvSpPr>
          <p:nvPr>
            <p:ph idx="1"/>
          </p:nvPr>
        </p:nvSpPr>
        <p:spPr>
          <a:xfrm>
            <a:off x="640079" y="1371600"/>
            <a:ext cx="10890928" cy="5340096"/>
          </a:xfrm>
        </p:spPr>
        <p:txBody>
          <a:bodyPr>
            <a:noAutofit/>
          </a:bodyPr>
          <a:lstStyle/>
          <a:p>
            <a:pPr marL="0" indent="0">
              <a:buNone/>
            </a:pPr>
            <a:r>
              <a:rPr lang="en-LU" sz="1800" b="1" dirty="0"/>
              <a:t>3. Balance between G and D</a:t>
            </a:r>
          </a:p>
          <a:p>
            <a:r>
              <a:rPr lang="en-LU" sz="1800" dirty="0"/>
              <a:t>If D trains too fast:</a:t>
            </a:r>
          </a:p>
          <a:p>
            <a:pPr lvl="1"/>
            <a:r>
              <a:rPr lang="en-LU" dirty="0"/>
              <a:t>Generator gradients vanish</a:t>
            </a:r>
          </a:p>
          <a:p>
            <a:r>
              <a:rPr lang="en-LU" sz="1800" dirty="0"/>
              <a:t>If G trains too fast:</a:t>
            </a:r>
          </a:p>
          <a:p>
            <a:pPr lvl="1"/>
            <a:r>
              <a:rPr lang="en-LU" dirty="0"/>
              <a:t>Discriminator becomes unreliable</a:t>
            </a:r>
          </a:p>
          <a:p>
            <a:pPr marL="0" indent="0">
              <a:buNone/>
            </a:pPr>
            <a:r>
              <a:rPr lang="en-LU" sz="1800" dirty="0"/>
              <a:t>Training stability depends on maintaining equilibrium.</a:t>
            </a:r>
          </a:p>
          <a:p>
            <a:pPr marL="0" indent="0">
              <a:buNone/>
            </a:pPr>
            <a:r>
              <a:rPr lang="en-LU" sz="1800" b="1" dirty="0"/>
              <a:t>4. Implicit Distribution Matching</a:t>
            </a:r>
          </a:p>
          <a:p>
            <a:r>
              <a:rPr lang="en-LU" sz="1800" dirty="0"/>
              <a:t>Generator progressively reshapes its output distribution</a:t>
            </a:r>
          </a:p>
          <a:p>
            <a:r>
              <a:rPr lang="en-LU" sz="1800" dirty="0"/>
              <a:t>Discriminator pushes generator toward high-density regions of real data</a:t>
            </a:r>
          </a:p>
          <a:p>
            <a:r>
              <a:rPr lang="en-GB" sz="1800" dirty="0"/>
              <a:t>A</a:t>
            </a:r>
            <a:r>
              <a:rPr lang="en-LU" sz="1800" dirty="0"/>
              <a:t>t theoretical equilibrium:</a:t>
            </a:r>
          </a:p>
          <a:p>
            <a:r>
              <a:rPr lang="en-LU" sz="1800" dirty="0"/>
              <a:t>In practice, equilibrium is rarely perfect </a:t>
            </a:r>
          </a:p>
        </p:txBody>
      </p:sp>
      <p:pic>
        <p:nvPicPr>
          <p:cNvPr id="5" name="Picture 4" descr="A black text with a equal sign&#10;&#10;AI-generated content may be incorrect.">
            <a:extLst>
              <a:ext uri="{FF2B5EF4-FFF2-40B4-BE49-F238E27FC236}">
                <a16:creationId xmlns:a16="http://schemas.microsoft.com/office/drawing/2014/main" id="{D9010106-4068-E544-5252-4E91318FBAA8}"/>
              </a:ext>
            </a:extLst>
          </p:cNvPr>
          <p:cNvPicPr>
            <a:picLocks noChangeAspect="1"/>
          </p:cNvPicPr>
          <p:nvPr/>
        </p:nvPicPr>
        <p:blipFill>
          <a:blip r:embed="rId2"/>
          <a:stretch>
            <a:fillRect/>
          </a:stretch>
        </p:blipFill>
        <p:spPr>
          <a:xfrm>
            <a:off x="3579579" y="5349240"/>
            <a:ext cx="1536700" cy="457200"/>
          </a:xfrm>
          <a:prstGeom prst="rect">
            <a:avLst/>
          </a:prstGeom>
        </p:spPr>
      </p:pic>
      <p:sp>
        <p:nvSpPr>
          <p:cNvPr id="6" name="TextBox 5">
            <a:extLst>
              <a:ext uri="{FF2B5EF4-FFF2-40B4-BE49-F238E27FC236}">
                <a16:creationId xmlns:a16="http://schemas.microsoft.com/office/drawing/2014/main" id="{CC5056D4-A256-DB8A-46E2-2015263C2509}"/>
              </a:ext>
            </a:extLst>
          </p:cNvPr>
          <p:cNvSpPr txBox="1"/>
          <p:nvPr/>
        </p:nvSpPr>
        <p:spPr>
          <a:xfrm>
            <a:off x="6492240" y="2007216"/>
            <a:ext cx="5522976" cy="1754326"/>
          </a:xfrm>
          <a:prstGeom prst="rect">
            <a:avLst/>
          </a:prstGeom>
          <a:noFill/>
        </p:spPr>
        <p:txBody>
          <a:bodyPr wrap="square" rtlCol="0">
            <a:spAutoFit/>
          </a:bodyPr>
          <a:lstStyle/>
          <a:p>
            <a:r>
              <a:rPr lang="en-LU" b="1" dirty="0"/>
              <a:t>5. Useful:</a:t>
            </a:r>
          </a:p>
          <a:p>
            <a:pPr marL="285750" indent="-285750">
              <a:buFont typeface="Arial" panose="020B0604020202020204" pitchFamily="34" charset="0"/>
              <a:buChar char="•"/>
            </a:pPr>
            <a:r>
              <a:rPr lang="en-LU" dirty="0"/>
              <a:t>Two optimizers interacting </a:t>
            </a:r>
            <a:r>
              <a:rPr lang="en-LU" dirty="0">
                <a:sym typeface="Wingdings" pitchFamily="2" charset="2"/>
              </a:rPr>
              <a:t> unstable dynamics</a:t>
            </a:r>
          </a:p>
          <a:p>
            <a:pPr marL="285750" indent="-285750">
              <a:buFont typeface="Arial" panose="020B0604020202020204" pitchFamily="34" charset="0"/>
              <a:buChar char="•"/>
            </a:pPr>
            <a:r>
              <a:rPr lang="en-GB" dirty="0">
                <a:sym typeface="Wingdings" pitchFamily="2" charset="2"/>
              </a:rPr>
              <a:t>S</a:t>
            </a:r>
            <a:r>
              <a:rPr lang="en-LU" dirty="0">
                <a:sym typeface="Wingdings" pitchFamily="2" charset="2"/>
              </a:rPr>
              <a:t>mall hyperparamters changes can dramatically affect convergence</a:t>
            </a:r>
          </a:p>
          <a:p>
            <a:pPr marL="285750" indent="-285750">
              <a:buFont typeface="Arial" panose="020B0604020202020204" pitchFamily="34" charset="0"/>
              <a:buChar char="•"/>
            </a:pPr>
            <a:r>
              <a:rPr lang="en-GB" dirty="0">
                <a:sym typeface="Wingdings" pitchFamily="2" charset="2"/>
              </a:rPr>
              <a:t>S</a:t>
            </a:r>
            <a:r>
              <a:rPr lang="en-LU" dirty="0">
                <a:sym typeface="Wingdings" pitchFamily="2" charset="2"/>
              </a:rPr>
              <a:t>calling batch size or learning rate changes interaction dynamics</a:t>
            </a:r>
          </a:p>
        </p:txBody>
      </p:sp>
    </p:spTree>
    <p:extLst>
      <p:ext uri="{BB962C8B-B14F-4D97-AF65-F5344CB8AC3E}">
        <p14:creationId xmlns:p14="http://schemas.microsoft.com/office/powerpoint/2010/main" val="39929376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DD5D4-106B-D92A-624C-A7D25C3D6738}"/>
              </a:ext>
            </a:extLst>
          </p:cNvPr>
          <p:cNvSpPr>
            <a:spLocks noGrp="1"/>
          </p:cNvSpPr>
          <p:nvPr>
            <p:ph type="title"/>
          </p:nvPr>
        </p:nvSpPr>
        <p:spPr/>
        <p:txBody>
          <a:bodyPr/>
          <a:lstStyle/>
          <a:p>
            <a:r>
              <a:rPr lang="en-LU" dirty="0"/>
              <a:t>Network Architectures</a:t>
            </a:r>
          </a:p>
        </p:txBody>
      </p:sp>
      <p:sp>
        <p:nvSpPr>
          <p:cNvPr id="3" name="Content Placeholder 2">
            <a:extLst>
              <a:ext uri="{FF2B5EF4-FFF2-40B4-BE49-F238E27FC236}">
                <a16:creationId xmlns:a16="http://schemas.microsoft.com/office/drawing/2014/main" id="{FE6A506E-657E-1F64-4CA3-32D5297E02DD}"/>
              </a:ext>
            </a:extLst>
          </p:cNvPr>
          <p:cNvSpPr>
            <a:spLocks noGrp="1"/>
          </p:cNvSpPr>
          <p:nvPr>
            <p:ph idx="1"/>
          </p:nvPr>
        </p:nvSpPr>
        <p:spPr>
          <a:xfrm>
            <a:off x="640080" y="2633472"/>
            <a:ext cx="4773168" cy="3566160"/>
          </a:xfrm>
        </p:spPr>
        <p:txBody>
          <a:bodyPr/>
          <a:lstStyle/>
          <a:p>
            <a:r>
              <a:rPr lang="en-LU" b="1" dirty="0"/>
              <a:t>Generator</a:t>
            </a:r>
          </a:p>
          <a:p>
            <a:pPr lvl="1"/>
            <a:r>
              <a:rPr lang="en-LU" dirty="0"/>
              <a:t>Fully connected (early GANs)</a:t>
            </a:r>
          </a:p>
          <a:p>
            <a:pPr lvl="1"/>
            <a:r>
              <a:rPr lang="en-LU" dirty="0"/>
              <a:t>Convolutional (DCGAN)</a:t>
            </a:r>
          </a:p>
          <a:p>
            <a:pPr lvl="1"/>
            <a:r>
              <a:rPr lang="en-LU" dirty="0"/>
              <a:t>Residual locks</a:t>
            </a:r>
          </a:p>
          <a:p>
            <a:pPr lvl="1"/>
            <a:r>
              <a:rPr lang="en-LU" dirty="0"/>
              <a:t>Attention mechanisms</a:t>
            </a:r>
          </a:p>
          <a:p>
            <a:pPr lvl="1"/>
            <a:r>
              <a:rPr lang="en-LU" dirty="0"/>
              <a:t>Style-based mapping networks</a:t>
            </a:r>
          </a:p>
        </p:txBody>
      </p:sp>
      <p:sp>
        <p:nvSpPr>
          <p:cNvPr id="4" name="Content Placeholder 2">
            <a:extLst>
              <a:ext uri="{FF2B5EF4-FFF2-40B4-BE49-F238E27FC236}">
                <a16:creationId xmlns:a16="http://schemas.microsoft.com/office/drawing/2014/main" id="{BEBC3F41-2957-3073-7201-68FA99989DFA}"/>
              </a:ext>
            </a:extLst>
          </p:cNvPr>
          <p:cNvSpPr txBox="1">
            <a:spLocks/>
          </p:cNvSpPr>
          <p:nvPr/>
        </p:nvSpPr>
        <p:spPr>
          <a:xfrm>
            <a:off x="6757840" y="2633472"/>
            <a:ext cx="4773168" cy="356616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LU" b="1" dirty="0"/>
              <a:t>Discriminator</a:t>
            </a:r>
          </a:p>
          <a:p>
            <a:pPr lvl="1"/>
            <a:r>
              <a:rPr lang="en-LU" dirty="0"/>
              <a:t>Convolutional classifier</a:t>
            </a:r>
          </a:p>
          <a:p>
            <a:pPr lvl="1"/>
            <a:r>
              <a:rPr lang="en-LU" dirty="0"/>
              <a:t>Patch-based (PatchGAN)</a:t>
            </a:r>
          </a:p>
          <a:p>
            <a:pPr lvl="1"/>
            <a:r>
              <a:rPr lang="en-LU" dirty="0"/>
              <a:t>Spectral normalization layers</a:t>
            </a:r>
          </a:p>
          <a:p>
            <a:pPr lvl="1"/>
            <a:r>
              <a:rPr lang="en-LU" dirty="0"/>
              <a:t>Residual architectures</a:t>
            </a:r>
          </a:p>
        </p:txBody>
      </p:sp>
    </p:spTree>
    <p:extLst>
      <p:ext uri="{BB962C8B-B14F-4D97-AF65-F5344CB8AC3E}">
        <p14:creationId xmlns:p14="http://schemas.microsoft.com/office/powerpoint/2010/main" val="2942335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06F58-1B88-98B4-7A37-6AD32DF61EDE}"/>
              </a:ext>
            </a:extLst>
          </p:cNvPr>
          <p:cNvSpPr>
            <a:spLocks noGrp="1"/>
          </p:cNvSpPr>
          <p:nvPr>
            <p:ph type="title"/>
          </p:nvPr>
        </p:nvSpPr>
        <p:spPr/>
        <p:txBody>
          <a:bodyPr/>
          <a:lstStyle/>
          <a:p>
            <a:r>
              <a:rPr lang="en-LU" dirty="0"/>
              <a:t>Key Insights</a:t>
            </a:r>
          </a:p>
        </p:txBody>
      </p:sp>
      <p:sp>
        <p:nvSpPr>
          <p:cNvPr id="3" name="Content Placeholder 2">
            <a:extLst>
              <a:ext uri="{FF2B5EF4-FFF2-40B4-BE49-F238E27FC236}">
                <a16:creationId xmlns:a16="http://schemas.microsoft.com/office/drawing/2014/main" id="{FBD71BC7-8DCF-C1FE-0366-DDE7BBFFA0C1}"/>
              </a:ext>
            </a:extLst>
          </p:cNvPr>
          <p:cNvSpPr>
            <a:spLocks noGrp="1"/>
          </p:cNvSpPr>
          <p:nvPr>
            <p:ph idx="1"/>
          </p:nvPr>
        </p:nvSpPr>
        <p:spPr>
          <a:xfrm>
            <a:off x="640080" y="2633472"/>
            <a:ext cx="10890928" cy="4023360"/>
          </a:xfrm>
        </p:spPr>
        <p:txBody>
          <a:bodyPr>
            <a:normAutofit/>
          </a:bodyPr>
          <a:lstStyle/>
          <a:p>
            <a:r>
              <a:rPr lang="en-LU" dirty="0"/>
              <a:t>Generator never sees real labels</a:t>
            </a:r>
          </a:p>
          <a:p>
            <a:r>
              <a:rPr lang="en-LU" dirty="0"/>
              <a:t>It learns through discriminator gradients</a:t>
            </a:r>
          </a:p>
          <a:p>
            <a:r>
              <a:rPr lang="en-GB" dirty="0"/>
              <a:t>T</a:t>
            </a:r>
            <a:r>
              <a:rPr lang="en-LU" dirty="0"/>
              <a:t>he discriminator defines the learning signal</a:t>
            </a:r>
          </a:p>
          <a:p>
            <a:r>
              <a:rPr lang="en-GB" dirty="0"/>
              <a:t>T</a:t>
            </a:r>
            <a:r>
              <a:rPr lang="en-LU" dirty="0"/>
              <a:t>he two networks co-evolve during training</a:t>
            </a:r>
          </a:p>
          <a:p>
            <a:r>
              <a:rPr lang="en-LU" dirty="0"/>
              <a:t>No explicit likelihood estimation</a:t>
            </a:r>
          </a:p>
          <a:p>
            <a:r>
              <a:rPr lang="en-GB" dirty="0"/>
              <a:t>S</a:t>
            </a:r>
            <a:r>
              <a:rPr lang="en-LU" dirty="0"/>
              <a:t>ample-based training</a:t>
            </a:r>
          </a:p>
          <a:p>
            <a:r>
              <a:rPr lang="en-GB" dirty="0"/>
              <a:t>I</a:t>
            </a:r>
            <a:r>
              <a:rPr lang="en-LU" dirty="0"/>
              <a:t>mplicit distribution modeling</a:t>
            </a:r>
          </a:p>
          <a:p>
            <a:r>
              <a:rPr lang="en-GB" dirty="0"/>
              <a:t>S</a:t>
            </a:r>
            <a:r>
              <a:rPr lang="en-LU" dirty="0"/>
              <a:t>ensitive to balance between G and D</a:t>
            </a:r>
          </a:p>
        </p:txBody>
      </p:sp>
    </p:spTree>
    <p:extLst>
      <p:ext uri="{BB962C8B-B14F-4D97-AF65-F5344CB8AC3E}">
        <p14:creationId xmlns:p14="http://schemas.microsoft.com/office/powerpoint/2010/main" val="1870564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6A8CD-4EC9-87BF-6ECD-25EC81AE4680}"/>
              </a:ext>
            </a:extLst>
          </p:cNvPr>
          <p:cNvSpPr>
            <a:spLocks noGrp="1"/>
          </p:cNvSpPr>
          <p:nvPr>
            <p:ph type="title"/>
          </p:nvPr>
        </p:nvSpPr>
        <p:spPr/>
        <p:txBody>
          <a:bodyPr/>
          <a:lstStyle/>
          <a:p>
            <a:r>
              <a:rPr lang="en-LU" dirty="0"/>
              <a:t>Why GANs Are Computationally Expensive</a:t>
            </a:r>
          </a:p>
        </p:txBody>
      </p:sp>
      <p:sp>
        <p:nvSpPr>
          <p:cNvPr id="3" name="Content Placeholder 2">
            <a:extLst>
              <a:ext uri="{FF2B5EF4-FFF2-40B4-BE49-F238E27FC236}">
                <a16:creationId xmlns:a16="http://schemas.microsoft.com/office/drawing/2014/main" id="{F0763D82-A66A-C7DD-2B68-57F2DE99907E}"/>
              </a:ext>
            </a:extLst>
          </p:cNvPr>
          <p:cNvSpPr>
            <a:spLocks noGrp="1"/>
          </p:cNvSpPr>
          <p:nvPr>
            <p:ph idx="1"/>
          </p:nvPr>
        </p:nvSpPr>
        <p:spPr>
          <a:xfrm>
            <a:off x="650536" y="3054096"/>
            <a:ext cx="10890928" cy="1755648"/>
          </a:xfrm>
        </p:spPr>
        <p:txBody>
          <a:bodyPr/>
          <a:lstStyle/>
          <a:p>
            <a:r>
              <a:rPr lang="en-LU" dirty="0"/>
              <a:t>GAN training is computationally demanding because it simultaneously optimizes two deep neural networks in a tightly coupled adversarial loop. </a:t>
            </a:r>
          </a:p>
          <a:p>
            <a:r>
              <a:rPr lang="en-LU" dirty="0"/>
              <a:t>Each iteration involves multiple forward and backward passes, large intermediate activations, and sensitivity to batch size and update frequency.</a:t>
            </a:r>
          </a:p>
        </p:txBody>
      </p:sp>
    </p:spTree>
    <p:extLst>
      <p:ext uri="{BB962C8B-B14F-4D97-AF65-F5344CB8AC3E}">
        <p14:creationId xmlns:p14="http://schemas.microsoft.com/office/powerpoint/2010/main" val="1492478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512B8E-2031-6E87-E82F-C8580BD6AD66}"/>
              </a:ext>
            </a:extLst>
          </p:cNvPr>
          <p:cNvSpPr>
            <a:spLocks noGrp="1"/>
          </p:cNvSpPr>
          <p:nvPr>
            <p:ph idx="1"/>
          </p:nvPr>
        </p:nvSpPr>
        <p:spPr>
          <a:xfrm>
            <a:off x="1091184" y="1261872"/>
            <a:ext cx="10594848" cy="5596128"/>
          </a:xfrm>
        </p:spPr>
        <p:txBody>
          <a:bodyPr numCol="2">
            <a:normAutofit fontScale="92500" lnSpcReduction="20000"/>
          </a:bodyPr>
          <a:lstStyle/>
          <a:p>
            <a:pPr marL="457200" indent="-457200">
              <a:buAutoNum type="arabicPeriod"/>
            </a:pPr>
            <a:r>
              <a:rPr lang="en-LU" b="1" dirty="0"/>
              <a:t>Two networks, two optimization steps per iteration:</a:t>
            </a:r>
          </a:p>
          <a:p>
            <a:pPr lvl="1"/>
            <a:r>
              <a:rPr lang="en-LU" dirty="0"/>
              <a:t>Discriminator forward + backward pass, generator forward + backward pass</a:t>
            </a:r>
          </a:p>
          <a:p>
            <a:pPr lvl="1"/>
            <a:r>
              <a:rPr lang="en-GB" dirty="0"/>
              <a:t>O</a:t>
            </a:r>
            <a:r>
              <a:rPr lang="en-LU" dirty="0"/>
              <a:t>ften multiple D updates per G update (e.g., WGAN variants)</a:t>
            </a:r>
          </a:p>
          <a:p>
            <a:pPr lvl="1"/>
            <a:r>
              <a:rPr lang="en-GB" dirty="0"/>
              <a:t>E</a:t>
            </a:r>
            <a:r>
              <a:rPr lang="en-LU" dirty="0"/>
              <a:t>ffectively doubles compute compared to standard supervised training</a:t>
            </a:r>
          </a:p>
          <a:p>
            <a:pPr marL="457200" indent="-457200">
              <a:buAutoNum type="arabicPeriod"/>
            </a:pPr>
            <a:r>
              <a:rPr lang="en-LU" b="1" dirty="0"/>
              <a:t>Convolution-dominated architectures</a:t>
            </a:r>
          </a:p>
          <a:p>
            <a:pPr lvl="1"/>
            <a:r>
              <a:rPr lang="en-LU" dirty="0"/>
              <a:t>G performs progressive upsampling; D process high-dimensional inputs</a:t>
            </a:r>
          </a:p>
          <a:p>
            <a:pPr lvl="1"/>
            <a:r>
              <a:rPr lang="en-GB" dirty="0"/>
              <a:t>L</a:t>
            </a:r>
            <a:r>
              <a:rPr lang="en-LU" dirty="0"/>
              <a:t>arge convolutional stacks increase FLOPs significantly</a:t>
            </a:r>
          </a:p>
          <a:p>
            <a:pPr marL="457200" indent="-457200">
              <a:buAutoNum type="arabicPeriod"/>
            </a:pPr>
            <a:r>
              <a:rPr lang="en-GB" b="1" dirty="0"/>
              <a:t>M</a:t>
            </a:r>
            <a:r>
              <a:rPr lang="en-LU" b="1" dirty="0"/>
              <a:t>emory-intensive backpropagation</a:t>
            </a:r>
          </a:p>
          <a:p>
            <a:pPr lvl="1"/>
            <a:r>
              <a:rPr lang="en-GB" dirty="0"/>
              <a:t>A</a:t>
            </a:r>
            <a:r>
              <a:rPr lang="en-LU" dirty="0"/>
              <a:t>ctivations stored for backward pass</a:t>
            </a:r>
          </a:p>
          <a:p>
            <a:pPr lvl="1"/>
            <a:r>
              <a:rPr lang="en-LU" dirty="0"/>
              <a:t>Optimizer states double parameter memory</a:t>
            </a:r>
          </a:p>
          <a:p>
            <a:pPr lvl="1"/>
            <a:r>
              <a:rPr lang="en-LU" dirty="0"/>
              <a:t>Gradient buffers required for both networks</a:t>
            </a:r>
          </a:p>
          <a:p>
            <a:pPr lvl="1"/>
            <a:r>
              <a:rPr lang="en-GB" dirty="0"/>
              <a:t>M</a:t>
            </a:r>
            <a:r>
              <a:rPr lang="en-LU" dirty="0"/>
              <a:t>ixed precision reduces but does not eliminate memory pressure</a:t>
            </a:r>
          </a:p>
          <a:p>
            <a:pPr marL="457200" indent="-457200">
              <a:buAutoNum type="arabicPeriod"/>
            </a:pPr>
            <a:r>
              <a:rPr lang="en-GB" b="1" dirty="0"/>
              <a:t>S</a:t>
            </a:r>
            <a:r>
              <a:rPr lang="en-LU" b="1" dirty="0"/>
              <a:t>ensitivity to batch size</a:t>
            </a:r>
          </a:p>
          <a:p>
            <a:pPr lvl="1"/>
            <a:r>
              <a:rPr lang="en-LU" dirty="0"/>
              <a:t>Larger batches often needed for stability</a:t>
            </a:r>
          </a:p>
          <a:p>
            <a:pPr lvl="1"/>
            <a:r>
              <a:rPr lang="en-GB" dirty="0"/>
              <a:t>B</a:t>
            </a:r>
            <a:r>
              <a:rPr lang="en-LU" dirty="0"/>
              <a:t>atch size affect gradient quality</a:t>
            </a:r>
          </a:p>
          <a:p>
            <a:pPr lvl="1"/>
            <a:r>
              <a:rPr lang="en-GB" dirty="0"/>
              <a:t>M</a:t>
            </a:r>
            <a:r>
              <a:rPr lang="en-LU" dirty="0"/>
              <a:t>emory limits constrain batch scaling</a:t>
            </a:r>
          </a:p>
          <a:p>
            <a:pPr marL="457200" indent="-457200">
              <a:buAutoNum type="arabicPeriod"/>
            </a:pPr>
            <a:r>
              <a:rPr lang="en-GB" b="1" dirty="0"/>
              <a:t>E</a:t>
            </a:r>
            <a:r>
              <a:rPr lang="en-LU" b="1" dirty="0"/>
              <a:t>valuation and monitoring overhead</a:t>
            </a:r>
          </a:p>
          <a:p>
            <a:pPr lvl="1"/>
            <a:r>
              <a:rPr lang="en-GB" dirty="0"/>
              <a:t>F</a:t>
            </a:r>
            <a:r>
              <a:rPr lang="en-LU" dirty="0"/>
              <a:t>requent sample generation for inspection</a:t>
            </a:r>
          </a:p>
          <a:p>
            <a:pPr lvl="1"/>
            <a:r>
              <a:rPr lang="en-GB" dirty="0"/>
              <a:t>M</a:t>
            </a:r>
            <a:r>
              <a:rPr lang="en-LU" dirty="0"/>
              <a:t>etric computation (e.g., FID, IS)</a:t>
            </a:r>
          </a:p>
          <a:p>
            <a:pPr lvl="1"/>
            <a:r>
              <a:rPr lang="en-GB" dirty="0"/>
              <a:t>C</a:t>
            </a:r>
            <a:r>
              <a:rPr lang="en-LU" dirty="0"/>
              <a:t>heckpointing both G and D</a:t>
            </a:r>
          </a:p>
          <a:p>
            <a:pPr lvl="1"/>
            <a:r>
              <a:rPr lang="en-GB" dirty="0"/>
              <a:t>L</a:t>
            </a:r>
            <a:r>
              <a:rPr lang="en-LU" dirty="0"/>
              <a:t>ogging and visualization during training</a:t>
            </a:r>
          </a:p>
          <a:p>
            <a:pPr marL="457200" indent="-457200">
              <a:buAutoNum type="arabicPeriod"/>
            </a:pPr>
            <a:r>
              <a:rPr lang="en-GB" b="1" dirty="0"/>
              <a:t>I</a:t>
            </a:r>
            <a:r>
              <a:rPr lang="en-LU" b="1" dirty="0"/>
              <a:t>terative experimentation cost</a:t>
            </a:r>
          </a:p>
          <a:p>
            <a:pPr lvl="1"/>
            <a:r>
              <a:rPr lang="en-LU" dirty="0"/>
              <a:t>Hyperparameter sensitivity requires repeated runs</a:t>
            </a:r>
          </a:p>
          <a:p>
            <a:pPr lvl="1"/>
            <a:r>
              <a:rPr lang="en-GB" dirty="0"/>
              <a:t>A</a:t>
            </a:r>
            <a:r>
              <a:rPr lang="en-LU" dirty="0"/>
              <a:t>rchitecture tweaks multiply compute demands</a:t>
            </a:r>
          </a:p>
          <a:p>
            <a:pPr lvl="1"/>
            <a:r>
              <a:rPr lang="en-GB" dirty="0"/>
              <a:t>S</a:t>
            </a:r>
            <a:r>
              <a:rPr lang="en-LU" dirty="0"/>
              <a:t>tability tuning increases total training time</a:t>
            </a:r>
          </a:p>
        </p:txBody>
      </p:sp>
    </p:spTree>
    <p:extLst>
      <p:ext uri="{BB962C8B-B14F-4D97-AF65-F5344CB8AC3E}">
        <p14:creationId xmlns:p14="http://schemas.microsoft.com/office/powerpoint/2010/main" val="2982273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7A913-2875-D613-D27D-AFE58A8E6D7D}"/>
              </a:ext>
            </a:extLst>
          </p:cNvPr>
          <p:cNvSpPr>
            <a:spLocks noGrp="1"/>
          </p:cNvSpPr>
          <p:nvPr>
            <p:ph type="title"/>
          </p:nvPr>
        </p:nvSpPr>
        <p:spPr/>
        <p:txBody>
          <a:bodyPr>
            <a:normAutofit fontScale="90000"/>
          </a:bodyPr>
          <a:lstStyle/>
          <a:p>
            <a:r>
              <a:rPr lang="en-LU" dirty="0"/>
              <a:t>GAN Training as a Systems Problem (infrastructure perspective)</a:t>
            </a:r>
          </a:p>
        </p:txBody>
      </p:sp>
      <p:sp>
        <p:nvSpPr>
          <p:cNvPr id="3" name="Content Placeholder 2">
            <a:extLst>
              <a:ext uri="{FF2B5EF4-FFF2-40B4-BE49-F238E27FC236}">
                <a16:creationId xmlns:a16="http://schemas.microsoft.com/office/drawing/2014/main" id="{F6CED971-7367-B18C-B793-748CD73F26F3}"/>
              </a:ext>
            </a:extLst>
          </p:cNvPr>
          <p:cNvSpPr>
            <a:spLocks noGrp="1"/>
          </p:cNvSpPr>
          <p:nvPr>
            <p:ph idx="1"/>
          </p:nvPr>
        </p:nvSpPr>
        <p:spPr>
          <a:xfrm>
            <a:off x="640080" y="2633472"/>
            <a:ext cx="10890928" cy="1261872"/>
          </a:xfrm>
        </p:spPr>
        <p:txBody>
          <a:bodyPr/>
          <a:lstStyle/>
          <a:p>
            <a:pPr marL="0" indent="0">
              <a:buNone/>
            </a:pPr>
            <a:r>
              <a:rPr lang="en-LU" dirty="0"/>
              <a:t>GAN training </a:t>
            </a:r>
            <a:r>
              <a:rPr lang="en-GB" dirty="0"/>
              <a:t>is not solely an optimization problem, but an end-to-end systems engineering problem. Sustained throughput depends on coordinated performance across compute, memory, and data subsystems.</a:t>
            </a:r>
          </a:p>
          <a:p>
            <a:pPr marL="0" indent="0">
              <a:buNone/>
            </a:pPr>
            <a:endParaRPr lang="en-GB" dirty="0"/>
          </a:p>
          <a:p>
            <a:pPr marL="0" indent="0">
              <a:buNone/>
            </a:pPr>
            <a:endParaRPr lang="en-LU" dirty="0"/>
          </a:p>
        </p:txBody>
      </p:sp>
      <p:sp>
        <p:nvSpPr>
          <p:cNvPr id="4" name="TextBox 3">
            <a:extLst>
              <a:ext uri="{FF2B5EF4-FFF2-40B4-BE49-F238E27FC236}">
                <a16:creationId xmlns:a16="http://schemas.microsoft.com/office/drawing/2014/main" id="{FB965295-DC95-7A1C-75DB-30A657DBC4B2}"/>
              </a:ext>
            </a:extLst>
          </p:cNvPr>
          <p:cNvSpPr txBox="1"/>
          <p:nvPr/>
        </p:nvSpPr>
        <p:spPr>
          <a:xfrm>
            <a:off x="438911" y="3895344"/>
            <a:ext cx="6181345" cy="2554545"/>
          </a:xfrm>
          <a:prstGeom prst="rect">
            <a:avLst/>
          </a:prstGeom>
          <a:noFill/>
        </p:spPr>
        <p:txBody>
          <a:bodyPr wrap="square" numCol="1" rtlCol="0">
            <a:spAutoFit/>
          </a:bodyPr>
          <a:lstStyle/>
          <a:p>
            <a:pPr marL="342900" indent="-342900">
              <a:buAutoNum type="arabicPeriod"/>
            </a:pPr>
            <a:r>
              <a:rPr lang="en-GB" sz="1600" b="1" dirty="0"/>
              <a:t>Compute Is Only One Component of Throughput</a:t>
            </a:r>
          </a:p>
          <a:p>
            <a:pPr marL="742950" lvl="1" indent="-285750">
              <a:buFont typeface="Arial" panose="020B0604020202020204" pitchFamily="34" charset="0"/>
              <a:buChar char="•"/>
            </a:pPr>
            <a:r>
              <a:rPr lang="en-GB" sz="1600" dirty="0"/>
              <a:t>GPUs execute forward and backward propagation</a:t>
            </a:r>
          </a:p>
          <a:p>
            <a:pPr marL="742950" lvl="1" indent="-285750">
              <a:buFont typeface="Arial" panose="020B0604020202020204" pitchFamily="34" charset="0"/>
              <a:buChar char="•"/>
            </a:pPr>
            <a:r>
              <a:rPr lang="en-GB" sz="1600" dirty="0"/>
              <a:t>CPUs manage preprocessing, augmentation, orchestration</a:t>
            </a:r>
          </a:p>
          <a:p>
            <a:pPr marL="742950" lvl="1" indent="-285750">
              <a:buFont typeface="Arial" panose="020B0604020202020204" pitchFamily="34" charset="0"/>
              <a:buChar char="•"/>
            </a:pPr>
            <a:r>
              <a:rPr lang="en-GB" sz="1600" dirty="0"/>
              <a:t>CPU-side inefficiencies lead to GPU underutilization</a:t>
            </a:r>
          </a:p>
          <a:p>
            <a:pPr marL="742950" lvl="1" indent="-285750">
              <a:buFont typeface="Arial" panose="020B0604020202020204" pitchFamily="34" charset="0"/>
              <a:buChar char="•"/>
            </a:pPr>
            <a:r>
              <a:rPr lang="en-GB" sz="1600" dirty="0"/>
              <a:t>Peak FLOPs ≠ sustained training performance</a:t>
            </a:r>
            <a:endParaRPr lang="en-GB" sz="1600" b="1" dirty="0"/>
          </a:p>
          <a:p>
            <a:r>
              <a:rPr lang="en-LU" sz="1600" dirty="0"/>
              <a:t>2. </a:t>
            </a:r>
            <a:r>
              <a:rPr lang="en-GB" sz="1600" b="1" dirty="0"/>
              <a:t>Memory as a First-Class Constraint</a:t>
            </a:r>
          </a:p>
          <a:p>
            <a:pPr marL="742950" lvl="1" indent="-285750">
              <a:buFont typeface="Arial" panose="020B0604020202020204" pitchFamily="34" charset="0"/>
              <a:buChar char="•"/>
            </a:pPr>
            <a:r>
              <a:rPr lang="en-GB" sz="1600" dirty="0"/>
              <a:t>Activations for both networks retained for backpropagation</a:t>
            </a:r>
          </a:p>
          <a:p>
            <a:pPr marL="742950" lvl="1" indent="-285750">
              <a:buFont typeface="Arial" panose="020B0604020202020204" pitchFamily="34" charset="0"/>
              <a:buChar char="•"/>
            </a:pPr>
            <a:r>
              <a:rPr lang="en-GB" sz="1600" dirty="0"/>
              <a:t>Optimizer states increase parameter memory footprint</a:t>
            </a:r>
          </a:p>
          <a:p>
            <a:pPr marL="742950" lvl="1" indent="-285750">
              <a:buFont typeface="Arial" panose="020B0604020202020204" pitchFamily="34" charset="0"/>
              <a:buChar char="•"/>
            </a:pPr>
            <a:r>
              <a:rPr lang="en-GB" sz="1600" dirty="0"/>
              <a:t>Batch size constrained by device memory capacity</a:t>
            </a:r>
          </a:p>
          <a:p>
            <a:pPr marL="742950" lvl="1" indent="-285750">
              <a:buFont typeface="Arial" panose="020B0604020202020204" pitchFamily="34" charset="0"/>
              <a:buChar char="•"/>
            </a:pPr>
            <a:r>
              <a:rPr lang="en-GB" sz="1600" dirty="0"/>
              <a:t>Memory allocation patterns affect runtime stability</a:t>
            </a:r>
            <a:endParaRPr lang="en-GB" sz="1600" b="1" dirty="0"/>
          </a:p>
        </p:txBody>
      </p:sp>
      <p:sp>
        <p:nvSpPr>
          <p:cNvPr id="5" name="TextBox 4">
            <a:extLst>
              <a:ext uri="{FF2B5EF4-FFF2-40B4-BE49-F238E27FC236}">
                <a16:creationId xmlns:a16="http://schemas.microsoft.com/office/drawing/2014/main" id="{8F908029-0B19-68C8-90A8-A332BB98138D}"/>
              </a:ext>
            </a:extLst>
          </p:cNvPr>
          <p:cNvSpPr txBox="1"/>
          <p:nvPr/>
        </p:nvSpPr>
        <p:spPr>
          <a:xfrm>
            <a:off x="7027376" y="3895344"/>
            <a:ext cx="4096512" cy="2831544"/>
          </a:xfrm>
          <a:prstGeom prst="rect">
            <a:avLst/>
          </a:prstGeom>
          <a:noFill/>
        </p:spPr>
        <p:txBody>
          <a:bodyPr wrap="square" rtlCol="0">
            <a:spAutoFit/>
          </a:bodyPr>
          <a:lstStyle/>
          <a:p>
            <a:r>
              <a:rPr lang="en-LU" sz="1600" dirty="0"/>
              <a:t>3. </a:t>
            </a:r>
            <a:r>
              <a:rPr lang="en-GB" sz="1600" b="1" dirty="0"/>
              <a:t>Data Pipeline as a Throughput Determinant</a:t>
            </a:r>
          </a:p>
          <a:p>
            <a:pPr marL="742950" lvl="1" indent="-285750">
              <a:buFont typeface="Arial" panose="020B0604020202020204" pitchFamily="34" charset="0"/>
              <a:buChar char="•"/>
            </a:pPr>
            <a:r>
              <a:rPr lang="en-GB" sz="1600" dirty="0"/>
              <a:t>Image decoding and augmentation are CPU-bound</a:t>
            </a:r>
          </a:p>
          <a:p>
            <a:pPr marL="742950" lvl="1" indent="-285750">
              <a:buFont typeface="Arial" panose="020B0604020202020204" pitchFamily="34" charset="0"/>
              <a:buChar char="•"/>
            </a:pPr>
            <a:r>
              <a:rPr lang="en-GB" sz="1600" dirty="0"/>
              <a:t>Insufficient </a:t>
            </a:r>
            <a:r>
              <a:rPr lang="en-GB" sz="1600" dirty="0" err="1"/>
              <a:t>DataLoader</a:t>
            </a:r>
            <a:r>
              <a:rPr lang="en-GB" sz="1600" dirty="0"/>
              <a:t> parallelism causes GPU starvation</a:t>
            </a:r>
          </a:p>
          <a:p>
            <a:pPr marL="742950" lvl="1" indent="-285750">
              <a:buFont typeface="Arial" panose="020B0604020202020204" pitchFamily="34" charset="0"/>
              <a:buChar char="•"/>
            </a:pPr>
            <a:r>
              <a:rPr lang="en-GB" sz="1600" dirty="0"/>
              <a:t>Storage latency impacts batch delivery time</a:t>
            </a:r>
          </a:p>
          <a:p>
            <a:pPr marL="742950" lvl="1" indent="-285750">
              <a:buFont typeface="Arial" panose="020B0604020202020204" pitchFamily="34" charset="0"/>
              <a:buChar char="•"/>
            </a:pPr>
            <a:r>
              <a:rPr lang="en-GB" sz="1600" dirty="0"/>
              <a:t>Prefetching, caching, and pinned memory improve transfer efficiency</a:t>
            </a:r>
          </a:p>
          <a:p>
            <a:endParaRPr lang="en-LU" dirty="0"/>
          </a:p>
        </p:txBody>
      </p:sp>
    </p:spTree>
    <p:extLst>
      <p:ext uri="{BB962C8B-B14F-4D97-AF65-F5344CB8AC3E}">
        <p14:creationId xmlns:p14="http://schemas.microsoft.com/office/powerpoint/2010/main" val="37628479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83D03-3A9C-1584-3A36-136FEF038A84}"/>
              </a:ext>
            </a:extLst>
          </p:cNvPr>
          <p:cNvSpPr>
            <a:spLocks noGrp="1"/>
          </p:cNvSpPr>
          <p:nvPr>
            <p:ph type="title"/>
          </p:nvPr>
        </p:nvSpPr>
        <p:spPr>
          <a:xfrm>
            <a:off x="640079" y="1138428"/>
            <a:ext cx="10890929" cy="1097280"/>
          </a:xfrm>
        </p:spPr>
        <p:txBody>
          <a:bodyPr>
            <a:normAutofit fontScale="90000"/>
          </a:bodyPr>
          <a:lstStyle/>
          <a:p>
            <a:r>
              <a:rPr lang="en-LU" dirty="0"/>
              <a:t>GAN Training as a System Problem (Distributed &amp; Stability Perspective)</a:t>
            </a:r>
          </a:p>
        </p:txBody>
      </p:sp>
      <p:sp>
        <p:nvSpPr>
          <p:cNvPr id="3" name="Content Placeholder 2">
            <a:extLst>
              <a:ext uri="{FF2B5EF4-FFF2-40B4-BE49-F238E27FC236}">
                <a16:creationId xmlns:a16="http://schemas.microsoft.com/office/drawing/2014/main" id="{74EFE182-A547-2BA3-2502-B48B4F53739C}"/>
              </a:ext>
            </a:extLst>
          </p:cNvPr>
          <p:cNvSpPr>
            <a:spLocks noGrp="1"/>
          </p:cNvSpPr>
          <p:nvPr>
            <p:ph idx="1"/>
          </p:nvPr>
        </p:nvSpPr>
        <p:spPr>
          <a:xfrm>
            <a:off x="640080" y="2329434"/>
            <a:ext cx="10890928" cy="795528"/>
          </a:xfrm>
        </p:spPr>
        <p:txBody>
          <a:bodyPr/>
          <a:lstStyle/>
          <a:p>
            <a:r>
              <a:rPr lang="en-GB" dirty="0"/>
              <a:t>When scaling beyond a single device, communication, synchronization, and optimization dynamics become tightly coupled. Systems decisions directly influence convergence </a:t>
            </a:r>
            <a:r>
              <a:rPr lang="en-GB" dirty="0" err="1"/>
              <a:t>behavior</a:t>
            </a:r>
            <a:r>
              <a:rPr lang="en-GB" dirty="0"/>
              <a:t>.</a:t>
            </a:r>
          </a:p>
        </p:txBody>
      </p:sp>
      <p:sp>
        <p:nvSpPr>
          <p:cNvPr id="4" name="TextBox 3">
            <a:extLst>
              <a:ext uri="{FF2B5EF4-FFF2-40B4-BE49-F238E27FC236}">
                <a16:creationId xmlns:a16="http://schemas.microsoft.com/office/drawing/2014/main" id="{042390DB-E7B4-669C-F5E1-E84475731EFA}"/>
              </a:ext>
            </a:extLst>
          </p:cNvPr>
          <p:cNvSpPr txBox="1"/>
          <p:nvPr/>
        </p:nvSpPr>
        <p:spPr>
          <a:xfrm>
            <a:off x="432817" y="3164681"/>
            <a:ext cx="6608064" cy="3693319"/>
          </a:xfrm>
          <a:prstGeom prst="rect">
            <a:avLst/>
          </a:prstGeom>
          <a:noFill/>
        </p:spPr>
        <p:txBody>
          <a:bodyPr wrap="square" rtlCol="0">
            <a:spAutoFit/>
          </a:bodyPr>
          <a:lstStyle/>
          <a:p>
            <a:r>
              <a:rPr lang="en-LU" dirty="0"/>
              <a:t>4. </a:t>
            </a:r>
            <a:r>
              <a:rPr lang="en-GB" b="1" dirty="0"/>
              <a:t>Communication Overhead in Multi-GPU Training</a:t>
            </a:r>
          </a:p>
          <a:p>
            <a:pPr marL="742950" lvl="1" indent="-285750">
              <a:buFont typeface="Arial" panose="020B0604020202020204" pitchFamily="34" charset="0"/>
              <a:buChar char="•"/>
            </a:pPr>
            <a:r>
              <a:rPr lang="en-GB" dirty="0"/>
              <a:t>Gradient synchronization requires collective communication (all-reduce)</a:t>
            </a:r>
          </a:p>
          <a:p>
            <a:pPr marL="742950" lvl="1" indent="-285750">
              <a:buFont typeface="Arial" panose="020B0604020202020204" pitchFamily="34" charset="0"/>
              <a:buChar char="•"/>
            </a:pPr>
            <a:r>
              <a:rPr lang="en-GB" dirty="0"/>
              <a:t>Communication cost increases with model size and device count</a:t>
            </a:r>
          </a:p>
          <a:p>
            <a:pPr marL="742950" lvl="1" indent="-285750">
              <a:buFont typeface="Arial" panose="020B0604020202020204" pitchFamily="34" charset="0"/>
              <a:buChar char="•"/>
            </a:pPr>
            <a:r>
              <a:rPr lang="en-GB" dirty="0"/>
              <a:t>Scaling efficiency depends on interconnect bandwidth</a:t>
            </a:r>
          </a:p>
          <a:p>
            <a:pPr marL="742950" lvl="1" indent="-285750">
              <a:buFont typeface="Arial" panose="020B0604020202020204" pitchFamily="34" charset="0"/>
              <a:buChar char="•"/>
            </a:pPr>
            <a:r>
              <a:rPr lang="en-GB" dirty="0"/>
              <a:t>Small per-device batch sizes reduce compute-to-communication ratio</a:t>
            </a:r>
            <a:endParaRPr lang="en-GB" b="1" dirty="0"/>
          </a:p>
          <a:p>
            <a:r>
              <a:rPr lang="en-LU" dirty="0"/>
              <a:t>5. </a:t>
            </a:r>
            <a:r>
              <a:rPr lang="en-GB" b="1" dirty="0"/>
              <a:t>System Design Influences Optimization Dynamics</a:t>
            </a:r>
          </a:p>
          <a:p>
            <a:pPr marL="742950" lvl="1" indent="-285750">
              <a:buFont typeface="Arial" panose="020B0604020202020204" pitchFamily="34" charset="0"/>
              <a:buChar char="•"/>
            </a:pPr>
            <a:r>
              <a:rPr lang="en-GB" dirty="0"/>
              <a:t>Batch scaling modifies gradient variance</a:t>
            </a:r>
          </a:p>
          <a:p>
            <a:pPr marL="742950" lvl="1" indent="-285750">
              <a:buFont typeface="Arial" panose="020B0604020202020204" pitchFamily="34" charset="0"/>
              <a:buChar char="•"/>
            </a:pPr>
            <a:r>
              <a:rPr lang="en-GB" dirty="0"/>
              <a:t>Throughput changes alter relative G/D update frequency</a:t>
            </a:r>
          </a:p>
          <a:p>
            <a:pPr marL="742950" lvl="1" indent="-285750">
              <a:buFont typeface="Arial" panose="020B0604020202020204" pitchFamily="34" charset="0"/>
              <a:buChar char="•"/>
            </a:pPr>
            <a:r>
              <a:rPr lang="en-GB" dirty="0"/>
              <a:t>Synchronization timing impacts gradient consistency</a:t>
            </a:r>
          </a:p>
          <a:p>
            <a:pPr marL="742950" lvl="1" indent="-285750">
              <a:buFont typeface="Arial" panose="020B0604020202020204" pitchFamily="34" charset="0"/>
              <a:buChar char="•"/>
            </a:pPr>
            <a:r>
              <a:rPr lang="en-GB" dirty="0"/>
              <a:t>Systems constraints can perturb adversarial balance</a:t>
            </a:r>
            <a:endParaRPr lang="en-GB" b="1" dirty="0"/>
          </a:p>
        </p:txBody>
      </p:sp>
      <p:sp>
        <p:nvSpPr>
          <p:cNvPr id="5" name="TextBox 4">
            <a:extLst>
              <a:ext uri="{FF2B5EF4-FFF2-40B4-BE49-F238E27FC236}">
                <a16:creationId xmlns:a16="http://schemas.microsoft.com/office/drawing/2014/main" id="{B6EB59E7-1CBC-6CD0-1127-38F025C49D17}"/>
              </a:ext>
            </a:extLst>
          </p:cNvPr>
          <p:cNvSpPr txBox="1"/>
          <p:nvPr/>
        </p:nvSpPr>
        <p:spPr>
          <a:xfrm>
            <a:off x="7040881" y="3164681"/>
            <a:ext cx="4888990" cy="2862322"/>
          </a:xfrm>
          <a:prstGeom prst="rect">
            <a:avLst/>
          </a:prstGeom>
          <a:noFill/>
        </p:spPr>
        <p:txBody>
          <a:bodyPr wrap="square" rtlCol="0">
            <a:spAutoFit/>
          </a:bodyPr>
          <a:lstStyle/>
          <a:p>
            <a:r>
              <a:rPr lang="en-LU" dirty="0"/>
              <a:t>6. </a:t>
            </a:r>
            <a:r>
              <a:rPr lang="en-GB" b="1" dirty="0"/>
              <a:t>Reliability, Reproducibility, and Fault Tolerance</a:t>
            </a:r>
          </a:p>
          <a:p>
            <a:pPr marL="742950" lvl="1" indent="-285750">
              <a:buFont typeface="Arial" panose="020B0604020202020204" pitchFamily="34" charset="0"/>
              <a:buChar char="•"/>
            </a:pPr>
            <a:r>
              <a:rPr lang="en-GB" dirty="0"/>
              <a:t>Long-running jobs require robust checkpointing</a:t>
            </a:r>
          </a:p>
          <a:p>
            <a:pPr marL="742950" lvl="1" indent="-285750">
              <a:buFont typeface="Arial" panose="020B0604020202020204" pitchFamily="34" charset="0"/>
              <a:buChar char="•"/>
            </a:pPr>
            <a:r>
              <a:rPr lang="en-GB" dirty="0"/>
              <a:t>Cluster schedulers influence resource allocation</a:t>
            </a:r>
          </a:p>
          <a:p>
            <a:pPr marL="742950" lvl="1" indent="-285750">
              <a:buFont typeface="Arial" panose="020B0604020202020204" pitchFamily="34" charset="0"/>
              <a:buChar char="•"/>
            </a:pPr>
            <a:r>
              <a:rPr lang="en-GB" dirty="0"/>
              <a:t>Distributed environments require failure handling strategies</a:t>
            </a:r>
          </a:p>
          <a:p>
            <a:pPr marL="742950" lvl="1" indent="-285750">
              <a:buFont typeface="Arial" panose="020B0604020202020204" pitchFamily="34" charset="0"/>
              <a:buChar char="•"/>
            </a:pPr>
            <a:r>
              <a:rPr lang="en-GB" dirty="0"/>
              <a:t>Deterministic execution becomes more complex at scale</a:t>
            </a:r>
          </a:p>
        </p:txBody>
      </p:sp>
    </p:spTree>
    <p:extLst>
      <p:ext uri="{BB962C8B-B14F-4D97-AF65-F5344CB8AC3E}">
        <p14:creationId xmlns:p14="http://schemas.microsoft.com/office/powerpoint/2010/main" val="2660335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522C7-4B4C-13E6-4F7B-FED6567D2ED2}"/>
              </a:ext>
            </a:extLst>
          </p:cNvPr>
          <p:cNvSpPr>
            <a:spLocks noGrp="1"/>
          </p:cNvSpPr>
          <p:nvPr>
            <p:ph type="title"/>
          </p:nvPr>
        </p:nvSpPr>
        <p:spPr/>
        <p:txBody>
          <a:bodyPr/>
          <a:lstStyle/>
          <a:p>
            <a:r>
              <a:rPr lang="en-LU" dirty="0"/>
              <a:t>Exercise 1: Baseline Profiling and Measurement</a:t>
            </a:r>
          </a:p>
        </p:txBody>
      </p:sp>
      <p:sp>
        <p:nvSpPr>
          <p:cNvPr id="3" name="Content Placeholder 2">
            <a:extLst>
              <a:ext uri="{FF2B5EF4-FFF2-40B4-BE49-F238E27FC236}">
                <a16:creationId xmlns:a16="http://schemas.microsoft.com/office/drawing/2014/main" id="{20ED4327-9EB8-CA3C-04A1-C7C4221A61A7}"/>
              </a:ext>
            </a:extLst>
          </p:cNvPr>
          <p:cNvSpPr>
            <a:spLocks noGrp="1"/>
          </p:cNvSpPr>
          <p:nvPr>
            <p:ph idx="1"/>
          </p:nvPr>
        </p:nvSpPr>
        <p:spPr/>
        <p:txBody>
          <a:bodyPr/>
          <a:lstStyle/>
          <a:p>
            <a:endParaRPr lang="en-LU" dirty="0"/>
          </a:p>
        </p:txBody>
      </p:sp>
    </p:spTree>
    <p:extLst>
      <p:ext uri="{BB962C8B-B14F-4D97-AF65-F5344CB8AC3E}">
        <p14:creationId xmlns:p14="http://schemas.microsoft.com/office/powerpoint/2010/main" val="21122617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8684A-0E92-545B-B132-3AC8A0A63DA7}"/>
              </a:ext>
            </a:extLst>
          </p:cNvPr>
          <p:cNvSpPr>
            <a:spLocks noGrp="1"/>
          </p:cNvSpPr>
          <p:nvPr>
            <p:ph type="title"/>
          </p:nvPr>
        </p:nvSpPr>
        <p:spPr>
          <a:xfrm>
            <a:off x="640079" y="329610"/>
            <a:ext cx="10890929" cy="1097280"/>
          </a:xfrm>
        </p:spPr>
        <p:txBody>
          <a:bodyPr/>
          <a:lstStyle/>
          <a:p>
            <a:r>
              <a:rPr lang="en-LU" dirty="0"/>
              <a:t>Evolution of GAN Architecture</a:t>
            </a:r>
          </a:p>
        </p:txBody>
      </p:sp>
      <p:sp>
        <p:nvSpPr>
          <p:cNvPr id="3" name="Content Placeholder 2">
            <a:extLst>
              <a:ext uri="{FF2B5EF4-FFF2-40B4-BE49-F238E27FC236}">
                <a16:creationId xmlns:a16="http://schemas.microsoft.com/office/drawing/2014/main" id="{F21F3722-1394-51E6-7BFA-97F3484E9DBB}"/>
              </a:ext>
            </a:extLst>
          </p:cNvPr>
          <p:cNvSpPr>
            <a:spLocks noGrp="1"/>
          </p:cNvSpPr>
          <p:nvPr>
            <p:ph idx="1"/>
          </p:nvPr>
        </p:nvSpPr>
        <p:spPr>
          <a:xfrm>
            <a:off x="640080" y="1426890"/>
            <a:ext cx="10890928" cy="1097280"/>
          </a:xfrm>
        </p:spPr>
        <p:txBody>
          <a:bodyPr>
            <a:normAutofit lnSpcReduction="10000"/>
          </a:bodyPr>
          <a:lstStyle/>
          <a:p>
            <a:pPr marL="0" indent="0">
              <a:buNone/>
            </a:pPr>
            <a:r>
              <a:rPr lang="en-GB" dirty="0"/>
              <a:t>Since their introduction in 2014, Generative Adversarial Networks have evolved through successive architectural and objective refinements aimed to improve training stability, sample fidelity, scalability to higher resolutions, and controls of latent representations.</a:t>
            </a:r>
          </a:p>
          <a:p>
            <a:pPr marL="0" indent="0">
              <a:buNone/>
            </a:pPr>
            <a:endParaRPr lang="en-LU" dirty="0"/>
          </a:p>
        </p:txBody>
      </p:sp>
      <p:sp>
        <p:nvSpPr>
          <p:cNvPr id="4" name="TextBox 3">
            <a:extLst>
              <a:ext uri="{FF2B5EF4-FFF2-40B4-BE49-F238E27FC236}">
                <a16:creationId xmlns:a16="http://schemas.microsoft.com/office/drawing/2014/main" id="{6F90D63F-D6E0-7B64-E30A-A2D522F1BB50}"/>
              </a:ext>
            </a:extLst>
          </p:cNvPr>
          <p:cNvSpPr txBox="1"/>
          <p:nvPr/>
        </p:nvSpPr>
        <p:spPr>
          <a:xfrm>
            <a:off x="640079" y="2635812"/>
            <a:ext cx="10387585" cy="3970318"/>
          </a:xfrm>
          <a:prstGeom prst="rect">
            <a:avLst/>
          </a:prstGeom>
          <a:noFill/>
        </p:spPr>
        <p:txBody>
          <a:bodyPr wrap="square" rtlCol="0">
            <a:spAutoFit/>
          </a:bodyPr>
          <a:lstStyle/>
          <a:p>
            <a:pPr marL="342900" indent="-342900">
              <a:buAutoNum type="arabicPeriod"/>
            </a:pPr>
            <a:r>
              <a:rPr lang="en-LU" b="1" dirty="0"/>
              <a:t>Original GAN (2014)</a:t>
            </a:r>
          </a:p>
          <a:p>
            <a:pPr marL="742950" lvl="1" indent="-285750">
              <a:buFont typeface="Arial" panose="020B0604020202020204" pitchFamily="34" charset="0"/>
              <a:buChar char="•"/>
            </a:pPr>
            <a:r>
              <a:rPr lang="en-GB" dirty="0"/>
              <a:t>Fully connected multilayer </a:t>
            </a:r>
            <a:r>
              <a:rPr lang="en-GB" dirty="0" err="1"/>
              <a:t>perceptrons</a:t>
            </a:r>
            <a:r>
              <a:rPr lang="en-GB" dirty="0"/>
              <a:t> for both G and D</a:t>
            </a:r>
          </a:p>
          <a:p>
            <a:pPr marL="742950" lvl="1" indent="-285750">
              <a:buFont typeface="Arial" panose="020B0604020202020204" pitchFamily="34" charset="0"/>
              <a:buChar char="•"/>
            </a:pPr>
            <a:r>
              <a:rPr lang="en-GB" dirty="0"/>
              <a:t>Minimax objective based on Jensen–Shannon divergence</a:t>
            </a:r>
          </a:p>
          <a:p>
            <a:pPr marL="742950" lvl="1" indent="-285750">
              <a:buFont typeface="Arial" panose="020B0604020202020204" pitchFamily="34" charset="0"/>
              <a:buChar char="•"/>
            </a:pPr>
            <a:r>
              <a:rPr lang="en-GB" dirty="0"/>
              <a:t>Severe training instability and mode collapse</a:t>
            </a:r>
          </a:p>
          <a:p>
            <a:pPr marL="742950" lvl="1" indent="-285750">
              <a:buFont typeface="Arial" panose="020B0604020202020204" pitchFamily="34" charset="0"/>
              <a:buChar char="•"/>
            </a:pPr>
            <a:r>
              <a:rPr lang="en-GB" dirty="0"/>
              <a:t>Limited scalability to high-dimensional image data</a:t>
            </a:r>
            <a:endParaRPr lang="en-LU" dirty="0"/>
          </a:p>
          <a:p>
            <a:pPr marL="342900" indent="-342900">
              <a:buAutoNum type="arabicPeriod"/>
            </a:pPr>
            <a:r>
              <a:rPr lang="en-LU" b="1" dirty="0"/>
              <a:t>DCGAN (Deep Convolutional GAN)</a:t>
            </a:r>
          </a:p>
          <a:p>
            <a:pPr marL="742950" lvl="1" indent="-285750">
              <a:buFont typeface="Arial" panose="020B0604020202020204" pitchFamily="34" charset="0"/>
              <a:buChar char="•"/>
            </a:pPr>
            <a:r>
              <a:rPr lang="en-GB" dirty="0"/>
              <a:t>Replaced fully connected layers with convolutional architectures</a:t>
            </a:r>
          </a:p>
          <a:p>
            <a:pPr marL="742950" lvl="1" indent="-285750">
              <a:buFont typeface="Arial" panose="020B0604020202020204" pitchFamily="34" charset="0"/>
              <a:buChar char="•"/>
            </a:pPr>
            <a:r>
              <a:rPr lang="en-GB" dirty="0" err="1"/>
              <a:t>Strided</a:t>
            </a:r>
            <a:r>
              <a:rPr lang="en-GB" dirty="0"/>
              <a:t> convolutions for </a:t>
            </a:r>
            <a:r>
              <a:rPr lang="en-GB" dirty="0" err="1"/>
              <a:t>downsampling</a:t>
            </a:r>
            <a:r>
              <a:rPr lang="en-GB" dirty="0"/>
              <a:t>, transposed convolutions for </a:t>
            </a:r>
            <a:r>
              <a:rPr lang="en-GB" dirty="0" err="1"/>
              <a:t>upsampling</a:t>
            </a:r>
            <a:endParaRPr lang="en-GB" dirty="0"/>
          </a:p>
          <a:p>
            <a:pPr marL="742950" lvl="1" indent="-285750">
              <a:buFont typeface="Arial" panose="020B0604020202020204" pitchFamily="34" charset="0"/>
              <a:buChar char="•"/>
            </a:pPr>
            <a:r>
              <a:rPr lang="en-GB" dirty="0"/>
              <a:t>Batch normalization to stabilize gradient flow</a:t>
            </a:r>
          </a:p>
          <a:p>
            <a:pPr marL="742950" lvl="1" indent="-285750">
              <a:buFont typeface="Arial" panose="020B0604020202020204" pitchFamily="34" charset="0"/>
              <a:buChar char="•"/>
            </a:pPr>
            <a:r>
              <a:rPr lang="en-GB" dirty="0"/>
              <a:t>Enabled stable training on 64×64 image datasets</a:t>
            </a:r>
          </a:p>
          <a:p>
            <a:pPr lvl="1"/>
            <a:r>
              <a:rPr lang="en-GB" dirty="0"/>
              <a:t>Impact: Established convolutional design principles for GANs.</a:t>
            </a:r>
            <a:endParaRPr lang="en-LU" b="1" dirty="0"/>
          </a:p>
          <a:p>
            <a:pPr marL="342900" indent="-342900">
              <a:buAutoNum type="arabicPeriod"/>
            </a:pPr>
            <a:r>
              <a:rPr lang="en-LU" b="1" dirty="0"/>
              <a:t>Wasserstein GAN (WGAN)</a:t>
            </a:r>
          </a:p>
          <a:p>
            <a:pPr marL="342900" indent="-342900">
              <a:buAutoNum type="arabicPeriod"/>
            </a:pPr>
            <a:r>
              <a:rPr lang="en-LU" dirty="0"/>
              <a:t>Progressing growing GAN</a:t>
            </a:r>
          </a:p>
          <a:p>
            <a:pPr marL="342900" indent="-342900">
              <a:buAutoNum type="arabicPeriod"/>
            </a:pPr>
            <a:r>
              <a:rPr lang="en-LU" dirty="0"/>
              <a:t>Style-based architectures (StyleGAN series)</a:t>
            </a:r>
          </a:p>
        </p:txBody>
      </p:sp>
    </p:spTree>
    <p:extLst>
      <p:ext uri="{BB962C8B-B14F-4D97-AF65-F5344CB8AC3E}">
        <p14:creationId xmlns:p14="http://schemas.microsoft.com/office/powerpoint/2010/main" val="5461969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91402-534E-26E4-1861-BCEBA6DE9F73}"/>
              </a:ext>
            </a:extLst>
          </p:cNvPr>
          <p:cNvSpPr>
            <a:spLocks noGrp="1"/>
          </p:cNvSpPr>
          <p:nvPr>
            <p:ph type="title"/>
          </p:nvPr>
        </p:nvSpPr>
        <p:spPr/>
        <p:txBody>
          <a:bodyPr/>
          <a:lstStyle/>
          <a:p>
            <a:r>
              <a:rPr lang="en-LU" dirty="0"/>
              <a:t>Evolution of GAN Architecture</a:t>
            </a:r>
          </a:p>
        </p:txBody>
      </p:sp>
      <p:sp>
        <p:nvSpPr>
          <p:cNvPr id="3" name="Content Placeholder 2">
            <a:extLst>
              <a:ext uri="{FF2B5EF4-FFF2-40B4-BE49-F238E27FC236}">
                <a16:creationId xmlns:a16="http://schemas.microsoft.com/office/drawing/2014/main" id="{E70E95E3-0892-08D4-3D83-BA46F1A89D4C}"/>
              </a:ext>
            </a:extLst>
          </p:cNvPr>
          <p:cNvSpPr>
            <a:spLocks noGrp="1"/>
          </p:cNvSpPr>
          <p:nvPr>
            <p:ph idx="1"/>
          </p:nvPr>
        </p:nvSpPr>
        <p:spPr>
          <a:xfrm>
            <a:off x="640078" y="2157984"/>
            <a:ext cx="6565393" cy="4334256"/>
          </a:xfrm>
        </p:spPr>
        <p:txBody>
          <a:bodyPr>
            <a:noAutofit/>
          </a:bodyPr>
          <a:lstStyle/>
          <a:p>
            <a:pPr marL="457200" indent="-457200">
              <a:buFont typeface="+mj-lt"/>
              <a:buAutoNum type="arabicPeriod" startAt="3"/>
            </a:pPr>
            <a:r>
              <a:rPr lang="en-LU" sz="1800" b="1" dirty="0"/>
              <a:t>Wasserstein GAN (WGAN)</a:t>
            </a:r>
          </a:p>
          <a:p>
            <a:pPr lvl="1"/>
            <a:r>
              <a:rPr lang="en-GB" dirty="0"/>
              <a:t>Replaced JS divergence with Wasserstein-1 distance</a:t>
            </a:r>
          </a:p>
          <a:p>
            <a:pPr lvl="1"/>
            <a:r>
              <a:rPr lang="en-GB" dirty="0"/>
              <a:t>Introduced critic instead of probabilistic discriminator</a:t>
            </a:r>
          </a:p>
          <a:p>
            <a:pPr lvl="1"/>
            <a:r>
              <a:rPr lang="en-GB" dirty="0"/>
              <a:t>Enforced Lipschitz continuity constraint</a:t>
            </a:r>
          </a:p>
          <a:p>
            <a:pPr lvl="1"/>
            <a:r>
              <a:rPr lang="en-GB" dirty="0"/>
              <a:t>Improved gradient </a:t>
            </a:r>
            <a:r>
              <a:rPr lang="en-GB" dirty="0" err="1"/>
              <a:t>behavior</a:t>
            </a:r>
            <a:r>
              <a:rPr lang="en-GB" dirty="0"/>
              <a:t> and convergence stability</a:t>
            </a:r>
          </a:p>
          <a:p>
            <a:pPr marL="265176" lvl="1" indent="0">
              <a:buNone/>
            </a:pPr>
            <a:r>
              <a:rPr lang="en-GB" dirty="0"/>
              <a:t>WGAN-GP introduced gradient penalty for practical stability.</a:t>
            </a:r>
            <a:endParaRPr lang="en-LU" b="1" dirty="0"/>
          </a:p>
          <a:p>
            <a:pPr marL="342900" indent="-342900">
              <a:buAutoNum type="arabicPeriod" startAt="3"/>
            </a:pPr>
            <a:r>
              <a:rPr lang="en-LU" sz="1800" b="1" dirty="0"/>
              <a:t>Progressing growing GAN</a:t>
            </a:r>
          </a:p>
          <a:p>
            <a:pPr lvl="1"/>
            <a:r>
              <a:rPr lang="en-GB" dirty="0"/>
              <a:t> Gradual increase of image resolution during training</a:t>
            </a:r>
          </a:p>
          <a:p>
            <a:pPr lvl="1"/>
            <a:r>
              <a:rPr lang="en-GB" dirty="0"/>
              <a:t>Stabilized high-resolution generation</a:t>
            </a:r>
          </a:p>
          <a:p>
            <a:pPr lvl="1"/>
            <a:r>
              <a:rPr lang="en-GB" dirty="0"/>
              <a:t>Reduced optimization difficulty in early phases</a:t>
            </a:r>
          </a:p>
          <a:p>
            <a:pPr lvl="1"/>
            <a:r>
              <a:rPr lang="en-GB" dirty="0"/>
              <a:t>Enabled 1024×1024 image synthesis</a:t>
            </a:r>
            <a:endParaRPr lang="en-LU" dirty="0"/>
          </a:p>
        </p:txBody>
      </p:sp>
      <p:sp>
        <p:nvSpPr>
          <p:cNvPr id="4" name="TextBox 3">
            <a:extLst>
              <a:ext uri="{FF2B5EF4-FFF2-40B4-BE49-F238E27FC236}">
                <a16:creationId xmlns:a16="http://schemas.microsoft.com/office/drawing/2014/main" id="{F157744F-2E75-624F-56B9-266C7DA8EF5A}"/>
              </a:ext>
            </a:extLst>
          </p:cNvPr>
          <p:cNvSpPr txBox="1"/>
          <p:nvPr/>
        </p:nvSpPr>
        <p:spPr>
          <a:xfrm>
            <a:off x="7205471" y="2157984"/>
            <a:ext cx="4511040" cy="3416320"/>
          </a:xfrm>
          <a:prstGeom prst="rect">
            <a:avLst/>
          </a:prstGeom>
          <a:noFill/>
        </p:spPr>
        <p:txBody>
          <a:bodyPr wrap="square" rtlCol="0">
            <a:spAutoFit/>
          </a:bodyPr>
          <a:lstStyle/>
          <a:p>
            <a:pPr marL="342900" indent="-342900">
              <a:buFont typeface="+mj-lt"/>
              <a:buAutoNum type="arabicPeriod" startAt="5"/>
            </a:pPr>
            <a:r>
              <a:rPr lang="en-LU" b="1" dirty="0"/>
              <a:t>Style-based architectures (StyleGAN series)</a:t>
            </a:r>
          </a:p>
          <a:p>
            <a:pPr marL="800100" lvl="1" indent="-342900">
              <a:buFont typeface="Arial" panose="020B0604020202020204" pitchFamily="34" charset="0"/>
              <a:buChar char="•"/>
            </a:pPr>
            <a:r>
              <a:rPr lang="en-GB" dirty="0"/>
              <a:t>Mapping network separates latent space from synthesis network</a:t>
            </a:r>
          </a:p>
          <a:p>
            <a:pPr marL="800100" lvl="1" indent="-342900">
              <a:buFont typeface="Arial" panose="020B0604020202020204" pitchFamily="34" charset="0"/>
              <a:buChar char="•"/>
            </a:pPr>
            <a:r>
              <a:rPr lang="en-GB" dirty="0"/>
              <a:t>Adaptive Instance Normalization (</a:t>
            </a:r>
            <a:r>
              <a:rPr lang="en-GB" dirty="0" err="1"/>
              <a:t>AdaIN</a:t>
            </a:r>
            <a:r>
              <a:rPr lang="en-GB" dirty="0"/>
              <a:t>) for style modulation</a:t>
            </a:r>
          </a:p>
          <a:p>
            <a:pPr marL="800100" lvl="1" indent="-342900">
              <a:buFont typeface="Arial" panose="020B0604020202020204" pitchFamily="34" charset="0"/>
              <a:buChar char="•"/>
            </a:pPr>
            <a:r>
              <a:rPr lang="en-GB" dirty="0"/>
              <a:t>Stochastic noise injection for fine-grained detail</a:t>
            </a:r>
          </a:p>
          <a:p>
            <a:pPr marL="800100" lvl="1" indent="-342900">
              <a:buFont typeface="Arial" panose="020B0604020202020204" pitchFamily="34" charset="0"/>
              <a:buChar char="•"/>
            </a:pPr>
            <a:r>
              <a:rPr lang="en-GB" dirty="0"/>
              <a:t>Improved disentanglement and controllability</a:t>
            </a:r>
          </a:p>
          <a:p>
            <a:r>
              <a:rPr lang="en-GB" dirty="0"/>
              <a:t>Impact: State-of-the-art image quality and latent manipulation.</a:t>
            </a:r>
          </a:p>
        </p:txBody>
      </p:sp>
    </p:spTree>
    <p:extLst>
      <p:ext uri="{BB962C8B-B14F-4D97-AF65-F5344CB8AC3E}">
        <p14:creationId xmlns:p14="http://schemas.microsoft.com/office/powerpoint/2010/main" val="34585338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4057E-DF6D-36EA-B1F5-45D1372312F4}"/>
              </a:ext>
            </a:extLst>
          </p:cNvPr>
          <p:cNvSpPr>
            <a:spLocks noGrp="1"/>
          </p:cNvSpPr>
          <p:nvPr>
            <p:ph type="title"/>
          </p:nvPr>
        </p:nvSpPr>
        <p:spPr/>
        <p:txBody>
          <a:bodyPr/>
          <a:lstStyle/>
          <a:p>
            <a:r>
              <a:rPr lang="en-LU" dirty="0"/>
              <a:t>DCGAN Design Principles</a:t>
            </a:r>
          </a:p>
        </p:txBody>
      </p:sp>
      <p:sp>
        <p:nvSpPr>
          <p:cNvPr id="3" name="Content Placeholder 2">
            <a:extLst>
              <a:ext uri="{FF2B5EF4-FFF2-40B4-BE49-F238E27FC236}">
                <a16:creationId xmlns:a16="http://schemas.microsoft.com/office/drawing/2014/main" id="{8D40CCD9-5DD9-A0F0-6EE8-C7322A512166}"/>
              </a:ext>
            </a:extLst>
          </p:cNvPr>
          <p:cNvSpPr>
            <a:spLocks noGrp="1"/>
          </p:cNvSpPr>
          <p:nvPr>
            <p:ph idx="1"/>
          </p:nvPr>
        </p:nvSpPr>
        <p:spPr>
          <a:xfrm>
            <a:off x="640080" y="2350008"/>
            <a:ext cx="10890928" cy="4078224"/>
          </a:xfrm>
        </p:spPr>
        <p:txBody>
          <a:bodyPr>
            <a:normAutofit fontScale="92500"/>
          </a:bodyPr>
          <a:lstStyle/>
          <a:p>
            <a:r>
              <a:rPr lang="en-GB" dirty="0"/>
              <a:t>Deep Convolutional Generative Adversarial Networks (DCGAN) introduced architectural constraints that significantly improved the stability of adversarial training and enabled scalable image generation using convolutional neural networks. These design principles also established the computational patterns that dominate modern GAN workloads.</a:t>
            </a:r>
          </a:p>
          <a:p>
            <a:r>
              <a:rPr lang="en-GB" b="1" dirty="0"/>
              <a:t>Architectural Design Principles</a:t>
            </a:r>
          </a:p>
          <a:p>
            <a:pPr lvl="1"/>
            <a:r>
              <a:rPr lang="en-GB" dirty="0"/>
              <a:t>Replace fully connected layers with </a:t>
            </a:r>
            <a:r>
              <a:rPr lang="en-GB" b="1" dirty="0"/>
              <a:t>deep convolutional architectures</a:t>
            </a:r>
            <a:r>
              <a:rPr lang="en-GB" dirty="0"/>
              <a:t> in both generator and discriminator</a:t>
            </a:r>
          </a:p>
          <a:p>
            <a:pPr lvl="1"/>
            <a:r>
              <a:rPr lang="en-GB" dirty="0"/>
              <a:t>Use </a:t>
            </a:r>
            <a:r>
              <a:rPr lang="en-GB" b="1" dirty="0" err="1"/>
              <a:t>strided</a:t>
            </a:r>
            <a:r>
              <a:rPr lang="en-GB" b="1" dirty="0"/>
              <a:t> convolutions</a:t>
            </a:r>
            <a:r>
              <a:rPr lang="en-GB" dirty="0"/>
              <a:t> for spatial </a:t>
            </a:r>
            <a:r>
              <a:rPr lang="en-GB" dirty="0" err="1"/>
              <a:t>downsampling</a:t>
            </a:r>
            <a:r>
              <a:rPr lang="en-GB" dirty="0"/>
              <a:t> in the discriminator instead of pooling operations</a:t>
            </a:r>
          </a:p>
          <a:p>
            <a:pPr lvl="1"/>
            <a:r>
              <a:rPr lang="en-GB" dirty="0"/>
              <a:t>Use </a:t>
            </a:r>
            <a:r>
              <a:rPr lang="en-GB" b="1" dirty="0"/>
              <a:t>transposed convolutions (fractionally-</a:t>
            </a:r>
            <a:r>
              <a:rPr lang="en-GB" b="1" dirty="0" err="1"/>
              <a:t>strided</a:t>
            </a:r>
            <a:r>
              <a:rPr lang="en-GB" b="1" dirty="0"/>
              <a:t> convolutions)</a:t>
            </a:r>
            <a:r>
              <a:rPr lang="en-GB" dirty="0"/>
              <a:t> in the generator for learned </a:t>
            </a:r>
            <a:r>
              <a:rPr lang="en-GB" dirty="0" err="1"/>
              <a:t>upsampling</a:t>
            </a:r>
            <a:endParaRPr lang="en-GB" dirty="0"/>
          </a:p>
          <a:p>
            <a:pPr lvl="1"/>
            <a:r>
              <a:rPr lang="en-GB" dirty="0"/>
              <a:t>Apply </a:t>
            </a:r>
            <a:r>
              <a:rPr lang="en-GB" b="1" dirty="0"/>
              <a:t>batch normalization</a:t>
            </a:r>
            <a:r>
              <a:rPr lang="en-GB" dirty="0"/>
              <a:t> in both networks to stabilize gradient propagation</a:t>
            </a:r>
          </a:p>
          <a:p>
            <a:pPr lvl="1"/>
            <a:r>
              <a:rPr lang="en-GB" dirty="0"/>
              <a:t>Use </a:t>
            </a:r>
            <a:r>
              <a:rPr lang="en-GB" b="1" dirty="0" err="1"/>
              <a:t>ReLU</a:t>
            </a:r>
            <a:r>
              <a:rPr lang="en-GB" b="1" dirty="0"/>
              <a:t> activations in the generator</a:t>
            </a:r>
            <a:r>
              <a:rPr lang="en-GB" dirty="0"/>
              <a:t> and </a:t>
            </a:r>
            <a:r>
              <a:rPr lang="en-GB" b="1" dirty="0" err="1"/>
              <a:t>LeakyReLU</a:t>
            </a:r>
            <a:r>
              <a:rPr lang="en-GB" b="1" dirty="0"/>
              <a:t> in the discriminator</a:t>
            </a:r>
            <a:r>
              <a:rPr lang="en-GB" dirty="0"/>
              <a:t> to improve training dynamics</a:t>
            </a:r>
          </a:p>
          <a:p>
            <a:endParaRPr lang="en-LU" dirty="0"/>
          </a:p>
        </p:txBody>
      </p:sp>
    </p:spTree>
    <p:extLst>
      <p:ext uri="{BB962C8B-B14F-4D97-AF65-F5344CB8AC3E}">
        <p14:creationId xmlns:p14="http://schemas.microsoft.com/office/powerpoint/2010/main" val="7278873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62E05-2DB0-11F7-CCB9-AFFC2C12A7B0}"/>
              </a:ext>
            </a:extLst>
          </p:cNvPr>
          <p:cNvSpPr>
            <a:spLocks noGrp="1"/>
          </p:cNvSpPr>
          <p:nvPr>
            <p:ph type="title"/>
          </p:nvPr>
        </p:nvSpPr>
        <p:spPr/>
        <p:txBody>
          <a:bodyPr/>
          <a:lstStyle/>
          <a:p>
            <a:r>
              <a:rPr lang="en-LU" dirty="0"/>
              <a:t>DCGAN</a:t>
            </a:r>
          </a:p>
        </p:txBody>
      </p:sp>
      <p:sp>
        <p:nvSpPr>
          <p:cNvPr id="3" name="Content Placeholder 2">
            <a:extLst>
              <a:ext uri="{FF2B5EF4-FFF2-40B4-BE49-F238E27FC236}">
                <a16:creationId xmlns:a16="http://schemas.microsoft.com/office/drawing/2014/main" id="{5FCF2A76-274F-E857-6F67-9FF28B14A93F}"/>
              </a:ext>
            </a:extLst>
          </p:cNvPr>
          <p:cNvSpPr>
            <a:spLocks noGrp="1"/>
          </p:cNvSpPr>
          <p:nvPr>
            <p:ph idx="1"/>
          </p:nvPr>
        </p:nvSpPr>
        <p:spPr>
          <a:xfrm>
            <a:off x="640080" y="2011680"/>
            <a:ext cx="11551920" cy="4700016"/>
          </a:xfrm>
        </p:spPr>
        <p:txBody>
          <a:bodyPr>
            <a:normAutofit fontScale="92500" lnSpcReduction="20000"/>
          </a:bodyPr>
          <a:lstStyle/>
          <a:p>
            <a:r>
              <a:rPr lang="en-GB" b="1" dirty="0"/>
              <a:t>Impact on Training Stability</a:t>
            </a:r>
          </a:p>
          <a:p>
            <a:pPr lvl="1"/>
            <a:r>
              <a:rPr lang="en-GB" dirty="0"/>
              <a:t>Convolutional structure preserves </a:t>
            </a:r>
            <a:r>
              <a:rPr lang="en-GB" b="1" dirty="0"/>
              <a:t>spatial correlations in image data</a:t>
            </a:r>
          </a:p>
          <a:p>
            <a:pPr lvl="1"/>
            <a:r>
              <a:rPr lang="en-GB" dirty="0"/>
              <a:t>Batch normalization reduces </a:t>
            </a:r>
            <a:r>
              <a:rPr lang="en-GB" b="1" dirty="0"/>
              <a:t>internal covariate shift</a:t>
            </a:r>
            <a:r>
              <a:rPr lang="en-GB" dirty="0"/>
              <a:t> and improves convergence</a:t>
            </a:r>
          </a:p>
          <a:p>
            <a:pPr lvl="1"/>
            <a:r>
              <a:rPr lang="en-GB" dirty="0"/>
              <a:t>Removal of pooling layers allows </a:t>
            </a:r>
            <a:r>
              <a:rPr lang="en-GB" b="1" dirty="0"/>
              <a:t>learned hierarchical feature extraction</a:t>
            </a:r>
          </a:p>
          <a:p>
            <a:pPr lvl="1"/>
            <a:r>
              <a:rPr lang="en-GB" dirty="0"/>
              <a:t>Improved gradient flow between generator and discriminator</a:t>
            </a:r>
          </a:p>
          <a:p>
            <a:r>
              <a:rPr lang="en-GB" b="1" dirty="0"/>
              <a:t>Compute and Systems Implications</a:t>
            </a:r>
            <a:endParaRPr lang="en-LU" b="1" dirty="0"/>
          </a:p>
          <a:p>
            <a:pPr lvl="1"/>
            <a:r>
              <a:rPr lang="en-GB" dirty="0"/>
              <a:t>Convolutional layers dominate </a:t>
            </a:r>
            <a:r>
              <a:rPr lang="en-GB" b="1" dirty="0"/>
              <a:t>floating-point operations (FLOPs)</a:t>
            </a:r>
            <a:r>
              <a:rPr lang="en-GB" dirty="0"/>
              <a:t> during training</a:t>
            </a:r>
          </a:p>
          <a:p>
            <a:pPr lvl="1"/>
            <a:r>
              <a:rPr lang="en-GB" dirty="0" err="1"/>
              <a:t>Upsampling</a:t>
            </a:r>
            <a:r>
              <a:rPr lang="en-GB" dirty="0"/>
              <a:t> operations in the generator create </a:t>
            </a:r>
            <a:r>
              <a:rPr lang="en-GB" b="1" dirty="0"/>
              <a:t>large intermediate activation tensors</a:t>
            </a:r>
          </a:p>
          <a:p>
            <a:pPr lvl="1"/>
            <a:r>
              <a:rPr lang="en-GB" dirty="0"/>
              <a:t>Backpropagation through convolution layers significantly increases </a:t>
            </a:r>
            <a:r>
              <a:rPr lang="en-GB" b="1" dirty="0"/>
              <a:t>memory usage</a:t>
            </a:r>
          </a:p>
          <a:p>
            <a:pPr lvl="1"/>
            <a:r>
              <a:rPr lang="en-GB" dirty="0"/>
              <a:t>High arithmetic intensity makes DCGAN architectures </a:t>
            </a:r>
            <a:r>
              <a:rPr lang="en-GB" b="1" dirty="0"/>
              <a:t>well suited for GPU acceleration</a:t>
            </a:r>
          </a:p>
          <a:p>
            <a:pPr marL="265176" lvl="1" indent="0">
              <a:buNone/>
            </a:pPr>
            <a:endParaRPr lang="en-GB" dirty="0"/>
          </a:p>
          <a:p>
            <a:pPr marL="0" indent="0">
              <a:buNone/>
            </a:pPr>
            <a:r>
              <a:rPr lang="en-GB" dirty="0"/>
              <a:t>The DCGAN architecture established a </a:t>
            </a:r>
            <a:r>
              <a:rPr lang="en-GB" b="1" dirty="0"/>
              <a:t>convolution-dominated compute profile</a:t>
            </a:r>
            <a:r>
              <a:rPr lang="en-GB" dirty="0"/>
              <a:t>, where training performance becomes constrained primarily by </a:t>
            </a:r>
            <a:r>
              <a:rPr lang="en-GB" b="1" dirty="0"/>
              <a:t>GPU compute throughput and memory bandwidth</a:t>
            </a:r>
            <a:r>
              <a:rPr lang="en-GB" dirty="0"/>
              <a:t>, rather than model control flow or CPU-side computation.</a:t>
            </a:r>
          </a:p>
          <a:p>
            <a:endParaRPr lang="en-GB" b="1" dirty="0"/>
          </a:p>
        </p:txBody>
      </p:sp>
    </p:spTree>
    <p:extLst>
      <p:ext uri="{BB962C8B-B14F-4D97-AF65-F5344CB8AC3E}">
        <p14:creationId xmlns:p14="http://schemas.microsoft.com/office/powerpoint/2010/main" val="37405450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3DFD-014D-5044-50C6-6C15C5CE4C4B}"/>
              </a:ext>
            </a:extLst>
          </p:cNvPr>
          <p:cNvSpPr>
            <a:spLocks noGrp="1"/>
          </p:cNvSpPr>
          <p:nvPr>
            <p:ph type="title"/>
          </p:nvPr>
        </p:nvSpPr>
        <p:spPr/>
        <p:txBody>
          <a:bodyPr>
            <a:normAutofit/>
          </a:bodyPr>
          <a:lstStyle/>
          <a:p>
            <a:r>
              <a:rPr lang="en-GB" dirty="0"/>
              <a:t>Wasserstein GAN and Stability Improvements</a:t>
            </a:r>
            <a:endParaRPr lang="en-LU" dirty="0"/>
          </a:p>
        </p:txBody>
      </p:sp>
      <p:sp>
        <p:nvSpPr>
          <p:cNvPr id="3" name="Content Placeholder 2">
            <a:extLst>
              <a:ext uri="{FF2B5EF4-FFF2-40B4-BE49-F238E27FC236}">
                <a16:creationId xmlns:a16="http://schemas.microsoft.com/office/drawing/2014/main" id="{357D1518-F883-12A8-2F09-647B2BE07DED}"/>
              </a:ext>
            </a:extLst>
          </p:cNvPr>
          <p:cNvSpPr>
            <a:spLocks noGrp="1"/>
          </p:cNvSpPr>
          <p:nvPr>
            <p:ph idx="1"/>
          </p:nvPr>
        </p:nvSpPr>
        <p:spPr>
          <a:xfrm>
            <a:off x="640080" y="2414016"/>
            <a:ext cx="10890928" cy="3950208"/>
          </a:xfrm>
        </p:spPr>
        <p:txBody>
          <a:bodyPr>
            <a:normAutofit lnSpcReduction="10000"/>
          </a:bodyPr>
          <a:lstStyle/>
          <a:p>
            <a:r>
              <a:rPr lang="en-GB" dirty="0"/>
              <a:t>Wasserstein Generative Adversarial Networks (WGAN) reformulate the GAN training objective by replacing the Jensen–Shannon divergence with the Wasserstein-1 (Earth Mover) distance. This modification provides smoother gradients and significantly improves training stability, particularly when the generated and real data distributions have limited overlap.</a:t>
            </a:r>
          </a:p>
          <a:p>
            <a:pPr marL="0" indent="0">
              <a:buNone/>
            </a:pPr>
            <a:endParaRPr lang="en-GB" dirty="0"/>
          </a:p>
          <a:p>
            <a:r>
              <a:rPr lang="en-GB" dirty="0"/>
              <a:t>Original GAN objective minimizes </a:t>
            </a:r>
            <a:r>
              <a:rPr lang="en-GB" b="1" dirty="0"/>
              <a:t>Jensen–Shannon divergence</a:t>
            </a:r>
          </a:p>
          <a:p>
            <a:r>
              <a:rPr lang="en-GB" dirty="0"/>
              <a:t>When distributions do not overlap, gradients can vanish</a:t>
            </a:r>
          </a:p>
          <a:p>
            <a:r>
              <a:rPr lang="en-GB" dirty="0"/>
              <a:t>Training becomes unstable and prone to </a:t>
            </a:r>
            <a:r>
              <a:rPr lang="en-GB" b="1" dirty="0"/>
              <a:t>mode collapse</a:t>
            </a:r>
          </a:p>
          <a:p>
            <a:r>
              <a:rPr lang="en-GB" dirty="0"/>
              <a:t>Discriminator often saturates, providing weak learning signals</a:t>
            </a:r>
          </a:p>
          <a:p>
            <a:endParaRPr lang="en-LU" dirty="0"/>
          </a:p>
        </p:txBody>
      </p:sp>
    </p:spTree>
    <p:extLst>
      <p:ext uri="{BB962C8B-B14F-4D97-AF65-F5344CB8AC3E}">
        <p14:creationId xmlns:p14="http://schemas.microsoft.com/office/powerpoint/2010/main" val="850924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C125-B538-71C3-9853-B08DDFFF7647}"/>
              </a:ext>
            </a:extLst>
          </p:cNvPr>
          <p:cNvSpPr>
            <a:spLocks noGrp="1"/>
          </p:cNvSpPr>
          <p:nvPr>
            <p:ph type="title"/>
          </p:nvPr>
        </p:nvSpPr>
        <p:spPr/>
        <p:txBody>
          <a:bodyPr>
            <a:normAutofit/>
          </a:bodyPr>
          <a:lstStyle/>
          <a:p>
            <a:r>
              <a:rPr lang="en-GB" dirty="0"/>
              <a:t>Wasserstein Distance Formulation</a:t>
            </a:r>
            <a:endParaRPr lang="en-LU" dirty="0"/>
          </a:p>
        </p:txBody>
      </p:sp>
      <p:sp>
        <p:nvSpPr>
          <p:cNvPr id="3" name="Content Placeholder 2">
            <a:extLst>
              <a:ext uri="{FF2B5EF4-FFF2-40B4-BE49-F238E27FC236}">
                <a16:creationId xmlns:a16="http://schemas.microsoft.com/office/drawing/2014/main" id="{907509A5-25CD-4AA7-24E2-CC3402362EED}"/>
              </a:ext>
            </a:extLst>
          </p:cNvPr>
          <p:cNvSpPr>
            <a:spLocks noGrp="1"/>
          </p:cNvSpPr>
          <p:nvPr>
            <p:ph idx="1"/>
          </p:nvPr>
        </p:nvSpPr>
        <p:spPr/>
        <p:txBody>
          <a:bodyPr/>
          <a:lstStyle/>
          <a:p>
            <a:r>
              <a:rPr lang="en-GB" dirty="0"/>
              <a:t>WGAN minimizes the </a:t>
            </a:r>
            <a:r>
              <a:rPr lang="en-GB" b="1" dirty="0"/>
              <a:t>Earth Mover (EM) distance</a:t>
            </a:r>
            <a:r>
              <a:rPr lang="en-GB" dirty="0"/>
              <a:t> between distributions:</a:t>
            </a:r>
          </a:p>
          <a:p>
            <a:pPr marL="0" indent="0">
              <a:buNone/>
            </a:pPr>
            <a:endParaRPr lang="en-LU" dirty="0"/>
          </a:p>
          <a:p>
            <a:r>
              <a:rPr lang="en-GB" b="1" dirty="0"/>
              <a:t>WGAN Objective:</a:t>
            </a:r>
            <a:endParaRPr lang="en-GB" dirty="0"/>
          </a:p>
          <a:p>
            <a:pPr marL="0" indent="0">
              <a:buNone/>
            </a:pPr>
            <a:r>
              <a:rPr lang="en-GB" dirty="0"/>
              <a:t>The adversarial objective becomes: </a:t>
            </a:r>
          </a:p>
          <a:p>
            <a:pPr marL="0" indent="0">
              <a:buNone/>
            </a:pPr>
            <a:endParaRPr lang="en-LU" dirty="0"/>
          </a:p>
        </p:txBody>
      </p:sp>
      <p:pic>
        <p:nvPicPr>
          <p:cNvPr id="7" name="Picture 6" descr="A close up of a word&#10;&#10;AI-generated content may be incorrect.">
            <a:extLst>
              <a:ext uri="{FF2B5EF4-FFF2-40B4-BE49-F238E27FC236}">
                <a16:creationId xmlns:a16="http://schemas.microsoft.com/office/drawing/2014/main" id="{49D8D56B-E8F3-D1C4-7F50-D369A6E3A94D}"/>
              </a:ext>
            </a:extLst>
          </p:cNvPr>
          <p:cNvPicPr>
            <a:picLocks noChangeAspect="1"/>
          </p:cNvPicPr>
          <p:nvPr/>
        </p:nvPicPr>
        <p:blipFill>
          <a:blip r:embed="rId2"/>
          <a:stretch>
            <a:fillRect/>
          </a:stretch>
        </p:blipFill>
        <p:spPr>
          <a:xfrm>
            <a:off x="4533900" y="3206750"/>
            <a:ext cx="3124200" cy="444500"/>
          </a:xfrm>
          <a:prstGeom prst="rect">
            <a:avLst/>
          </a:prstGeom>
        </p:spPr>
      </p:pic>
      <p:pic>
        <p:nvPicPr>
          <p:cNvPr id="9" name="Picture 8" descr="A black text on a white background&#10;&#10;AI-generated content may be incorrect.">
            <a:extLst>
              <a:ext uri="{FF2B5EF4-FFF2-40B4-BE49-F238E27FC236}">
                <a16:creationId xmlns:a16="http://schemas.microsoft.com/office/drawing/2014/main" id="{4E56A266-FD2A-846F-D6B5-B4CFD79FF613}"/>
              </a:ext>
            </a:extLst>
          </p:cNvPr>
          <p:cNvPicPr>
            <a:picLocks noChangeAspect="1"/>
          </p:cNvPicPr>
          <p:nvPr/>
        </p:nvPicPr>
        <p:blipFill>
          <a:blip r:embed="rId3"/>
          <a:stretch>
            <a:fillRect/>
          </a:stretch>
        </p:blipFill>
        <p:spPr>
          <a:xfrm>
            <a:off x="4741672" y="4100195"/>
            <a:ext cx="3403600" cy="495300"/>
          </a:xfrm>
          <a:prstGeom prst="rect">
            <a:avLst/>
          </a:prstGeom>
        </p:spPr>
      </p:pic>
      <p:sp>
        <p:nvSpPr>
          <p:cNvPr id="11" name="TextBox 10">
            <a:extLst>
              <a:ext uri="{FF2B5EF4-FFF2-40B4-BE49-F238E27FC236}">
                <a16:creationId xmlns:a16="http://schemas.microsoft.com/office/drawing/2014/main" id="{FBF4FF0C-86FA-439B-921C-858E79C62E79}"/>
              </a:ext>
            </a:extLst>
          </p:cNvPr>
          <p:cNvSpPr txBox="1"/>
          <p:nvPr/>
        </p:nvSpPr>
        <p:spPr>
          <a:xfrm>
            <a:off x="640079" y="4894251"/>
            <a:ext cx="9913621" cy="1754326"/>
          </a:xfrm>
          <a:prstGeom prst="rect">
            <a:avLst/>
          </a:prstGeom>
          <a:noFill/>
        </p:spPr>
        <p:txBody>
          <a:bodyPr wrap="square">
            <a:spAutoFit/>
          </a:bodyPr>
          <a:lstStyle/>
          <a:p>
            <a:pPr>
              <a:buNone/>
            </a:pPr>
            <a:r>
              <a:rPr lang="en-GB" b="1" dirty="0"/>
              <a:t>Practical Impact</a:t>
            </a:r>
            <a:br>
              <a:rPr lang="en-GB" dirty="0"/>
            </a:br>
            <a:endParaRPr lang="en-GB" dirty="0"/>
          </a:p>
          <a:p>
            <a:pPr>
              <a:buNone/>
            </a:pPr>
            <a:r>
              <a:rPr lang="en-GB" dirty="0"/>
              <a:t>• More stable gradient signals during training</a:t>
            </a:r>
          </a:p>
          <a:p>
            <a:pPr>
              <a:buNone/>
            </a:pPr>
            <a:r>
              <a:rPr lang="en-GB" dirty="0"/>
              <a:t>• Reduced sensitivity to discriminator saturation</a:t>
            </a:r>
          </a:p>
          <a:p>
            <a:pPr>
              <a:buNone/>
            </a:pPr>
            <a:r>
              <a:rPr lang="en-GB" dirty="0"/>
              <a:t>• Improved convergence </a:t>
            </a:r>
            <a:r>
              <a:rPr lang="en-GB" dirty="0" err="1"/>
              <a:t>behavior</a:t>
            </a:r>
            <a:r>
              <a:rPr lang="en-GB" dirty="0"/>
              <a:t> and training diagnostics</a:t>
            </a:r>
          </a:p>
          <a:p>
            <a:pPr>
              <a:buNone/>
            </a:pPr>
            <a:r>
              <a:rPr lang="en-GB" dirty="0"/>
              <a:t>• Enables deeper architectures and larger batch sizes</a:t>
            </a:r>
          </a:p>
        </p:txBody>
      </p:sp>
    </p:spTree>
    <p:extLst>
      <p:ext uri="{BB962C8B-B14F-4D97-AF65-F5344CB8AC3E}">
        <p14:creationId xmlns:p14="http://schemas.microsoft.com/office/powerpoint/2010/main" val="3986040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32345-476A-4E7C-5B11-026E0075318A}"/>
              </a:ext>
            </a:extLst>
          </p:cNvPr>
          <p:cNvSpPr>
            <a:spLocks noGrp="1"/>
          </p:cNvSpPr>
          <p:nvPr>
            <p:ph type="title"/>
          </p:nvPr>
        </p:nvSpPr>
        <p:spPr/>
        <p:txBody>
          <a:bodyPr>
            <a:normAutofit/>
          </a:bodyPr>
          <a:lstStyle/>
          <a:p>
            <a:r>
              <a:rPr lang="en-GB" dirty="0"/>
              <a:t>Style-Based GANs and Memory Scaling</a:t>
            </a:r>
            <a:endParaRPr lang="en-LU" dirty="0"/>
          </a:p>
        </p:txBody>
      </p:sp>
      <p:sp>
        <p:nvSpPr>
          <p:cNvPr id="3" name="Content Placeholder 2">
            <a:extLst>
              <a:ext uri="{FF2B5EF4-FFF2-40B4-BE49-F238E27FC236}">
                <a16:creationId xmlns:a16="http://schemas.microsoft.com/office/drawing/2014/main" id="{D8241515-1378-554F-BA84-68F085BC8D3A}"/>
              </a:ext>
            </a:extLst>
          </p:cNvPr>
          <p:cNvSpPr>
            <a:spLocks noGrp="1"/>
          </p:cNvSpPr>
          <p:nvPr>
            <p:ph idx="1"/>
          </p:nvPr>
        </p:nvSpPr>
        <p:spPr>
          <a:xfrm>
            <a:off x="1024126" y="2743201"/>
            <a:ext cx="9765793" cy="1920239"/>
          </a:xfrm>
        </p:spPr>
        <p:txBody>
          <a:bodyPr/>
          <a:lstStyle/>
          <a:p>
            <a:r>
              <a:rPr lang="en-GB" dirty="0"/>
              <a:t>Style-based GAN architectures introduce a modified generator design that separates latent representation from image synthesis. This architecture improves control over generated features while enabling high-resolution image generation, but it also substantially increases computational and memory requirements.</a:t>
            </a:r>
          </a:p>
        </p:txBody>
      </p:sp>
    </p:spTree>
    <p:extLst>
      <p:ext uri="{BB962C8B-B14F-4D97-AF65-F5344CB8AC3E}">
        <p14:creationId xmlns:p14="http://schemas.microsoft.com/office/powerpoint/2010/main" val="4042771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445B5A-A416-4AE9-F8B1-FE352FD9C428}"/>
              </a:ext>
            </a:extLst>
          </p:cNvPr>
          <p:cNvSpPr>
            <a:spLocks noGrp="1"/>
          </p:cNvSpPr>
          <p:nvPr>
            <p:ph idx="1"/>
          </p:nvPr>
        </p:nvSpPr>
        <p:spPr>
          <a:xfrm>
            <a:off x="6463" y="2313432"/>
            <a:ext cx="5742432" cy="3959352"/>
          </a:xfrm>
        </p:spPr>
        <p:txBody>
          <a:bodyPr>
            <a:normAutofit/>
          </a:bodyPr>
          <a:lstStyle/>
          <a:p>
            <a:r>
              <a:rPr lang="en-GB" b="1" dirty="0"/>
              <a:t>Style-Based Generator Architecture</a:t>
            </a:r>
          </a:p>
          <a:p>
            <a:pPr lvl="1"/>
            <a:r>
              <a:rPr lang="en-GB" dirty="0"/>
              <a:t>Introduces a </a:t>
            </a:r>
            <a:r>
              <a:rPr lang="en-GB" b="1" dirty="0"/>
              <a:t>mapping network</a:t>
            </a:r>
            <a:r>
              <a:rPr lang="en-GB" dirty="0"/>
              <a:t> that transforms latent vector z into an intermediate latent space w</a:t>
            </a:r>
          </a:p>
          <a:p>
            <a:pPr lvl="1"/>
            <a:r>
              <a:rPr lang="en-GB" dirty="0"/>
              <a:t>Uses </a:t>
            </a:r>
            <a:r>
              <a:rPr lang="en-GB" b="1" dirty="0"/>
              <a:t>style modulation</a:t>
            </a:r>
            <a:r>
              <a:rPr lang="en-GB" dirty="0"/>
              <a:t> to control feature statistics at each convolutional layer</a:t>
            </a:r>
          </a:p>
          <a:p>
            <a:pPr lvl="1"/>
            <a:r>
              <a:rPr lang="en-GB" dirty="0"/>
              <a:t>Applies </a:t>
            </a:r>
            <a:r>
              <a:rPr lang="en-GB" b="1" dirty="0"/>
              <a:t>Adaptive Instance Normalization (</a:t>
            </a:r>
            <a:r>
              <a:rPr lang="en-GB" b="1" dirty="0" err="1"/>
              <a:t>AdaIN</a:t>
            </a:r>
            <a:r>
              <a:rPr lang="en-GB" b="1" dirty="0"/>
              <a:t>)</a:t>
            </a:r>
            <a:r>
              <a:rPr lang="en-GB" dirty="0"/>
              <a:t> to inject style information into the synthesis network</a:t>
            </a:r>
          </a:p>
          <a:p>
            <a:pPr lvl="1"/>
            <a:r>
              <a:rPr lang="en-GB" dirty="0"/>
              <a:t>Allows disentangled control over coarse, mid-level, and fine image features</a:t>
            </a:r>
          </a:p>
        </p:txBody>
      </p:sp>
      <p:sp>
        <p:nvSpPr>
          <p:cNvPr id="5" name="Title 1">
            <a:extLst>
              <a:ext uri="{FF2B5EF4-FFF2-40B4-BE49-F238E27FC236}">
                <a16:creationId xmlns:a16="http://schemas.microsoft.com/office/drawing/2014/main" id="{6A128D02-72CB-3C50-CB83-7C0E78E8FD87}"/>
              </a:ext>
            </a:extLst>
          </p:cNvPr>
          <p:cNvSpPr>
            <a:spLocks noGrp="1"/>
          </p:cNvSpPr>
          <p:nvPr>
            <p:ph type="title"/>
          </p:nvPr>
        </p:nvSpPr>
        <p:spPr>
          <a:xfrm>
            <a:off x="640078" y="1216152"/>
            <a:ext cx="10890929" cy="1097280"/>
          </a:xfrm>
        </p:spPr>
        <p:txBody>
          <a:bodyPr>
            <a:normAutofit/>
          </a:bodyPr>
          <a:lstStyle/>
          <a:p>
            <a:r>
              <a:rPr lang="en-GB" dirty="0"/>
              <a:t>Style-Based GANs</a:t>
            </a:r>
            <a:endParaRPr lang="en-LU" dirty="0"/>
          </a:p>
        </p:txBody>
      </p:sp>
      <p:pic>
        <p:nvPicPr>
          <p:cNvPr id="7" name="Picture 6" descr="A diagram of a computer program&#10;&#10;AI-generated content may be incorrect.">
            <a:extLst>
              <a:ext uri="{FF2B5EF4-FFF2-40B4-BE49-F238E27FC236}">
                <a16:creationId xmlns:a16="http://schemas.microsoft.com/office/drawing/2014/main" id="{32C3E441-3240-69A5-0091-DFF731EBEB36}"/>
              </a:ext>
            </a:extLst>
          </p:cNvPr>
          <p:cNvPicPr>
            <a:picLocks noChangeAspect="1"/>
          </p:cNvPicPr>
          <p:nvPr/>
        </p:nvPicPr>
        <p:blipFill>
          <a:blip r:embed="rId2"/>
          <a:stretch>
            <a:fillRect/>
          </a:stretch>
        </p:blipFill>
        <p:spPr>
          <a:xfrm>
            <a:off x="5748895" y="0"/>
            <a:ext cx="6118761" cy="6858000"/>
          </a:xfrm>
          <a:prstGeom prst="rect">
            <a:avLst/>
          </a:prstGeom>
        </p:spPr>
      </p:pic>
    </p:spTree>
    <p:extLst>
      <p:ext uri="{BB962C8B-B14F-4D97-AF65-F5344CB8AC3E}">
        <p14:creationId xmlns:p14="http://schemas.microsoft.com/office/powerpoint/2010/main" val="7597019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84586-454A-FB39-AAC3-58EA9A29FE8F}"/>
              </a:ext>
            </a:extLst>
          </p:cNvPr>
          <p:cNvSpPr>
            <a:spLocks noGrp="1"/>
          </p:cNvSpPr>
          <p:nvPr>
            <p:ph type="title"/>
          </p:nvPr>
        </p:nvSpPr>
        <p:spPr/>
        <p:txBody>
          <a:bodyPr/>
          <a:lstStyle/>
          <a:p>
            <a:r>
              <a:rPr lang="en-LU" dirty="0"/>
              <a:t>Style-Based GANs</a:t>
            </a:r>
          </a:p>
        </p:txBody>
      </p:sp>
      <p:sp>
        <p:nvSpPr>
          <p:cNvPr id="3" name="Content Placeholder 2">
            <a:extLst>
              <a:ext uri="{FF2B5EF4-FFF2-40B4-BE49-F238E27FC236}">
                <a16:creationId xmlns:a16="http://schemas.microsoft.com/office/drawing/2014/main" id="{D91A2B4C-55DF-7981-88C9-5CCCA29A4D6F}"/>
              </a:ext>
            </a:extLst>
          </p:cNvPr>
          <p:cNvSpPr>
            <a:spLocks noGrp="1"/>
          </p:cNvSpPr>
          <p:nvPr>
            <p:ph idx="1"/>
          </p:nvPr>
        </p:nvSpPr>
        <p:spPr/>
        <p:txBody>
          <a:bodyPr>
            <a:normAutofit/>
          </a:bodyPr>
          <a:lstStyle/>
          <a:p>
            <a:r>
              <a:rPr lang="en-GB" b="1" dirty="0"/>
              <a:t>High-Resolution Synthesis</a:t>
            </a:r>
          </a:p>
          <a:p>
            <a:pPr lvl="1"/>
            <a:r>
              <a:rPr lang="en-GB" dirty="0"/>
              <a:t>Generator progressively refines spatial resolution across multiple convolutional blocks</a:t>
            </a:r>
          </a:p>
          <a:p>
            <a:pPr lvl="1"/>
            <a:r>
              <a:rPr lang="en-GB" dirty="0"/>
              <a:t>Enables synthesis of images at </a:t>
            </a:r>
            <a:r>
              <a:rPr lang="en-GB" b="1" dirty="0"/>
              <a:t>1024×1024 resolution and beyond</a:t>
            </a:r>
          </a:p>
          <a:p>
            <a:pPr lvl="1"/>
            <a:r>
              <a:rPr lang="en-GB" dirty="0"/>
              <a:t>Stochastic noise injection improves local texture realism</a:t>
            </a:r>
          </a:p>
          <a:p>
            <a:r>
              <a:rPr lang="en-GB" b="1" dirty="0"/>
              <a:t>Memory and Compute Implications</a:t>
            </a:r>
          </a:p>
          <a:p>
            <a:pPr lvl="1"/>
            <a:r>
              <a:rPr lang="en-GB" dirty="0"/>
              <a:t>Increasing resolution causes </a:t>
            </a:r>
            <a:r>
              <a:rPr lang="en-GB" b="1" dirty="0"/>
              <a:t>quadratic growth in activation memory</a:t>
            </a:r>
          </a:p>
          <a:p>
            <a:pPr lvl="1"/>
            <a:r>
              <a:rPr lang="en-GB" dirty="0"/>
              <a:t>Deep synthesis networks require large intermediate feature maps</a:t>
            </a:r>
          </a:p>
          <a:p>
            <a:pPr lvl="1"/>
            <a:r>
              <a:rPr lang="en-GB" dirty="0"/>
              <a:t>Training high-resolution StyleGAN models often requires </a:t>
            </a:r>
            <a:r>
              <a:rPr lang="en-GB" b="1" dirty="0"/>
              <a:t>multi-GPU memory scaling strategies</a:t>
            </a:r>
            <a:endParaRPr lang="en-GB" dirty="0"/>
          </a:p>
          <a:p>
            <a:endParaRPr lang="en-LU" dirty="0"/>
          </a:p>
        </p:txBody>
      </p:sp>
    </p:spTree>
    <p:extLst>
      <p:ext uri="{BB962C8B-B14F-4D97-AF65-F5344CB8AC3E}">
        <p14:creationId xmlns:p14="http://schemas.microsoft.com/office/powerpoint/2010/main" val="29456581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AF1E4-DBA2-D7A7-7C3D-DC077DED8E0C}"/>
              </a:ext>
            </a:extLst>
          </p:cNvPr>
          <p:cNvSpPr>
            <a:spLocks noGrp="1"/>
          </p:cNvSpPr>
          <p:nvPr>
            <p:ph type="title"/>
          </p:nvPr>
        </p:nvSpPr>
        <p:spPr>
          <a:xfrm>
            <a:off x="650535" y="1207009"/>
            <a:ext cx="10890929" cy="1097280"/>
          </a:xfrm>
        </p:spPr>
        <p:txBody>
          <a:bodyPr>
            <a:normAutofit/>
          </a:bodyPr>
          <a:lstStyle/>
          <a:p>
            <a:r>
              <a:rPr lang="en-GB" dirty="0"/>
              <a:t>Where Computation Happens in GANs</a:t>
            </a:r>
            <a:endParaRPr lang="en-LU" dirty="0"/>
          </a:p>
        </p:txBody>
      </p:sp>
      <p:sp>
        <p:nvSpPr>
          <p:cNvPr id="3" name="Content Placeholder 2">
            <a:extLst>
              <a:ext uri="{FF2B5EF4-FFF2-40B4-BE49-F238E27FC236}">
                <a16:creationId xmlns:a16="http://schemas.microsoft.com/office/drawing/2014/main" id="{1CB553CC-6AF6-FC44-0767-65D0F1E326B5}"/>
              </a:ext>
            </a:extLst>
          </p:cNvPr>
          <p:cNvSpPr>
            <a:spLocks noGrp="1"/>
          </p:cNvSpPr>
          <p:nvPr>
            <p:ph idx="1"/>
          </p:nvPr>
        </p:nvSpPr>
        <p:spPr>
          <a:xfrm>
            <a:off x="650536" y="1883664"/>
            <a:ext cx="10890928" cy="4974336"/>
          </a:xfrm>
        </p:spPr>
        <p:txBody>
          <a:bodyPr>
            <a:normAutofit fontScale="25000" lnSpcReduction="20000"/>
          </a:bodyPr>
          <a:lstStyle/>
          <a:p>
            <a:r>
              <a:rPr lang="en-GB" sz="7200" dirty="0"/>
              <a:t>In GAN training, the computational cost arises from convolutional operations and their associated backpropagation steps. Understanding where computation is concentrated is essential for optimizing performance and effectively utilizing GPU acceleration.</a:t>
            </a:r>
          </a:p>
          <a:p>
            <a:r>
              <a:rPr lang="en-GB" sz="7200" b="1" dirty="0"/>
              <a:t>Compute Distribution in GAN Training</a:t>
            </a:r>
            <a:endParaRPr lang="en-GB" sz="7200" dirty="0"/>
          </a:p>
          <a:p>
            <a:pPr lvl="1"/>
            <a:r>
              <a:rPr lang="en-GB" sz="7000" b="1" dirty="0"/>
              <a:t>Convolutional layers dominate FLOPs</a:t>
            </a:r>
            <a:r>
              <a:rPr lang="en-GB" sz="7000" dirty="0"/>
              <a:t> in both generator and discriminator networks</a:t>
            </a:r>
          </a:p>
          <a:p>
            <a:pPr lvl="1"/>
            <a:r>
              <a:rPr lang="en-GB" sz="7200" b="1" dirty="0"/>
              <a:t>Generator compute</a:t>
            </a:r>
            <a:r>
              <a:rPr lang="en-GB" sz="7200" dirty="0"/>
              <a:t> is concentrated in </a:t>
            </a:r>
            <a:r>
              <a:rPr lang="en-GB" sz="7200" dirty="0" err="1"/>
              <a:t>upsampling</a:t>
            </a:r>
            <a:r>
              <a:rPr lang="en-GB" sz="7200" dirty="0"/>
              <a:t> blocks that progressively increase spatial resolution</a:t>
            </a:r>
          </a:p>
          <a:p>
            <a:pPr lvl="1"/>
            <a:r>
              <a:rPr lang="en-GB" sz="7200" b="1" dirty="0"/>
              <a:t>Discriminator compute</a:t>
            </a:r>
            <a:r>
              <a:rPr lang="en-GB" sz="7200" dirty="0"/>
              <a:t> is concentrated in deep convolutional feature extraction layers that process high-dimensional inputs</a:t>
            </a:r>
          </a:p>
          <a:p>
            <a:r>
              <a:rPr lang="en-GB" sz="7200" b="1" dirty="0"/>
              <a:t>Forward vs Backward Pass Cost</a:t>
            </a:r>
          </a:p>
          <a:p>
            <a:pPr lvl="1"/>
            <a:r>
              <a:rPr lang="en-GB" sz="7000" dirty="0"/>
              <a:t>Forward propagation performs feature extraction and image synthesis</a:t>
            </a:r>
          </a:p>
          <a:p>
            <a:pPr lvl="1"/>
            <a:r>
              <a:rPr lang="en-GB" sz="7000" dirty="0"/>
              <a:t>Backpropagation computes gradients for both networks and typically requires </a:t>
            </a:r>
            <a:r>
              <a:rPr lang="en-GB" sz="7000" b="1" dirty="0"/>
              <a:t>2–3× the compute of the forward pass</a:t>
            </a:r>
          </a:p>
          <a:p>
            <a:pPr lvl="1"/>
            <a:r>
              <a:rPr lang="en-GB" sz="7200" dirty="0"/>
              <a:t>Training therefore involves multiple expensive passes per iteration (generator + discriminator updates)</a:t>
            </a:r>
          </a:p>
        </p:txBody>
      </p:sp>
    </p:spTree>
    <p:extLst>
      <p:ext uri="{BB962C8B-B14F-4D97-AF65-F5344CB8AC3E}">
        <p14:creationId xmlns:p14="http://schemas.microsoft.com/office/powerpoint/2010/main" val="26583459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5BF43-E6BA-E1EF-FF6F-B41859C919B1}"/>
              </a:ext>
            </a:extLst>
          </p:cNvPr>
          <p:cNvSpPr>
            <a:spLocks noGrp="1"/>
          </p:cNvSpPr>
          <p:nvPr>
            <p:ph type="title"/>
          </p:nvPr>
        </p:nvSpPr>
        <p:spPr/>
        <p:txBody>
          <a:bodyPr/>
          <a:lstStyle/>
          <a:p>
            <a:r>
              <a:rPr lang="en-GB" dirty="0"/>
              <a:t>Where Computation Happens in GANs</a:t>
            </a:r>
            <a:endParaRPr lang="en-LU" dirty="0"/>
          </a:p>
        </p:txBody>
      </p:sp>
      <p:sp>
        <p:nvSpPr>
          <p:cNvPr id="3" name="Content Placeholder 2">
            <a:extLst>
              <a:ext uri="{FF2B5EF4-FFF2-40B4-BE49-F238E27FC236}">
                <a16:creationId xmlns:a16="http://schemas.microsoft.com/office/drawing/2014/main" id="{6843C8F7-9CA4-ACC7-441C-0F5365DE8B23}"/>
              </a:ext>
            </a:extLst>
          </p:cNvPr>
          <p:cNvSpPr>
            <a:spLocks noGrp="1"/>
          </p:cNvSpPr>
          <p:nvPr>
            <p:ph idx="1"/>
          </p:nvPr>
        </p:nvSpPr>
        <p:spPr>
          <a:xfrm>
            <a:off x="640080" y="2633472"/>
            <a:ext cx="10890928" cy="3163824"/>
          </a:xfrm>
        </p:spPr>
        <p:txBody>
          <a:bodyPr>
            <a:normAutofit fontScale="55000" lnSpcReduction="20000"/>
          </a:bodyPr>
          <a:lstStyle/>
          <a:p>
            <a:r>
              <a:rPr lang="en-GB" sz="3300" b="1" dirty="0"/>
              <a:t>Memory–Compute Interaction</a:t>
            </a:r>
          </a:p>
          <a:p>
            <a:pPr lvl="1"/>
            <a:r>
              <a:rPr lang="en-GB" sz="3100" dirty="0"/>
              <a:t>Intermediate activations must be stored during the forward pass for gradient computation</a:t>
            </a:r>
          </a:p>
          <a:p>
            <a:pPr lvl="1"/>
            <a:r>
              <a:rPr lang="en-GB" sz="3300" dirty="0"/>
              <a:t>Large feature maps in high-resolution generators increase </a:t>
            </a:r>
            <a:r>
              <a:rPr lang="en-GB" sz="3300" b="1" dirty="0"/>
              <a:t>memory bandwidth pressure</a:t>
            </a:r>
          </a:p>
          <a:p>
            <a:pPr lvl="1"/>
            <a:r>
              <a:rPr lang="en-GB" sz="3300" dirty="0"/>
              <a:t>Efficient GPU utilization depends on balancing compute intensity with memory access patterns</a:t>
            </a:r>
          </a:p>
          <a:p>
            <a:r>
              <a:rPr lang="en-GB" sz="3300" b="1" dirty="0"/>
              <a:t>Key Insight</a:t>
            </a:r>
          </a:p>
          <a:p>
            <a:pPr marL="0" indent="0">
              <a:buNone/>
            </a:pPr>
            <a:r>
              <a:rPr lang="en-GB" sz="3300" dirty="0"/>
              <a:t>GAN training performance is primarily determined by </a:t>
            </a:r>
            <a:r>
              <a:rPr lang="en-GB" sz="3300" b="1" dirty="0"/>
              <a:t>GPU throughput for convolution operations and memory bandwidth for activation storage</a:t>
            </a:r>
            <a:r>
              <a:rPr lang="en-GB" sz="3300" dirty="0"/>
              <a:t>, making GPU architecture and memory efficiency central factors in training scalability.</a:t>
            </a:r>
          </a:p>
          <a:p>
            <a:endParaRPr lang="en-LU" dirty="0"/>
          </a:p>
        </p:txBody>
      </p:sp>
    </p:spTree>
    <p:extLst>
      <p:ext uri="{BB962C8B-B14F-4D97-AF65-F5344CB8AC3E}">
        <p14:creationId xmlns:p14="http://schemas.microsoft.com/office/powerpoint/2010/main" val="22468575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2A878-B0A6-F7C7-A985-30589EB608DA}"/>
              </a:ext>
            </a:extLst>
          </p:cNvPr>
          <p:cNvSpPr>
            <a:spLocks noGrp="1"/>
          </p:cNvSpPr>
          <p:nvPr>
            <p:ph type="title"/>
          </p:nvPr>
        </p:nvSpPr>
        <p:spPr>
          <a:xfrm>
            <a:off x="650535" y="1170433"/>
            <a:ext cx="10890929" cy="1097280"/>
          </a:xfrm>
        </p:spPr>
        <p:txBody>
          <a:bodyPr>
            <a:normAutofit fontScale="90000"/>
          </a:bodyPr>
          <a:lstStyle/>
          <a:p>
            <a:r>
              <a:rPr lang="en-GB" dirty="0"/>
              <a:t>Memory Consumption Breakdown (Parameters, Activations, Optimizer)</a:t>
            </a:r>
          </a:p>
        </p:txBody>
      </p:sp>
      <p:sp>
        <p:nvSpPr>
          <p:cNvPr id="3" name="Content Placeholder 2">
            <a:extLst>
              <a:ext uri="{FF2B5EF4-FFF2-40B4-BE49-F238E27FC236}">
                <a16:creationId xmlns:a16="http://schemas.microsoft.com/office/drawing/2014/main" id="{43FA8287-586B-5A28-A25B-19771EE5DFDD}"/>
              </a:ext>
            </a:extLst>
          </p:cNvPr>
          <p:cNvSpPr>
            <a:spLocks noGrp="1"/>
          </p:cNvSpPr>
          <p:nvPr>
            <p:ph idx="1"/>
          </p:nvPr>
        </p:nvSpPr>
        <p:spPr>
          <a:xfrm>
            <a:off x="640080" y="2267713"/>
            <a:ext cx="10890928" cy="4590287"/>
          </a:xfrm>
        </p:spPr>
        <p:txBody>
          <a:bodyPr>
            <a:normAutofit fontScale="70000" lnSpcReduction="20000"/>
          </a:bodyPr>
          <a:lstStyle/>
          <a:p>
            <a:r>
              <a:rPr lang="en-GB" dirty="0"/>
              <a:t>During GAN training, GPU memory consumption arises from three primary components: model parameters, intermediate activations required for backpropagation, and optimizer states. Efficient memory management is essential for enabling larger batch sizes, deeper architectures, and higher-resolution image generation.</a:t>
            </a:r>
          </a:p>
          <a:p>
            <a:pPr marL="457200" indent="-457200">
              <a:buFont typeface="+mj-lt"/>
              <a:buAutoNum type="arabicPeriod"/>
            </a:pPr>
            <a:r>
              <a:rPr lang="en-GB" b="1" dirty="0"/>
              <a:t>Model Parameters</a:t>
            </a:r>
          </a:p>
          <a:p>
            <a:pPr lvl="1"/>
            <a:r>
              <a:rPr lang="en-GB" dirty="0"/>
              <a:t> Includes weights and biases of both </a:t>
            </a:r>
            <a:r>
              <a:rPr lang="en-GB" b="1" dirty="0"/>
              <a:t>generator and discriminator networks</a:t>
            </a:r>
          </a:p>
          <a:p>
            <a:pPr lvl="1"/>
            <a:r>
              <a:rPr lang="en-GB" dirty="0"/>
              <a:t>Memory requirement scales with </a:t>
            </a:r>
            <a:r>
              <a:rPr lang="en-GB" b="1" dirty="0"/>
              <a:t>network depth and number of convolutional filters</a:t>
            </a:r>
          </a:p>
          <a:p>
            <a:pPr lvl="1"/>
            <a:r>
              <a:rPr lang="en-GB" dirty="0"/>
              <a:t>Stored in GPU memory for both forward and backward computation</a:t>
            </a:r>
          </a:p>
          <a:p>
            <a:pPr marL="457200" indent="-457200">
              <a:buFont typeface="+mj-lt"/>
              <a:buAutoNum type="arabicPeriod"/>
            </a:pPr>
            <a:r>
              <a:rPr lang="en-GB" b="1" dirty="0"/>
              <a:t>Activation Tensors</a:t>
            </a:r>
          </a:p>
          <a:p>
            <a:pPr lvl="1"/>
            <a:r>
              <a:rPr lang="en-GB" dirty="0"/>
              <a:t>Intermediate feature maps produced during forward propagation</a:t>
            </a:r>
          </a:p>
          <a:p>
            <a:pPr lvl="1"/>
            <a:r>
              <a:rPr lang="en-GB" dirty="0"/>
              <a:t>Must be retained for gradient computation during backpropagation</a:t>
            </a:r>
          </a:p>
          <a:p>
            <a:pPr lvl="1"/>
            <a:r>
              <a:rPr lang="en-GB" dirty="0"/>
              <a:t>Memory usage increases rapidly with </a:t>
            </a:r>
            <a:r>
              <a:rPr lang="en-GB" b="1" dirty="0"/>
              <a:t>image resolution and batch size</a:t>
            </a:r>
          </a:p>
          <a:p>
            <a:pPr lvl="1"/>
            <a:r>
              <a:rPr lang="en-GB" dirty="0"/>
              <a:t>Typically represents the </a:t>
            </a:r>
            <a:r>
              <a:rPr lang="en-GB" b="1" dirty="0"/>
              <a:t>largest portion of GPU memory consumption</a:t>
            </a:r>
            <a:endParaRPr lang="en-GB" dirty="0"/>
          </a:p>
          <a:p>
            <a:pPr marL="457200" indent="-457200">
              <a:buFont typeface="+mj-lt"/>
              <a:buAutoNum type="arabicPeriod"/>
            </a:pPr>
            <a:r>
              <a:rPr lang="en-GB" b="1" dirty="0"/>
              <a:t>Optimizer States</a:t>
            </a:r>
          </a:p>
          <a:p>
            <a:pPr lvl="1"/>
            <a:r>
              <a:rPr lang="en-GB" dirty="0"/>
              <a:t>Adaptive optimizers (e.g., Adam) store additional moment estimates for each parameter</a:t>
            </a:r>
          </a:p>
          <a:p>
            <a:pPr lvl="1"/>
            <a:r>
              <a:rPr lang="en-GB" dirty="0"/>
              <a:t>Requires storing </a:t>
            </a:r>
            <a:r>
              <a:rPr lang="en-GB" b="1" dirty="0"/>
              <a:t>first and second moment statistics</a:t>
            </a:r>
          </a:p>
          <a:p>
            <a:pPr lvl="1"/>
            <a:r>
              <a:rPr lang="en-GB" dirty="0"/>
              <a:t>Effectively multiplies parameter memory footprint by a constant factor</a:t>
            </a:r>
          </a:p>
          <a:p>
            <a:endParaRPr lang="en-LU" dirty="0"/>
          </a:p>
        </p:txBody>
      </p:sp>
    </p:spTree>
    <p:extLst>
      <p:ext uri="{BB962C8B-B14F-4D97-AF65-F5344CB8AC3E}">
        <p14:creationId xmlns:p14="http://schemas.microsoft.com/office/powerpoint/2010/main" val="8219145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3694A-BC5A-6DFF-3582-82B31961CB8A}"/>
              </a:ext>
            </a:extLst>
          </p:cNvPr>
          <p:cNvSpPr>
            <a:spLocks noGrp="1"/>
          </p:cNvSpPr>
          <p:nvPr>
            <p:ph type="title"/>
          </p:nvPr>
        </p:nvSpPr>
        <p:spPr>
          <a:xfrm>
            <a:off x="650535" y="1078993"/>
            <a:ext cx="10890929" cy="1097280"/>
          </a:xfrm>
        </p:spPr>
        <p:txBody>
          <a:bodyPr>
            <a:normAutofit fontScale="90000"/>
          </a:bodyPr>
          <a:lstStyle/>
          <a:p>
            <a:r>
              <a:rPr lang="en-GB" dirty="0"/>
              <a:t>Architectural Scaling: Resolution vs Compute Cost</a:t>
            </a:r>
            <a:endParaRPr lang="en-LU" dirty="0"/>
          </a:p>
        </p:txBody>
      </p:sp>
      <p:sp>
        <p:nvSpPr>
          <p:cNvPr id="3" name="Content Placeholder 2">
            <a:extLst>
              <a:ext uri="{FF2B5EF4-FFF2-40B4-BE49-F238E27FC236}">
                <a16:creationId xmlns:a16="http://schemas.microsoft.com/office/drawing/2014/main" id="{1FC4D766-C0BE-D169-37C1-CBEB25948912}"/>
              </a:ext>
            </a:extLst>
          </p:cNvPr>
          <p:cNvSpPr>
            <a:spLocks noGrp="1"/>
          </p:cNvSpPr>
          <p:nvPr>
            <p:ph idx="1"/>
          </p:nvPr>
        </p:nvSpPr>
        <p:spPr>
          <a:xfrm>
            <a:off x="225551" y="1964690"/>
            <a:ext cx="11740896" cy="4480560"/>
          </a:xfrm>
        </p:spPr>
        <p:txBody>
          <a:bodyPr>
            <a:normAutofit fontScale="77500" lnSpcReduction="20000"/>
          </a:bodyPr>
          <a:lstStyle/>
          <a:p>
            <a:r>
              <a:rPr lang="en-GB" dirty="0"/>
              <a:t>In GAN architectures, computational cost increases rapidly with image resolution due to the expansion of spatial feature maps and the repeated application of convolutional operations. As resolution grows, both the number of floating-point operations (FLOPs) and memory requirements scale significantly, making high-resolution generation computationally demanding.</a:t>
            </a:r>
          </a:p>
          <a:p>
            <a:r>
              <a:rPr lang="en-GB" b="1" dirty="0"/>
              <a:t>Resolution and Computational Complexity</a:t>
            </a:r>
          </a:p>
          <a:p>
            <a:pPr lvl="1"/>
            <a:r>
              <a:rPr lang="en-GB" dirty="0"/>
              <a:t>Image resolution determines the spatial size of intermediate feature maps</a:t>
            </a:r>
          </a:p>
          <a:p>
            <a:pPr lvl="1"/>
            <a:r>
              <a:rPr lang="en-GB" dirty="0"/>
              <a:t>Convolutional operations scale approximately with:</a:t>
            </a:r>
          </a:p>
          <a:p>
            <a:r>
              <a:rPr lang="en-GB" b="1" dirty="0"/>
              <a:t>Impact on Generator and Discriminator</a:t>
            </a:r>
            <a:endParaRPr lang="en-GB" dirty="0"/>
          </a:p>
          <a:p>
            <a:pPr lvl="1"/>
            <a:r>
              <a:rPr lang="en-GB" b="1" dirty="0"/>
              <a:t>Generator:</a:t>
            </a:r>
            <a:r>
              <a:rPr lang="en-GB" dirty="0"/>
              <a:t> </a:t>
            </a:r>
            <a:r>
              <a:rPr lang="en-GB" dirty="0" err="1"/>
              <a:t>upsampling</a:t>
            </a:r>
            <a:r>
              <a:rPr lang="en-GB" dirty="0"/>
              <a:t> stages progressively increase spatial dimensions, amplifying compute cost</a:t>
            </a:r>
          </a:p>
          <a:p>
            <a:pPr lvl="1"/>
            <a:r>
              <a:rPr lang="en-GB" b="1" dirty="0"/>
              <a:t>Discriminator:</a:t>
            </a:r>
            <a:r>
              <a:rPr lang="en-GB" dirty="0"/>
              <a:t> high-resolution inputs require deeper convolutional stacks for feature extraction</a:t>
            </a:r>
          </a:p>
          <a:p>
            <a:pPr lvl="1"/>
            <a:r>
              <a:rPr lang="en-GB" dirty="0"/>
              <a:t>Training therefore scales roughly </a:t>
            </a:r>
            <a:r>
              <a:rPr lang="en-GB" b="1" dirty="0"/>
              <a:t>quadratically with image resolution</a:t>
            </a:r>
            <a:endParaRPr lang="en-GB" dirty="0"/>
          </a:p>
          <a:p>
            <a:r>
              <a:rPr lang="en-GB" dirty="0"/>
              <a:t> </a:t>
            </a:r>
            <a:r>
              <a:rPr lang="en-GB" b="1" dirty="0"/>
              <a:t>Memory Implications</a:t>
            </a:r>
          </a:p>
          <a:p>
            <a:pPr lvl="1"/>
            <a:r>
              <a:rPr lang="en-GB" dirty="0"/>
              <a:t>Larger feature maps increase activation storage requirements</a:t>
            </a:r>
          </a:p>
          <a:p>
            <a:pPr lvl="1"/>
            <a:r>
              <a:rPr lang="en-GB" dirty="0"/>
              <a:t>Higher resolution often requires </a:t>
            </a:r>
            <a:r>
              <a:rPr lang="en-GB" b="1" dirty="0"/>
              <a:t>smaller batch sizes</a:t>
            </a:r>
            <a:r>
              <a:rPr lang="en-GB" dirty="0"/>
              <a:t> to fit GPU memory</a:t>
            </a:r>
          </a:p>
          <a:p>
            <a:pPr lvl="1"/>
            <a:r>
              <a:rPr lang="en-GB" dirty="0"/>
              <a:t>Memory bandwidth becomes a limiting factor for training throughput</a:t>
            </a:r>
          </a:p>
          <a:p>
            <a:endParaRPr lang="en-GB" dirty="0"/>
          </a:p>
          <a:p>
            <a:endParaRPr lang="en-GB" dirty="0"/>
          </a:p>
        </p:txBody>
      </p:sp>
      <p:pic>
        <p:nvPicPr>
          <p:cNvPr id="5" name="Picture 4" descr="A black letter x and w&#10;&#10;AI-generated content may be incorrect.">
            <a:extLst>
              <a:ext uri="{FF2B5EF4-FFF2-40B4-BE49-F238E27FC236}">
                <a16:creationId xmlns:a16="http://schemas.microsoft.com/office/drawing/2014/main" id="{EDA2AD27-E787-E7EE-F6E4-A4F885559A81}"/>
              </a:ext>
            </a:extLst>
          </p:cNvPr>
          <p:cNvPicPr>
            <a:picLocks noChangeAspect="1"/>
          </p:cNvPicPr>
          <p:nvPr/>
        </p:nvPicPr>
        <p:blipFill>
          <a:blip r:embed="rId2"/>
          <a:stretch>
            <a:fillRect/>
          </a:stretch>
        </p:blipFill>
        <p:spPr>
          <a:xfrm>
            <a:off x="4817999" y="3394463"/>
            <a:ext cx="2556000" cy="325105"/>
          </a:xfrm>
          <a:prstGeom prst="rect">
            <a:avLst/>
          </a:prstGeom>
        </p:spPr>
      </p:pic>
    </p:spTree>
    <p:extLst>
      <p:ext uri="{BB962C8B-B14F-4D97-AF65-F5344CB8AC3E}">
        <p14:creationId xmlns:p14="http://schemas.microsoft.com/office/powerpoint/2010/main" val="41404787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56B89-3AD5-1F91-C408-8A07A521F435}"/>
              </a:ext>
            </a:extLst>
          </p:cNvPr>
          <p:cNvSpPr>
            <a:spLocks noGrp="1"/>
          </p:cNvSpPr>
          <p:nvPr>
            <p:ph type="title"/>
          </p:nvPr>
        </p:nvSpPr>
        <p:spPr/>
        <p:txBody>
          <a:bodyPr>
            <a:normAutofit fontScale="90000"/>
          </a:bodyPr>
          <a:lstStyle/>
          <a:p>
            <a:r>
              <a:rPr lang="en-LU" dirty="0"/>
              <a:t>Exercise 2: Architectural Modifications and Performance Analysis</a:t>
            </a:r>
          </a:p>
        </p:txBody>
      </p:sp>
      <p:sp>
        <p:nvSpPr>
          <p:cNvPr id="3" name="Content Placeholder 2">
            <a:extLst>
              <a:ext uri="{FF2B5EF4-FFF2-40B4-BE49-F238E27FC236}">
                <a16:creationId xmlns:a16="http://schemas.microsoft.com/office/drawing/2014/main" id="{FA9C5EDE-71BD-B26C-0593-14A312D0724E}"/>
              </a:ext>
            </a:extLst>
          </p:cNvPr>
          <p:cNvSpPr>
            <a:spLocks noGrp="1"/>
          </p:cNvSpPr>
          <p:nvPr>
            <p:ph idx="1"/>
          </p:nvPr>
        </p:nvSpPr>
        <p:spPr/>
        <p:txBody>
          <a:bodyPr/>
          <a:lstStyle/>
          <a:p>
            <a:endParaRPr lang="en-LU" dirty="0"/>
          </a:p>
        </p:txBody>
      </p:sp>
    </p:spTree>
    <p:extLst>
      <p:ext uri="{BB962C8B-B14F-4D97-AF65-F5344CB8AC3E}">
        <p14:creationId xmlns:p14="http://schemas.microsoft.com/office/powerpoint/2010/main" val="9981296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89242-4677-106D-088D-029209DA9F2D}"/>
              </a:ext>
            </a:extLst>
          </p:cNvPr>
          <p:cNvSpPr>
            <a:spLocks noGrp="1"/>
          </p:cNvSpPr>
          <p:nvPr>
            <p:ph type="title"/>
          </p:nvPr>
        </p:nvSpPr>
        <p:spPr>
          <a:xfrm>
            <a:off x="650535" y="1133857"/>
            <a:ext cx="10890929" cy="1097280"/>
          </a:xfrm>
        </p:spPr>
        <p:txBody>
          <a:bodyPr>
            <a:normAutofit/>
          </a:bodyPr>
          <a:lstStyle/>
          <a:p>
            <a:r>
              <a:rPr lang="en-GB" dirty="0"/>
              <a:t>HPC System Architecture for Deep Learning</a:t>
            </a:r>
            <a:endParaRPr lang="en-LU" dirty="0"/>
          </a:p>
        </p:txBody>
      </p:sp>
      <p:sp>
        <p:nvSpPr>
          <p:cNvPr id="3" name="Content Placeholder 2">
            <a:extLst>
              <a:ext uri="{FF2B5EF4-FFF2-40B4-BE49-F238E27FC236}">
                <a16:creationId xmlns:a16="http://schemas.microsoft.com/office/drawing/2014/main" id="{49C1CEFD-C542-B56A-D9B1-8D662F585671}"/>
              </a:ext>
            </a:extLst>
          </p:cNvPr>
          <p:cNvSpPr>
            <a:spLocks noGrp="1"/>
          </p:cNvSpPr>
          <p:nvPr>
            <p:ph idx="1"/>
          </p:nvPr>
        </p:nvSpPr>
        <p:spPr>
          <a:xfrm>
            <a:off x="640080" y="1956816"/>
            <a:ext cx="10890928" cy="4901184"/>
          </a:xfrm>
        </p:spPr>
        <p:txBody>
          <a:bodyPr numCol="2">
            <a:normAutofit fontScale="77500" lnSpcReduction="20000"/>
          </a:bodyPr>
          <a:lstStyle/>
          <a:p>
            <a:r>
              <a:rPr lang="en-GB" sz="1800" dirty="0"/>
              <a:t>High-Performance Computing (HPC) systems provide the computational infrastructure required for training large-scale deep learning models. These systems integrate heterogeneous compute resources, high-bandwidth memory, and high-speed interconnects to support massively parallel workloads typical in modern neural network training</a:t>
            </a:r>
            <a:r>
              <a:rPr lang="en-GB" dirty="0"/>
              <a:t>.</a:t>
            </a:r>
          </a:p>
          <a:p>
            <a:pPr marL="0" indent="0">
              <a:buNone/>
            </a:pPr>
            <a:r>
              <a:rPr lang="en-GB" b="1" dirty="0"/>
              <a:t>Core Components of an HPC Deep Learning System</a:t>
            </a:r>
          </a:p>
          <a:p>
            <a:r>
              <a:rPr lang="en-GB" b="1" dirty="0"/>
              <a:t>Compute Nodes</a:t>
            </a:r>
          </a:p>
          <a:p>
            <a:pPr lvl="1"/>
            <a:r>
              <a:rPr lang="en-GB" dirty="0"/>
              <a:t>Each node typically contains </a:t>
            </a:r>
            <a:r>
              <a:rPr lang="en-GB" b="1" dirty="0"/>
              <a:t>multiple GPUs and multi-core CPUs</a:t>
            </a:r>
          </a:p>
          <a:p>
            <a:pPr lvl="1"/>
            <a:r>
              <a:rPr lang="en-GB" dirty="0"/>
              <a:t>CPUs manage data preprocessing, orchestration, and communication tasks</a:t>
            </a:r>
          </a:p>
          <a:p>
            <a:pPr lvl="1"/>
            <a:r>
              <a:rPr lang="en-GB" dirty="0"/>
              <a:t>GPUs execute computationally intensive operations such as matrix multiplications and convolutional kernels</a:t>
            </a:r>
          </a:p>
          <a:p>
            <a:r>
              <a:rPr lang="en-GB" b="1" dirty="0"/>
              <a:t>Accelerator Hardware</a:t>
            </a:r>
          </a:p>
          <a:p>
            <a:pPr lvl="1"/>
            <a:r>
              <a:rPr lang="en-GB" dirty="0"/>
              <a:t>GPUs provide </a:t>
            </a:r>
            <a:r>
              <a:rPr lang="en-GB" b="1" dirty="0"/>
              <a:t>massively parallel execution units</a:t>
            </a:r>
            <a:r>
              <a:rPr lang="en-GB" dirty="0"/>
              <a:t> optimized for tensor operations</a:t>
            </a:r>
          </a:p>
          <a:p>
            <a:pPr lvl="1"/>
            <a:r>
              <a:rPr lang="en-GB" dirty="0"/>
              <a:t>Tensor cores accelerate mixed-precision matrix multiplications</a:t>
            </a:r>
          </a:p>
          <a:p>
            <a:pPr lvl="1"/>
            <a:r>
              <a:rPr lang="en-GB" dirty="0"/>
              <a:t>High memory bandwidth enables efficient handling of large activation tensors</a:t>
            </a:r>
          </a:p>
          <a:p>
            <a:r>
              <a:rPr lang="en-GB" b="1" dirty="0"/>
              <a:t>High-Speed Interconnects</a:t>
            </a:r>
          </a:p>
          <a:p>
            <a:pPr lvl="1"/>
            <a:r>
              <a:rPr lang="en-GB" dirty="0"/>
              <a:t>GPUs within a node communicate via </a:t>
            </a:r>
            <a:r>
              <a:rPr lang="en-GB" b="1" dirty="0"/>
              <a:t>PCIe or </a:t>
            </a:r>
            <a:r>
              <a:rPr lang="en-GB" b="1" dirty="0" err="1"/>
              <a:t>NVLink</a:t>
            </a:r>
            <a:endParaRPr lang="en-GB" b="1" dirty="0"/>
          </a:p>
          <a:p>
            <a:pPr lvl="1"/>
            <a:r>
              <a:rPr lang="en-GB" dirty="0"/>
              <a:t>Multi-node communication occurs through </a:t>
            </a:r>
            <a:r>
              <a:rPr lang="en-GB" b="1" dirty="0" err="1"/>
              <a:t>Infiniband</a:t>
            </a:r>
            <a:r>
              <a:rPr lang="en-GB" b="1" dirty="0"/>
              <a:t> or high-speed Ethernet</a:t>
            </a:r>
          </a:p>
          <a:p>
            <a:pPr lvl="1"/>
            <a:r>
              <a:rPr lang="en-GB" dirty="0"/>
              <a:t>Low-latency interconnects are critical for distributed gradient synchronization</a:t>
            </a:r>
          </a:p>
          <a:p>
            <a:r>
              <a:rPr lang="en-GB" b="1" dirty="0"/>
              <a:t>Storage and Data Infrastructure</a:t>
            </a:r>
          </a:p>
          <a:p>
            <a:pPr lvl="1"/>
            <a:r>
              <a:rPr lang="en-GB" dirty="0"/>
              <a:t>Parallel file systems (e.g., Lustre, GPFS) support high-throughput data access</a:t>
            </a:r>
          </a:p>
          <a:p>
            <a:pPr lvl="1"/>
            <a:r>
              <a:rPr lang="en-GB" dirty="0"/>
              <a:t>Local SSD storage often used for dataset caching</a:t>
            </a:r>
          </a:p>
          <a:p>
            <a:pPr lvl="1"/>
            <a:r>
              <a:rPr lang="en-GB" dirty="0"/>
              <a:t>Efficient data pipelines are required to prevent compute resource starvation</a:t>
            </a:r>
          </a:p>
          <a:p>
            <a:pPr marL="0" indent="0">
              <a:buNone/>
            </a:pPr>
            <a:endParaRPr lang="en-GB" dirty="0"/>
          </a:p>
          <a:p>
            <a:pPr marL="0" indent="0">
              <a:buNone/>
            </a:pPr>
            <a:endParaRPr lang="en-LU" dirty="0"/>
          </a:p>
        </p:txBody>
      </p:sp>
    </p:spTree>
    <p:extLst>
      <p:ext uri="{BB962C8B-B14F-4D97-AF65-F5344CB8AC3E}">
        <p14:creationId xmlns:p14="http://schemas.microsoft.com/office/powerpoint/2010/main" val="6519068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A02AD-6B87-D5F2-9AA3-DE7783458554}"/>
              </a:ext>
            </a:extLst>
          </p:cNvPr>
          <p:cNvSpPr>
            <a:spLocks noGrp="1"/>
          </p:cNvSpPr>
          <p:nvPr>
            <p:ph type="title"/>
          </p:nvPr>
        </p:nvSpPr>
        <p:spPr>
          <a:xfrm>
            <a:off x="650535" y="1133857"/>
            <a:ext cx="10890929" cy="731519"/>
          </a:xfrm>
        </p:spPr>
        <p:txBody>
          <a:bodyPr>
            <a:normAutofit/>
          </a:bodyPr>
          <a:lstStyle/>
          <a:p>
            <a:r>
              <a:rPr lang="en-GB" dirty="0"/>
              <a:t>CPU vs GPU</a:t>
            </a:r>
            <a:endParaRPr lang="en-LU" dirty="0"/>
          </a:p>
        </p:txBody>
      </p:sp>
      <p:sp>
        <p:nvSpPr>
          <p:cNvPr id="3" name="Content Placeholder 2">
            <a:extLst>
              <a:ext uri="{FF2B5EF4-FFF2-40B4-BE49-F238E27FC236}">
                <a16:creationId xmlns:a16="http://schemas.microsoft.com/office/drawing/2014/main" id="{D26C6778-4E3F-9E7A-642A-02345B61FCD6}"/>
              </a:ext>
            </a:extLst>
          </p:cNvPr>
          <p:cNvSpPr>
            <a:spLocks noGrp="1"/>
          </p:cNvSpPr>
          <p:nvPr>
            <p:ph idx="1"/>
          </p:nvPr>
        </p:nvSpPr>
        <p:spPr>
          <a:xfrm>
            <a:off x="640080" y="1865376"/>
            <a:ext cx="10890928" cy="4828032"/>
          </a:xfrm>
        </p:spPr>
        <p:txBody>
          <a:bodyPr numCol="2">
            <a:normAutofit fontScale="85000" lnSpcReduction="20000"/>
          </a:bodyPr>
          <a:lstStyle/>
          <a:p>
            <a:r>
              <a:rPr lang="en-GB" sz="1800" dirty="0"/>
              <a:t>Efficient deep learning training relies on a clear functional separation between CPU and GPU resources. While GPUs execute highly parallel numerical computations, CPUs coordinate data preparation, system orchestration, and host-side processing required to maintain continuous GPU utilization.</a:t>
            </a:r>
          </a:p>
          <a:p>
            <a:r>
              <a:rPr lang="en-GB" b="1" dirty="0"/>
              <a:t>GPU Responsibilities</a:t>
            </a:r>
          </a:p>
          <a:p>
            <a:pPr lvl="1"/>
            <a:r>
              <a:rPr lang="en-GB" dirty="0"/>
              <a:t>Execute </a:t>
            </a:r>
            <a:r>
              <a:rPr lang="en-GB" b="1" dirty="0"/>
              <a:t>compute-intensive tensor operations</a:t>
            </a:r>
            <a:r>
              <a:rPr lang="en-GB" dirty="0"/>
              <a:t> such as matrix multiplications and convolutions</a:t>
            </a:r>
          </a:p>
          <a:p>
            <a:pPr lvl="1"/>
            <a:r>
              <a:rPr lang="en-GB" dirty="0"/>
              <a:t>Perform </a:t>
            </a:r>
            <a:r>
              <a:rPr lang="en-GB" b="1" dirty="0"/>
              <a:t>forward and backward propagation</a:t>
            </a:r>
            <a:r>
              <a:rPr lang="en-GB" dirty="0"/>
              <a:t> during neural network training</a:t>
            </a:r>
          </a:p>
          <a:p>
            <a:pPr lvl="1"/>
            <a:r>
              <a:rPr lang="en-GB" dirty="0"/>
              <a:t>Maintain model parameters, gradients, and intermediate activations in device memory</a:t>
            </a:r>
          </a:p>
          <a:p>
            <a:pPr lvl="1"/>
            <a:r>
              <a:rPr lang="en-GB" dirty="0"/>
              <a:t>Accelerate training through specialized hardware units (e.g., </a:t>
            </a:r>
            <a:r>
              <a:rPr lang="en-GB" b="1" dirty="0"/>
              <a:t>tensor cores for mixed-precision computation</a:t>
            </a:r>
            <a:r>
              <a:rPr lang="en-GB" dirty="0"/>
              <a:t>)</a:t>
            </a:r>
          </a:p>
          <a:p>
            <a:pPr lvl="1"/>
            <a:endParaRPr lang="en-GB" dirty="0"/>
          </a:p>
          <a:p>
            <a:pPr marL="265176" lvl="1" indent="0">
              <a:buNone/>
            </a:pPr>
            <a:endParaRPr lang="en-GB" dirty="0"/>
          </a:p>
          <a:p>
            <a:r>
              <a:rPr lang="en-GB" b="1" dirty="0"/>
              <a:t>CPU Responsibilities</a:t>
            </a:r>
          </a:p>
          <a:p>
            <a:pPr lvl="1"/>
            <a:r>
              <a:rPr lang="en-GB" dirty="0"/>
              <a:t>Manage </a:t>
            </a:r>
            <a:r>
              <a:rPr lang="en-GB" b="1" dirty="0"/>
              <a:t>data loading, decoding, and preprocessing pipelines</a:t>
            </a:r>
          </a:p>
          <a:p>
            <a:pPr lvl="1"/>
            <a:r>
              <a:rPr lang="en-GB" dirty="0"/>
              <a:t>Perform dataset transformations and augmentation operations</a:t>
            </a:r>
          </a:p>
          <a:p>
            <a:pPr lvl="1"/>
            <a:r>
              <a:rPr lang="en-GB" dirty="0"/>
              <a:t>Coordinate </a:t>
            </a:r>
            <a:r>
              <a:rPr lang="en-GB" b="1" dirty="0"/>
              <a:t>training orchestration</a:t>
            </a:r>
            <a:r>
              <a:rPr lang="en-GB" dirty="0"/>
              <a:t>, including batching, scheduling, and process control</a:t>
            </a:r>
          </a:p>
          <a:p>
            <a:pPr lvl="1"/>
            <a:r>
              <a:rPr lang="en-GB" dirty="0"/>
              <a:t>Handle logging, monitoring, checkpointing, and evaluation tasks</a:t>
            </a:r>
          </a:p>
          <a:p>
            <a:r>
              <a:rPr lang="en-GB" b="1" dirty="0"/>
              <a:t>CPU–GPU Interaction</a:t>
            </a:r>
          </a:p>
          <a:p>
            <a:pPr lvl="1"/>
            <a:r>
              <a:rPr lang="en-GB" dirty="0"/>
              <a:t>CPU prepares and transfers training batches to GPU memory</a:t>
            </a:r>
          </a:p>
          <a:p>
            <a:pPr lvl="1"/>
            <a:r>
              <a:rPr lang="en-GB" dirty="0"/>
              <a:t>Asynchronous data transfers allow </a:t>
            </a:r>
            <a:r>
              <a:rPr lang="en-GB" b="1" dirty="0"/>
              <a:t>overlap of computation and data preparation</a:t>
            </a:r>
          </a:p>
          <a:p>
            <a:pPr lvl="1"/>
            <a:r>
              <a:rPr lang="en-GB" dirty="0"/>
              <a:t>Efficient host–device communication is necessary to avoid </a:t>
            </a:r>
            <a:r>
              <a:rPr lang="en-GB" b="1" dirty="0"/>
              <a:t>GPU idle time</a:t>
            </a:r>
            <a:endParaRPr lang="en-GB" dirty="0"/>
          </a:p>
          <a:p>
            <a:endParaRPr lang="en-LU" dirty="0"/>
          </a:p>
        </p:txBody>
      </p:sp>
    </p:spTree>
    <p:extLst>
      <p:ext uri="{BB962C8B-B14F-4D97-AF65-F5344CB8AC3E}">
        <p14:creationId xmlns:p14="http://schemas.microsoft.com/office/powerpoint/2010/main" val="1263894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40220-DD4E-FB37-5EC5-F2239025AD91}"/>
              </a:ext>
            </a:extLst>
          </p:cNvPr>
          <p:cNvSpPr>
            <a:spLocks noGrp="1"/>
          </p:cNvSpPr>
          <p:nvPr>
            <p:ph type="title"/>
          </p:nvPr>
        </p:nvSpPr>
        <p:spPr>
          <a:xfrm>
            <a:off x="640079" y="1097281"/>
            <a:ext cx="10890929" cy="676655"/>
          </a:xfrm>
        </p:spPr>
        <p:txBody>
          <a:bodyPr>
            <a:normAutofit fontScale="90000"/>
          </a:bodyPr>
          <a:lstStyle/>
          <a:p>
            <a:r>
              <a:rPr lang="en-GB" dirty="0"/>
              <a:t>CPU Roles</a:t>
            </a:r>
            <a:endParaRPr lang="en-LU" dirty="0"/>
          </a:p>
        </p:txBody>
      </p:sp>
      <p:sp>
        <p:nvSpPr>
          <p:cNvPr id="3" name="Content Placeholder 2">
            <a:extLst>
              <a:ext uri="{FF2B5EF4-FFF2-40B4-BE49-F238E27FC236}">
                <a16:creationId xmlns:a16="http://schemas.microsoft.com/office/drawing/2014/main" id="{BBE8D62B-7264-252C-5969-A9F593A53F7C}"/>
              </a:ext>
            </a:extLst>
          </p:cNvPr>
          <p:cNvSpPr>
            <a:spLocks noGrp="1"/>
          </p:cNvSpPr>
          <p:nvPr>
            <p:ph idx="1"/>
          </p:nvPr>
        </p:nvSpPr>
        <p:spPr>
          <a:xfrm>
            <a:off x="475488" y="1773935"/>
            <a:ext cx="11484864" cy="5084065"/>
          </a:xfrm>
        </p:spPr>
        <p:txBody>
          <a:bodyPr numCol="2">
            <a:noAutofit/>
          </a:bodyPr>
          <a:lstStyle/>
          <a:p>
            <a:pPr marL="0" indent="0">
              <a:buNone/>
            </a:pPr>
            <a:r>
              <a:rPr lang="en-GB" sz="1500" dirty="0"/>
              <a:t>In modern deep learning pipelines, CPUs perform a range of critical tasks beyond simple dataset retrieval. They are responsible for managing data preparation, orchestration, and system-level operations that ensure continuous GPU utilization and stable training execution.</a:t>
            </a:r>
          </a:p>
          <a:p>
            <a:r>
              <a:rPr lang="en-GB" sz="1500" b="1" dirty="0"/>
              <a:t>Data Preparation and Transformation</a:t>
            </a:r>
          </a:p>
          <a:p>
            <a:pPr lvl="1"/>
            <a:r>
              <a:rPr lang="en-GB" sz="1500" dirty="0"/>
              <a:t>Perform </a:t>
            </a:r>
            <a:r>
              <a:rPr lang="en-GB" sz="1500" b="1" dirty="0"/>
              <a:t>image decoding, normalization, and preprocessing</a:t>
            </a:r>
            <a:r>
              <a:rPr lang="en-GB" sz="1500" dirty="0"/>
              <a:t> operations</a:t>
            </a:r>
          </a:p>
          <a:p>
            <a:pPr lvl="1"/>
            <a:r>
              <a:rPr lang="en-GB" sz="1500" dirty="0"/>
              <a:t>Execute </a:t>
            </a:r>
            <a:r>
              <a:rPr lang="en-GB" sz="1500" b="1" dirty="0"/>
              <a:t>data augmentation pipelines</a:t>
            </a:r>
            <a:r>
              <a:rPr lang="en-GB" sz="1500" dirty="0"/>
              <a:t> (cropping, flipping, </a:t>
            </a:r>
            <a:r>
              <a:rPr lang="en-GB" sz="1500" dirty="0" err="1"/>
              <a:t>color</a:t>
            </a:r>
            <a:r>
              <a:rPr lang="en-GB" sz="1500" dirty="0"/>
              <a:t> transformations)</a:t>
            </a:r>
          </a:p>
          <a:p>
            <a:pPr lvl="1"/>
            <a:r>
              <a:rPr lang="en-GB" sz="1500" dirty="0"/>
              <a:t>Construct mini-batches and maintain dataset iterators</a:t>
            </a:r>
          </a:p>
          <a:p>
            <a:r>
              <a:rPr lang="en-GB" sz="1500" b="1" dirty="0"/>
              <a:t>Data Pipeline Parallelization</a:t>
            </a:r>
          </a:p>
          <a:p>
            <a:pPr lvl="1"/>
            <a:r>
              <a:rPr lang="en-GB" sz="1500" dirty="0"/>
              <a:t>Spawn multiple </a:t>
            </a:r>
            <a:r>
              <a:rPr lang="en-GB" sz="1500" b="1" dirty="0"/>
              <a:t>data loading workers</a:t>
            </a:r>
            <a:r>
              <a:rPr lang="en-GB" sz="1500" dirty="0"/>
              <a:t> to parallelize preprocessing tasks</a:t>
            </a:r>
          </a:p>
          <a:p>
            <a:pPr lvl="1"/>
            <a:r>
              <a:rPr lang="en-GB" sz="1500" dirty="0"/>
              <a:t>Use memory pinning to accelerate host–device data transfers</a:t>
            </a:r>
          </a:p>
          <a:p>
            <a:pPr lvl="1"/>
            <a:r>
              <a:rPr lang="en-GB" sz="1500" dirty="0"/>
              <a:t>Prefetch batches to ensure GPUs receive data without delay</a:t>
            </a:r>
          </a:p>
          <a:p>
            <a:pPr marL="265176" lvl="1" indent="0">
              <a:buNone/>
            </a:pPr>
            <a:endParaRPr lang="en-GB" sz="1500" dirty="0"/>
          </a:p>
          <a:p>
            <a:pPr marL="265176" lvl="1" indent="0">
              <a:buNone/>
            </a:pPr>
            <a:endParaRPr lang="en-GB" sz="1500" dirty="0"/>
          </a:p>
          <a:p>
            <a:r>
              <a:rPr lang="en-GB" sz="1500" b="1" dirty="0"/>
              <a:t>Training Orchestration</a:t>
            </a:r>
          </a:p>
          <a:p>
            <a:pPr lvl="1"/>
            <a:r>
              <a:rPr lang="en-GB" sz="1500" dirty="0"/>
              <a:t>Coordinate training loops, scheduling, and process management</a:t>
            </a:r>
          </a:p>
          <a:p>
            <a:pPr lvl="1"/>
            <a:r>
              <a:rPr lang="en-GB" sz="1500" dirty="0"/>
              <a:t>Manage distributed training processes and inter-process communication</a:t>
            </a:r>
          </a:p>
          <a:p>
            <a:pPr lvl="1"/>
            <a:r>
              <a:rPr lang="en-GB" sz="1500" dirty="0"/>
              <a:t>Handle gradient synchronization triggers in distributed environments</a:t>
            </a:r>
          </a:p>
          <a:p>
            <a:r>
              <a:rPr lang="en-GB" sz="1500" b="1" dirty="0"/>
              <a:t>Auxiliary Computation</a:t>
            </a:r>
          </a:p>
          <a:p>
            <a:pPr lvl="1"/>
            <a:r>
              <a:rPr lang="en-GB" sz="1500" dirty="0"/>
              <a:t>Compute evaluation metrics (e.g., FID, Inception Score)</a:t>
            </a:r>
          </a:p>
          <a:p>
            <a:pPr lvl="1"/>
            <a:r>
              <a:rPr lang="en-GB" sz="1500" dirty="0"/>
              <a:t>Perform logging, monitoring, and experiment tracking</a:t>
            </a:r>
          </a:p>
          <a:p>
            <a:pPr lvl="1"/>
            <a:r>
              <a:rPr lang="en-GB" sz="1500" dirty="0"/>
              <a:t>Manage checkpoint serialization and model persistence</a:t>
            </a:r>
          </a:p>
          <a:p>
            <a:pPr marL="0" indent="0">
              <a:buNone/>
            </a:pPr>
            <a:r>
              <a:rPr lang="en-GB" sz="1500" dirty="0"/>
              <a:t>The CPU functions as the </a:t>
            </a:r>
            <a:r>
              <a:rPr lang="en-GB" sz="1500" b="1" dirty="0"/>
              <a:t>control and data management layer of the training system</a:t>
            </a:r>
            <a:r>
              <a:rPr lang="en-GB" sz="1500" dirty="0"/>
              <a:t>, ensuring that GPUs remain continuously supplied with prepared data and that system-level operations do not interrupt computational throughput.</a:t>
            </a:r>
          </a:p>
          <a:p>
            <a:pPr marL="0" indent="0">
              <a:buNone/>
            </a:pPr>
            <a:endParaRPr lang="en-GB" sz="1500" dirty="0"/>
          </a:p>
          <a:p>
            <a:endParaRPr lang="en-GB" sz="1500" dirty="0"/>
          </a:p>
        </p:txBody>
      </p:sp>
    </p:spTree>
    <p:extLst>
      <p:ext uri="{BB962C8B-B14F-4D97-AF65-F5344CB8AC3E}">
        <p14:creationId xmlns:p14="http://schemas.microsoft.com/office/powerpoint/2010/main" val="20284326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5AA9C-BD65-B157-DDBC-212C48385BFF}"/>
              </a:ext>
            </a:extLst>
          </p:cNvPr>
          <p:cNvSpPr>
            <a:spLocks noGrp="1"/>
          </p:cNvSpPr>
          <p:nvPr>
            <p:ph type="title"/>
          </p:nvPr>
        </p:nvSpPr>
        <p:spPr>
          <a:xfrm>
            <a:off x="650535" y="1133857"/>
            <a:ext cx="10890929" cy="713231"/>
          </a:xfrm>
        </p:spPr>
        <p:txBody>
          <a:bodyPr>
            <a:normAutofit fontScale="90000"/>
          </a:bodyPr>
          <a:lstStyle/>
          <a:p>
            <a:r>
              <a:rPr lang="en-GB" dirty="0"/>
              <a:t>GPU Execution Model and Throughput Optimization</a:t>
            </a:r>
          </a:p>
        </p:txBody>
      </p:sp>
      <p:sp>
        <p:nvSpPr>
          <p:cNvPr id="3" name="Content Placeholder 2">
            <a:extLst>
              <a:ext uri="{FF2B5EF4-FFF2-40B4-BE49-F238E27FC236}">
                <a16:creationId xmlns:a16="http://schemas.microsoft.com/office/drawing/2014/main" id="{260E23E1-4601-86F5-1956-4E3F3DE0FDBE}"/>
              </a:ext>
            </a:extLst>
          </p:cNvPr>
          <p:cNvSpPr>
            <a:spLocks noGrp="1"/>
          </p:cNvSpPr>
          <p:nvPr>
            <p:ph idx="1"/>
          </p:nvPr>
        </p:nvSpPr>
        <p:spPr>
          <a:xfrm>
            <a:off x="640080" y="1847088"/>
            <a:ext cx="10890928" cy="5010912"/>
          </a:xfrm>
        </p:spPr>
        <p:txBody>
          <a:bodyPr numCol="2">
            <a:noAutofit/>
          </a:bodyPr>
          <a:lstStyle/>
          <a:p>
            <a:pPr marL="0" indent="0">
              <a:buNone/>
            </a:pPr>
            <a:r>
              <a:rPr lang="en-GB" sz="1500" dirty="0"/>
              <a:t>GPUs are designed for massively parallel numerical computation. Their execution model organizes thousands of lightweight threads into structured groups that execute identical instructions concurrently, enabling high-throughput </a:t>
            </a:r>
            <a:r>
              <a:rPr lang="en-GB" sz="1500" dirty="0" err="1"/>
              <a:t>processsing</a:t>
            </a:r>
            <a:r>
              <a:rPr lang="en-GB" sz="1500" dirty="0"/>
              <a:t> of tensor operations common in deep learning workloads.</a:t>
            </a:r>
          </a:p>
          <a:p>
            <a:r>
              <a:rPr lang="en-GB" sz="1500" b="1" dirty="0"/>
              <a:t>GPU Parallel Execution Model</a:t>
            </a:r>
          </a:p>
          <a:p>
            <a:pPr lvl="1"/>
            <a:r>
              <a:rPr lang="en-GB" sz="1500" dirty="0"/>
              <a:t>Computation is executed by </a:t>
            </a:r>
            <a:r>
              <a:rPr lang="en-GB" sz="1500" b="1" dirty="0"/>
              <a:t>Streaming Multiprocessors (SMs)</a:t>
            </a:r>
          </a:p>
          <a:p>
            <a:pPr lvl="1"/>
            <a:r>
              <a:rPr lang="en-GB" sz="1500" dirty="0"/>
              <a:t>Each SM schedules groups of threads called </a:t>
            </a:r>
            <a:r>
              <a:rPr lang="en-GB" sz="1500" b="1" dirty="0"/>
              <a:t>warps</a:t>
            </a:r>
            <a:r>
              <a:rPr lang="en-GB" sz="1500" dirty="0"/>
              <a:t> (typically 32 threads)</a:t>
            </a:r>
          </a:p>
          <a:p>
            <a:pPr lvl="1"/>
            <a:r>
              <a:rPr lang="en-GB" sz="1500" dirty="0"/>
              <a:t>Warps execute instructions in a </a:t>
            </a:r>
            <a:r>
              <a:rPr lang="en-GB" sz="1500" b="1" dirty="0"/>
              <a:t>Single Instruction, Multiple Data (SIMD)</a:t>
            </a:r>
            <a:r>
              <a:rPr lang="en-GB" sz="1500" dirty="0"/>
              <a:t> fashion</a:t>
            </a:r>
          </a:p>
          <a:p>
            <a:pPr lvl="1"/>
            <a:r>
              <a:rPr lang="en-GB" sz="1500" dirty="0"/>
              <a:t>Large numbers of concurrent threads hide memory latency and maximize hardware utilization</a:t>
            </a:r>
          </a:p>
          <a:p>
            <a:r>
              <a:rPr lang="en-GB" sz="1500" b="1" dirty="0"/>
              <a:t>Tensor Computation in Deep Learning</a:t>
            </a:r>
          </a:p>
          <a:p>
            <a:pPr lvl="1"/>
            <a:r>
              <a:rPr lang="en-GB" sz="1500" dirty="0"/>
              <a:t>Deep learning workloads consist primarily of </a:t>
            </a:r>
            <a:r>
              <a:rPr lang="en-GB" sz="1500" b="1" dirty="0"/>
              <a:t>matrix multiplications and convolutions</a:t>
            </a:r>
          </a:p>
          <a:p>
            <a:pPr lvl="1"/>
            <a:r>
              <a:rPr lang="en-GB" sz="1500" dirty="0"/>
              <a:t>GPUs exploit data parallelism across tensor dimensions</a:t>
            </a:r>
          </a:p>
          <a:p>
            <a:pPr lvl="1"/>
            <a:r>
              <a:rPr lang="en-GB" sz="1500" dirty="0"/>
              <a:t>Specialized hardware units (e.g., </a:t>
            </a:r>
            <a:r>
              <a:rPr lang="en-GB" sz="1500" b="1" dirty="0"/>
              <a:t>tensor cores</a:t>
            </a:r>
            <a:r>
              <a:rPr lang="en-GB" sz="1500" dirty="0"/>
              <a:t>) accelerate mixed-precision arithmetic</a:t>
            </a:r>
          </a:p>
          <a:p>
            <a:r>
              <a:rPr lang="en-GB" sz="1500" b="1" dirty="0"/>
              <a:t>Throughput Optimization Strategies</a:t>
            </a:r>
          </a:p>
          <a:p>
            <a:pPr lvl="1"/>
            <a:r>
              <a:rPr lang="en-GB" sz="1500" dirty="0"/>
              <a:t>Maximize </a:t>
            </a:r>
            <a:r>
              <a:rPr lang="en-GB" sz="1500" b="1" dirty="0"/>
              <a:t>GPU occupancy</a:t>
            </a:r>
            <a:r>
              <a:rPr lang="en-GB" sz="1500" dirty="0"/>
              <a:t> by launching sufficient parallel threads</a:t>
            </a:r>
          </a:p>
          <a:p>
            <a:pPr lvl="1"/>
            <a:r>
              <a:rPr lang="en-GB" sz="1500" dirty="0"/>
              <a:t>Use </a:t>
            </a:r>
            <a:r>
              <a:rPr lang="en-GB" sz="1500" b="1" dirty="0"/>
              <a:t>large batch sizes</a:t>
            </a:r>
            <a:r>
              <a:rPr lang="en-GB" sz="1500" dirty="0"/>
              <a:t> to increase arithmetic intensity</a:t>
            </a:r>
          </a:p>
          <a:p>
            <a:pPr lvl="1"/>
            <a:r>
              <a:rPr lang="en-GB" sz="1500" dirty="0"/>
              <a:t>Reduce kernel launch overhead through efficient batching of operations</a:t>
            </a:r>
          </a:p>
          <a:p>
            <a:pPr lvl="1"/>
            <a:r>
              <a:rPr lang="en-GB" sz="1500" dirty="0"/>
              <a:t>Ensure continuous data supply to avoid GPU idle cycles</a:t>
            </a:r>
          </a:p>
          <a:p>
            <a:pPr marL="0" indent="0">
              <a:buNone/>
            </a:pPr>
            <a:r>
              <a:rPr lang="en-GB" sz="1500" dirty="0"/>
              <a:t>Achieving high training throughput requires aligning neural network workloads with the GPU execution model, ensuring that parallel computational resources remain fully utilized throughout forward and backward propagation.</a:t>
            </a:r>
          </a:p>
          <a:p>
            <a:pPr marL="0" indent="0">
              <a:buNone/>
            </a:pPr>
            <a:endParaRPr lang="en-GB" sz="1500" dirty="0"/>
          </a:p>
        </p:txBody>
      </p:sp>
    </p:spTree>
    <p:extLst>
      <p:ext uri="{BB962C8B-B14F-4D97-AF65-F5344CB8AC3E}">
        <p14:creationId xmlns:p14="http://schemas.microsoft.com/office/powerpoint/2010/main" val="20507711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6C6FD-D6AE-1C6A-BF4B-3F7031C30895}"/>
              </a:ext>
            </a:extLst>
          </p:cNvPr>
          <p:cNvSpPr>
            <a:spLocks noGrp="1"/>
          </p:cNvSpPr>
          <p:nvPr>
            <p:ph type="title"/>
          </p:nvPr>
        </p:nvSpPr>
        <p:spPr>
          <a:xfrm>
            <a:off x="650535" y="109728"/>
            <a:ext cx="10890929" cy="1097280"/>
          </a:xfrm>
        </p:spPr>
        <p:txBody>
          <a:bodyPr>
            <a:normAutofit/>
          </a:bodyPr>
          <a:lstStyle/>
          <a:p>
            <a:r>
              <a:rPr lang="en-GB" dirty="0"/>
              <a:t>Memory Hierarchy and Bandwidth Constraints</a:t>
            </a:r>
            <a:endParaRPr lang="en-LU" dirty="0"/>
          </a:p>
        </p:txBody>
      </p:sp>
      <p:sp>
        <p:nvSpPr>
          <p:cNvPr id="3" name="Content Placeholder 2">
            <a:extLst>
              <a:ext uri="{FF2B5EF4-FFF2-40B4-BE49-F238E27FC236}">
                <a16:creationId xmlns:a16="http://schemas.microsoft.com/office/drawing/2014/main" id="{A8AAFA1D-5D10-8EEA-B45E-E2BCE16303A0}"/>
              </a:ext>
            </a:extLst>
          </p:cNvPr>
          <p:cNvSpPr>
            <a:spLocks noGrp="1"/>
          </p:cNvSpPr>
          <p:nvPr>
            <p:ph idx="1"/>
          </p:nvPr>
        </p:nvSpPr>
        <p:spPr>
          <a:xfrm>
            <a:off x="650535" y="976122"/>
            <a:ext cx="10890928" cy="5900928"/>
          </a:xfrm>
        </p:spPr>
        <p:txBody>
          <a:bodyPr numCol="2">
            <a:noAutofit/>
          </a:bodyPr>
          <a:lstStyle/>
          <a:p>
            <a:pPr marL="0" indent="0">
              <a:buNone/>
            </a:pPr>
            <a:r>
              <a:rPr lang="en-GB" sz="1800" dirty="0"/>
              <a:t>GPU performance in deep learning workloads is strongly influenced by the memory hierarchy and available bandwidth between different memory levels. Efficient utilization of these memory layers is essential for sustaining high computational throughput during training.</a:t>
            </a:r>
          </a:p>
          <a:p>
            <a:r>
              <a:rPr lang="en-GB" sz="1800" b="1" dirty="0"/>
              <a:t>GPU Memory Hierarchy</a:t>
            </a:r>
            <a:endParaRPr lang="en-GB" sz="1800" dirty="0"/>
          </a:p>
          <a:p>
            <a:pPr lvl="1"/>
            <a:r>
              <a:rPr lang="en-GB" sz="1600" b="1" dirty="0"/>
              <a:t>Registers</a:t>
            </a:r>
            <a:r>
              <a:rPr lang="en-GB" sz="1600" dirty="0"/>
              <a:t> – fastest storage located within each processing core, used for temporary variables during computation</a:t>
            </a:r>
          </a:p>
          <a:p>
            <a:pPr lvl="1"/>
            <a:r>
              <a:rPr lang="en-GB" sz="1800" b="1" dirty="0"/>
              <a:t>Shared Memory / L1 Cache</a:t>
            </a:r>
            <a:r>
              <a:rPr lang="en-GB" sz="1800" dirty="0"/>
              <a:t> – low-latency memory shared among threads within a block</a:t>
            </a:r>
          </a:p>
          <a:p>
            <a:pPr lvl="1"/>
            <a:r>
              <a:rPr lang="en-GB" sz="1800" b="1" dirty="0"/>
              <a:t>Global GPU Memory (HBM/GDDR)</a:t>
            </a:r>
            <a:r>
              <a:rPr lang="en-GB" sz="1800" dirty="0"/>
              <a:t> – large-capacity device memory storing model parameters, activations, and gradients</a:t>
            </a:r>
          </a:p>
          <a:p>
            <a:pPr lvl="1"/>
            <a:r>
              <a:rPr lang="en-GB" sz="1800" b="1" dirty="0"/>
              <a:t>Host Memory (CPU RAM)</a:t>
            </a:r>
            <a:r>
              <a:rPr lang="en-GB" sz="1800" dirty="0"/>
              <a:t> – stores datasets and intermediate data before transfer to the GPU</a:t>
            </a:r>
          </a:p>
          <a:p>
            <a:r>
              <a:rPr lang="en-GB" sz="1800" b="1" dirty="0"/>
              <a:t>Bandwidth and Latency Characteristics</a:t>
            </a:r>
          </a:p>
          <a:p>
            <a:pPr lvl="1"/>
            <a:r>
              <a:rPr lang="en-GB" sz="1600" dirty="0"/>
              <a:t>Register and shared memory access have </a:t>
            </a:r>
            <a:r>
              <a:rPr lang="en-GB" sz="1600" b="1" dirty="0"/>
              <a:t>very low latency and extremely high bandwidth</a:t>
            </a:r>
          </a:p>
          <a:p>
            <a:pPr lvl="1"/>
            <a:r>
              <a:rPr lang="en-GB" sz="1800" dirty="0"/>
              <a:t>Global memory accesses are slower and often become a </a:t>
            </a:r>
            <a:r>
              <a:rPr lang="en-GB" sz="1800" b="1" dirty="0"/>
              <a:t>performance bottleneck</a:t>
            </a:r>
            <a:endParaRPr lang="en-GB" b="1" dirty="0"/>
          </a:p>
          <a:p>
            <a:pPr lvl="1"/>
            <a:r>
              <a:rPr lang="en-GB" sz="1800" dirty="0"/>
              <a:t>Data transfers between CPU and GPU occur over </a:t>
            </a:r>
            <a:r>
              <a:rPr lang="en-GB" sz="1800" b="1" dirty="0"/>
              <a:t>PCIe or </a:t>
            </a:r>
            <a:r>
              <a:rPr lang="en-GB" sz="1800" b="1" dirty="0" err="1"/>
              <a:t>NVLink</a:t>
            </a:r>
            <a:r>
              <a:rPr lang="en-GB" sz="1800" dirty="0"/>
              <a:t>, introducing additional latency</a:t>
            </a:r>
          </a:p>
          <a:p>
            <a:r>
              <a:rPr lang="en-GB" sz="1800" b="1" dirty="0"/>
              <a:t>Implications for Deep Learning Training</a:t>
            </a:r>
          </a:p>
          <a:p>
            <a:pPr lvl="1"/>
            <a:r>
              <a:rPr lang="en-GB" sz="1600" dirty="0"/>
              <a:t>Large activation tensors require </a:t>
            </a:r>
            <a:r>
              <a:rPr lang="en-GB" sz="1600" b="1" dirty="0"/>
              <a:t>frequent global memory access</a:t>
            </a:r>
            <a:r>
              <a:rPr lang="en-GB" sz="1600" dirty="0"/>
              <a:t> during forward and backward passes</a:t>
            </a:r>
          </a:p>
          <a:p>
            <a:pPr lvl="1"/>
            <a:r>
              <a:rPr lang="en-GB" sz="1800" dirty="0"/>
              <a:t>Inefficient memory access patterns reduce effective GPU utilization</a:t>
            </a:r>
          </a:p>
          <a:p>
            <a:pPr lvl="1"/>
            <a:r>
              <a:rPr lang="en-GB" sz="1800" dirty="0"/>
              <a:t>Training performance depends not only on compute capacity but also on </a:t>
            </a:r>
            <a:r>
              <a:rPr lang="en-GB" sz="1800" b="1" dirty="0"/>
              <a:t>memory bandwidth availability</a:t>
            </a:r>
            <a:endParaRPr lang="en-GB" sz="1800" dirty="0"/>
          </a:p>
          <a:p>
            <a:pPr marL="0" indent="0">
              <a:buNone/>
            </a:pPr>
            <a:endParaRPr lang="en-GB" sz="1800" dirty="0"/>
          </a:p>
        </p:txBody>
      </p:sp>
    </p:spTree>
    <p:extLst>
      <p:ext uri="{BB962C8B-B14F-4D97-AF65-F5344CB8AC3E}">
        <p14:creationId xmlns:p14="http://schemas.microsoft.com/office/powerpoint/2010/main" val="4788591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7D54D-6D16-C898-C9D5-BFFAED0A74E8}"/>
              </a:ext>
            </a:extLst>
          </p:cNvPr>
          <p:cNvSpPr>
            <a:spLocks noGrp="1"/>
          </p:cNvSpPr>
          <p:nvPr>
            <p:ph type="title"/>
          </p:nvPr>
        </p:nvSpPr>
        <p:spPr>
          <a:xfrm>
            <a:off x="640079" y="109728"/>
            <a:ext cx="10890929" cy="1097280"/>
          </a:xfrm>
        </p:spPr>
        <p:txBody>
          <a:bodyPr>
            <a:normAutofit/>
          </a:bodyPr>
          <a:lstStyle/>
          <a:p>
            <a:r>
              <a:rPr lang="en-GB" dirty="0"/>
              <a:t>Data Pipeline Engineering and GPU Starvation</a:t>
            </a:r>
            <a:endParaRPr lang="en-LU" dirty="0"/>
          </a:p>
        </p:txBody>
      </p:sp>
      <p:sp>
        <p:nvSpPr>
          <p:cNvPr id="3" name="Content Placeholder 2">
            <a:extLst>
              <a:ext uri="{FF2B5EF4-FFF2-40B4-BE49-F238E27FC236}">
                <a16:creationId xmlns:a16="http://schemas.microsoft.com/office/drawing/2014/main" id="{E0377DAD-5812-7002-55B7-DE2EBF22290D}"/>
              </a:ext>
            </a:extLst>
          </p:cNvPr>
          <p:cNvSpPr>
            <a:spLocks noGrp="1"/>
          </p:cNvSpPr>
          <p:nvPr>
            <p:ph idx="1"/>
          </p:nvPr>
        </p:nvSpPr>
        <p:spPr>
          <a:xfrm>
            <a:off x="640080" y="1207008"/>
            <a:ext cx="10890928" cy="4992624"/>
          </a:xfrm>
        </p:spPr>
        <p:txBody>
          <a:bodyPr>
            <a:normAutofit fontScale="47500" lnSpcReduction="20000"/>
          </a:bodyPr>
          <a:lstStyle/>
          <a:p>
            <a:pPr marL="0" indent="0">
              <a:buNone/>
            </a:pPr>
            <a:r>
              <a:rPr lang="en-GB" sz="2800" dirty="0"/>
              <a:t>The efficiency of deep learning training pipelines depends on the continuous delivery of data to the GPU. When data preparation or transfer becomes slower than GPU computation, the accelerator remains idle between batches—a phenomenon known as GPU starvation. Effective data pipeline engineering is therefore critical for maintaining high training throughput.</a:t>
            </a:r>
          </a:p>
          <a:p>
            <a:r>
              <a:rPr lang="en-GB" sz="2800" b="1" dirty="0"/>
              <a:t>Sources of Pipeline Bottlenecks</a:t>
            </a:r>
          </a:p>
          <a:p>
            <a:pPr lvl="1"/>
            <a:r>
              <a:rPr lang="en-GB" sz="2800" b="1" dirty="0"/>
              <a:t>Data decoding and preprocessing</a:t>
            </a:r>
            <a:r>
              <a:rPr lang="en-GB" sz="2800" dirty="0"/>
              <a:t> (e.g., image decompression, normalization) are typically CPU-bound</a:t>
            </a:r>
          </a:p>
          <a:p>
            <a:pPr lvl="1"/>
            <a:r>
              <a:rPr lang="en-GB" sz="2800" b="1" dirty="0"/>
              <a:t>Insufficient parallel data loading</a:t>
            </a:r>
            <a:r>
              <a:rPr lang="en-GB" sz="2800" dirty="0"/>
              <a:t> limits the rate at which batches are prepared</a:t>
            </a:r>
          </a:p>
          <a:p>
            <a:pPr lvl="1"/>
            <a:r>
              <a:rPr lang="en-GB" sz="2800" b="1" dirty="0"/>
              <a:t>Slow storage systems</a:t>
            </a:r>
            <a:r>
              <a:rPr lang="en-GB" sz="2800" dirty="0"/>
              <a:t> introduce latency during dataset retrieval</a:t>
            </a:r>
          </a:p>
          <a:p>
            <a:pPr lvl="1"/>
            <a:r>
              <a:rPr lang="en-GB" sz="2800" dirty="0"/>
              <a:t>Inefficient host–device data transfers delay batch delivery to GPU memory</a:t>
            </a:r>
            <a:br>
              <a:rPr lang="en-GB" sz="2800" dirty="0"/>
            </a:br>
            <a:endParaRPr lang="en-GB" sz="2800" dirty="0"/>
          </a:p>
          <a:p>
            <a:r>
              <a:rPr lang="en-GB" sz="2800" b="1" dirty="0"/>
              <a:t>Pipeline Optimization Strategies</a:t>
            </a:r>
          </a:p>
          <a:p>
            <a:pPr lvl="1"/>
            <a:r>
              <a:rPr lang="en-GB" sz="2800" dirty="0"/>
              <a:t>Use </a:t>
            </a:r>
            <a:r>
              <a:rPr lang="en-GB" sz="2800" b="1" dirty="0"/>
              <a:t>multiple parallel data loading workers</a:t>
            </a:r>
            <a:r>
              <a:rPr lang="en-GB" sz="2800" dirty="0"/>
              <a:t> to overlap preprocessing tasks</a:t>
            </a:r>
          </a:p>
          <a:p>
            <a:pPr lvl="1"/>
            <a:r>
              <a:rPr lang="en-GB" sz="2800" dirty="0"/>
              <a:t>Enable </a:t>
            </a:r>
            <a:r>
              <a:rPr lang="en-GB" sz="2800" b="1" dirty="0"/>
              <a:t>prefetching</a:t>
            </a:r>
            <a:r>
              <a:rPr lang="en-GB" sz="2800" dirty="0"/>
              <a:t> to prepare future batches while the GPU processes the current batch</a:t>
            </a:r>
          </a:p>
          <a:p>
            <a:pPr lvl="1"/>
            <a:r>
              <a:rPr lang="en-GB" sz="2800" dirty="0"/>
              <a:t>Use </a:t>
            </a:r>
            <a:r>
              <a:rPr lang="en-GB" sz="2800" b="1" dirty="0"/>
              <a:t>pinned (page-locked) memory</a:t>
            </a:r>
            <a:r>
              <a:rPr lang="en-GB" sz="2800" dirty="0"/>
              <a:t> to accelerate CPU–GPU data transfers</a:t>
            </a:r>
          </a:p>
          <a:p>
            <a:pPr lvl="1"/>
            <a:r>
              <a:rPr lang="en-GB" sz="2800" dirty="0"/>
              <a:t>Cache frequently accessed datasets on </a:t>
            </a:r>
            <a:r>
              <a:rPr lang="en-GB" sz="2800" b="1" dirty="0"/>
              <a:t>local high-speed storage (SSD/</a:t>
            </a:r>
            <a:r>
              <a:rPr lang="en-GB" sz="2800" b="1" dirty="0" err="1"/>
              <a:t>NVMe</a:t>
            </a:r>
            <a:r>
              <a:rPr lang="en-GB" sz="2800" b="1" dirty="0"/>
              <a:t>)</a:t>
            </a:r>
            <a:endParaRPr lang="en-GB" sz="2800" dirty="0"/>
          </a:p>
          <a:p>
            <a:r>
              <a:rPr lang="en-GB" sz="2800" b="1" dirty="0"/>
              <a:t>System-Level Interaction</a:t>
            </a:r>
          </a:p>
          <a:p>
            <a:pPr lvl="1"/>
            <a:r>
              <a:rPr lang="en-GB" sz="2800" dirty="0"/>
              <a:t>CPU performs preprocessing while GPU executes forward and backward passes</a:t>
            </a:r>
          </a:p>
          <a:p>
            <a:pPr lvl="1"/>
            <a:r>
              <a:rPr lang="en-GB" sz="2800" dirty="0"/>
              <a:t>Proper pipeline design enables </a:t>
            </a:r>
            <a:r>
              <a:rPr lang="en-GB" sz="2800" b="1" dirty="0"/>
              <a:t>overlap between computation and data preparation</a:t>
            </a:r>
          </a:p>
          <a:p>
            <a:pPr lvl="1"/>
            <a:r>
              <a:rPr lang="en-GB" sz="2800" dirty="0"/>
              <a:t>Balanced pipelines ensure GPUs remain continuously utilized</a:t>
            </a:r>
          </a:p>
          <a:p>
            <a:endParaRPr lang="en-LU" dirty="0"/>
          </a:p>
        </p:txBody>
      </p:sp>
    </p:spTree>
    <p:extLst>
      <p:ext uri="{BB962C8B-B14F-4D97-AF65-F5344CB8AC3E}">
        <p14:creationId xmlns:p14="http://schemas.microsoft.com/office/powerpoint/2010/main" val="10080856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6DBF2-95A6-6307-B906-0E7DE5471F82}"/>
              </a:ext>
            </a:extLst>
          </p:cNvPr>
          <p:cNvSpPr>
            <a:spLocks noGrp="1"/>
          </p:cNvSpPr>
          <p:nvPr>
            <p:ph type="title"/>
          </p:nvPr>
        </p:nvSpPr>
        <p:spPr>
          <a:xfrm>
            <a:off x="640079" y="328864"/>
            <a:ext cx="10890929" cy="1097280"/>
          </a:xfrm>
        </p:spPr>
        <p:txBody>
          <a:bodyPr>
            <a:normAutofit fontScale="90000"/>
          </a:bodyPr>
          <a:lstStyle/>
          <a:p>
            <a:r>
              <a:rPr lang="en-GB" dirty="0"/>
              <a:t>Storage and Filesystem Impact on Training Speed</a:t>
            </a:r>
            <a:endParaRPr lang="en-LU" dirty="0"/>
          </a:p>
        </p:txBody>
      </p:sp>
      <p:sp>
        <p:nvSpPr>
          <p:cNvPr id="3" name="Content Placeholder 2">
            <a:extLst>
              <a:ext uri="{FF2B5EF4-FFF2-40B4-BE49-F238E27FC236}">
                <a16:creationId xmlns:a16="http://schemas.microsoft.com/office/drawing/2014/main" id="{B29F6CF4-0390-1E16-67AC-3CBF815EA86F}"/>
              </a:ext>
            </a:extLst>
          </p:cNvPr>
          <p:cNvSpPr>
            <a:spLocks noGrp="1"/>
          </p:cNvSpPr>
          <p:nvPr>
            <p:ph idx="1"/>
          </p:nvPr>
        </p:nvSpPr>
        <p:spPr>
          <a:xfrm>
            <a:off x="640080" y="1267326"/>
            <a:ext cx="10890928" cy="4932306"/>
          </a:xfrm>
        </p:spPr>
        <p:txBody>
          <a:bodyPr>
            <a:normAutofit fontScale="85000" lnSpcReduction="20000"/>
          </a:bodyPr>
          <a:lstStyle/>
          <a:p>
            <a:pPr marL="0" indent="0">
              <a:buNone/>
            </a:pPr>
            <a:r>
              <a:rPr lang="en-GB" sz="1900" dirty="0"/>
              <a:t>The performance of the storage subsystem directly influences the efficiency of deep learning training pipelines. Slow storage access can delay data loading and preprocessing, creating bottlenecks that reduce GPU utilization and overall training throughput.</a:t>
            </a:r>
          </a:p>
          <a:p>
            <a:r>
              <a:rPr lang="en-GB" sz="1900" b="1" dirty="0"/>
              <a:t>Storage Access Patterns in Deep Learning</a:t>
            </a:r>
          </a:p>
          <a:p>
            <a:pPr lvl="1"/>
            <a:r>
              <a:rPr lang="en-GB" sz="1900" dirty="0"/>
              <a:t>Training datasets often consist of </a:t>
            </a:r>
            <a:r>
              <a:rPr lang="en-GB" sz="1900" b="1" dirty="0"/>
              <a:t>large numbers of small files</a:t>
            </a:r>
            <a:r>
              <a:rPr lang="en-GB" sz="1900" dirty="0"/>
              <a:t> (e.g., images, audio samples)</a:t>
            </a:r>
          </a:p>
          <a:p>
            <a:pPr lvl="1"/>
            <a:r>
              <a:rPr lang="en-GB" sz="1900" dirty="0"/>
              <a:t>Each training iteration requires frequent </a:t>
            </a:r>
            <a:r>
              <a:rPr lang="en-GB" sz="1900" b="1" dirty="0"/>
              <a:t>read operations</a:t>
            </a:r>
            <a:r>
              <a:rPr lang="en-GB" sz="1900" dirty="0"/>
              <a:t> to construct mini-batches</a:t>
            </a:r>
          </a:p>
          <a:p>
            <a:pPr lvl="1"/>
            <a:r>
              <a:rPr lang="en-GB" sz="1900" dirty="0"/>
              <a:t>Random access patterns increase the importance of </a:t>
            </a:r>
            <a:r>
              <a:rPr lang="en-GB" sz="1900" b="1" dirty="0"/>
              <a:t>low-latency storage systems</a:t>
            </a:r>
            <a:endParaRPr lang="en-GB" sz="1900" dirty="0"/>
          </a:p>
          <a:p>
            <a:r>
              <a:rPr lang="en-GB" sz="1900" b="1" dirty="0"/>
              <a:t>Types of Storage in HPC Environments</a:t>
            </a:r>
          </a:p>
          <a:p>
            <a:pPr lvl="1"/>
            <a:r>
              <a:rPr lang="en-GB" sz="1900" b="1" dirty="0"/>
              <a:t>Local SSD / </a:t>
            </a:r>
            <a:r>
              <a:rPr lang="en-GB" sz="1900" b="1" dirty="0" err="1"/>
              <a:t>NVMe</a:t>
            </a:r>
            <a:r>
              <a:rPr lang="en-GB" sz="1900" b="1" dirty="0"/>
              <a:t> storage</a:t>
            </a:r>
            <a:r>
              <a:rPr lang="en-GB" sz="1900" dirty="0"/>
              <a:t> – high throughput and low latency for dataset caching</a:t>
            </a:r>
          </a:p>
          <a:p>
            <a:pPr lvl="1"/>
            <a:r>
              <a:rPr lang="en-GB" sz="1900" b="1" dirty="0"/>
              <a:t>Network-attached storage (NAS)</a:t>
            </a:r>
            <a:r>
              <a:rPr lang="en-GB" sz="1900" dirty="0"/>
              <a:t> – shared access across nodes but higher latency</a:t>
            </a:r>
          </a:p>
          <a:p>
            <a:pPr lvl="1"/>
            <a:r>
              <a:rPr lang="en-GB" sz="1900" b="1" dirty="0"/>
              <a:t>Parallel file systems</a:t>
            </a:r>
            <a:r>
              <a:rPr lang="en-GB" sz="1900" dirty="0"/>
              <a:t> (e.g., Lustre, GPFS) – designed for high-throughput distributed workloads</a:t>
            </a:r>
          </a:p>
          <a:p>
            <a:r>
              <a:rPr lang="en-GB" sz="1900" b="1" dirty="0"/>
              <a:t>Impact on Training Performance</a:t>
            </a:r>
          </a:p>
          <a:p>
            <a:pPr lvl="1"/>
            <a:r>
              <a:rPr lang="en-GB" sz="1900" dirty="0"/>
              <a:t>Storage latency can slow data loading and cause </a:t>
            </a:r>
            <a:r>
              <a:rPr lang="en-GB" sz="1900" b="1" dirty="0"/>
              <a:t>GPU starvation</a:t>
            </a:r>
          </a:p>
          <a:p>
            <a:pPr lvl="1"/>
            <a:r>
              <a:rPr lang="en-GB" sz="1900" dirty="0"/>
              <a:t>Shared storage contention may reduce data throughput in multi-node training</a:t>
            </a:r>
          </a:p>
          <a:p>
            <a:pPr lvl="1"/>
            <a:r>
              <a:rPr lang="en-GB" sz="1900" dirty="0"/>
              <a:t>Dataset caching on local storage can significantly </a:t>
            </a:r>
            <a:r>
              <a:rPr lang="en-GB" sz="1900" b="1" dirty="0"/>
              <a:t>improve pipeline efficiency</a:t>
            </a:r>
            <a:endParaRPr lang="en-GB" sz="1900" dirty="0"/>
          </a:p>
          <a:p>
            <a:pPr marL="0" indent="0">
              <a:buNone/>
            </a:pPr>
            <a:endParaRPr lang="en-GB" sz="1800" dirty="0"/>
          </a:p>
        </p:txBody>
      </p:sp>
    </p:spTree>
    <p:extLst>
      <p:ext uri="{BB962C8B-B14F-4D97-AF65-F5344CB8AC3E}">
        <p14:creationId xmlns:p14="http://schemas.microsoft.com/office/powerpoint/2010/main" val="36100537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2E642-7F73-3029-56A8-2816F5275473}"/>
              </a:ext>
            </a:extLst>
          </p:cNvPr>
          <p:cNvSpPr>
            <a:spLocks noGrp="1"/>
          </p:cNvSpPr>
          <p:nvPr>
            <p:ph type="title"/>
          </p:nvPr>
        </p:nvSpPr>
        <p:spPr>
          <a:xfrm>
            <a:off x="650535" y="109728"/>
            <a:ext cx="10890929" cy="1097280"/>
          </a:xfrm>
        </p:spPr>
        <p:txBody>
          <a:bodyPr>
            <a:normAutofit/>
          </a:bodyPr>
          <a:lstStyle/>
          <a:p>
            <a:r>
              <a:rPr lang="en-GB" dirty="0"/>
              <a:t>Parallelism Strategies: Data, Model, Pipeline</a:t>
            </a:r>
            <a:endParaRPr lang="en-LU" dirty="0"/>
          </a:p>
        </p:txBody>
      </p:sp>
      <p:sp>
        <p:nvSpPr>
          <p:cNvPr id="3" name="Content Placeholder 2">
            <a:extLst>
              <a:ext uri="{FF2B5EF4-FFF2-40B4-BE49-F238E27FC236}">
                <a16:creationId xmlns:a16="http://schemas.microsoft.com/office/drawing/2014/main" id="{213A9AF6-9809-5F19-5D26-BC0A23534C04}"/>
              </a:ext>
            </a:extLst>
          </p:cNvPr>
          <p:cNvSpPr>
            <a:spLocks noGrp="1"/>
          </p:cNvSpPr>
          <p:nvPr>
            <p:ph idx="1"/>
          </p:nvPr>
        </p:nvSpPr>
        <p:spPr>
          <a:xfrm>
            <a:off x="222986" y="1207008"/>
            <a:ext cx="10890928" cy="5541264"/>
          </a:xfrm>
        </p:spPr>
        <p:txBody>
          <a:bodyPr numCol="2">
            <a:noAutofit/>
          </a:bodyPr>
          <a:lstStyle/>
          <a:p>
            <a:pPr marL="0" indent="0">
              <a:buNone/>
            </a:pPr>
            <a:r>
              <a:rPr lang="en-GB" sz="1600" dirty="0"/>
              <a:t>Scaling deep learning training across multiple accelerators requires structured parallelization strategies. These approaches distribute computation and memory across devices to increase training throughput and enable models that exceed the capacity of a single GPU.</a:t>
            </a:r>
          </a:p>
          <a:p>
            <a:r>
              <a:rPr lang="en-GB" sz="1600" b="1" dirty="0"/>
              <a:t>Data Parallelism</a:t>
            </a:r>
            <a:r>
              <a:rPr lang="en-GB" sz="1600" dirty="0"/>
              <a:t>•</a:t>
            </a:r>
          </a:p>
          <a:p>
            <a:pPr lvl="1"/>
            <a:r>
              <a:rPr lang="en-GB" sz="1600" dirty="0"/>
              <a:t>Replicates the full model across multiple GPUs</a:t>
            </a:r>
          </a:p>
          <a:p>
            <a:pPr lvl="1"/>
            <a:r>
              <a:rPr lang="en-GB" sz="1600" dirty="0"/>
              <a:t> Each device processes a different subset of the training batch</a:t>
            </a:r>
          </a:p>
          <a:p>
            <a:pPr lvl="1"/>
            <a:r>
              <a:rPr lang="en-GB" sz="1600" dirty="0"/>
              <a:t> Gradients are synchronized across devices after backpropagation (e.g., </a:t>
            </a:r>
            <a:r>
              <a:rPr lang="en-GB" sz="1600" b="1" dirty="0"/>
              <a:t>all-reduce</a:t>
            </a:r>
            <a:r>
              <a:rPr lang="en-GB" sz="1600" dirty="0"/>
              <a:t>)</a:t>
            </a:r>
          </a:p>
          <a:p>
            <a:pPr lvl="1"/>
            <a:r>
              <a:rPr lang="en-GB" sz="1600" dirty="0"/>
              <a:t>Most widely used strategy due to simplicity and strong scaling </a:t>
            </a:r>
            <a:r>
              <a:rPr lang="en-GB" sz="1600" dirty="0" err="1"/>
              <a:t>behavior</a:t>
            </a:r>
            <a:br>
              <a:rPr lang="en-GB" sz="1600" dirty="0"/>
            </a:br>
            <a:endParaRPr lang="en-GB" sz="1600" dirty="0"/>
          </a:p>
          <a:p>
            <a:r>
              <a:rPr lang="en-GB" sz="1600" b="1" dirty="0"/>
              <a:t>Model Parallelism</a:t>
            </a:r>
          </a:p>
          <a:p>
            <a:pPr lvl="1"/>
            <a:r>
              <a:rPr lang="en-GB" sz="1600" dirty="0"/>
              <a:t>Splits the neural network across multiple GPUs</a:t>
            </a:r>
          </a:p>
          <a:p>
            <a:pPr lvl="1"/>
            <a:r>
              <a:rPr lang="en-GB" sz="1600" dirty="0"/>
              <a:t>Different devices compute different portions of the model</a:t>
            </a:r>
          </a:p>
          <a:p>
            <a:pPr lvl="1"/>
            <a:r>
              <a:rPr lang="en-GB" sz="1600" dirty="0"/>
              <a:t>Enables training of models that exceed the memory capacity of a single GPU</a:t>
            </a:r>
          </a:p>
          <a:p>
            <a:pPr lvl="1"/>
            <a:r>
              <a:rPr lang="en-GB" sz="1600" dirty="0"/>
              <a:t>Requires communication between devices during forward and backward passes</a:t>
            </a:r>
          </a:p>
          <a:p>
            <a:r>
              <a:rPr lang="en-GB" sz="1600" b="1" dirty="0"/>
              <a:t>Pipeline Parallelism</a:t>
            </a:r>
          </a:p>
          <a:p>
            <a:pPr lvl="1"/>
            <a:r>
              <a:rPr lang="en-GB" sz="1600" dirty="0"/>
              <a:t>Divides the model into sequential stages across GPUs</a:t>
            </a:r>
          </a:p>
          <a:p>
            <a:pPr lvl="1"/>
            <a:r>
              <a:rPr lang="en-GB" sz="1600" dirty="0"/>
              <a:t>Different mini-batches are processed simultaneously at different pipeline stages</a:t>
            </a:r>
          </a:p>
          <a:p>
            <a:pPr lvl="1"/>
            <a:r>
              <a:rPr lang="en-GB" sz="1600" dirty="0"/>
              <a:t>Improves hardware utilization by overlapping computation across stages</a:t>
            </a:r>
          </a:p>
          <a:p>
            <a:pPr lvl="1"/>
            <a:r>
              <a:rPr lang="en-GB" sz="1600" dirty="0"/>
              <a:t>Requires careful scheduling to minimize pipeline idle time</a:t>
            </a:r>
          </a:p>
          <a:p>
            <a:pPr marL="0" indent="0">
              <a:buNone/>
            </a:pPr>
            <a:endParaRPr lang="en-GB" sz="1600" dirty="0"/>
          </a:p>
        </p:txBody>
      </p:sp>
    </p:spTree>
    <p:extLst>
      <p:ext uri="{BB962C8B-B14F-4D97-AF65-F5344CB8AC3E}">
        <p14:creationId xmlns:p14="http://schemas.microsoft.com/office/powerpoint/2010/main" val="40889889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70B56-8906-FEB0-51B1-7F11F021ECB1}"/>
              </a:ext>
            </a:extLst>
          </p:cNvPr>
          <p:cNvSpPr>
            <a:spLocks noGrp="1"/>
          </p:cNvSpPr>
          <p:nvPr>
            <p:ph type="title"/>
          </p:nvPr>
        </p:nvSpPr>
        <p:spPr/>
        <p:txBody>
          <a:bodyPr>
            <a:normAutofit fontScale="90000"/>
          </a:bodyPr>
          <a:lstStyle/>
          <a:p>
            <a:r>
              <a:rPr lang="en-LU" dirty="0"/>
              <a:t>Exercise 3: Bottleneck Identification in the Training Pipeline</a:t>
            </a:r>
          </a:p>
        </p:txBody>
      </p:sp>
      <p:sp>
        <p:nvSpPr>
          <p:cNvPr id="3" name="Content Placeholder 2">
            <a:extLst>
              <a:ext uri="{FF2B5EF4-FFF2-40B4-BE49-F238E27FC236}">
                <a16:creationId xmlns:a16="http://schemas.microsoft.com/office/drawing/2014/main" id="{C16FDFFB-0405-D2AD-F581-C519581F7079}"/>
              </a:ext>
            </a:extLst>
          </p:cNvPr>
          <p:cNvSpPr>
            <a:spLocks noGrp="1"/>
          </p:cNvSpPr>
          <p:nvPr>
            <p:ph idx="1"/>
          </p:nvPr>
        </p:nvSpPr>
        <p:spPr/>
        <p:txBody>
          <a:bodyPr/>
          <a:lstStyle/>
          <a:p>
            <a:endParaRPr lang="en-LU" dirty="0"/>
          </a:p>
        </p:txBody>
      </p:sp>
    </p:spTree>
    <p:extLst>
      <p:ext uri="{BB962C8B-B14F-4D97-AF65-F5344CB8AC3E}">
        <p14:creationId xmlns:p14="http://schemas.microsoft.com/office/powerpoint/2010/main" val="31034855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2E275-1F0A-64B9-3C28-CA23D7478377}"/>
              </a:ext>
            </a:extLst>
          </p:cNvPr>
          <p:cNvSpPr>
            <a:spLocks noGrp="1"/>
          </p:cNvSpPr>
          <p:nvPr>
            <p:ph type="title"/>
          </p:nvPr>
        </p:nvSpPr>
        <p:spPr>
          <a:xfrm>
            <a:off x="640079" y="248653"/>
            <a:ext cx="10890929" cy="1097280"/>
          </a:xfrm>
        </p:spPr>
        <p:txBody>
          <a:bodyPr>
            <a:normAutofit fontScale="90000"/>
          </a:bodyPr>
          <a:lstStyle/>
          <a:p>
            <a:r>
              <a:rPr lang="en-GB" dirty="0"/>
              <a:t>Single-GPU Optimization Strategy Before Scaling</a:t>
            </a:r>
            <a:endParaRPr lang="en-LU" dirty="0"/>
          </a:p>
        </p:txBody>
      </p:sp>
      <p:sp>
        <p:nvSpPr>
          <p:cNvPr id="3" name="Content Placeholder 2">
            <a:extLst>
              <a:ext uri="{FF2B5EF4-FFF2-40B4-BE49-F238E27FC236}">
                <a16:creationId xmlns:a16="http://schemas.microsoft.com/office/drawing/2014/main" id="{1EFDE181-D8FA-C95A-03C9-872FAAEA7A34}"/>
              </a:ext>
            </a:extLst>
          </p:cNvPr>
          <p:cNvSpPr>
            <a:spLocks noGrp="1"/>
          </p:cNvSpPr>
          <p:nvPr>
            <p:ph idx="1"/>
          </p:nvPr>
        </p:nvSpPr>
        <p:spPr>
          <a:xfrm>
            <a:off x="640080" y="1171074"/>
            <a:ext cx="10890928" cy="5028558"/>
          </a:xfrm>
        </p:spPr>
        <p:txBody>
          <a:bodyPr>
            <a:normAutofit fontScale="55000" lnSpcReduction="20000"/>
          </a:bodyPr>
          <a:lstStyle/>
          <a:p>
            <a:pPr marL="0" indent="0">
              <a:buNone/>
            </a:pPr>
            <a:r>
              <a:rPr lang="en-GB" sz="2300" dirty="0"/>
              <a:t>Before attempting multi-GPU or distributed training, it is essential to optimize performance on a single GPU. Single-device optimization establishes a performance baseline and ensures that computational resources are fully utilized before introducing additional system complexity.</a:t>
            </a:r>
          </a:p>
          <a:p>
            <a:r>
              <a:rPr lang="en-GB" sz="2300" b="1" dirty="0"/>
              <a:t>Establishing a Performance Baseline</a:t>
            </a:r>
          </a:p>
          <a:p>
            <a:pPr lvl="1"/>
            <a:r>
              <a:rPr lang="en-GB" sz="2300" dirty="0"/>
              <a:t>Measure training throughput (e.g., </a:t>
            </a:r>
            <a:r>
              <a:rPr lang="en-GB" sz="2300" b="1" dirty="0"/>
              <a:t>samples/sec or images/sec</a:t>
            </a:r>
            <a:r>
              <a:rPr lang="en-GB" sz="2300" dirty="0"/>
              <a:t>)</a:t>
            </a:r>
          </a:p>
          <a:p>
            <a:pPr lvl="1"/>
            <a:r>
              <a:rPr lang="en-GB" sz="2300" dirty="0"/>
              <a:t>Monitor GPU utilization and memory consumption</a:t>
            </a:r>
          </a:p>
          <a:p>
            <a:pPr lvl="1"/>
            <a:r>
              <a:rPr lang="en-GB" sz="2300" dirty="0"/>
              <a:t>Identify bottlenecks using profiling tools (e.g., </a:t>
            </a:r>
            <a:r>
              <a:rPr lang="en-GB" sz="2300" dirty="0" err="1"/>
              <a:t>PyTorch</a:t>
            </a:r>
            <a:r>
              <a:rPr lang="en-GB" sz="2300" dirty="0"/>
              <a:t> profiler, NVIDIA Nsight)</a:t>
            </a:r>
          </a:p>
          <a:p>
            <a:r>
              <a:rPr lang="en-GB" sz="2300" b="1" dirty="0"/>
              <a:t>Maximizing GPU Utilization</a:t>
            </a:r>
          </a:p>
          <a:p>
            <a:pPr lvl="1"/>
            <a:r>
              <a:rPr lang="en-GB" sz="2300" dirty="0"/>
              <a:t> Increase </a:t>
            </a:r>
            <a:r>
              <a:rPr lang="en-GB" sz="2300" b="1" dirty="0"/>
              <a:t>batch size</a:t>
            </a:r>
            <a:r>
              <a:rPr lang="en-GB" sz="2300" dirty="0"/>
              <a:t> within available GPU memory limits</a:t>
            </a:r>
          </a:p>
          <a:p>
            <a:pPr lvl="1"/>
            <a:r>
              <a:rPr lang="en-GB" sz="2300" dirty="0"/>
              <a:t>Ensure efficient </a:t>
            </a:r>
            <a:r>
              <a:rPr lang="en-GB" sz="2300" b="1" dirty="0"/>
              <a:t>data pipeline throughput</a:t>
            </a:r>
            <a:r>
              <a:rPr lang="en-GB" sz="2300" dirty="0"/>
              <a:t> to avoid GPU idle time</a:t>
            </a:r>
          </a:p>
          <a:p>
            <a:pPr lvl="1"/>
            <a:r>
              <a:rPr lang="en-GB" sz="2300" dirty="0"/>
              <a:t>Use optimized libraries and GPU kernels for tensor operations</a:t>
            </a:r>
          </a:p>
          <a:p>
            <a:r>
              <a:rPr lang="en-GB" sz="2300" b="1" dirty="0"/>
              <a:t>Memory and Precision Optimization</a:t>
            </a:r>
          </a:p>
          <a:p>
            <a:pPr lvl="1"/>
            <a:r>
              <a:rPr lang="en-GB" sz="2300" dirty="0"/>
              <a:t>Enable </a:t>
            </a:r>
            <a:r>
              <a:rPr lang="en-GB" sz="2300" b="1" dirty="0"/>
              <a:t>mixed-precision training</a:t>
            </a:r>
            <a:r>
              <a:rPr lang="en-GB" sz="2300" dirty="0"/>
              <a:t> to reduce memory usage and increase compute throughput</a:t>
            </a:r>
          </a:p>
          <a:p>
            <a:pPr lvl="1"/>
            <a:r>
              <a:rPr lang="en-GB" sz="2300" dirty="0"/>
              <a:t>Monitor activation memory footprint to avoid unnecessary allocations</a:t>
            </a:r>
          </a:p>
          <a:p>
            <a:pPr lvl="1"/>
            <a:r>
              <a:rPr lang="en-GB" sz="2300" dirty="0"/>
              <a:t>Use gradient checkpointing if memory becomes a limiting factor</a:t>
            </a:r>
          </a:p>
          <a:p>
            <a:r>
              <a:rPr lang="en-GB" sz="2300" b="1" dirty="0"/>
              <a:t>System-Level Efficiency</a:t>
            </a:r>
          </a:p>
          <a:p>
            <a:pPr lvl="1"/>
            <a:r>
              <a:rPr lang="en-GB" sz="2300" dirty="0"/>
              <a:t>Overlap </a:t>
            </a:r>
            <a:r>
              <a:rPr lang="en-GB" sz="2300" b="1" dirty="0"/>
              <a:t>CPU data preprocessing with GPU computation</a:t>
            </a:r>
          </a:p>
          <a:p>
            <a:pPr lvl="1"/>
            <a:r>
              <a:rPr lang="en-GB" sz="2300" dirty="0"/>
              <a:t>Ensure efficient host–device data transfers</a:t>
            </a:r>
          </a:p>
          <a:p>
            <a:pPr lvl="1"/>
            <a:r>
              <a:rPr lang="en-GB" sz="2300" dirty="0"/>
              <a:t>Minimize unnecessary synchronization or blocking operations</a:t>
            </a:r>
          </a:p>
          <a:p>
            <a:pPr marL="0" indent="0">
              <a:buNone/>
            </a:pPr>
            <a:endParaRPr lang="en-GB" sz="1800" dirty="0"/>
          </a:p>
        </p:txBody>
      </p:sp>
    </p:spTree>
    <p:extLst>
      <p:ext uri="{BB962C8B-B14F-4D97-AF65-F5344CB8AC3E}">
        <p14:creationId xmlns:p14="http://schemas.microsoft.com/office/powerpoint/2010/main" val="26251034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8C5D3-3001-15B3-27A9-8B247BE1730F}"/>
              </a:ext>
            </a:extLst>
          </p:cNvPr>
          <p:cNvSpPr>
            <a:spLocks noGrp="1"/>
          </p:cNvSpPr>
          <p:nvPr>
            <p:ph type="title"/>
          </p:nvPr>
        </p:nvSpPr>
        <p:spPr>
          <a:xfrm>
            <a:off x="650535" y="241301"/>
            <a:ext cx="10890929" cy="1097280"/>
          </a:xfrm>
        </p:spPr>
        <p:txBody>
          <a:bodyPr>
            <a:normAutofit fontScale="90000"/>
          </a:bodyPr>
          <a:lstStyle/>
          <a:p>
            <a:r>
              <a:rPr lang="en-LU" dirty="0"/>
              <a:t>Mixed Precision (AMP): Theory and Practical Gains</a:t>
            </a:r>
          </a:p>
        </p:txBody>
      </p:sp>
      <p:sp>
        <p:nvSpPr>
          <p:cNvPr id="3" name="Content Placeholder 2">
            <a:extLst>
              <a:ext uri="{FF2B5EF4-FFF2-40B4-BE49-F238E27FC236}">
                <a16:creationId xmlns:a16="http://schemas.microsoft.com/office/drawing/2014/main" id="{306CB329-5155-A229-19EF-935DCE0D1698}"/>
              </a:ext>
            </a:extLst>
          </p:cNvPr>
          <p:cNvSpPr>
            <a:spLocks noGrp="1"/>
          </p:cNvSpPr>
          <p:nvPr>
            <p:ph idx="1"/>
          </p:nvPr>
        </p:nvSpPr>
        <p:spPr>
          <a:xfrm>
            <a:off x="640080" y="1181100"/>
            <a:ext cx="10890928" cy="5018532"/>
          </a:xfrm>
        </p:spPr>
        <p:txBody>
          <a:bodyPr>
            <a:normAutofit fontScale="77500" lnSpcReduction="20000"/>
          </a:bodyPr>
          <a:lstStyle/>
          <a:p>
            <a:pPr marL="0" indent="0">
              <a:buNone/>
            </a:pPr>
            <a:r>
              <a:rPr lang="en-GB" sz="1400" dirty="0"/>
              <a:t>Mixed precision training accelerates deep learning workloads by performing most tensor operations in lower numerical precision while maintaining critical computations in higher precision. This approach improves computational throughput and reduces memory usage without significantly affecting model convergence.</a:t>
            </a:r>
          </a:p>
          <a:p>
            <a:r>
              <a:rPr lang="en-GB" sz="1400" b="1" dirty="0"/>
              <a:t>Numerical Precision in Deep Learning</a:t>
            </a:r>
          </a:p>
          <a:p>
            <a:pPr lvl="1"/>
            <a:r>
              <a:rPr lang="en-GB" sz="1400" dirty="0"/>
              <a:t>Standard training typically uses </a:t>
            </a:r>
            <a:r>
              <a:rPr lang="en-GB" sz="1400" b="1" dirty="0"/>
              <a:t>32-bit floating point (FP32)</a:t>
            </a:r>
            <a:r>
              <a:rPr lang="en-GB" sz="1400" dirty="0"/>
              <a:t> precision</a:t>
            </a:r>
          </a:p>
          <a:p>
            <a:pPr lvl="1"/>
            <a:r>
              <a:rPr lang="en-GB" sz="1400" dirty="0"/>
              <a:t>Mixed precision combines </a:t>
            </a:r>
            <a:r>
              <a:rPr lang="en-GB" sz="1400" b="1" dirty="0"/>
              <a:t>FP16 (half precision)</a:t>
            </a:r>
            <a:r>
              <a:rPr lang="en-GB" sz="1400" dirty="0"/>
              <a:t> with FP32</a:t>
            </a:r>
          </a:p>
          <a:p>
            <a:pPr lvl="1"/>
            <a:r>
              <a:rPr lang="en-GB" sz="1400" dirty="0"/>
              <a:t>Lower precision reduces memory footprint and increases arithmetic throughput</a:t>
            </a:r>
          </a:p>
          <a:p>
            <a:r>
              <a:rPr lang="en-GB" sz="1400" b="1" dirty="0"/>
              <a:t>Automatic Mixed Precision (AMP)</a:t>
            </a:r>
          </a:p>
          <a:p>
            <a:pPr lvl="1"/>
            <a:r>
              <a:rPr lang="en-GB" sz="1400" dirty="0"/>
              <a:t>Framework-level utilities automatically manage precision casting</a:t>
            </a:r>
          </a:p>
          <a:p>
            <a:pPr lvl="1"/>
            <a:r>
              <a:rPr lang="en-GB" sz="1400" dirty="0"/>
              <a:t>Tensor operations are executed in </a:t>
            </a:r>
            <a:r>
              <a:rPr lang="en-GB" sz="1400" b="1" dirty="0"/>
              <a:t>FP16 where numerically stable</a:t>
            </a:r>
          </a:p>
          <a:p>
            <a:pPr lvl="1"/>
            <a:r>
              <a:rPr lang="en-GB" sz="1400" dirty="0"/>
              <a:t>Critical operations (e.g., loss computation, gradient accumulation) remain in </a:t>
            </a:r>
            <a:r>
              <a:rPr lang="en-GB" sz="1400" b="1" dirty="0"/>
              <a:t>FP32</a:t>
            </a:r>
            <a:endParaRPr lang="en-GB" sz="1400" dirty="0"/>
          </a:p>
          <a:p>
            <a:r>
              <a:rPr lang="en-GB" sz="1400" b="1" dirty="0"/>
              <a:t>Gradient Scaling</a:t>
            </a:r>
          </a:p>
          <a:p>
            <a:pPr lvl="1"/>
            <a:r>
              <a:rPr lang="en-GB" sz="1400" dirty="0"/>
              <a:t>Small FP16 gradients may underflow during backpropagation</a:t>
            </a:r>
          </a:p>
          <a:p>
            <a:r>
              <a:rPr lang="en-GB" sz="1400" b="1" dirty="0"/>
              <a:t>Dynamic loss scaling</a:t>
            </a:r>
            <a:r>
              <a:rPr lang="en-GB" sz="1400" dirty="0"/>
              <a:t> </a:t>
            </a:r>
          </a:p>
          <a:p>
            <a:pPr lvl="1"/>
            <a:r>
              <a:rPr lang="en-GB" sz="1400" dirty="0"/>
              <a:t>Multiplies the loss before gradient computation</a:t>
            </a:r>
          </a:p>
          <a:p>
            <a:pPr lvl="1"/>
            <a:r>
              <a:rPr lang="en-GB" sz="1400" dirty="0"/>
              <a:t>Gradients are rescaled afterward to maintain numerical stability</a:t>
            </a:r>
          </a:p>
          <a:p>
            <a:r>
              <a:rPr lang="en-GB" sz="1400" b="1" dirty="0"/>
              <a:t>Performance Benefits</a:t>
            </a:r>
          </a:p>
          <a:p>
            <a:pPr lvl="1"/>
            <a:r>
              <a:rPr lang="en-GB" sz="1400" dirty="0"/>
              <a:t>Reduced GPU memory consumption allows </a:t>
            </a:r>
            <a:r>
              <a:rPr lang="en-GB" sz="1400" b="1" dirty="0"/>
              <a:t>larger batch sizes</a:t>
            </a:r>
          </a:p>
          <a:p>
            <a:pPr lvl="1"/>
            <a:r>
              <a:rPr lang="en-GB" sz="1400" dirty="0"/>
              <a:t>Increased arithmetic throughput through </a:t>
            </a:r>
            <a:r>
              <a:rPr lang="en-GB" sz="1400" b="1" dirty="0"/>
              <a:t>tensor core acceleration</a:t>
            </a:r>
          </a:p>
          <a:p>
            <a:pPr lvl="1"/>
            <a:r>
              <a:rPr lang="en-GB" sz="1400" dirty="0"/>
              <a:t>Typical speed improvements range from </a:t>
            </a:r>
            <a:r>
              <a:rPr lang="en-GB" sz="1400" b="1" dirty="0"/>
              <a:t>1.3× to 2× depending on workload</a:t>
            </a:r>
            <a:endParaRPr lang="en-GB" sz="1400" dirty="0"/>
          </a:p>
          <a:p>
            <a:endParaRPr lang="en-LU" sz="1600" dirty="0"/>
          </a:p>
        </p:txBody>
      </p:sp>
    </p:spTree>
    <p:extLst>
      <p:ext uri="{BB962C8B-B14F-4D97-AF65-F5344CB8AC3E}">
        <p14:creationId xmlns:p14="http://schemas.microsoft.com/office/powerpoint/2010/main" val="30106222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209CF-072D-D818-DA06-38CE9D487BBD}"/>
              </a:ext>
            </a:extLst>
          </p:cNvPr>
          <p:cNvSpPr>
            <a:spLocks noGrp="1"/>
          </p:cNvSpPr>
          <p:nvPr>
            <p:ph type="title"/>
          </p:nvPr>
        </p:nvSpPr>
        <p:spPr>
          <a:xfrm>
            <a:off x="640079" y="330201"/>
            <a:ext cx="10890929" cy="1097280"/>
          </a:xfrm>
        </p:spPr>
        <p:txBody>
          <a:bodyPr>
            <a:normAutofit/>
          </a:bodyPr>
          <a:lstStyle/>
          <a:p>
            <a:r>
              <a:rPr lang="en-GB" dirty="0"/>
              <a:t>Batch Size Scaling and Stability Trade-offs</a:t>
            </a:r>
            <a:endParaRPr lang="en-LU" dirty="0"/>
          </a:p>
        </p:txBody>
      </p:sp>
      <p:sp>
        <p:nvSpPr>
          <p:cNvPr id="3" name="Content Placeholder 2">
            <a:extLst>
              <a:ext uri="{FF2B5EF4-FFF2-40B4-BE49-F238E27FC236}">
                <a16:creationId xmlns:a16="http://schemas.microsoft.com/office/drawing/2014/main" id="{5BE1638E-094C-E20B-574A-E1382B198CA6}"/>
              </a:ext>
            </a:extLst>
          </p:cNvPr>
          <p:cNvSpPr>
            <a:spLocks noGrp="1"/>
          </p:cNvSpPr>
          <p:nvPr>
            <p:ph idx="1"/>
          </p:nvPr>
        </p:nvSpPr>
        <p:spPr>
          <a:xfrm>
            <a:off x="640080" y="1193800"/>
            <a:ext cx="10890928" cy="5005832"/>
          </a:xfrm>
        </p:spPr>
        <p:txBody>
          <a:bodyPr>
            <a:normAutofit fontScale="70000" lnSpcReduction="20000"/>
          </a:bodyPr>
          <a:lstStyle/>
          <a:p>
            <a:pPr marL="0" indent="0">
              <a:buNone/>
            </a:pPr>
            <a:r>
              <a:rPr lang="en-GB" sz="1800" dirty="0"/>
              <a:t>Batch size is a critical hyperparameter that influences both computational efficiency and optimization dynamics in deep learning training. While larger batch sizes improve hardware utilization and throughput, they can also alter gradient statistics and affect convergence </a:t>
            </a:r>
            <a:r>
              <a:rPr lang="en-GB" sz="1800" dirty="0" err="1"/>
              <a:t>behavior</a:t>
            </a:r>
            <a:r>
              <a:rPr lang="en-GB" sz="1800" dirty="0"/>
              <a:t>, particularly in adversarial training settings such as GANs.</a:t>
            </a:r>
          </a:p>
          <a:p>
            <a:r>
              <a:rPr lang="en-GB" sz="1800" b="1" dirty="0"/>
              <a:t>Impact on Computational Throughput</a:t>
            </a:r>
          </a:p>
          <a:p>
            <a:pPr lvl="1"/>
            <a:r>
              <a:rPr lang="en-GB" sz="1600" dirty="0"/>
              <a:t>Larger batch sizes increase </a:t>
            </a:r>
            <a:r>
              <a:rPr lang="en-GB" sz="1600" b="1" dirty="0"/>
              <a:t>arithmetic intensity</a:t>
            </a:r>
            <a:r>
              <a:rPr lang="en-GB" sz="1600" dirty="0"/>
              <a:t> and improve GPU utilization</a:t>
            </a:r>
          </a:p>
          <a:p>
            <a:pPr lvl="1"/>
            <a:r>
              <a:rPr lang="en-GB" sz="1800" dirty="0"/>
              <a:t>Reduces overhead associated with kernel launches and data transfers</a:t>
            </a:r>
          </a:p>
          <a:p>
            <a:pPr lvl="1"/>
            <a:r>
              <a:rPr lang="en-GB" sz="1800" dirty="0"/>
              <a:t>Enables more efficient parallel processing on GPU architectures</a:t>
            </a:r>
          </a:p>
          <a:p>
            <a:r>
              <a:rPr lang="en-GB" sz="1800" b="1" dirty="0"/>
              <a:t>Impact on Optimization Dynamics</a:t>
            </a:r>
          </a:p>
          <a:p>
            <a:pPr lvl="1"/>
            <a:r>
              <a:rPr lang="en-GB" sz="1600" dirty="0"/>
              <a:t>Gradient estimate becomes </a:t>
            </a:r>
            <a:r>
              <a:rPr lang="en-GB" sz="1600" b="1" dirty="0"/>
              <a:t>less noisy</a:t>
            </a:r>
            <a:r>
              <a:rPr lang="en-GB" sz="1600" dirty="0"/>
              <a:t> as batch size increases</a:t>
            </a:r>
          </a:p>
          <a:p>
            <a:pPr lvl="1"/>
            <a:r>
              <a:rPr lang="en-GB" sz="1800" dirty="0"/>
              <a:t>Reduced stochasticity may slow exploration of the loss landscape</a:t>
            </a:r>
          </a:p>
          <a:p>
            <a:pPr lvl="1"/>
            <a:r>
              <a:rPr lang="en-GB" sz="1800" dirty="0"/>
              <a:t>In GANs, large batches can influence the </a:t>
            </a:r>
            <a:r>
              <a:rPr lang="en-GB" sz="1800" b="1" dirty="0"/>
              <a:t>balance between generator and discriminator updates</a:t>
            </a:r>
            <a:endParaRPr lang="en-GB" sz="1800" dirty="0"/>
          </a:p>
          <a:p>
            <a:r>
              <a:rPr lang="en-GB" sz="1800" b="1" dirty="0"/>
              <a:t>Learning Rate Interaction</a:t>
            </a:r>
          </a:p>
          <a:p>
            <a:pPr lvl="1"/>
            <a:r>
              <a:rPr lang="en-GB" sz="1600" dirty="0"/>
              <a:t>Batch size scaling often requires </a:t>
            </a:r>
            <a:r>
              <a:rPr lang="en-GB" sz="1600" b="1" dirty="0"/>
              <a:t>learning rate adjustment</a:t>
            </a:r>
          </a:p>
          <a:p>
            <a:pPr lvl="1"/>
            <a:r>
              <a:rPr lang="en-GB" sz="1800" dirty="0"/>
              <a:t>Common heuristic: scale learning rate proportionally with batch size</a:t>
            </a:r>
          </a:p>
          <a:p>
            <a:pPr lvl="1"/>
            <a:r>
              <a:rPr lang="en-GB" sz="1800" dirty="0"/>
              <a:t>Improper scaling can lead to unstable training or slow convergence</a:t>
            </a:r>
          </a:p>
          <a:p>
            <a:r>
              <a:rPr lang="en-GB" sz="1800" b="1" dirty="0"/>
              <a:t>Memory Constraints</a:t>
            </a:r>
          </a:p>
          <a:p>
            <a:pPr lvl="1"/>
            <a:r>
              <a:rPr lang="en-GB" sz="1600" dirty="0"/>
              <a:t>Batch size is limited by </a:t>
            </a:r>
            <a:r>
              <a:rPr lang="en-GB" sz="1600" b="1" dirty="0"/>
              <a:t>GPU memory capacity</a:t>
            </a:r>
            <a:r>
              <a:rPr lang="en-GB" sz="1600" dirty="0"/>
              <a:t>, especially for high-resolution GAN models</a:t>
            </a:r>
          </a:p>
          <a:p>
            <a:pPr lvl="1"/>
            <a:r>
              <a:rPr lang="en-GB" sz="1800" dirty="0"/>
              <a:t>Larger batches increase activation memory requirements during backpropagation</a:t>
            </a:r>
          </a:p>
          <a:p>
            <a:pPr marL="0" indent="0">
              <a:buNone/>
            </a:pPr>
            <a:endParaRPr lang="en-GB" sz="1800" dirty="0"/>
          </a:p>
        </p:txBody>
      </p:sp>
    </p:spTree>
    <p:extLst>
      <p:ext uri="{BB962C8B-B14F-4D97-AF65-F5344CB8AC3E}">
        <p14:creationId xmlns:p14="http://schemas.microsoft.com/office/powerpoint/2010/main" val="38251962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3FC5A-D0D1-B490-2670-FF9F313185D3}"/>
              </a:ext>
            </a:extLst>
          </p:cNvPr>
          <p:cNvSpPr>
            <a:spLocks noGrp="1"/>
          </p:cNvSpPr>
          <p:nvPr>
            <p:ph type="title"/>
          </p:nvPr>
        </p:nvSpPr>
        <p:spPr>
          <a:xfrm>
            <a:off x="640079" y="357188"/>
            <a:ext cx="10890929" cy="1097280"/>
          </a:xfrm>
        </p:spPr>
        <p:txBody>
          <a:bodyPr>
            <a:normAutofit/>
          </a:bodyPr>
          <a:lstStyle/>
          <a:p>
            <a:r>
              <a:rPr lang="en-GB" dirty="0"/>
              <a:t>CUDA Memory Optimization Techniques</a:t>
            </a:r>
            <a:endParaRPr lang="en-LU" dirty="0"/>
          </a:p>
        </p:txBody>
      </p:sp>
      <p:sp>
        <p:nvSpPr>
          <p:cNvPr id="3" name="Content Placeholder 2">
            <a:extLst>
              <a:ext uri="{FF2B5EF4-FFF2-40B4-BE49-F238E27FC236}">
                <a16:creationId xmlns:a16="http://schemas.microsoft.com/office/drawing/2014/main" id="{BB47E2A6-D84B-1F0A-ADE5-996A69F1DE8B}"/>
              </a:ext>
            </a:extLst>
          </p:cNvPr>
          <p:cNvSpPr>
            <a:spLocks noGrp="1"/>
          </p:cNvSpPr>
          <p:nvPr>
            <p:ph idx="1"/>
          </p:nvPr>
        </p:nvSpPr>
        <p:spPr>
          <a:xfrm>
            <a:off x="640080" y="1185863"/>
            <a:ext cx="10890928" cy="5013769"/>
          </a:xfrm>
        </p:spPr>
        <p:txBody>
          <a:bodyPr>
            <a:normAutofit fontScale="62500" lnSpcReduction="20000"/>
          </a:bodyPr>
          <a:lstStyle/>
          <a:p>
            <a:r>
              <a:rPr lang="en-GB" dirty="0"/>
              <a:t>Efficient utilization of GPU memory is essential for training deep learning models at scale. CUDA memory optimization techniques aim to reduce memory overhead, minimize allocation latency, and maximize effective device memory usage during forward and backward propagation.</a:t>
            </a:r>
          </a:p>
          <a:p>
            <a:r>
              <a:rPr lang="en-GB" b="1" dirty="0"/>
              <a:t>Efficient Memory Allocation</a:t>
            </a:r>
          </a:p>
          <a:p>
            <a:pPr lvl="1"/>
            <a:r>
              <a:rPr lang="en-GB" dirty="0"/>
              <a:t>Reuse GPU memory buffers to reduce frequent allocation and deallocation overhead</a:t>
            </a:r>
          </a:p>
          <a:p>
            <a:pPr lvl="1"/>
            <a:r>
              <a:rPr lang="en-GB" dirty="0"/>
              <a:t>Avoid unnecessary tensor copies during computation</a:t>
            </a:r>
          </a:p>
          <a:p>
            <a:pPr lvl="1"/>
            <a:r>
              <a:rPr lang="en-GB" dirty="0"/>
              <a:t>Utilize framework-level memory caching mechanisms to improve allocation efficiency</a:t>
            </a:r>
          </a:p>
          <a:p>
            <a:r>
              <a:rPr lang="en-GB" b="1" dirty="0"/>
              <a:t>Activation Memory Management</a:t>
            </a:r>
          </a:p>
          <a:p>
            <a:pPr lvl="1"/>
            <a:r>
              <a:rPr lang="en-GB" dirty="0"/>
              <a:t>Intermediate activations consume a large portion of GPU memory during training</a:t>
            </a:r>
          </a:p>
          <a:p>
            <a:pPr lvl="1"/>
            <a:r>
              <a:rPr lang="en-GB" b="1" dirty="0"/>
              <a:t>Gradient checkpointing</a:t>
            </a:r>
            <a:r>
              <a:rPr lang="en-GB" dirty="0"/>
              <a:t> recomputes selected activations during backpropagation to reduce memory usage</a:t>
            </a:r>
          </a:p>
          <a:p>
            <a:pPr lvl="1"/>
            <a:r>
              <a:rPr lang="en-GB" dirty="0"/>
              <a:t>Enables training of deeper networks under limited memory constraints</a:t>
            </a:r>
          </a:p>
          <a:p>
            <a:r>
              <a:rPr lang="en-GB" b="1" dirty="0"/>
              <a:t>Memory Access Optimization</a:t>
            </a:r>
          </a:p>
          <a:p>
            <a:pPr lvl="1"/>
            <a:r>
              <a:rPr lang="en-GB" dirty="0"/>
              <a:t>Align tensor operations to ensure </a:t>
            </a:r>
            <a:r>
              <a:rPr lang="en-GB" b="1" dirty="0"/>
              <a:t>coalesced memory access patterns</a:t>
            </a:r>
          </a:p>
          <a:p>
            <a:pPr lvl="1"/>
            <a:r>
              <a:rPr lang="en-GB" dirty="0"/>
              <a:t>Reduce global memory transactions by maximizing data reuse within kernels</a:t>
            </a:r>
          </a:p>
          <a:p>
            <a:pPr lvl="1"/>
            <a:r>
              <a:rPr lang="en-GB" dirty="0"/>
              <a:t>Exploit shared memory when implementing custom CUDA kernels</a:t>
            </a:r>
          </a:p>
          <a:p>
            <a:r>
              <a:rPr lang="en-GB" b="1" dirty="0"/>
              <a:t>Mixed Precision and Memory Footprint</a:t>
            </a:r>
          </a:p>
          <a:p>
            <a:pPr lvl="1"/>
            <a:r>
              <a:rPr lang="en-GB" dirty="0"/>
              <a:t>FP16 tensors reduce storage requirements compared to FP32</a:t>
            </a:r>
          </a:p>
          <a:p>
            <a:pPr lvl="1"/>
            <a:r>
              <a:rPr lang="en-GB" dirty="0"/>
              <a:t>Mixed precision training lowers activation and gradient memory usage</a:t>
            </a:r>
          </a:p>
          <a:p>
            <a:pPr lvl="1"/>
            <a:r>
              <a:rPr lang="en-GB" dirty="0"/>
              <a:t>Enables larger batch sizes and higher-resolution models within fixed GPU memory capacity</a:t>
            </a:r>
          </a:p>
          <a:p>
            <a:endParaRPr lang="en-LU" dirty="0"/>
          </a:p>
        </p:txBody>
      </p:sp>
    </p:spTree>
    <p:extLst>
      <p:ext uri="{BB962C8B-B14F-4D97-AF65-F5344CB8AC3E}">
        <p14:creationId xmlns:p14="http://schemas.microsoft.com/office/powerpoint/2010/main" val="33100926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159E7-FCD3-0CE5-5254-482390208C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D23934-EF8C-2559-25B9-2F33C295BB96}"/>
              </a:ext>
            </a:extLst>
          </p:cNvPr>
          <p:cNvSpPr>
            <a:spLocks noGrp="1"/>
          </p:cNvSpPr>
          <p:nvPr>
            <p:ph type="title"/>
          </p:nvPr>
        </p:nvSpPr>
        <p:spPr>
          <a:xfrm>
            <a:off x="640079" y="357188"/>
            <a:ext cx="10890929" cy="1097280"/>
          </a:xfrm>
        </p:spPr>
        <p:txBody>
          <a:bodyPr>
            <a:normAutofit fontScale="90000"/>
          </a:bodyPr>
          <a:lstStyle/>
          <a:p>
            <a:r>
              <a:rPr lang="en-GB" dirty="0"/>
              <a:t>Overlapping CPU–GPU Workloads Efficiently</a:t>
            </a:r>
            <a:br>
              <a:rPr lang="en-GB" dirty="0"/>
            </a:br>
            <a:endParaRPr lang="en-LU" dirty="0"/>
          </a:p>
        </p:txBody>
      </p:sp>
      <p:sp>
        <p:nvSpPr>
          <p:cNvPr id="3" name="Content Placeholder 2">
            <a:extLst>
              <a:ext uri="{FF2B5EF4-FFF2-40B4-BE49-F238E27FC236}">
                <a16:creationId xmlns:a16="http://schemas.microsoft.com/office/drawing/2014/main" id="{DF1DD250-4916-AA42-1CDA-2E77C4487C5E}"/>
              </a:ext>
            </a:extLst>
          </p:cNvPr>
          <p:cNvSpPr>
            <a:spLocks noGrp="1"/>
          </p:cNvSpPr>
          <p:nvPr>
            <p:ph idx="1"/>
          </p:nvPr>
        </p:nvSpPr>
        <p:spPr>
          <a:xfrm>
            <a:off x="640080" y="1185863"/>
            <a:ext cx="10890928" cy="5672137"/>
          </a:xfrm>
        </p:spPr>
        <p:txBody>
          <a:bodyPr>
            <a:normAutofit fontScale="70000" lnSpcReduction="20000"/>
          </a:bodyPr>
          <a:lstStyle/>
          <a:p>
            <a:pPr marL="0" indent="0">
              <a:buNone/>
            </a:pPr>
            <a:r>
              <a:rPr lang="en-GB" sz="1800" dirty="0"/>
              <a:t>Efficient deep learning training requires concurrent utilization of CPU and GPU resources. Overlapping host-side data preparation with device-side computation reduces idle time and maximizes overall system throughput.</a:t>
            </a:r>
          </a:p>
          <a:p>
            <a:r>
              <a:rPr lang="en-GB" b="1" dirty="0"/>
              <a:t>Asynchronous Execution Model</a:t>
            </a:r>
          </a:p>
          <a:p>
            <a:pPr lvl="1"/>
            <a:r>
              <a:rPr lang="en-GB" dirty="0"/>
              <a:t>GPU kernels execute </a:t>
            </a:r>
            <a:r>
              <a:rPr lang="en-GB" b="1" dirty="0"/>
              <a:t>asynchronously</a:t>
            </a:r>
            <a:r>
              <a:rPr lang="en-GB" dirty="0"/>
              <a:t> with respect to the host CPU</a:t>
            </a:r>
          </a:p>
          <a:p>
            <a:pPr lvl="1"/>
            <a:r>
              <a:rPr lang="en-GB" dirty="0"/>
              <a:t>CPU can continue preparing future batches while the GPU processes the current batch</a:t>
            </a:r>
          </a:p>
          <a:p>
            <a:pPr lvl="1"/>
            <a:r>
              <a:rPr lang="en-GB" dirty="0"/>
              <a:t>Proper scheduling allows </a:t>
            </a:r>
            <a:r>
              <a:rPr lang="en-GB" b="1" dirty="0"/>
              <a:t>computation and data preparation to proceed in parallel</a:t>
            </a:r>
            <a:endParaRPr lang="en-GB" dirty="0"/>
          </a:p>
          <a:p>
            <a:r>
              <a:rPr lang="en-GB" b="1" dirty="0"/>
              <a:t>Host–Device Data Transfer Optimization</a:t>
            </a:r>
          </a:p>
          <a:p>
            <a:pPr lvl="1"/>
            <a:r>
              <a:rPr lang="en-GB" dirty="0"/>
              <a:t>Use </a:t>
            </a:r>
            <a:r>
              <a:rPr lang="en-GB" b="1" dirty="0"/>
              <a:t>non-blocking data transfers</a:t>
            </a:r>
            <a:r>
              <a:rPr lang="en-GB" dirty="0"/>
              <a:t> to avoid CPU-side synchronization delays</a:t>
            </a:r>
          </a:p>
          <a:p>
            <a:pPr lvl="1"/>
            <a:r>
              <a:rPr lang="en-GB" dirty="0"/>
              <a:t>Employ </a:t>
            </a:r>
            <a:r>
              <a:rPr lang="en-GB" b="1" dirty="0"/>
              <a:t>pinned (page-locked) host memory</a:t>
            </a:r>
            <a:r>
              <a:rPr lang="en-GB" dirty="0"/>
              <a:t> to accelerate DMA transfers to GPU memory</a:t>
            </a:r>
          </a:p>
          <a:p>
            <a:pPr lvl="1"/>
            <a:r>
              <a:rPr lang="en-GB" dirty="0"/>
              <a:t>Transfer data while previous kernels are still executing</a:t>
            </a:r>
          </a:p>
          <a:p>
            <a:r>
              <a:rPr lang="en-GB" b="1" dirty="0"/>
              <a:t>Pipeline Parallelism in the Training Loop</a:t>
            </a:r>
          </a:p>
          <a:p>
            <a:pPr lvl="1"/>
            <a:r>
              <a:rPr lang="en-GB" dirty="0"/>
              <a:t>CPU performs </a:t>
            </a:r>
            <a:r>
              <a:rPr lang="en-GB" b="1" dirty="0"/>
              <a:t>data loading, preprocessing, and batching</a:t>
            </a:r>
            <a:r>
              <a:rPr lang="en-GB" dirty="0"/>
              <a:t> concurrently with GPU computation</a:t>
            </a:r>
          </a:p>
          <a:p>
            <a:pPr lvl="1"/>
            <a:r>
              <a:rPr lang="en-GB" dirty="0" err="1"/>
              <a:t>DataLoader</a:t>
            </a:r>
            <a:r>
              <a:rPr lang="en-GB" dirty="0"/>
              <a:t> prefetching prepares upcoming batches ahead of time</a:t>
            </a:r>
          </a:p>
          <a:p>
            <a:pPr lvl="1"/>
            <a:r>
              <a:rPr lang="en-GB" dirty="0"/>
              <a:t>Ensures continuous data availability for the GPU</a:t>
            </a:r>
          </a:p>
          <a:p>
            <a:r>
              <a:rPr lang="en-GB" b="1" dirty="0"/>
              <a:t>Synchronization Considerations</a:t>
            </a:r>
          </a:p>
          <a:p>
            <a:pPr lvl="1"/>
            <a:r>
              <a:rPr lang="en-GB" dirty="0"/>
              <a:t>Avoid unnecessary CPU–GPU synchronization points during training</a:t>
            </a:r>
          </a:p>
          <a:p>
            <a:pPr lvl="1"/>
            <a:r>
              <a:rPr lang="en-GB" dirty="0"/>
              <a:t>Excessive synchronization reduces overlap and lowers effective throughput</a:t>
            </a:r>
          </a:p>
          <a:p>
            <a:pPr lvl="1"/>
            <a:r>
              <a:rPr lang="en-GB" dirty="0"/>
              <a:t>Efficient pipelines maintain </a:t>
            </a:r>
            <a:r>
              <a:rPr lang="en-GB" b="1" dirty="0"/>
              <a:t>high GPU utilization throughout training</a:t>
            </a:r>
          </a:p>
          <a:p>
            <a:pPr marL="0" indent="0">
              <a:buNone/>
            </a:pPr>
            <a:r>
              <a:rPr lang="en-GB" dirty="0"/>
              <a:t>Maximizing training efficiency requires designing pipelines where </a:t>
            </a:r>
            <a:r>
              <a:rPr lang="en-GB" b="1" dirty="0"/>
              <a:t>CPU-side data preparation and GPU-side model computation occur simultaneously</a:t>
            </a:r>
            <a:r>
              <a:rPr lang="en-GB" dirty="0"/>
              <a:t>, ensuring that neither processor becomes a performance bottleneck.</a:t>
            </a:r>
          </a:p>
          <a:p>
            <a:pPr marL="0" indent="0">
              <a:buNone/>
            </a:pPr>
            <a:endParaRPr lang="en-GB" b="1" dirty="0"/>
          </a:p>
          <a:p>
            <a:endParaRPr lang="en-GB" dirty="0"/>
          </a:p>
          <a:p>
            <a:endParaRPr lang="en-LU" dirty="0"/>
          </a:p>
        </p:txBody>
      </p:sp>
    </p:spTree>
    <p:extLst>
      <p:ext uri="{BB962C8B-B14F-4D97-AF65-F5344CB8AC3E}">
        <p14:creationId xmlns:p14="http://schemas.microsoft.com/office/powerpoint/2010/main" val="35134832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E2BCC-8E76-CB9A-10C3-B01144516737}"/>
              </a:ext>
            </a:extLst>
          </p:cNvPr>
          <p:cNvSpPr>
            <a:spLocks noGrp="1"/>
          </p:cNvSpPr>
          <p:nvPr>
            <p:ph type="title"/>
          </p:nvPr>
        </p:nvSpPr>
        <p:spPr/>
        <p:txBody>
          <a:bodyPr>
            <a:normAutofit fontScale="90000"/>
          </a:bodyPr>
          <a:lstStyle/>
          <a:p>
            <a:r>
              <a:rPr lang="en-LU" dirty="0"/>
              <a:t>Exercise 4: AMP integration and throughput benchmarking</a:t>
            </a:r>
          </a:p>
        </p:txBody>
      </p:sp>
      <p:sp>
        <p:nvSpPr>
          <p:cNvPr id="3" name="Content Placeholder 2">
            <a:extLst>
              <a:ext uri="{FF2B5EF4-FFF2-40B4-BE49-F238E27FC236}">
                <a16:creationId xmlns:a16="http://schemas.microsoft.com/office/drawing/2014/main" id="{CFAFEB31-62A2-0418-F4BE-2270541E7EAE}"/>
              </a:ext>
            </a:extLst>
          </p:cNvPr>
          <p:cNvSpPr>
            <a:spLocks noGrp="1"/>
          </p:cNvSpPr>
          <p:nvPr>
            <p:ph idx="1"/>
          </p:nvPr>
        </p:nvSpPr>
        <p:spPr/>
        <p:txBody>
          <a:bodyPr/>
          <a:lstStyle/>
          <a:p>
            <a:endParaRPr lang="en-LU"/>
          </a:p>
        </p:txBody>
      </p:sp>
    </p:spTree>
    <p:extLst>
      <p:ext uri="{BB962C8B-B14F-4D97-AF65-F5344CB8AC3E}">
        <p14:creationId xmlns:p14="http://schemas.microsoft.com/office/powerpoint/2010/main" val="19659604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89D10-B509-6A88-24CD-5FD598D457AE}"/>
              </a:ext>
            </a:extLst>
          </p:cNvPr>
          <p:cNvSpPr>
            <a:spLocks noGrp="1"/>
          </p:cNvSpPr>
          <p:nvPr>
            <p:ph type="title"/>
          </p:nvPr>
        </p:nvSpPr>
        <p:spPr>
          <a:xfrm>
            <a:off x="640079" y="285751"/>
            <a:ext cx="10890929" cy="1097280"/>
          </a:xfrm>
        </p:spPr>
        <p:txBody>
          <a:bodyPr/>
          <a:lstStyle/>
          <a:p>
            <a:r>
              <a:rPr lang="en-LU" dirty="0"/>
              <a:t>Wrap-up</a:t>
            </a:r>
          </a:p>
        </p:txBody>
      </p:sp>
      <p:sp>
        <p:nvSpPr>
          <p:cNvPr id="3" name="Content Placeholder 2">
            <a:extLst>
              <a:ext uri="{FF2B5EF4-FFF2-40B4-BE49-F238E27FC236}">
                <a16:creationId xmlns:a16="http://schemas.microsoft.com/office/drawing/2014/main" id="{77ABCE5D-2C60-38A5-8B2D-554ABFADF468}"/>
              </a:ext>
            </a:extLst>
          </p:cNvPr>
          <p:cNvSpPr>
            <a:spLocks noGrp="1"/>
          </p:cNvSpPr>
          <p:nvPr>
            <p:ph idx="1"/>
          </p:nvPr>
        </p:nvSpPr>
        <p:spPr>
          <a:xfrm>
            <a:off x="640080" y="1200150"/>
            <a:ext cx="10890928" cy="4999482"/>
          </a:xfrm>
        </p:spPr>
        <p:txBody>
          <a:bodyPr>
            <a:normAutofit fontScale="85000" lnSpcReduction="20000"/>
          </a:bodyPr>
          <a:lstStyle/>
          <a:p>
            <a:pPr marL="0" indent="0">
              <a:buNone/>
            </a:pPr>
            <a:r>
              <a:rPr lang="en-GB" sz="1800" dirty="0"/>
              <a:t>Efficient GAN training requires a combined understanding of generative </a:t>
            </a:r>
            <a:r>
              <a:rPr lang="en-GB" sz="1800" dirty="0" err="1"/>
              <a:t>modeling</a:t>
            </a:r>
            <a:r>
              <a:rPr lang="en-GB" sz="1800" dirty="0"/>
              <a:t>, computational architecture, and systems-level optimization. High performance is achieved not only through algorithmic improvements but also through careful engineering of the full training pipeline.</a:t>
            </a:r>
          </a:p>
          <a:p>
            <a:r>
              <a:rPr lang="en-GB" b="1" dirty="0"/>
              <a:t>Key Technical Takeaways</a:t>
            </a:r>
            <a:endParaRPr lang="en-GB" dirty="0"/>
          </a:p>
          <a:p>
            <a:r>
              <a:rPr lang="en-GB" b="1" dirty="0"/>
              <a:t>GAN Fundamentals</a:t>
            </a:r>
          </a:p>
          <a:p>
            <a:pPr lvl="1"/>
            <a:r>
              <a:rPr lang="en-GB" dirty="0"/>
              <a:t>GANs train two neural networks through adversarial optimization</a:t>
            </a:r>
          </a:p>
          <a:p>
            <a:pPr lvl="1"/>
            <a:r>
              <a:rPr lang="en-GB" dirty="0"/>
              <a:t>Stability depends on maintaining balance between generator and discriminator</a:t>
            </a:r>
          </a:p>
          <a:p>
            <a:pPr lvl="1"/>
            <a:r>
              <a:rPr lang="en-GB" dirty="0"/>
              <a:t>Architectural design strongly influences compute cost and memory usage</a:t>
            </a:r>
          </a:p>
          <a:p>
            <a:r>
              <a:rPr lang="en-GB" b="1" dirty="0"/>
              <a:t>Computational Characteristics</a:t>
            </a:r>
          </a:p>
          <a:p>
            <a:pPr lvl="1"/>
            <a:r>
              <a:rPr lang="en-GB" dirty="0"/>
              <a:t>Convolutional operations dominate training compute</a:t>
            </a:r>
          </a:p>
          <a:p>
            <a:pPr lvl="1"/>
            <a:r>
              <a:rPr lang="en-GB" dirty="0"/>
              <a:t>Activation storage and optimizer states drive memory consumption</a:t>
            </a:r>
          </a:p>
          <a:p>
            <a:pPr lvl="1"/>
            <a:r>
              <a:rPr lang="en-GB" dirty="0"/>
              <a:t>Resolution scaling increases compute and memory requirements significantly</a:t>
            </a:r>
          </a:p>
          <a:p>
            <a:r>
              <a:rPr lang="en-GB" b="1" dirty="0"/>
              <a:t>Systems Perspective</a:t>
            </a:r>
          </a:p>
          <a:p>
            <a:pPr lvl="1"/>
            <a:r>
              <a:rPr lang="en-GB" dirty="0"/>
              <a:t>Efficient training requires coordination between </a:t>
            </a:r>
            <a:r>
              <a:rPr lang="en-GB" b="1" dirty="0"/>
              <a:t>CPU, GPU, storage, and network resources</a:t>
            </a:r>
          </a:p>
          <a:p>
            <a:pPr lvl="1"/>
            <a:r>
              <a:rPr lang="en-GB" dirty="0"/>
              <a:t>Data pipelines must continuously feed GPUs to avoid idle compute cycles</a:t>
            </a:r>
          </a:p>
          <a:p>
            <a:pPr lvl="1"/>
            <a:r>
              <a:rPr lang="en-GB" dirty="0"/>
              <a:t>Memory bandwidth and communication overhead often limit scalability</a:t>
            </a:r>
          </a:p>
          <a:p>
            <a:pPr marL="0" indent="0">
              <a:buNone/>
            </a:pPr>
            <a:endParaRPr lang="en-LU" dirty="0"/>
          </a:p>
        </p:txBody>
      </p:sp>
    </p:spTree>
    <p:extLst>
      <p:ext uri="{BB962C8B-B14F-4D97-AF65-F5344CB8AC3E}">
        <p14:creationId xmlns:p14="http://schemas.microsoft.com/office/powerpoint/2010/main" val="3025358355"/>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455</TotalTime>
  <Words>5090</Words>
  <Application>Microsoft Macintosh PowerPoint</Application>
  <PresentationFormat>Widescreen</PresentationFormat>
  <Paragraphs>586</Paragraphs>
  <Slides>48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Cambria Math</vt:lpstr>
      <vt:lpstr>Grandview Display</vt:lpstr>
      <vt:lpstr>Wingdings</vt:lpstr>
      <vt:lpstr>DashVTI</vt:lpstr>
      <vt:lpstr>Accelerating Generative Adversarial Networks with HPC</vt:lpstr>
      <vt:lpstr>Generative Models</vt:lpstr>
      <vt:lpstr>Discriminative vs Generative</vt:lpstr>
      <vt:lpstr>Major Families of Generative Models</vt:lpstr>
      <vt:lpstr>Key Differences Between Families</vt:lpstr>
      <vt:lpstr>What is a GAN?</vt:lpstr>
      <vt:lpstr>What is a GAN?</vt:lpstr>
      <vt:lpstr>What is a GAN?</vt:lpstr>
      <vt:lpstr>GAN Mechanism</vt:lpstr>
      <vt:lpstr>GAN Mechanism</vt:lpstr>
      <vt:lpstr>PowerPoint Presentation</vt:lpstr>
      <vt:lpstr>Network Architectures</vt:lpstr>
      <vt:lpstr>Key Insights</vt:lpstr>
      <vt:lpstr>Why GANs Are Computationally Expensive</vt:lpstr>
      <vt:lpstr>PowerPoint Presentation</vt:lpstr>
      <vt:lpstr>GAN Training as a Systems Problem (infrastructure perspective)</vt:lpstr>
      <vt:lpstr>GAN Training as a System Problem (Distributed &amp; Stability Perspective)</vt:lpstr>
      <vt:lpstr>Exercise 1: Baseline Profiling and Measurement</vt:lpstr>
      <vt:lpstr>Evolution of GAN Architecture</vt:lpstr>
      <vt:lpstr>Evolution of GAN Architecture</vt:lpstr>
      <vt:lpstr>DCGAN Design Principles</vt:lpstr>
      <vt:lpstr>DCGAN</vt:lpstr>
      <vt:lpstr>Wasserstein GAN and Stability Improvements</vt:lpstr>
      <vt:lpstr>Wasserstein Distance Formulation</vt:lpstr>
      <vt:lpstr>Style-Based GANs and Memory Scaling</vt:lpstr>
      <vt:lpstr>Style-Based GANs</vt:lpstr>
      <vt:lpstr>Style-Based GANs</vt:lpstr>
      <vt:lpstr>Where Computation Happens in GANs</vt:lpstr>
      <vt:lpstr>Where Computation Happens in GANs</vt:lpstr>
      <vt:lpstr>Memory Consumption Breakdown (Parameters, Activations, Optimizer)</vt:lpstr>
      <vt:lpstr>Architectural Scaling: Resolution vs Compute Cost</vt:lpstr>
      <vt:lpstr>Exercise 2: Architectural Modifications and Performance Analysis</vt:lpstr>
      <vt:lpstr>HPC System Architecture for Deep Learning</vt:lpstr>
      <vt:lpstr>CPU vs GPU</vt:lpstr>
      <vt:lpstr>CPU Roles</vt:lpstr>
      <vt:lpstr>GPU Execution Model and Throughput Optimization</vt:lpstr>
      <vt:lpstr>Memory Hierarchy and Bandwidth Constraints</vt:lpstr>
      <vt:lpstr>Data Pipeline Engineering and GPU Starvation</vt:lpstr>
      <vt:lpstr>Storage and Filesystem Impact on Training Speed</vt:lpstr>
      <vt:lpstr>Parallelism Strategies: Data, Model, Pipeline</vt:lpstr>
      <vt:lpstr>Exercise 3: Bottleneck Identification in the Training Pipeline</vt:lpstr>
      <vt:lpstr>Single-GPU Optimization Strategy Before Scaling</vt:lpstr>
      <vt:lpstr>Mixed Precision (AMP): Theory and Practical Gains</vt:lpstr>
      <vt:lpstr>Batch Size Scaling and Stability Trade-offs</vt:lpstr>
      <vt:lpstr>CUDA Memory Optimization Techniques</vt:lpstr>
      <vt:lpstr>Overlapping CPU–GPU Workloads Efficiently </vt:lpstr>
      <vt:lpstr>Exercise 4: AMP integration and throughput benchmarking</vt:lpstr>
      <vt:lpstr>Wrap-up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Aleksandra RANCIC</dc:creator>
  <cp:lastModifiedBy>Aleksandra RANCIC</cp:lastModifiedBy>
  <cp:revision>28</cp:revision>
  <dcterms:created xsi:type="dcterms:W3CDTF">2026-03-03T20:30:55Z</dcterms:created>
  <dcterms:modified xsi:type="dcterms:W3CDTF">2026-03-04T08:00:56Z</dcterms:modified>
</cp:coreProperties>
</file>