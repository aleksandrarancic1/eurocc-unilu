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&amp; Scope of the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training focuses on the practical implementation of AI methods for drug discovery that fundamentally require GPU and HPC resources.</a:t>
            </a:r>
          </a:p>
          <a:p/>
          <a:p>
            <a:r>
              <a:t>Participants will:</a:t>
            </a:r>
          </a:p>
          <a:p>
            <a:r>
              <a:t>- Understand where AI fits in modern drug discovery</a:t>
            </a:r>
          </a:p>
          <a:p>
            <a:r>
              <a:t>- Learn why GPUs and HPC are necessary</a:t>
            </a:r>
          </a:p>
          <a:p>
            <a:r>
              <a:t>- Implement ligand-based virtual screening at scale</a:t>
            </a:r>
          </a:p>
          <a:p>
            <a:r>
              <a:t>- Execute real workloads using Slurm on an HPC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Drug Discovery: The Core Computational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Drug discovery is dominated by a scale problem rather than a lack of ideas.</a:t>
            </a:r>
          </a:p>
          <a:p/>
          <a:p>
            <a:r>
              <a:t>- The chemical space of drug-like molecules exceeds 10^60 candidates</a:t>
            </a:r>
          </a:p>
          <a:p>
            <a:r>
              <a:t>- Only a tiny fraction can be synthesized or tested experimentally</a:t>
            </a:r>
          </a:p>
          <a:p>
            <a:r>
              <a:t>- Early-stage prioritization is therefore unavoidable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Computational Screening Is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Experimental and physics-based methods do not scale to modern chemical libraries.</a:t>
            </a:r>
          </a:p>
          <a:p/>
          <a:p>
            <a:r>
              <a:t>- Wet-lab screening is slow and expensive</a:t>
            </a:r>
          </a:p>
          <a:p>
            <a:r>
              <a:t>- Docking and molecular dynamics are computationally intensive</a:t>
            </a:r>
          </a:p>
          <a:p>
            <a:r>
              <a:t>- Computational screening reduces the search space early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Computational Methods in Drug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Computation has long been used to support drug discovery.</a:t>
            </a:r>
          </a:p>
          <a:p/>
          <a:p>
            <a:r>
              <a:t>- Rule-based filtering</a:t>
            </a:r>
          </a:p>
          <a:p>
            <a:r>
              <a:t>- Ligand similarity search</a:t>
            </a:r>
          </a:p>
          <a:p>
            <a:r>
              <a:t>- QSAR models</a:t>
            </a:r>
          </a:p>
          <a:p>
            <a:r>
              <a:t>- Structure-based simulations</a:t>
            </a:r>
          </a:p>
          <a:p/>
          <a:p>
            <a:r>
              <a:t>AI builds on these foundations rather than replacing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Ligand-Based vs Structure-Based Screening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 main paradigms exist for virtual screening.</a:t>
            </a:r>
          </a:p>
          <a:p/>
          <a:p>
            <a:r>
              <a:t>Ligand-based:</a:t>
            </a:r>
          </a:p>
          <a:p>
            <a:r>
              <a:t>- Uses known active/inactive molecules</a:t>
            </a:r>
          </a:p>
          <a:p>
            <a:r>
              <a:t>- No protein structure required</a:t>
            </a:r>
          </a:p>
          <a:p/>
          <a:p>
            <a:r>
              <a:t>Structure-based:</a:t>
            </a:r>
          </a:p>
          <a:p>
            <a:r>
              <a:t>- Uses protein 3D structure</a:t>
            </a:r>
          </a:p>
          <a:p>
            <a:r>
              <a:t>- Computationally more expensive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Accuracy vs Scalability Trade-Off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computational method is optimal at all scales.</a:t>
            </a:r>
          </a:p>
          <a:p/>
          <a:p>
            <a:r>
              <a:t>- High-accuracy methods are slow</a:t>
            </a:r>
          </a:p>
          <a:p>
            <a:r>
              <a:t>- High-throughput methods are approximate</a:t>
            </a:r>
          </a:p>
          <a:p>
            <a:r>
              <a:t>- Practical pipelines combine multiple methods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HPC Is Required in Drug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drug discovery workloads exceed the capabilities of local machines.</a:t>
            </a:r>
          </a:p>
          <a:p/>
          <a:p>
            <a:r>
              <a:t>- Large datasets</a:t>
            </a:r>
          </a:p>
          <a:p>
            <a:r>
              <a:t>- GPU-heavy workloads</a:t>
            </a:r>
          </a:p>
          <a:p>
            <a:r>
              <a:t>- Parallel execution is mandatory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Slurm Does (Only What We Need)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Slurm is the workload manager used to run jobs on HPC systems.</a:t>
            </a:r>
          </a:p>
          <a:p/>
          <a:p>
            <a:r>
              <a:t>- Submits jobs to compute nodes</a:t>
            </a:r>
          </a:p>
          <a:p>
            <a:r>
              <a:t>- Allocates GPUs and CPUs</a:t>
            </a:r>
          </a:p>
          <a:p>
            <a:r>
              <a:t>- Manages job arrays</a:t>
            </a:r>
          </a:p>
          <a:p>
            <a:r>
              <a:t>- Handles shared storage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HPC Workflow for AI Screening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screening on HPC follows a simple but powerful workflow.</a:t>
            </a:r>
          </a:p>
          <a:p/>
          <a:p>
            <a:r>
              <a:t>- Train a model once</a:t>
            </a:r>
          </a:p>
          <a:p>
            <a:r>
              <a:t>- Split large libraries into shards</a:t>
            </a:r>
          </a:p>
          <a:p>
            <a:r>
              <a:t>- Run inference in parallel on GPUs</a:t>
            </a:r>
          </a:p>
          <a:p>
            <a:r>
              <a:t>- Aggregate and rank results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 — Running a GPU Job with Slurm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Before running AI workloads, we verify the HPC environment.</a:t>
            </a:r>
          </a:p>
          <a:p/>
          <a:p>
            <a:r>
              <a:t>- Understand a basic Slurm script</a:t>
            </a:r>
          </a:p>
          <a:p>
            <a:r>
              <a:t>- Request a GPU</a:t>
            </a:r>
          </a:p>
          <a:p>
            <a:r>
              <a:t>- Check GPU visibility</a:t>
            </a:r>
          </a:p>
          <a:p>
            <a:r>
              <a:t>- Confirm software environment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AI Was Introduced into Drug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Classical computational methods struggle with modern scale.</a:t>
            </a:r>
          </a:p>
          <a:p/>
          <a:p>
            <a:r>
              <a:t>- AI learns structure–property relationships from data</a:t>
            </a:r>
          </a:p>
          <a:p>
            <a:r>
              <a:t>- Enables fast approximate predictions</a:t>
            </a:r>
          </a:p>
          <a:p>
            <a:r>
              <a:t>- Allows early-stage filtering of large libraries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Ligand-Based Virtual Screening (Concept)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Ligand-based virtual screening predicts molecular properties using known data.</a:t>
            </a:r>
          </a:p>
          <a:p/>
          <a:p>
            <a:r>
              <a:t>- No protein structure required</a:t>
            </a:r>
          </a:p>
          <a:p>
            <a:r>
              <a:t>- Works directly on molecular structure</a:t>
            </a:r>
          </a:p>
          <a:p>
            <a:r>
              <a:t>- Used as an early-stage filter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Data vs Screening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 types of data are used.</a:t>
            </a:r>
          </a:p>
          <a:p/>
          <a:p>
            <a:r>
              <a:t>Training data:</a:t>
            </a:r>
          </a:p>
          <a:p>
            <a:r>
              <a:t>- Labeled molecules (ESOL, BBBP)</a:t>
            </a:r>
          </a:p>
          <a:p/>
          <a:p>
            <a:r>
              <a:t>Screening libraries:</a:t>
            </a:r>
          </a:p>
          <a:p>
            <a:r>
              <a:t>- Large unlabeled collections (ZINC)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Molecular Representation: SMILES to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Molecules are represented as graphs for AI models.</a:t>
            </a:r>
          </a:p>
          <a:p/>
          <a:p>
            <a:r>
              <a:t>- Atoms become nodes</a:t>
            </a:r>
          </a:p>
          <a:p>
            <a:r>
              <a:t>- Bonds become edges</a:t>
            </a:r>
          </a:p>
          <a:p>
            <a:r>
              <a:t>- Graphs preserve chemical topology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Neural Networks for Molecules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Graph Neural Networks process molecular graphs directly.</a:t>
            </a:r>
          </a:p>
          <a:p/>
          <a:p>
            <a:r>
              <a:t>- Capture local and global chemical structure</a:t>
            </a:r>
          </a:p>
          <a:p>
            <a:r>
              <a:t>- Well suited for molecular property prediction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AI Task: Molecular Property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AI task is supervised learning.</a:t>
            </a:r>
          </a:p>
          <a:p/>
          <a:p>
            <a:r>
              <a:t>- Input: molecular graph</a:t>
            </a:r>
          </a:p>
          <a:p>
            <a:r>
              <a:t>- Output: property score or probability</a:t>
            </a:r>
          </a:p>
          <a:p>
            <a:r>
              <a:t>- Model learns from labeled examples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Architecture: GIN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use a Graph Isomorphism Network.</a:t>
            </a:r>
          </a:p>
          <a:p/>
          <a:p>
            <a:r>
              <a:t>- Message passing between atoms</a:t>
            </a:r>
          </a:p>
          <a:p>
            <a:r>
              <a:t>- Pooling to molecule-level representation</a:t>
            </a:r>
          </a:p>
          <a:p>
            <a:r>
              <a:t>- Small, stable, and efficient architecture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 — Training a Molecular GNN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Participants train the same model on different hardware.</a:t>
            </a:r>
          </a:p>
          <a:p/>
          <a:p>
            <a:r>
              <a:t>- CPU training</a:t>
            </a:r>
          </a:p>
          <a:p>
            <a:r>
              <a:t>- GPU training</a:t>
            </a:r>
          </a:p>
          <a:p>
            <a:r>
              <a:t>- Compare runtime and feasibility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Training to Screening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Once trained, the model is reused.</a:t>
            </a:r>
          </a:p>
          <a:p/>
          <a:p>
            <a:r>
              <a:t>- Training is done once</a:t>
            </a:r>
          </a:p>
          <a:p>
            <a:r>
              <a:t>- Screening applies the model many times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 vs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and inference have different characteristics.</a:t>
            </a:r>
          </a:p>
          <a:p/>
          <a:p>
            <a:r>
              <a:t>- Training: gradients, backpropagation</a:t>
            </a:r>
          </a:p>
          <a:p>
            <a:r>
              <a:t>- Inference: forward pass only</a:t>
            </a:r>
          </a:p>
          <a:p>
            <a:r>
              <a:t>- Inference is throughput-bound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 — GPU Inference Throughput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Participants benchmark inference speed.</a:t>
            </a:r>
          </a:p>
          <a:p/>
          <a:p>
            <a:r>
              <a:t>- CPU vs GPU</a:t>
            </a:r>
          </a:p>
          <a:p>
            <a:r>
              <a:t>- Measure molecules per second</a:t>
            </a:r>
          </a:p>
          <a:p>
            <a:r>
              <a:t>- Observe GPU efficiency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One GPU Is Not Enough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Large libraries exceed the capacity of a single GPU.</a:t>
            </a:r>
          </a:p>
          <a:p/>
          <a:p>
            <a:r>
              <a:t>- Millions of molecules</a:t>
            </a:r>
          </a:p>
          <a:p>
            <a:r>
              <a:t>- Long runtimes on one device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Parallel Screening with Slurm Job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HPC enables massive parallelism.</a:t>
            </a:r>
          </a:p>
          <a:p/>
          <a:p>
            <a:r>
              <a:t>- Each job processes a subset</a:t>
            </a:r>
          </a:p>
          <a:p>
            <a:r>
              <a:t>- One GPU per job</a:t>
            </a:r>
          </a:p>
          <a:p>
            <a:r>
              <a:t>- Scheduler manages execution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Mapping Slurm Array ID to Data Shards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Job arrays map naturally to screening.</a:t>
            </a:r>
          </a:p>
          <a:p/>
          <a:p>
            <a:r>
              <a:t>- Array index selects data shard</a:t>
            </a:r>
          </a:p>
          <a:p>
            <a:r>
              <a:t>- Identical code, different inputs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4 — HPC-Scale Virtual Screening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Participants run a full HPC screening workflow.</a:t>
            </a:r>
          </a:p>
          <a:p/>
          <a:p>
            <a:r>
              <a:t>- Launch job arrays</a:t>
            </a:r>
          </a:p>
          <a:p>
            <a:r>
              <a:t>- Monitor jobs</a:t>
            </a:r>
          </a:p>
          <a:p>
            <a:r>
              <a:t>- Aggregate predictions</a:t>
            </a:r>
          </a:p>
          <a:p>
            <a:r>
              <a:t>- Rank candidate molecules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 vs Classification in Drug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 tasks require different outputs.</a:t>
            </a:r>
          </a:p>
          <a:p/>
          <a:p>
            <a:r>
              <a:t>- Regression: continuous properties</a:t>
            </a:r>
          </a:p>
          <a:p>
            <a:r>
              <a:t>- Classification: binary outcomes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BBBP: Blood–Brain Barrier Permeability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BBBP is a classic classification task.</a:t>
            </a:r>
          </a:p>
          <a:p/>
          <a:p>
            <a:r>
              <a:t>- Predicts permeability</a:t>
            </a:r>
          </a:p>
          <a:p>
            <a:r>
              <a:t>- Binary label</a:t>
            </a:r>
          </a:p>
          <a:p>
            <a:r>
              <a:t>- Important for CNS drugs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5 — BBBP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Participants adapt the workflow to classification.</a:t>
            </a:r>
          </a:p>
          <a:p/>
          <a:p>
            <a:r>
              <a:t>- Change loss function</a:t>
            </a:r>
          </a:p>
          <a:p>
            <a:r>
              <a:t>- Interpret probabilities</a:t>
            </a:r>
          </a:p>
          <a:p>
            <a:r>
              <a:t>- Evaluate ROC-AUC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 in Real Drug Discovery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screening fits into larger pipelines.</a:t>
            </a:r>
          </a:p>
          <a:p/>
          <a:p>
            <a:r>
              <a:t>- AI screening</a:t>
            </a:r>
          </a:p>
          <a:p>
            <a:r>
              <a:t>- Docking and refinement</a:t>
            </a:r>
          </a:p>
          <a:p>
            <a:r>
              <a:t>- Medicinal chemistry</a:t>
            </a:r>
          </a:p>
          <a:p>
            <a:r>
              <a:t>- Experiments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 &amp; What Comes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messages:</a:t>
            </a:r>
          </a:p>
          <a:p/>
          <a:p>
            <a:r>
              <a:t>- AI enables scalable screening</a:t>
            </a:r>
          </a:p>
          <a:p>
            <a:r>
              <a:t>- GPUs make learning feasible</a:t>
            </a:r>
          </a:p>
          <a:p>
            <a:r>
              <a:t>- HPC makes screening feasible</a:t>
            </a:r>
          </a:p>
          <a:p/>
          <a:p>
            <a:r>
              <a:t>Next steps:</a:t>
            </a:r>
          </a:p>
          <a:p>
            <a:r>
              <a:t>- Docking</a:t>
            </a:r>
          </a:p>
          <a:p>
            <a:r>
              <a:t>- Experimental validation</a:t>
            </a:r>
          </a:p>
          <a:p>
            <a:r>
              <a:t>- Larger-scale deployments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