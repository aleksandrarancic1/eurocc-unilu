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89" r:id="rId19"/>
    <p:sldId id="290" r:id="rId20"/>
    <p:sldId id="291"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92" r:id="rId38"/>
    <p:sldId id="293" r:id="rId39"/>
    <p:sldId id="294" r:id="rId40"/>
    <p:sldId id="295" r:id="rId41"/>
    <p:sldId id="296" r:id="rId42"/>
    <p:sldId id="297" r:id="rId43"/>
    <p:sldId id="298" r:id="rId44"/>
    <p:sldId id="299" r:id="rId45"/>
    <p:sldId id="300" r:id="rId46"/>
  </p:sldIdLst>
  <p:sldSz cx="12192000" cy="6858000"/>
  <p:notesSz cx="6858000" cy="9144000"/>
  <p:defaultTextStyle>
    <a:defPPr>
      <a:defRPr lang="en-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10"/>
    <p:restoredTop sz="80498"/>
  </p:normalViewPr>
  <p:slideViewPr>
    <p:cSldViewPr snapToGrid="0">
      <p:cViewPr varScale="1">
        <p:scale>
          <a:sx n="58" d="100"/>
          <a:sy n="58" d="100"/>
        </p:scale>
        <p:origin x="224" y="10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L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0795F9-64CB-1848-9635-6325CFE191C4}" type="datetimeFigureOut">
              <a:rPr lang="en-LU" smtClean="0"/>
              <a:t>18/02/2026</a:t>
            </a:fld>
            <a:endParaRPr lang="en-L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L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L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DE8D02-DEF4-9F44-AD56-6D42A068D3D3}" type="slidenum">
              <a:rPr lang="en-LU" smtClean="0"/>
              <a:t>‹#›</a:t>
            </a:fld>
            <a:endParaRPr lang="en-LU"/>
          </a:p>
        </p:txBody>
      </p:sp>
    </p:spTree>
    <p:extLst>
      <p:ext uri="{BB962C8B-B14F-4D97-AF65-F5344CB8AC3E}">
        <p14:creationId xmlns:p14="http://schemas.microsoft.com/office/powerpoint/2010/main" val="417532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High-Performance Data Analytics is essential because modern data volumes, computational complexity, and operational time constraints have exceeded the capabilities of traditional analytics approaches. HPDA provides the methods and infrastructure needed to make large-scale analytics feasible, efficient, and scientifically reliable on modern HPC systems.</a:t>
            </a:r>
          </a:p>
          <a:p>
            <a:endParaRPr lang="en-LU" dirty="0"/>
          </a:p>
        </p:txBody>
      </p:sp>
      <p:sp>
        <p:nvSpPr>
          <p:cNvPr id="4" name="Slide Number Placeholder 3"/>
          <p:cNvSpPr>
            <a:spLocks noGrp="1"/>
          </p:cNvSpPr>
          <p:nvPr>
            <p:ph type="sldNum" sz="quarter" idx="5"/>
          </p:nvPr>
        </p:nvSpPr>
        <p:spPr/>
        <p:txBody>
          <a:bodyPr/>
          <a:lstStyle/>
          <a:p>
            <a:fld id="{11DE8D02-DEF4-9F44-AD56-6D42A068D3D3}" type="slidenum">
              <a:rPr lang="en-LU" smtClean="0"/>
              <a:t>4</a:t>
            </a:fld>
            <a:endParaRPr lang="en-LU"/>
          </a:p>
        </p:txBody>
      </p:sp>
    </p:spTree>
    <p:extLst>
      <p:ext uri="{BB962C8B-B14F-4D97-AF65-F5344CB8AC3E}">
        <p14:creationId xmlns:p14="http://schemas.microsoft.com/office/powerpoint/2010/main" val="672765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we talk about </a:t>
            </a:r>
            <a:r>
              <a:rPr lang="en-GB" b="1" dirty="0"/>
              <a:t>high-performance data analytics</a:t>
            </a:r>
            <a:r>
              <a:rPr lang="en-GB" dirty="0"/>
              <a:t>, we are not only talking about software.</a:t>
            </a:r>
          </a:p>
          <a:p>
            <a:r>
              <a:rPr lang="en-GB" dirty="0"/>
              <a:t>We are talking about </a:t>
            </a:r>
            <a:r>
              <a:rPr lang="en-GB" b="1" dirty="0"/>
              <a:t>how our code interacts with the hardware</a:t>
            </a:r>
            <a:r>
              <a:rPr lang="en-GB" dirty="0"/>
              <a:t> — the CPU, memory, and network.</a:t>
            </a:r>
          </a:p>
          <a:p>
            <a:endParaRPr lang="en-LU" dirty="0"/>
          </a:p>
        </p:txBody>
      </p:sp>
      <p:sp>
        <p:nvSpPr>
          <p:cNvPr id="4" name="Slide Number Placeholder 3"/>
          <p:cNvSpPr>
            <a:spLocks noGrp="1"/>
          </p:cNvSpPr>
          <p:nvPr>
            <p:ph type="sldNum" sz="quarter" idx="5"/>
          </p:nvPr>
        </p:nvSpPr>
        <p:spPr/>
        <p:txBody>
          <a:bodyPr/>
          <a:lstStyle/>
          <a:p>
            <a:fld id="{11DE8D02-DEF4-9F44-AD56-6D42A068D3D3}" type="slidenum">
              <a:rPr lang="en-LU" smtClean="0"/>
              <a:t>5</a:t>
            </a:fld>
            <a:endParaRPr lang="en-LU"/>
          </a:p>
        </p:txBody>
      </p:sp>
    </p:spTree>
    <p:extLst>
      <p:ext uri="{BB962C8B-B14F-4D97-AF65-F5344CB8AC3E}">
        <p14:creationId xmlns:p14="http://schemas.microsoft.com/office/powerpoint/2010/main" val="1414801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U" dirty="0"/>
          </a:p>
        </p:txBody>
      </p:sp>
      <p:sp>
        <p:nvSpPr>
          <p:cNvPr id="4" name="Slide Number Placeholder 3"/>
          <p:cNvSpPr>
            <a:spLocks noGrp="1"/>
          </p:cNvSpPr>
          <p:nvPr>
            <p:ph type="sldNum" sz="quarter" idx="5"/>
          </p:nvPr>
        </p:nvSpPr>
        <p:spPr/>
        <p:txBody>
          <a:bodyPr/>
          <a:lstStyle/>
          <a:p>
            <a:fld id="{11DE8D02-DEF4-9F44-AD56-6D42A068D3D3}" type="slidenum">
              <a:rPr lang="en-LU" smtClean="0"/>
              <a:t>28</a:t>
            </a:fld>
            <a:endParaRPr lang="en-LU"/>
          </a:p>
        </p:txBody>
      </p:sp>
    </p:spTree>
    <p:extLst>
      <p:ext uri="{BB962C8B-B14F-4D97-AF65-F5344CB8AC3E}">
        <p14:creationId xmlns:p14="http://schemas.microsoft.com/office/powerpoint/2010/main" val="4016449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4A74F-EA57-83E6-0EF6-95DB57370EE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LU"/>
          </a:p>
        </p:txBody>
      </p:sp>
      <p:sp>
        <p:nvSpPr>
          <p:cNvPr id="3" name="Subtitle 2">
            <a:extLst>
              <a:ext uri="{FF2B5EF4-FFF2-40B4-BE49-F238E27FC236}">
                <a16:creationId xmlns:a16="http://schemas.microsoft.com/office/drawing/2014/main" id="{3F22D179-276A-669D-3975-C353FDC205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LU"/>
          </a:p>
        </p:txBody>
      </p:sp>
      <p:sp>
        <p:nvSpPr>
          <p:cNvPr id="4" name="Date Placeholder 3">
            <a:extLst>
              <a:ext uri="{FF2B5EF4-FFF2-40B4-BE49-F238E27FC236}">
                <a16:creationId xmlns:a16="http://schemas.microsoft.com/office/drawing/2014/main" id="{769D7CF6-64F7-3915-8D8F-44628F535D02}"/>
              </a:ext>
            </a:extLst>
          </p:cNvPr>
          <p:cNvSpPr>
            <a:spLocks noGrp="1"/>
          </p:cNvSpPr>
          <p:nvPr>
            <p:ph type="dt" sz="half" idx="10"/>
          </p:nvPr>
        </p:nvSpPr>
        <p:spPr/>
        <p:txBody>
          <a:bodyPr/>
          <a:lstStyle/>
          <a:p>
            <a:fld id="{4C9A43B7-207C-E24F-BAFD-4E345E965354}" type="datetimeFigureOut">
              <a:rPr lang="en-LU" smtClean="0"/>
              <a:t>18/02/2026</a:t>
            </a:fld>
            <a:endParaRPr lang="en-LU"/>
          </a:p>
        </p:txBody>
      </p:sp>
      <p:sp>
        <p:nvSpPr>
          <p:cNvPr id="5" name="Footer Placeholder 4">
            <a:extLst>
              <a:ext uri="{FF2B5EF4-FFF2-40B4-BE49-F238E27FC236}">
                <a16:creationId xmlns:a16="http://schemas.microsoft.com/office/drawing/2014/main" id="{25284AC6-D9C5-D10F-2F02-D3C2E4D82845}"/>
              </a:ext>
            </a:extLst>
          </p:cNvPr>
          <p:cNvSpPr>
            <a:spLocks noGrp="1"/>
          </p:cNvSpPr>
          <p:nvPr>
            <p:ph type="ftr" sz="quarter" idx="11"/>
          </p:nvPr>
        </p:nvSpPr>
        <p:spPr/>
        <p:txBody>
          <a:bodyPr/>
          <a:lstStyle/>
          <a:p>
            <a:endParaRPr lang="en-LU"/>
          </a:p>
        </p:txBody>
      </p:sp>
      <p:sp>
        <p:nvSpPr>
          <p:cNvPr id="6" name="Slide Number Placeholder 5">
            <a:extLst>
              <a:ext uri="{FF2B5EF4-FFF2-40B4-BE49-F238E27FC236}">
                <a16:creationId xmlns:a16="http://schemas.microsoft.com/office/drawing/2014/main" id="{A163F0C9-7935-D926-D023-A6FF139E9E1F}"/>
              </a:ext>
            </a:extLst>
          </p:cNvPr>
          <p:cNvSpPr>
            <a:spLocks noGrp="1"/>
          </p:cNvSpPr>
          <p:nvPr>
            <p:ph type="sldNum" sz="quarter" idx="12"/>
          </p:nvPr>
        </p:nvSpPr>
        <p:spPr/>
        <p:txBody>
          <a:bodyPr/>
          <a:lstStyle/>
          <a:p>
            <a:fld id="{16EC53F4-9B30-FF49-B6A0-D03AD9913E36}" type="slidenum">
              <a:rPr lang="en-LU" smtClean="0"/>
              <a:t>‹#›</a:t>
            </a:fld>
            <a:endParaRPr lang="en-LU"/>
          </a:p>
        </p:txBody>
      </p:sp>
    </p:spTree>
    <p:extLst>
      <p:ext uri="{BB962C8B-B14F-4D97-AF65-F5344CB8AC3E}">
        <p14:creationId xmlns:p14="http://schemas.microsoft.com/office/powerpoint/2010/main" val="4120871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9D478-B7F7-5B46-19DD-C944D9633BC6}"/>
              </a:ext>
            </a:extLst>
          </p:cNvPr>
          <p:cNvSpPr>
            <a:spLocks noGrp="1"/>
          </p:cNvSpPr>
          <p:nvPr>
            <p:ph type="title"/>
          </p:nvPr>
        </p:nvSpPr>
        <p:spPr/>
        <p:txBody>
          <a:bodyPr/>
          <a:lstStyle/>
          <a:p>
            <a:r>
              <a:rPr lang="en-GB"/>
              <a:t>Click to edit Master title style</a:t>
            </a:r>
            <a:endParaRPr lang="en-LU"/>
          </a:p>
        </p:txBody>
      </p:sp>
      <p:sp>
        <p:nvSpPr>
          <p:cNvPr id="3" name="Content Placeholder 2">
            <a:extLst>
              <a:ext uri="{FF2B5EF4-FFF2-40B4-BE49-F238E27FC236}">
                <a16:creationId xmlns:a16="http://schemas.microsoft.com/office/drawing/2014/main" id="{31F60FC3-A6CD-416B-B30D-24AAFE98946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U"/>
          </a:p>
        </p:txBody>
      </p:sp>
      <p:sp>
        <p:nvSpPr>
          <p:cNvPr id="4" name="Date Placeholder 3">
            <a:extLst>
              <a:ext uri="{FF2B5EF4-FFF2-40B4-BE49-F238E27FC236}">
                <a16:creationId xmlns:a16="http://schemas.microsoft.com/office/drawing/2014/main" id="{5804B995-BB3E-1B35-0213-0E5C0D4D1223}"/>
              </a:ext>
            </a:extLst>
          </p:cNvPr>
          <p:cNvSpPr>
            <a:spLocks noGrp="1"/>
          </p:cNvSpPr>
          <p:nvPr>
            <p:ph type="dt" sz="half" idx="10"/>
          </p:nvPr>
        </p:nvSpPr>
        <p:spPr/>
        <p:txBody>
          <a:bodyPr/>
          <a:lstStyle/>
          <a:p>
            <a:fld id="{4C9A43B7-207C-E24F-BAFD-4E345E965354}" type="datetimeFigureOut">
              <a:rPr lang="en-LU" smtClean="0"/>
              <a:t>18/02/2026</a:t>
            </a:fld>
            <a:endParaRPr lang="en-LU"/>
          </a:p>
        </p:txBody>
      </p:sp>
      <p:sp>
        <p:nvSpPr>
          <p:cNvPr id="5" name="Footer Placeholder 4">
            <a:extLst>
              <a:ext uri="{FF2B5EF4-FFF2-40B4-BE49-F238E27FC236}">
                <a16:creationId xmlns:a16="http://schemas.microsoft.com/office/drawing/2014/main" id="{B8D56EB9-FE41-739E-E597-77604A9D41BA}"/>
              </a:ext>
            </a:extLst>
          </p:cNvPr>
          <p:cNvSpPr>
            <a:spLocks noGrp="1"/>
          </p:cNvSpPr>
          <p:nvPr>
            <p:ph type="ftr" sz="quarter" idx="11"/>
          </p:nvPr>
        </p:nvSpPr>
        <p:spPr/>
        <p:txBody>
          <a:bodyPr/>
          <a:lstStyle/>
          <a:p>
            <a:endParaRPr lang="en-LU"/>
          </a:p>
        </p:txBody>
      </p:sp>
      <p:sp>
        <p:nvSpPr>
          <p:cNvPr id="6" name="Slide Number Placeholder 5">
            <a:extLst>
              <a:ext uri="{FF2B5EF4-FFF2-40B4-BE49-F238E27FC236}">
                <a16:creationId xmlns:a16="http://schemas.microsoft.com/office/drawing/2014/main" id="{446A9C79-E9DE-0922-D851-573B84F20C53}"/>
              </a:ext>
            </a:extLst>
          </p:cNvPr>
          <p:cNvSpPr>
            <a:spLocks noGrp="1"/>
          </p:cNvSpPr>
          <p:nvPr>
            <p:ph type="sldNum" sz="quarter" idx="12"/>
          </p:nvPr>
        </p:nvSpPr>
        <p:spPr/>
        <p:txBody>
          <a:bodyPr/>
          <a:lstStyle/>
          <a:p>
            <a:fld id="{16EC53F4-9B30-FF49-B6A0-D03AD9913E36}" type="slidenum">
              <a:rPr lang="en-LU" smtClean="0"/>
              <a:t>‹#›</a:t>
            </a:fld>
            <a:endParaRPr lang="en-LU"/>
          </a:p>
        </p:txBody>
      </p:sp>
    </p:spTree>
    <p:extLst>
      <p:ext uri="{BB962C8B-B14F-4D97-AF65-F5344CB8AC3E}">
        <p14:creationId xmlns:p14="http://schemas.microsoft.com/office/powerpoint/2010/main" val="2717545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31B7A-346A-CC1F-F691-0901FA1A8FC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LU"/>
          </a:p>
        </p:txBody>
      </p:sp>
      <p:sp>
        <p:nvSpPr>
          <p:cNvPr id="3" name="Text Placeholder 2">
            <a:extLst>
              <a:ext uri="{FF2B5EF4-FFF2-40B4-BE49-F238E27FC236}">
                <a16:creationId xmlns:a16="http://schemas.microsoft.com/office/drawing/2014/main" id="{CD7D72D2-6E8B-7061-88C1-1EF9FAFA25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250F36A-2F4A-8E7C-3454-8ABF2DD8DCF7}"/>
              </a:ext>
            </a:extLst>
          </p:cNvPr>
          <p:cNvSpPr>
            <a:spLocks noGrp="1"/>
          </p:cNvSpPr>
          <p:nvPr>
            <p:ph type="dt" sz="half" idx="10"/>
          </p:nvPr>
        </p:nvSpPr>
        <p:spPr/>
        <p:txBody>
          <a:bodyPr/>
          <a:lstStyle/>
          <a:p>
            <a:fld id="{4C9A43B7-207C-E24F-BAFD-4E345E965354}" type="datetimeFigureOut">
              <a:rPr lang="en-LU" smtClean="0"/>
              <a:t>18/02/2026</a:t>
            </a:fld>
            <a:endParaRPr lang="en-LU"/>
          </a:p>
        </p:txBody>
      </p:sp>
      <p:sp>
        <p:nvSpPr>
          <p:cNvPr id="5" name="Footer Placeholder 4">
            <a:extLst>
              <a:ext uri="{FF2B5EF4-FFF2-40B4-BE49-F238E27FC236}">
                <a16:creationId xmlns:a16="http://schemas.microsoft.com/office/drawing/2014/main" id="{CD9D9ABA-690F-4A2B-A20D-4922CD0A713D}"/>
              </a:ext>
            </a:extLst>
          </p:cNvPr>
          <p:cNvSpPr>
            <a:spLocks noGrp="1"/>
          </p:cNvSpPr>
          <p:nvPr>
            <p:ph type="ftr" sz="quarter" idx="11"/>
          </p:nvPr>
        </p:nvSpPr>
        <p:spPr/>
        <p:txBody>
          <a:bodyPr/>
          <a:lstStyle/>
          <a:p>
            <a:endParaRPr lang="en-LU"/>
          </a:p>
        </p:txBody>
      </p:sp>
      <p:sp>
        <p:nvSpPr>
          <p:cNvPr id="6" name="Slide Number Placeholder 5">
            <a:extLst>
              <a:ext uri="{FF2B5EF4-FFF2-40B4-BE49-F238E27FC236}">
                <a16:creationId xmlns:a16="http://schemas.microsoft.com/office/drawing/2014/main" id="{FFCE4881-D397-5DA5-8B2F-41270ECE938A}"/>
              </a:ext>
            </a:extLst>
          </p:cNvPr>
          <p:cNvSpPr>
            <a:spLocks noGrp="1"/>
          </p:cNvSpPr>
          <p:nvPr>
            <p:ph type="sldNum" sz="quarter" idx="12"/>
          </p:nvPr>
        </p:nvSpPr>
        <p:spPr/>
        <p:txBody>
          <a:bodyPr/>
          <a:lstStyle/>
          <a:p>
            <a:fld id="{16EC53F4-9B30-FF49-B6A0-D03AD9913E36}" type="slidenum">
              <a:rPr lang="en-LU" smtClean="0"/>
              <a:t>‹#›</a:t>
            </a:fld>
            <a:endParaRPr lang="en-LU"/>
          </a:p>
        </p:txBody>
      </p:sp>
    </p:spTree>
    <p:extLst>
      <p:ext uri="{BB962C8B-B14F-4D97-AF65-F5344CB8AC3E}">
        <p14:creationId xmlns:p14="http://schemas.microsoft.com/office/powerpoint/2010/main" val="736624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8CB5B-6E85-AF41-B026-E24BBB714FEF}"/>
              </a:ext>
            </a:extLst>
          </p:cNvPr>
          <p:cNvSpPr>
            <a:spLocks noGrp="1"/>
          </p:cNvSpPr>
          <p:nvPr>
            <p:ph type="title"/>
          </p:nvPr>
        </p:nvSpPr>
        <p:spPr/>
        <p:txBody>
          <a:bodyPr/>
          <a:lstStyle/>
          <a:p>
            <a:r>
              <a:rPr lang="en-GB"/>
              <a:t>Click to edit Master title style</a:t>
            </a:r>
            <a:endParaRPr lang="en-LU"/>
          </a:p>
        </p:txBody>
      </p:sp>
      <p:sp>
        <p:nvSpPr>
          <p:cNvPr id="3" name="Content Placeholder 2">
            <a:extLst>
              <a:ext uri="{FF2B5EF4-FFF2-40B4-BE49-F238E27FC236}">
                <a16:creationId xmlns:a16="http://schemas.microsoft.com/office/drawing/2014/main" id="{AFD14A51-9AF8-BE65-CA76-C9DFFCC3886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U"/>
          </a:p>
        </p:txBody>
      </p:sp>
      <p:sp>
        <p:nvSpPr>
          <p:cNvPr id="4" name="Content Placeholder 3">
            <a:extLst>
              <a:ext uri="{FF2B5EF4-FFF2-40B4-BE49-F238E27FC236}">
                <a16:creationId xmlns:a16="http://schemas.microsoft.com/office/drawing/2014/main" id="{5F83462F-5CC0-D4FB-DCBF-606F61129F4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U"/>
          </a:p>
        </p:txBody>
      </p:sp>
      <p:sp>
        <p:nvSpPr>
          <p:cNvPr id="5" name="Date Placeholder 4">
            <a:extLst>
              <a:ext uri="{FF2B5EF4-FFF2-40B4-BE49-F238E27FC236}">
                <a16:creationId xmlns:a16="http://schemas.microsoft.com/office/drawing/2014/main" id="{038E6C91-C216-28E0-5BE8-91BF7E10D6B2}"/>
              </a:ext>
            </a:extLst>
          </p:cNvPr>
          <p:cNvSpPr>
            <a:spLocks noGrp="1"/>
          </p:cNvSpPr>
          <p:nvPr>
            <p:ph type="dt" sz="half" idx="10"/>
          </p:nvPr>
        </p:nvSpPr>
        <p:spPr/>
        <p:txBody>
          <a:bodyPr/>
          <a:lstStyle/>
          <a:p>
            <a:fld id="{4C9A43B7-207C-E24F-BAFD-4E345E965354}" type="datetimeFigureOut">
              <a:rPr lang="en-LU" smtClean="0"/>
              <a:t>18/02/2026</a:t>
            </a:fld>
            <a:endParaRPr lang="en-LU"/>
          </a:p>
        </p:txBody>
      </p:sp>
      <p:sp>
        <p:nvSpPr>
          <p:cNvPr id="6" name="Footer Placeholder 5">
            <a:extLst>
              <a:ext uri="{FF2B5EF4-FFF2-40B4-BE49-F238E27FC236}">
                <a16:creationId xmlns:a16="http://schemas.microsoft.com/office/drawing/2014/main" id="{48542AFA-EB05-637A-C489-565E92EC24C4}"/>
              </a:ext>
            </a:extLst>
          </p:cNvPr>
          <p:cNvSpPr>
            <a:spLocks noGrp="1"/>
          </p:cNvSpPr>
          <p:nvPr>
            <p:ph type="ftr" sz="quarter" idx="11"/>
          </p:nvPr>
        </p:nvSpPr>
        <p:spPr/>
        <p:txBody>
          <a:bodyPr/>
          <a:lstStyle/>
          <a:p>
            <a:endParaRPr lang="en-LU"/>
          </a:p>
        </p:txBody>
      </p:sp>
      <p:sp>
        <p:nvSpPr>
          <p:cNvPr id="7" name="Slide Number Placeholder 6">
            <a:extLst>
              <a:ext uri="{FF2B5EF4-FFF2-40B4-BE49-F238E27FC236}">
                <a16:creationId xmlns:a16="http://schemas.microsoft.com/office/drawing/2014/main" id="{C19C9FE0-1D65-27FD-07ED-EEE5AA497CDC}"/>
              </a:ext>
            </a:extLst>
          </p:cNvPr>
          <p:cNvSpPr>
            <a:spLocks noGrp="1"/>
          </p:cNvSpPr>
          <p:nvPr>
            <p:ph type="sldNum" sz="quarter" idx="12"/>
          </p:nvPr>
        </p:nvSpPr>
        <p:spPr/>
        <p:txBody>
          <a:bodyPr/>
          <a:lstStyle/>
          <a:p>
            <a:fld id="{16EC53F4-9B30-FF49-B6A0-D03AD9913E36}" type="slidenum">
              <a:rPr lang="en-LU" smtClean="0"/>
              <a:t>‹#›</a:t>
            </a:fld>
            <a:endParaRPr lang="en-LU"/>
          </a:p>
        </p:txBody>
      </p:sp>
    </p:spTree>
    <p:extLst>
      <p:ext uri="{BB962C8B-B14F-4D97-AF65-F5344CB8AC3E}">
        <p14:creationId xmlns:p14="http://schemas.microsoft.com/office/powerpoint/2010/main" val="1493205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2C8CE-4D5E-D973-1585-E60B98ADC5E7}"/>
              </a:ext>
            </a:extLst>
          </p:cNvPr>
          <p:cNvSpPr>
            <a:spLocks noGrp="1"/>
          </p:cNvSpPr>
          <p:nvPr>
            <p:ph type="title"/>
          </p:nvPr>
        </p:nvSpPr>
        <p:spPr>
          <a:xfrm>
            <a:off x="839788" y="365125"/>
            <a:ext cx="10515600" cy="1325563"/>
          </a:xfrm>
        </p:spPr>
        <p:txBody>
          <a:bodyPr/>
          <a:lstStyle/>
          <a:p>
            <a:r>
              <a:rPr lang="en-GB"/>
              <a:t>Click to edit Master title style</a:t>
            </a:r>
            <a:endParaRPr lang="en-LU"/>
          </a:p>
        </p:txBody>
      </p:sp>
      <p:sp>
        <p:nvSpPr>
          <p:cNvPr id="3" name="Text Placeholder 2">
            <a:extLst>
              <a:ext uri="{FF2B5EF4-FFF2-40B4-BE49-F238E27FC236}">
                <a16:creationId xmlns:a16="http://schemas.microsoft.com/office/drawing/2014/main" id="{B4199C27-5FB2-8A2C-B93F-9022CC681B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3FC24F8-15C9-2247-090A-CD436CABACD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U"/>
          </a:p>
        </p:txBody>
      </p:sp>
      <p:sp>
        <p:nvSpPr>
          <p:cNvPr id="5" name="Text Placeholder 4">
            <a:extLst>
              <a:ext uri="{FF2B5EF4-FFF2-40B4-BE49-F238E27FC236}">
                <a16:creationId xmlns:a16="http://schemas.microsoft.com/office/drawing/2014/main" id="{8F3AAA7B-708D-5427-A4BB-399A08E379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D4B5EE2-BC39-C065-E00C-4CC98DAF78F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U"/>
          </a:p>
        </p:txBody>
      </p:sp>
      <p:sp>
        <p:nvSpPr>
          <p:cNvPr id="7" name="Date Placeholder 6">
            <a:extLst>
              <a:ext uri="{FF2B5EF4-FFF2-40B4-BE49-F238E27FC236}">
                <a16:creationId xmlns:a16="http://schemas.microsoft.com/office/drawing/2014/main" id="{5E69204D-6B7E-16E4-7507-22EB69C2655D}"/>
              </a:ext>
            </a:extLst>
          </p:cNvPr>
          <p:cNvSpPr>
            <a:spLocks noGrp="1"/>
          </p:cNvSpPr>
          <p:nvPr>
            <p:ph type="dt" sz="half" idx="10"/>
          </p:nvPr>
        </p:nvSpPr>
        <p:spPr/>
        <p:txBody>
          <a:bodyPr/>
          <a:lstStyle/>
          <a:p>
            <a:fld id="{4C9A43B7-207C-E24F-BAFD-4E345E965354}" type="datetimeFigureOut">
              <a:rPr lang="en-LU" smtClean="0"/>
              <a:t>18/02/2026</a:t>
            </a:fld>
            <a:endParaRPr lang="en-LU"/>
          </a:p>
        </p:txBody>
      </p:sp>
      <p:sp>
        <p:nvSpPr>
          <p:cNvPr id="8" name="Footer Placeholder 7">
            <a:extLst>
              <a:ext uri="{FF2B5EF4-FFF2-40B4-BE49-F238E27FC236}">
                <a16:creationId xmlns:a16="http://schemas.microsoft.com/office/drawing/2014/main" id="{B5E345AD-8B38-A244-1506-5823CA66D617}"/>
              </a:ext>
            </a:extLst>
          </p:cNvPr>
          <p:cNvSpPr>
            <a:spLocks noGrp="1"/>
          </p:cNvSpPr>
          <p:nvPr>
            <p:ph type="ftr" sz="quarter" idx="11"/>
          </p:nvPr>
        </p:nvSpPr>
        <p:spPr/>
        <p:txBody>
          <a:bodyPr/>
          <a:lstStyle/>
          <a:p>
            <a:endParaRPr lang="en-LU"/>
          </a:p>
        </p:txBody>
      </p:sp>
      <p:sp>
        <p:nvSpPr>
          <p:cNvPr id="9" name="Slide Number Placeholder 8">
            <a:extLst>
              <a:ext uri="{FF2B5EF4-FFF2-40B4-BE49-F238E27FC236}">
                <a16:creationId xmlns:a16="http://schemas.microsoft.com/office/drawing/2014/main" id="{A3E4BD0C-84B6-292E-0FC4-CCEC00A90AE0}"/>
              </a:ext>
            </a:extLst>
          </p:cNvPr>
          <p:cNvSpPr>
            <a:spLocks noGrp="1"/>
          </p:cNvSpPr>
          <p:nvPr>
            <p:ph type="sldNum" sz="quarter" idx="12"/>
          </p:nvPr>
        </p:nvSpPr>
        <p:spPr/>
        <p:txBody>
          <a:bodyPr/>
          <a:lstStyle/>
          <a:p>
            <a:fld id="{16EC53F4-9B30-FF49-B6A0-D03AD9913E36}" type="slidenum">
              <a:rPr lang="en-LU" smtClean="0"/>
              <a:t>‹#›</a:t>
            </a:fld>
            <a:endParaRPr lang="en-LU"/>
          </a:p>
        </p:txBody>
      </p:sp>
    </p:spTree>
    <p:extLst>
      <p:ext uri="{BB962C8B-B14F-4D97-AF65-F5344CB8AC3E}">
        <p14:creationId xmlns:p14="http://schemas.microsoft.com/office/powerpoint/2010/main" val="3528196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C95EA-B5BD-5ED1-5568-48B9E74411B4}"/>
              </a:ext>
            </a:extLst>
          </p:cNvPr>
          <p:cNvSpPr>
            <a:spLocks noGrp="1"/>
          </p:cNvSpPr>
          <p:nvPr>
            <p:ph type="title"/>
          </p:nvPr>
        </p:nvSpPr>
        <p:spPr/>
        <p:txBody>
          <a:bodyPr/>
          <a:lstStyle/>
          <a:p>
            <a:r>
              <a:rPr lang="en-GB"/>
              <a:t>Click to edit Master title style</a:t>
            </a:r>
            <a:endParaRPr lang="en-LU"/>
          </a:p>
        </p:txBody>
      </p:sp>
      <p:sp>
        <p:nvSpPr>
          <p:cNvPr id="3" name="Date Placeholder 2">
            <a:extLst>
              <a:ext uri="{FF2B5EF4-FFF2-40B4-BE49-F238E27FC236}">
                <a16:creationId xmlns:a16="http://schemas.microsoft.com/office/drawing/2014/main" id="{17B89A5F-F426-D03C-F075-6471ED027B75}"/>
              </a:ext>
            </a:extLst>
          </p:cNvPr>
          <p:cNvSpPr>
            <a:spLocks noGrp="1"/>
          </p:cNvSpPr>
          <p:nvPr>
            <p:ph type="dt" sz="half" idx="10"/>
          </p:nvPr>
        </p:nvSpPr>
        <p:spPr/>
        <p:txBody>
          <a:bodyPr/>
          <a:lstStyle/>
          <a:p>
            <a:fld id="{4C9A43B7-207C-E24F-BAFD-4E345E965354}" type="datetimeFigureOut">
              <a:rPr lang="en-LU" smtClean="0"/>
              <a:t>18/02/2026</a:t>
            </a:fld>
            <a:endParaRPr lang="en-LU"/>
          </a:p>
        </p:txBody>
      </p:sp>
      <p:sp>
        <p:nvSpPr>
          <p:cNvPr id="4" name="Footer Placeholder 3">
            <a:extLst>
              <a:ext uri="{FF2B5EF4-FFF2-40B4-BE49-F238E27FC236}">
                <a16:creationId xmlns:a16="http://schemas.microsoft.com/office/drawing/2014/main" id="{B10E7948-B082-C7A0-3818-C66A5D9E6A8D}"/>
              </a:ext>
            </a:extLst>
          </p:cNvPr>
          <p:cNvSpPr>
            <a:spLocks noGrp="1"/>
          </p:cNvSpPr>
          <p:nvPr>
            <p:ph type="ftr" sz="quarter" idx="11"/>
          </p:nvPr>
        </p:nvSpPr>
        <p:spPr/>
        <p:txBody>
          <a:bodyPr/>
          <a:lstStyle/>
          <a:p>
            <a:endParaRPr lang="en-LU"/>
          </a:p>
        </p:txBody>
      </p:sp>
      <p:sp>
        <p:nvSpPr>
          <p:cNvPr id="5" name="Slide Number Placeholder 4">
            <a:extLst>
              <a:ext uri="{FF2B5EF4-FFF2-40B4-BE49-F238E27FC236}">
                <a16:creationId xmlns:a16="http://schemas.microsoft.com/office/drawing/2014/main" id="{D76EDC74-815A-7BB4-FCD1-E52B5B72441B}"/>
              </a:ext>
            </a:extLst>
          </p:cNvPr>
          <p:cNvSpPr>
            <a:spLocks noGrp="1"/>
          </p:cNvSpPr>
          <p:nvPr>
            <p:ph type="sldNum" sz="quarter" idx="12"/>
          </p:nvPr>
        </p:nvSpPr>
        <p:spPr/>
        <p:txBody>
          <a:bodyPr/>
          <a:lstStyle/>
          <a:p>
            <a:fld id="{16EC53F4-9B30-FF49-B6A0-D03AD9913E36}" type="slidenum">
              <a:rPr lang="en-LU" smtClean="0"/>
              <a:t>‹#›</a:t>
            </a:fld>
            <a:endParaRPr lang="en-LU"/>
          </a:p>
        </p:txBody>
      </p:sp>
    </p:spTree>
    <p:extLst>
      <p:ext uri="{BB962C8B-B14F-4D97-AF65-F5344CB8AC3E}">
        <p14:creationId xmlns:p14="http://schemas.microsoft.com/office/powerpoint/2010/main" val="2526143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5B6C8C-154C-F3FE-E9D2-B2AC7F6C7A21}"/>
              </a:ext>
            </a:extLst>
          </p:cNvPr>
          <p:cNvSpPr>
            <a:spLocks noGrp="1"/>
          </p:cNvSpPr>
          <p:nvPr>
            <p:ph type="dt" sz="half" idx="10"/>
          </p:nvPr>
        </p:nvSpPr>
        <p:spPr/>
        <p:txBody>
          <a:bodyPr/>
          <a:lstStyle/>
          <a:p>
            <a:fld id="{4C9A43B7-207C-E24F-BAFD-4E345E965354}" type="datetimeFigureOut">
              <a:rPr lang="en-LU" smtClean="0"/>
              <a:t>18/02/2026</a:t>
            </a:fld>
            <a:endParaRPr lang="en-LU"/>
          </a:p>
        </p:txBody>
      </p:sp>
      <p:sp>
        <p:nvSpPr>
          <p:cNvPr id="3" name="Footer Placeholder 2">
            <a:extLst>
              <a:ext uri="{FF2B5EF4-FFF2-40B4-BE49-F238E27FC236}">
                <a16:creationId xmlns:a16="http://schemas.microsoft.com/office/drawing/2014/main" id="{36B5CDCC-916D-E76C-4A9C-1D2386B237B1}"/>
              </a:ext>
            </a:extLst>
          </p:cNvPr>
          <p:cNvSpPr>
            <a:spLocks noGrp="1"/>
          </p:cNvSpPr>
          <p:nvPr>
            <p:ph type="ftr" sz="quarter" idx="11"/>
          </p:nvPr>
        </p:nvSpPr>
        <p:spPr/>
        <p:txBody>
          <a:bodyPr/>
          <a:lstStyle/>
          <a:p>
            <a:endParaRPr lang="en-LU"/>
          </a:p>
        </p:txBody>
      </p:sp>
      <p:sp>
        <p:nvSpPr>
          <p:cNvPr id="4" name="Slide Number Placeholder 3">
            <a:extLst>
              <a:ext uri="{FF2B5EF4-FFF2-40B4-BE49-F238E27FC236}">
                <a16:creationId xmlns:a16="http://schemas.microsoft.com/office/drawing/2014/main" id="{232E5FCF-EB7B-7675-E3CD-0F93FF204A20}"/>
              </a:ext>
            </a:extLst>
          </p:cNvPr>
          <p:cNvSpPr>
            <a:spLocks noGrp="1"/>
          </p:cNvSpPr>
          <p:nvPr>
            <p:ph type="sldNum" sz="quarter" idx="12"/>
          </p:nvPr>
        </p:nvSpPr>
        <p:spPr/>
        <p:txBody>
          <a:bodyPr/>
          <a:lstStyle/>
          <a:p>
            <a:fld id="{16EC53F4-9B30-FF49-B6A0-D03AD9913E36}" type="slidenum">
              <a:rPr lang="en-LU" smtClean="0"/>
              <a:t>‹#›</a:t>
            </a:fld>
            <a:endParaRPr lang="en-LU"/>
          </a:p>
        </p:txBody>
      </p:sp>
    </p:spTree>
    <p:extLst>
      <p:ext uri="{BB962C8B-B14F-4D97-AF65-F5344CB8AC3E}">
        <p14:creationId xmlns:p14="http://schemas.microsoft.com/office/powerpoint/2010/main" val="3207713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FA97A-7B3D-747F-5B9E-02C784B8CD6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LU"/>
          </a:p>
        </p:txBody>
      </p:sp>
      <p:sp>
        <p:nvSpPr>
          <p:cNvPr id="3" name="Content Placeholder 2">
            <a:extLst>
              <a:ext uri="{FF2B5EF4-FFF2-40B4-BE49-F238E27FC236}">
                <a16:creationId xmlns:a16="http://schemas.microsoft.com/office/drawing/2014/main" id="{2E01B585-3CAE-3065-4C1E-D43D4854FA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U"/>
          </a:p>
        </p:txBody>
      </p:sp>
      <p:sp>
        <p:nvSpPr>
          <p:cNvPr id="4" name="Text Placeholder 3">
            <a:extLst>
              <a:ext uri="{FF2B5EF4-FFF2-40B4-BE49-F238E27FC236}">
                <a16:creationId xmlns:a16="http://schemas.microsoft.com/office/drawing/2014/main" id="{0283C41E-40D6-0404-DFD7-D812F3A748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059FDEC-D62C-5D4E-FA3A-B17C07F78594}"/>
              </a:ext>
            </a:extLst>
          </p:cNvPr>
          <p:cNvSpPr>
            <a:spLocks noGrp="1"/>
          </p:cNvSpPr>
          <p:nvPr>
            <p:ph type="dt" sz="half" idx="10"/>
          </p:nvPr>
        </p:nvSpPr>
        <p:spPr/>
        <p:txBody>
          <a:bodyPr/>
          <a:lstStyle/>
          <a:p>
            <a:fld id="{4C9A43B7-207C-E24F-BAFD-4E345E965354}" type="datetimeFigureOut">
              <a:rPr lang="en-LU" smtClean="0"/>
              <a:t>18/02/2026</a:t>
            </a:fld>
            <a:endParaRPr lang="en-LU"/>
          </a:p>
        </p:txBody>
      </p:sp>
      <p:sp>
        <p:nvSpPr>
          <p:cNvPr id="6" name="Footer Placeholder 5">
            <a:extLst>
              <a:ext uri="{FF2B5EF4-FFF2-40B4-BE49-F238E27FC236}">
                <a16:creationId xmlns:a16="http://schemas.microsoft.com/office/drawing/2014/main" id="{23A30FB5-5DBE-CF6F-1DD9-AE8C2C4E1674}"/>
              </a:ext>
            </a:extLst>
          </p:cNvPr>
          <p:cNvSpPr>
            <a:spLocks noGrp="1"/>
          </p:cNvSpPr>
          <p:nvPr>
            <p:ph type="ftr" sz="quarter" idx="11"/>
          </p:nvPr>
        </p:nvSpPr>
        <p:spPr/>
        <p:txBody>
          <a:bodyPr/>
          <a:lstStyle/>
          <a:p>
            <a:endParaRPr lang="en-LU"/>
          </a:p>
        </p:txBody>
      </p:sp>
      <p:sp>
        <p:nvSpPr>
          <p:cNvPr id="7" name="Slide Number Placeholder 6">
            <a:extLst>
              <a:ext uri="{FF2B5EF4-FFF2-40B4-BE49-F238E27FC236}">
                <a16:creationId xmlns:a16="http://schemas.microsoft.com/office/drawing/2014/main" id="{ACFE2E69-D8DF-7DC3-06B5-5CB64D90AF0E}"/>
              </a:ext>
            </a:extLst>
          </p:cNvPr>
          <p:cNvSpPr>
            <a:spLocks noGrp="1"/>
          </p:cNvSpPr>
          <p:nvPr>
            <p:ph type="sldNum" sz="quarter" idx="12"/>
          </p:nvPr>
        </p:nvSpPr>
        <p:spPr/>
        <p:txBody>
          <a:bodyPr/>
          <a:lstStyle/>
          <a:p>
            <a:fld id="{16EC53F4-9B30-FF49-B6A0-D03AD9913E36}" type="slidenum">
              <a:rPr lang="en-LU" smtClean="0"/>
              <a:t>‹#›</a:t>
            </a:fld>
            <a:endParaRPr lang="en-LU"/>
          </a:p>
        </p:txBody>
      </p:sp>
    </p:spTree>
    <p:extLst>
      <p:ext uri="{BB962C8B-B14F-4D97-AF65-F5344CB8AC3E}">
        <p14:creationId xmlns:p14="http://schemas.microsoft.com/office/powerpoint/2010/main" val="1740944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22054-B591-10B8-648E-B7383264E2D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LU"/>
          </a:p>
        </p:txBody>
      </p:sp>
      <p:sp>
        <p:nvSpPr>
          <p:cNvPr id="3" name="Picture Placeholder 2">
            <a:extLst>
              <a:ext uri="{FF2B5EF4-FFF2-40B4-BE49-F238E27FC236}">
                <a16:creationId xmlns:a16="http://schemas.microsoft.com/office/drawing/2014/main" id="{1D05E811-465B-141B-B50D-71779DF394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U"/>
          </a:p>
        </p:txBody>
      </p:sp>
      <p:sp>
        <p:nvSpPr>
          <p:cNvPr id="4" name="Text Placeholder 3">
            <a:extLst>
              <a:ext uri="{FF2B5EF4-FFF2-40B4-BE49-F238E27FC236}">
                <a16:creationId xmlns:a16="http://schemas.microsoft.com/office/drawing/2014/main" id="{641751F6-0F5F-DDAC-FD99-27ACB49498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6EA605A-3192-79A8-3318-8ED78F6D569F}"/>
              </a:ext>
            </a:extLst>
          </p:cNvPr>
          <p:cNvSpPr>
            <a:spLocks noGrp="1"/>
          </p:cNvSpPr>
          <p:nvPr>
            <p:ph type="dt" sz="half" idx="10"/>
          </p:nvPr>
        </p:nvSpPr>
        <p:spPr/>
        <p:txBody>
          <a:bodyPr/>
          <a:lstStyle/>
          <a:p>
            <a:fld id="{4C9A43B7-207C-E24F-BAFD-4E345E965354}" type="datetimeFigureOut">
              <a:rPr lang="en-LU" smtClean="0"/>
              <a:t>18/02/2026</a:t>
            </a:fld>
            <a:endParaRPr lang="en-LU"/>
          </a:p>
        </p:txBody>
      </p:sp>
      <p:sp>
        <p:nvSpPr>
          <p:cNvPr id="6" name="Footer Placeholder 5">
            <a:extLst>
              <a:ext uri="{FF2B5EF4-FFF2-40B4-BE49-F238E27FC236}">
                <a16:creationId xmlns:a16="http://schemas.microsoft.com/office/drawing/2014/main" id="{84EFB955-5F8A-37CB-0034-4D560443FDA0}"/>
              </a:ext>
            </a:extLst>
          </p:cNvPr>
          <p:cNvSpPr>
            <a:spLocks noGrp="1"/>
          </p:cNvSpPr>
          <p:nvPr>
            <p:ph type="ftr" sz="quarter" idx="11"/>
          </p:nvPr>
        </p:nvSpPr>
        <p:spPr/>
        <p:txBody>
          <a:bodyPr/>
          <a:lstStyle/>
          <a:p>
            <a:endParaRPr lang="en-LU"/>
          </a:p>
        </p:txBody>
      </p:sp>
      <p:sp>
        <p:nvSpPr>
          <p:cNvPr id="7" name="Slide Number Placeholder 6">
            <a:extLst>
              <a:ext uri="{FF2B5EF4-FFF2-40B4-BE49-F238E27FC236}">
                <a16:creationId xmlns:a16="http://schemas.microsoft.com/office/drawing/2014/main" id="{D28D3E57-0002-FAFC-A5F9-F84F29ED15E0}"/>
              </a:ext>
            </a:extLst>
          </p:cNvPr>
          <p:cNvSpPr>
            <a:spLocks noGrp="1"/>
          </p:cNvSpPr>
          <p:nvPr>
            <p:ph type="sldNum" sz="quarter" idx="12"/>
          </p:nvPr>
        </p:nvSpPr>
        <p:spPr/>
        <p:txBody>
          <a:bodyPr/>
          <a:lstStyle/>
          <a:p>
            <a:fld id="{16EC53F4-9B30-FF49-B6A0-D03AD9913E36}" type="slidenum">
              <a:rPr lang="en-LU" smtClean="0"/>
              <a:t>‹#›</a:t>
            </a:fld>
            <a:endParaRPr lang="en-LU"/>
          </a:p>
        </p:txBody>
      </p:sp>
    </p:spTree>
    <p:extLst>
      <p:ext uri="{BB962C8B-B14F-4D97-AF65-F5344CB8AC3E}">
        <p14:creationId xmlns:p14="http://schemas.microsoft.com/office/powerpoint/2010/main" val="1552912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19287-3A27-BE5A-ECCD-2FD228BF88CA}"/>
              </a:ext>
            </a:extLst>
          </p:cNvPr>
          <p:cNvSpPr>
            <a:spLocks noGrp="1"/>
          </p:cNvSpPr>
          <p:nvPr>
            <p:ph type="title"/>
          </p:nvPr>
        </p:nvSpPr>
        <p:spPr/>
        <p:txBody>
          <a:bodyPr/>
          <a:lstStyle/>
          <a:p>
            <a:r>
              <a:rPr lang="en-GB"/>
              <a:t>Click to edit Master title style</a:t>
            </a:r>
            <a:endParaRPr lang="en-LU"/>
          </a:p>
        </p:txBody>
      </p:sp>
      <p:sp>
        <p:nvSpPr>
          <p:cNvPr id="3" name="Vertical Text Placeholder 2">
            <a:extLst>
              <a:ext uri="{FF2B5EF4-FFF2-40B4-BE49-F238E27FC236}">
                <a16:creationId xmlns:a16="http://schemas.microsoft.com/office/drawing/2014/main" id="{7DEDD142-1A2F-59E4-24CB-A7AB16EEFEF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U"/>
          </a:p>
        </p:txBody>
      </p:sp>
      <p:sp>
        <p:nvSpPr>
          <p:cNvPr id="4" name="Date Placeholder 3">
            <a:extLst>
              <a:ext uri="{FF2B5EF4-FFF2-40B4-BE49-F238E27FC236}">
                <a16:creationId xmlns:a16="http://schemas.microsoft.com/office/drawing/2014/main" id="{C290A1EF-4351-69A4-8562-111E78C51CC9}"/>
              </a:ext>
            </a:extLst>
          </p:cNvPr>
          <p:cNvSpPr>
            <a:spLocks noGrp="1"/>
          </p:cNvSpPr>
          <p:nvPr>
            <p:ph type="dt" sz="half" idx="10"/>
          </p:nvPr>
        </p:nvSpPr>
        <p:spPr/>
        <p:txBody>
          <a:bodyPr/>
          <a:lstStyle/>
          <a:p>
            <a:fld id="{4C9A43B7-207C-E24F-BAFD-4E345E965354}" type="datetimeFigureOut">
              <a:rPr lang="en-LU" smtClean="0"/>
              <a:t>18/02/2026</a:t>
            </a:fld>
            <a:endParaRPr lang="en-LU"/>
          </a:p>
        </p:txBody>
      </p:sp>
      <p:sp>
        <p:nvSpPr>
          <p:cNvPr id="5" name="Footer Placeholder 4">
            <a:extLst>
              <a:ext uri="{FF2B5EF4-FFF2-40B4-BE49-F238E27FC236}">
                <a16:creationId xmlns:a16="http://schemas.microsoft.com/office/drawing/2014/main" id="{70C8F352-03DC-5BBE-95B8-2DB27B1D1568}"/>
              </a:ext>
            </a:extLst>
          </p:cNvPr>
          <p:cNvSpPr>
            <a:spLocks noGrp="1"/>
          </p:cNvSpPr>
          <p:nvPr>
            <p:ph type="ftr" sz="quarter" idx="11"/>
          </p:nvPr>
        </p:nvSpPr>
        <p:spPr/>
        <p:txBody>
          <a:bodyPr/>
          <a:lstStyle/>
          <a:p>
            <a:endParaRPr lang="en-LU"/>
          </a:p>
        </p:txBody>
      </p:sp>
      <p:sp>
        <p:nvSpPr>
          <p:cNvPr id="6" name="Slide Number Placeholder 5">
            <a:extLst>
              <a:ext uri="{FF2B5EF4-FFF2-40B4-BE49-F238E27FC236}">
                <a16:creationId xmlns:a16="http://schemas.microsoft.com/office/drawing/2014/main" id="{E15C2D29-5CA1-919E-2578-6C1872A7B6CF}"/>
              </a:ext>
            </a:extLst>
          </p:cNvPr>
          <p:cNvSpPr>
            <a:spLocks noGrp="1"/>
          </p:cNvSpPr>
          <p:nvPr>
            <p:ph type="sldNum" sz="quarter" idx="12"/>
          </p:nvPr>
        </p:nvSpPr>
        <p:spPr/>
        <p:txBody>
          <a:bodyPr/>
          <a:lstStyle/>
          <a:p>
            <a:fld id="{16EC53F4-9B30-FF49-B6A0-D03AD9913E36}" type="slidenum">
              <a:rPr lang="en-LU" smtClean="0"/>
              <a:t>‹#›</a:t>
            </a:fld>
            <a:endParaRPr lang="en-LU"/>
          </a:p>
        </p:txBody>
      </p:sp>
    </p:spTree>
    <p:extLst>
      <p:ext uri="{BB962C8B-B14F-4D97-AF65-F5344CB8AC3E}">
        <p14:creationId xmlns:p14="http://schemas.microsoft.com/office/powerpoint/2010/main" val="830384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BA0016-4F1E-8415-59F2-5DE90AA37ED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LU"/>
          </a:p>
        </p:txBody>
      </p:sp>
      <p:sp>
        <p:nvSpPr>
          <p:cNvPr id="3" name="Vertical Text Placeholder 2">
            <a:extLst>
              <a:ext uri="{FF2B5EF4-FFF2-40B4-BE49-F238E27FC236}">
                <a16:creationId xmlns:a16="http://schemas.microsoft.com/office/drawing/2014/main" id="{8E9EA46F-B62C-65DF-CDCC-D0231044C99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U"/>
          </a:p>
        </p:txBody>
      </p:sp>
      <p:sp>
        <p:nvSpPr>
          <p:cNvPr id="4" name="Date Placeholder 3">
            <a:extLst>
              <a:ext uri="{FF2B5EF4-FFF2-40B4-BE49-F238E27FC236}">
                <a16:creationId xmlns:a16="http://schemas.microsoft.com/office/drawing/2014/main" id="{4C710631-73A1-012A-CFD3-03E644F7E61E}"/>
              </a:ext>
            </a:extLst>
          </p:cNvPr>
          <p:cNvSpPr>
            <a:spLocks noGrp="1"/>
          </p:cNvSpPr>
          <p:nvPr>
            <p:ph type="dt" sz="half" idx="10"/>
          </p:nvPr>
        </p:nvSpPr>
        <p:spPr/>
        <p:txBody>
          <a:bodyPr/>
          <a:lstStyle/>
          <a:p>
            <a:fld id="{4C9A43B7-207C-E24F-BAFD-4E345E965354}" type="datetimeFigureOut">
              <a:rPr lang="en-LU" smtClean="0"/>
              <a:t>18/02/2026</a:t>
            </a:fld>
            <a:endParaRPr lang="en-LU"/>
          </a:p>
        </p:txBody>
      </p:sp>
      <p:sp>
        <p:nvSpPr>
          <p:cNvPr id="5" name="Footer Placeholder 4">
            <a:extLst>
              <a:ext uri="{FF2B5EF4-FFF2-40B4-BE49-F238E27FC236}">
                <a16:creationId xmlns:a16="http://schemas.microsoft.com/office/drawing/2014/main" id="{0CE133C7-862E-7062-3B9F-9B1C366CD664}"/>
              </a:ext>
            </a:extLst>
          </p:cNvPr>
          <p:cNvSpPr>
            <a:spLocks noGrp="1"/>
          </p:cNvSpPr>
          <p:nvPr>
            <p:ph type="ftr" sz="quarter" idx="11"/>
          </p:nvPr>
        </p:nvSpPr>
        <p:spPr/>
        <p:txBody>
          <a:bodyPr/>
          <a:lstStyle/>
          <a:p>
            <a:endParaRPr lang="en-LU"/>
          </a:p>
        </p:txBody>
      </p:sp>
      <p:sp>
        <p:nvSpPr>
          <p:cNvPr id="6" name="Slide Number Placeholder 5">
            <a:extLst>
              <a:ext uri="{FF2B5EF4-FFF2-40B4-BE49-F238E27FC236}">
                <a16:creationId xmlns:a16="http://schemas.microsoft.com/office/drawing/2014/main" id="{6B370A33-9A4D-9657-0B66-AC0722B69A44}"/>
              </a:ext>
            </a:extLst>
          </p:cNvPr>
          <p:cNvSpPr>
            <a:spLocks noGrp="1"/>
          </p:cNvSpPr>
          <p:nvPr>
            <p:ph type="sldNum" sz="quarter" idx="12"/>
          </p:nvPr>
        </p:nvSpPr>
        <p:spPr/>
        <p:txBody>
          <a:bodyPr/>
          <a:lstStyle/>
          <a:p>
            <a:fld id="{16EC53F4-9B30-FF49-B6A0-D03AD9913E36}" type="slidenum">
              <a:rPr lang="en-LU" smtClean="0"/>
              <a:t>‹#›</a:t>
            </a:fld>
            <a:endParaRPr lang="en-LU"/>
          </a:p>
        </p:txBody>
      </p:sp>
    </p:spTree>
    <p:extLst>
      <p:ext uri="{BB962C8B-B14F-4D97-AF65-F5344CB8AC3E}">
        <p14:creationId xmlns:p14="http://schemas.microsoft.com/office/powerpoint/2010/main" val="4067474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D404CB-8D57-C76B-4C41-5DBE6D21B3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LU"/>
          </a:p>
        </p:txBody>
      </p:sp>
      <p:sp>
        <p:nvSpPr>
          <p:cNvPr id="3" name="Text Placeholder 2">
            <a:extLst>
              <a:ext uri="{FF2B5EF4-FFF2-40B4-BE49-F238E27FC236}">
                <a16:creationId xmlns:a16="http://schemas.microsoft.com/office/drawing/2014/main" id="{046A4CBF-2827-DD2F-2F19-2E46725C2C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U"/>
          </a:p>
        </p:txBody>
      </p:sp>
      <p:sp>
        <p:nvSpPr>
          <p:cNvPr id="4" name="Date Placeholder 3">
            <a:extLst>
              <a:ext uri="{FF2B5EF4-FFF2-40B4-BE49-F238E27FC236}">
                <a16:creationId xmlns:a16="http://schemas.microsoft.com/office/drawing/2014/main" id="{710D9190-E255-1CE4-A914-131882331F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9A43B7-207C-E24F-BAFD-4E345E965354}" type="datetimeFigureOut">
              <a:rPr lang="en-LU" smtClean="0"/>
              <a:t>18/02/2026</a:t>
            </a:fld>
            <a:endParaRPr lang="en-LU"/>
          </a:p>
        </p:txBody>
      </p:sp>
      <p:sp>
        <p:nvSpPr>
          <p:cNvPr id="5" name="Footer Placeholder 4">
            <a:extLst>
              <a:ext uri="{FF2B5EF4-FFF2-40B4-BE49-F238E27FC236}">
                <a16:creationId xmlns:a16="http://schemas.microsoft.com/office/drawing/2014/main" id="{26595A31-2091-A494-4B1E-B08AA07229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LU"/>
          </a:p>
        </p:txBody>
      </p:sp>
      <p:sp>
        <p:nvSpPr>
          <p:cNvPr id="6" name="Slide Number Placeholder 5">
            <a:extLst>
              <a:ext uri="{FF2B5EF4-FFF2-40B4-BE49-F238E27FC236}">
                <a16:creationId xmlns:a16="http://schemas.microsoft.com/office/drawing/2014/main" id="{E29F3F8C-EDE2-27EF-36AA-A77272188F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EC53F4-9B30-FF49-B6A0-D03AD9913E36}" type="slidenum">
              <a:rPr lang="en-LU" smtClean="0"/>
              <a:t>‹#›</a:t>
            </a:fld>
            <a:endParaRPr lang="en-LU"/>
          </a:p>
        </p:txBody>
      </p:sp>
    </p:spTree>
    <p:extLst>
      <p:ext uri="{BB962C8B-B14F-4D97-AF65-F5344CB8AC3E}">
        <p14:creationId xmlns:p14="http://schemas.microsoft.com/office/powerpoint/2010/main" val="3694095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358AE0-D5B8-B9B0-B999-DECCAE4341FC}"/>
              </a:ext>
            </a:extLst>
          </p:cNvPr>
          <p:cNvSpPr txBox="1"/>
          <p:nvPr/>
        </p:nvSpPr>
        <p:spPr>
          <a:xfrm>
            <a:off x="4359402" y="1407876"/>
            <a:ext cx="3473195" cy="584775"/>
          </a:xfrm>
          <a:prstGeom prst="rect">
            <a:avLst/>
          </a:prstGeom>
          <a:noFill/>
        </p:spPr>
        <p:txBody>
          <a:bodyPr wrap="none" rtlCol="0">
            <a:spAutoFit/>
          </a:bodyPr>
          <a:lstStyle/>
          <a:p>
            <a:r>
              <a:rPr lang="en-LU" sz="3200" dirty="0"/>
              <a:t>EUROCC2 Training</a:t>
            </a:r>
          </a:p>
        </p:txBody>
      </p:sp>
      <p:sp>
        <p:nvSpPr>
          <p:cNvPr id="2" name="TextBox 1">
            <a:extLst>
              <a:ext uri="{FF2B5EF4-FFF2-40B4-BE49-F238E27FC236}">
                <a16:creationId xmlns:a16="http://schemas.microsoft.com/office/drawing/2014/main" id="{4CF4BE2C-D335-FD9E-448E-099CF152F337}"/>
              </a:ext>
            </a:extLst>
          </p:cNvPr>
          <p:cNvSpPr txBox="1"/>
          <p:nvPr/>
        </p:nvSpPr>
        <p:spPr>
          <a:xfrm>
            <a:off x="2005103" y="3044279"/>
            <a:ext cx="8181792" cy="769441"/>
          </a:xfrm>
          <a:prstGeom prst="rect">
            <a:avLst/>
          </a:prstGeom>
          <a:noFill/>
        </p:spPr>
        <p:txBody>
          <a:bodyPr wrap="none" rtlCol="0">
            <a:spAutoFit/>
          </a:bodyPr>
          <a:lstStyle/>
          <a:p>
            <a:r>
              <a:rPr lang="en-LU" sz="4400" dirty="0"/>
              <a:t>High Performance Data Analytics</a:t>
            </a:r>
          </a:p>
        </p:txBody>
      </p:sp>
    </p:spTree>
    <p:extLst>
      <p:ext uri="{BB962C8B-B14F-4D97-AF65-F5344CB8AC3E}">
        <p14:creationId xmlns:p14="http://schemas.microsoft.com/office/powerpoint/2010/main" val="2981691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866D141-47CF-BA49-B26D-AA11861B5E9F}"/>
              </a:ext>
            </a:extLst>
          </p:cNvPr>
          <p:cNvSpPr txBox="1"/>
          <p:nvPr/>
        </p:nvSpPr>
        <p:spPr>
          <a:xfrm>
            <a:off x="496474" y="1028343"/>
            <a:ext cx="5370060" cy="4801314"/>
          </a:xfrm>
          <a:prstGeom prst="rect">
            <a:avLst/>
          </a:prstGeom>
          <a:noFill/>
        </p:spPr>
        <p:txBody>
          <a:bodyPr wrap="none" rtlCol="0">
            <a:spAutoFit/>
          </a:bodyPr>
          <a:lstStyle/>
          <a:p>
            <a:r>
              <a:rPr lang="en-LU" dirty="0"/>
              <a:t>Content:</a:t>
            </a:r>
          </a:p>
          <a:p>
            <a:endParaRPr lang="en-LU" dirty="0"/>
          </a:p>
          <a:p>
            <a:pPr marL="342900" indent="-342900">
              <a:buAutoNum type="arabicPeriod"/>
            </a:pPr>
            <a:r>
              <a:rPr lang="en-LU" dirty="0"/>
              <a:t>Foundations of High-Performance Data Analytics</a:t>
            </a:r>
          </a:p>
          <a:p>
            <a:pPr marL="800100" lvl="1" indent="-342900">
              <a:buFont typeface="Arial" panose="020B0604020202020204" pitchFamily="34" charset="0"/>
              <a:buChar char="•"/>
            </a:pPr>
            <a:r>
              <a:rPr lang="en-LU" dirty="0"/>
              <a:t>Hardware Architecture for Analytics</a:t>
            </a:r>
          </a:p>
          <a:p>
            <a:pPr marL="800100" lvl="1" indent="-342900">
              <a:buFont typeface="Arial" panose="020B0604020202020204" pitchFamily="34" charset="0"/>
              <a:buChar char="•"/>
            </a:pPr>
            <a:r>
              <a:rPr lang="en-LU" dirty="0"/>
              <a:t>Performance fundamentals</a:t>
            </a:r>
          </a:p>
          <a:p>
            <a:pPr lvl="1"/>
            <a:endParaRPr lang="en-LU" dirty="0"/>
          </a:p>
          <a:p>
            <a:pPr marL="342900" indent="-342900">
              <a:buAutoNum type="arabicPeriod"/>
            </a:pPr>
            <a:r>
              <a:rPr lang="en-LU" dirty="0"/>
              <a:t>Scaling Strategies for Data Analytics</a:t>
            </a:r>
          </a:p>
          <a:p>
            <a:pPr marL="742950" lvl="1" indent="-285750">
              <a:buFont typeface="Arial" panose="020B0604020202020204" pitchFamily="34" charset="0"/>
              <a:buChar char="•"/>
            </a:pPr>
            <a:r>
              <a:rPr lang="en-LU" dirty="0"/>
              <a:t>Vertical scaling (scale-up)</a:t>
            </a:r>
          </a:p>
          <a:p>
            <a:pPr marL="742950" lvl="1" indent="-285750">
              <a:buFont typeface="Arial" panose="020B0604020202020204" pitchFamily="34" charset="0"/>
              <a:buChar char="•"/>
            </a:pPr>
            <a:r>
              <a:rPr lang="en-GB" dirty="0"/>
              <a:t>H</a:t>
            </a:r>
            <a:r>
              <a:rPr lang="en-LU" dirty="0"/>
              <a:t>orizontal scaling (scale-out)</a:t>
            </a:r>
          </a:p>
          <a:p>
            <a:pPr marL="742950" lvl="1" indent="-285750">
              <a:buFont typeface="Arial" panose="020B0604020202020204" pitchFamily="34" charset="0"/>
              <a:buChar char="•"/>
            </a:pPr>
            <a:r>
              <a:rPr lang="en-GB" dirty="0"/>
              <a:t>H</a:t>
            </a:r>
            <a:r>
              <a:rPr lang="en-LU" dirty="0"/>
              <a:t>ybrid approaches</a:t>
            </a:r>
          </a:p>
          <a:p>
            <a:pPr lvl="1"/>
            <a:endParaRPr lang="en-LU" dirty="0"/>
          </a:p>
          <a:p>
            <a:pPr marL="342900" indent="-342900">
              <a:buAutoNum type="arabicPeriod"/>
            </a:pPr>
            <a:r>
              <a:rPr lang="en-LU" dirty="0"/>
              <a:t>Python and Dask for scalable analytics</a:t>
            </a:r>
          </a:p>
          <a:p>
            <a:pPr marL="800100" lvl="1" indent="-342900">
              <a:buFont typeface="Arial" panose="020B0604020202020204" pitchFamily="34" charset="0"/>
              <a:buChar char="•"/>
            </a:pPr>
            <a:r>
              <a:rPr lang="en-LU" dirty="0"/>
              <a:t>Why Dask for CPU-based analytics</a:t>
            </a:r>
          </a:p>
          <a:p>
            <a:pPr marL="800100" lvl="1" indent="-342900">
              <a:buFont typeface="Arial" panose="020B0604020202020204" pitchFamily="34" charset="0"/>
              <a:buChar char="•"/>
            </a:pPr>
            <a:r>
              <a:rPr lang="en-LU" dirty="0"/>
              <a:t>Dask architecture</a:t>
            </a:r>
          </a:p>
          <a:p>
            <a:pPr marL="800100" lvl="1" indent="-342900">
              <a:buFont typeface="Arial" panose="020B0604020202020204" pitchFamily="34" charset="0"/>
              <a:buChar char="•"/>
            </a:pPr>
            <a:r>
              <a:rPr lang="en-LU" dirty="0"/>
              <a:t>Performance optimization techniques</a:t>
            </a:r>
          </a:p>
          <a:p>
            <a:pPr lvl="1"/>
            <a:endParaRPr lang="en-LU" dirty="0"/>
          </a:p>
          <a:p>
            <a:pPr marL="342900" indent="-342900">
              <a:buAutoNum type="arabicPeriod"/>
            </a:pPr>
            <a:r>
              <a:rPr lang="en-LU" dirty="0"/>
              <a:t>Best practices</a:t>
            </a:r>
          </a:p>
        </p:txBody>
      </p:sp>
    </p:spTree>
    <p:extLst>
      <p:ext uri="{BB962C8B-B14F-4D97-AF65-F5344CB8AC3E}">
        <p14:creationId xmlns:p14="http://schemas.microsoft.com/office/powerpoint/2010/main" val="1092983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3B84F2-6D4C-460F-857C-F507D64E92A4}"/>
              </a:ext>
            </a:extLst>
          </p:cNvPr>
          <p:cNvSpPr txBox="1"/>
          <p:nvPr/>
        </p:nvSpPr>
        <p:spPr>
          <a:xfrm>
            <a:off x="269822" y="209862"/>
            <a:ext cx="6958636" cy="461665"/>
          </a:xfrm>
          <a:prstGeom prst="rect">
            <a:avLst/>
          </a:prstGeom>
          <a:noFill/>
        </p:spPr>
        <p:txBody>
          <a:bodyPr wrap="none" rtlCol="0">
            <a:spAutoFit/>
          </a:bodyPr>
          <a:lstStyle/>
          <a:p>
            <a:r>
              <a:rPr lang="en-LU" sz="2400" dirty="0"/>
              <a:t>1. Foundations of High-Performance Data Analytics</a:t>
            </a:r>
          </a:p>
        </p:txBody>
      </p:sp>
      <p:sp>
        <p:nvSpPr>
          <p:cNvPr id="5" name="TextBox 4">
            <a:extLst>
              <a:ext uri="{FF2B5EF4-FFF2-40B4-BE49-F238E27FC236}">
                <a16:creationId xmlns:a16="http://schemas.microsoft.com/office/drawing/2014/main" id="{A7EF3D6B-1FE3-5398-F305-43348FA07126}"/>
              </a:ext>
            </a:extLst>
          </p:cNvPr>
          <p:cNvSpPr txBox="1"/>
          <p:nvPr/>
        </p:nvSpPr>
        <p:spPr>
          <a:xfrm>
            <a:off x="269822" y="869430"/>
            <a:ext cx="11342400" cy="558794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LU" sz="2000" dirty="0"/>
              <a:t>Practice of analysing huge or complex datasets efficiently</a:t>
            </a:r>
          </a:p>
          <a:p>
            <a:pPr marL="285750" indent="-285750">
              <a:lnSpc>
                <a:spcPct val="150000"/>
              </a:lnSpc>
              <a:buFont typeface="Arial" panose="020B0604020202020204" pitchFamily="34" charset="0"/>
              <a:buChar char="•"/>
            </a:pPr>
            <a:r>
              <a:rPr lang="en-LU" sz="2000" dirty="0"/>
              <a:t>Using:</a:t>
            </a:r>
          </a:p>
          <a:p>
            <a:pPr marL="742950" lvl="1" indent="-285750">
              <a:lnSpc>
                <a:spcPct val="150000"/>
              </a:lnSpc>
              <a:buFont typeface="Arial" panose="020B0604020202020204" pitchFamily="34" charset="0"/>
              <a:buChar char="•"/>
            </a:pPr>
            <a:r>
              <a:rPr lang="en-GB" sz="2000" dirty="0"/>
              <a:t>P</a:t>
            </a:r>
            <a:r>
              <a:rPr lang="en-LU" sz="2000" dirty="0"/>
              <a:t>arallel computing</a:t>
            </a:r>
          </a:p>
          <a:p>
            <a:pPr marL="742950" lvl="1" indent="-285750">
              <a:lnSpc>
                <a:spcPct val="150000"/>
              </a:lnSpc>
              <a:buFont typeface="Arial" panose="020B0604020202020204" pitchFamily="34" charset="0"/>
              <a:buChar char="•"/>
            </a:pPr>
            <a:r>
              <a:rPr lang="en-GB" sz="2000" dirty="0"/>
              <a:t>O</a:t>
            </a:r>
            <a:r>
              <a:rPr lang="en-LU" sz="2000" dirty="0"/>
              <a:t>ptimized algorithms</a:t>
            </a:r>
          </a:p>
          <a:p>
            <a:pPr marL="742950" lvl="1" indent="-285750">
              <a:lnSpc>
                <a:spcPct val="150000"/>
              </a:lnSpc>
              <a:buFont typeface="Arial" panose="020B0604020202020204" pitchFamily="34" charset="0"/>
              <a:buChar char="•"/>
            </a:pPr>
            <a:r>
              <a:rPr lang="en-GB" sz="2000" dirty="0"/>
              <a:t>H</a:t>
            </a:r>
            <a:r>
              <a:rPr lang="en-LU" sz="2000" dirty="0"/>
              <a:t>igh-performance computing infrastructure</a:t>
            </a:r>
          </a:p>
          <a:p>
            <a:pPr marL="742950" lvl="1" indent="-285750">
              <a:lnSpc>
                <a:spcPct val="150000"/>
              </a:lnSpc>
              <a:buFont typeface="Arial" panose="020B0604020202020204" pitchFamily="34" charset="0"/>
              <a:buChar char="•"/>
            </a:pPr>
            <a:endParaRPr lang="en-LU" sz="2000" dirty="0"/>
          </a:p>
          <a:p>
            <a:pPr marL="285750" indent="-285750">
              <a:lnSpc>
                <a:spcPct val="150000"/>
              </a:lnSpc>
              <a:buFont typeface="Arial" panose="020B0604020202020204" pitchFamily="34" charset="0"/>
              <a:buChar char="•"/>
            </a:pPr>
            <a:r>
              <a:rPr lang="en-LU" sz="2000" dirty="0"/>
              <a:t>It combines three aspects:</a:t>
            </a:r>
          </a:p>
          <a:p>
            <a:pPr marL="742950" lvl="1" indent="-285750">
              <a:lnSpc>
                <a:spcPct val="150000"/>
              </a:lnSpc>
              <a:buFont typeface="Arial" panose="020B0604020202020204" pitchFamily="34" charset="0"/>
              <a:buChar char="•"/>
            </a:pPr>
            <a:r>
              <a:rPr lang="en-LU" sz="2000" dirty="0"/>
              <a:t>Data analytics </a:t>
            </a:r>
            <a:r>
              <a:rPr lang="en-LU" sz="2000" dirty="0">
                <a:sym typeface="Wingdings" pitchFamily="2" charset="2"/>
              </a:rPr>
              <a:t> statistics, transformation, insight</a:t>
            </a:r>
          </a:p>
          <a:p>
            <a:pPr marL="742950" lvl="1" indent="-285750">
              <a:lnSpc>
                <a:spcPct val="150000"/>
              </a:lnSpc>
              <a:buFont typeface="Arial" panose="020B0604020202020204" pitchFamily="34" charset="0"/>
              <a:buChar char="•"/>
            </a:pPr>
            <a:r>
              <a:rPr lang="en-LU" sz="2000" dirty="0">
                <a:sym typeface="Wingdings" pitchFamily="2" charset="2"/>
              </a:rPr>
              <a:t>HPC  clusters, parallelism, fast hardware</a:t>
            </a:r>
          </a:p>
          <a:p>
            <a:pPr marL="742950" lvl="1" indent="-285750">
              <a:lnSpc>
                <a:spcPct val="150000"/>
              </a:lnSpc>
              <a:buFont typeface="Arial" panose="020B0604020202020204" pitchFamily="34" charset="0"/>
              <a:buChar char="•"/>
            </a:pPr>
            <a:r>
              <a:rPr lang="en-GB" sz="2000" dirty="0">
                <a:sym typeface="Wingdings" pitchFamily="2" charset="2"/>
              </a:rPr>
              <a:t>E</a:t>
            </a:r>
            <a:r>
              <a:rPr lang="en-LU" sz="2000" dirty="0">
                <a:sym typeface="Wingdings" pitchFamily="2" charset="2"/>
              </a:rPr>
              <a:t>fficient software tools  NumPy, Dask, Spark, etc.</a:t>
            </a:r>
          </a:p>
          <a:p>
            <a:pPr marL="742950" lvl="1" indent="-285750">
              <a:lnSpc>
                <a:spcPct val="150000"/>
              </a:lnSpc>
              <a:buFont typeface="Arial" panose="020B0604020202020204" pitchFamily="34" charset="0"/>
              <a:buChar char="•"/>
            </a:pPr>
            <a:endParaRPr lang="en-LU" sz="2000" dirty="0">
              <a:sym typeface="Wingdings" pitchFamily="2" charset="2"/>
            </a:endParaRPr>
          </a:p>
          <a:p>
            <a:pPr marL="285750" indent="-285750">
              <a:lnSpc>
                <a:spcPct val="150000"/>
              </a:lnSpc>
              <a:buFont typeface="Arial" panose="020B0604020202020204" pitchFamily="34" charset="0"/>
              <a:buChar char="•"/>
            </a:pPr>
            <a:r>
              <a:rPr lang="en-LU" sz="2000" b="1" dirty="0">
                <a:sym typeface="Wingdings" pitchFamily="2" charset="2"/>
              </a:rPr>
              <a:t>The goal is to get insights from data faster, at larger scale, and with better resource efficiency. </a:t>
            </a:r>
          </a:p>
        </p:txBody>
      </p:sp>
    </p:spTree>
    <p:extLst>
      <p:ext uri="{BB962C8B-B14F-4D97-AF65-F5344CB8AC3E}">
        <p14:creationId xmlns:p14="http://schemas.microsoft.com/office/powerpoint/2010/main" val="174239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018086-1D0B-E8E2-9FD2-107CC237A28C}"/>
              </a:ext>
            </a:extLst>
          </p:cNvPr>
          <p:cNvSpPr txBox="1"/>
          <p:nvPr/>
        </p:nvSpPr>
        <p:spPr>
          <a:xfrm>
            <a:off x="269822" y="209862"/>
            <a:ext cx="7104509" cy="830997"/>
          </a:xfrm>
          <a:prstGeom prst="rect">
            <a:avLst/>
          </a:prstGeom>
          <a:noFill/>
        </p:spPr>
        <p:txBody>
          <a:bodyPr wrap="none" rtlCol="0">
            <a:spAutoFit/>
          </a:bodyPr>
          <a:lstStyle/>
          <a:p>
            <a:pPr marL="457200" indent="-457200">
              <a:buAutoNum type="arabicPeriod"/>
            </a:pPr>
            <a:r>
              <a:rPr lang="en-LU" sz="2400" dirty="0"/>
              <a:t>Foundations of High-Performance Data Analytics</a:t>
            </a:r>
          </a:p>
          <a:p>
            <a:r>
              <a:rPr lang="en-LU" sz="2400" dirty="0"/>
              <a:t>	</a:t>
            </a:r>
            <a:r>
              <a:rPr lang="en-LU" sz="2000" dirty="0"/>
              <a:t>Why is HPDA important?</a:t>
            </a:r>
            <a:endParaRPr lang="en-LU" sz="2400" dirty="0"/>
          </a:p>
        </p:txBody>
      </p:sp>
      <p:sp>
        <p:nvSpPr>
          <p:cNvPr id="6" name="TextBox 5">
            <a:extLst>
              <a:ext uri="{FF2B5EF4-FFF2-40B4-BE49-F238E27FC236}">
                <a16:creationId xmlns:a16="http://schemas.microsoft.com/office/drawing/2014/main" id="{294ACDDA-0CCB-C22E-7573-65CB6BF756CD}"/>
              </a:ext>
            </a:extLst>
          </p:cNvPr>
          <p:cNvSpPr txBox="1"/>
          <p:nvPr/>
        </p:nvSpPr>
        <p:spPr>
          <a:xfrm>
            <a:off x="444708" y="1345659"/>
            <a:ext cx="11302583" cy="4801314"/>
          </a:xfrm>
          <a:prstGeom prst="rect">
            <a:avLst/>
          </a:prstGeom>
          <a:noFill/>
        </p:spPr>
        <p:txBody>
          <a:bodyPr wrap="square" rtlCol="0">
            <a:spAutoFit/>
          </a:bodyPr>
          <a:lstStyle/>
          <a:p>
            <a:pPr marL="342900" indent="-342900">
              <a:buAutoNum type="arabicPeriod"/>
            </a:pPr>
            <a:r>
              <a:rPr lang="en-LU" dirty="0"/>
              <a:t>Data growth vs computational capacity imbalance</a:t>
            </a:r>
          </a:p>
          <a:p>
            <a:pPr marL="800100" lvl="1" indent="-342900">
              <a:buFont typeface="Arial" panose="020B0604020202020204" pitchFamily="34" charset="0"/>
              <a:buChar char="•"/>
            </a:pPr>
            <a:r>
              <a:rPr lang="en-LU" dirty="0"/>
              <a:t>Across domains, data volumes have increased by orders of magnitude:</a:t>
            </a:r>
          </a:p>
          <a:p>
            <a:pPr marL="1257300" lvl="2" indent="-342900">
              <a:buFont typeface="Arial" panose="020B0604020202020204" pitchFamily="34" charset="0"/>
              <a:buChar char="•"/>
            </a:pPr>
            <a:r>
              <a:rPr lang="en-GB" dirty="0"/>
              <a:t>C</a:t>
            </a:r>
            <a:r>
              <a:rPr lang="en-LU" dirty="0"/>
              <a:t>limate simultions, satellite observations, industrial/IoT systems, digital platforms</a:t>
            </a:r>
          </a:p>
          <a:p>
            <a:pPr marL="1257300" lvl="2" indent="-342900">
              <a:buFont typeface="Arial" panose="020B0604020202020204" pitchFamily="34" charset="0"/>
              <a:buChar char="•"/>
            </a:pPr>
            <a:r>
              <a:rPr lang="en-GB" dirty="0"/>
              <a:t>D</a:t>
            </a:r>
            <a:r>
              <a:rPr lang="en-LU" dirty="0"/>
              <a:t>atasets hardly processed in reasonable timeframes, data must be downsampled, analysis becomes expensive</a:t>
            </a:r>
          </a:p>
          <a:p>
            <a:pPr marL="342900" indent="-342900">
              <a:buAutoNum type="arabicPeriod"/>
            </a:pPr>
            <a:r>
              <a:rPr lang="en-LU" dirty="0"/>
              <a:t>Throoughput and latency requirements</a:t>
            </a:r>
          </a:p>
          <a:p>
            <a:pPr marL="800100" lvl="1" indent="-342900">
              <a:buFont typeface="Arial" panose="020B0604020202020204" pitchFamily="34" charset="0"/>
              <a:buChar char="•"/>
            </a:pPr>
            <a:r>
              <a:rPr lang="en-LU" dirty="0"/>
              <a:t>Latency of analysis is a critical variable</a:t>
            </a:r>
          </a:p>
          <a:p>
            <a:pPr marL="342900" indent="-342900">
              <a:buAutoNum type="arabicPeriod"/>
            </a:pPr>
            <a:r>
              <a:rPr lang="en-LU" dirty="0"/>
              <a:t>Computational intensity</a:t>
            </a:r>
          </a:p>
          <a:p>
            <a:pPr marL="742950" lvl="1" indent="-285750">
              <a:buFont typeface="Arial" panose="020B0604020202020204" pitchFamily="34" charset="0"/>
              <a:buChar char="•"/>
            </a:pPr>
            <a:r>
              <a:rPr lang="en-GB" dirty="0"/>
              <a:t>H</a:t>
            </a:r>
            <a:r>
              <a:rPr lang="en-LU" dirty="0"/>
              <a:t>igh-dimensional statistical analysis</a:t>
            </a:r>
          </a:p>
          <a:p>
            <a:pPr marL="742950" lvl="1" indent="-285750">
              <a:buFont typeface="Arial" panose="020B0604020202020204" pitchFamily="34" charset="0"/>
              <a:buChar char="•"/>
            </a:pPr>
            <a:r>
              <a:rPr lang="en-LU" dirty="0"/>
              <a:t>Iterative algorithms (e.g., clustering, optimization)</a:t>
            </a:r>
          </a:p>
          <a:p>
            <a:pPr marL="342900" indent="-342900">
              <a:buAutoNum type="arabicPeriod"/>
            </a:pPr>
            <a:r>
              <a:rPr lang="en-LU" dirty="0"/>
              <a:t>I/O and data movement as dominant bottlenecks</a:t>
            </a:r>
          </a:p>
          <a:p>
            <a:pPr marL="800100" lvl="1" indent="-342900">
              <a:buFont typeface="Arial" panose="020B0604020202020204" pitchFamily="34" charset="0"/>
              <a:buChar char="•"/>
            </a:pPr>
            <a:r>
              <a:rPr lang="en-GB" dirty="0"/>
              <a:t>O</a:t>
            </a:r>
            <a:r>
              <a:rPr lang="en-LU" dirty="0"/>
              <a:t>ften dominates compute cost; can become main limiting factor;</a:t>
            </a:r>
          </a:p>
          <a:p>
            <a:pPr marL="800100" lvl="1" indent="-342900">
              <a:buFont typeface="Arial" panose="020B0604020202020204" pitchFamily="34" charset="0"/>
              <a:buChar char="•"/>
            </a:pPr>
            <a:r>
              <a:rPr lang="en-GB" dirty="0"/>
              <a:t>D</a:t>
            </a:r>
            <a:r>
              <a:rPr lang="en-LU" dirty="0"/>
              <a:t>atasets do not fit in memory, reading data is slower than processing</a:t>
            </a:r>
          </a:p>
          <a:p>
            <a:pPr marL="342900" indent="-342900">
              <a:buAutoNum type="arabicPeriod"/>
            </a:pPr>
            <a:r>
              <a:rPr lang="en-GB" dirty="0"/>
              <a:t>E</a:t>
            </a:r>
            <a:r>
              <a:rPr lang="en-LU" dirty="0"/>
              <a:t>nergy efficiency and Cost efficiency</a:t>
            </a:r>
          </a:p>
          <a:p>
            <a:pPr marL="800100" lvl="1" indent="-342900">
              <a:buFont typeface="Arial" panose="020B0604020202020204" pitchFamily="34" charset="0"/>
              <a:buChar char="•"/>
            </a:pPr>
            <a:r>
              <a:rPr lang="en-LU" dirty="0"/>
              <a:t>Inefficient analytics pipelines waste CPU cycles, increse cluster occupancy, increase cloud billing</a:t>
            </a:r>
          </a:p>
          <a:p>
            <a:pPr marL="342900" indent="-342900">
              <a:buAutoNum type="arabicPeriod"/>
            </a:pPr>
            <a:r>
              <a:rPr lang="en-LU" dirty="0"/>
              <a:t>Reproducibility and scientific integrity</a:t>
            </a:r>
          </a:p>
          <a:p>
            <a:pPr marL="800100" lvl="1" indent="-342900">
              <a:buFont typeface="Arial" panose="020B0604020202020204" pitchFamily="34" charset="0"/>
              <a:buChar char="•"/>
            </a:pPr>
            <a:r>
              <a:rPr lang="en-GB" dirty="0"/>
              <a:t>Slow workflow -&gt; pipelines simplifies or approximated; results may not reflect full resolution data</a:t>
            </a:r>
            <a:endParaRPr lang="en-LU" dirty="0"/>
          </a:p>
        </p:txBody>
      </p:sp>
    </p:spTree>
    <p:extLst>
      <p:ext uri="{BB962C8B-B14F-4D97-AF65-F5344CB8AC3E}">
        <p14:creationId xmlns:p14="http://schemas.microsoft.com/office/powerpoint/2010/main" val="284231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E815B4-8BFB-0000-EB38-D62FF2466781}"/>
              </a:ext>
            </a:extLst>
          </p:cNvPr>
          <p:cNvSpPr txBox="1"/>
          <p:nvPr/>
        </p:nvSpPr>
        <p:spPr>
          <a:xfrm>
            <a:off x="269822" y="209862"/>
            <a:ext cx="10987458" cy="830997"/>
          </a:xfrm>
          <a:prstGeom prst="rect">
            <a:avLst/>
          </a:prstGeom>
          <a:noFill/>
        </p:spPr>
        <p:txBody>
          <a:bodyPr wrap="square" rtlCol="0">
            <a:spAutoFit/>
          </a:bodyPr>
          <a:lstStyle/>
          <a:p>
            <a:pPr marL="457200" indent="-457200">
              <a:buAutoNum type="arabicPeriod"/>
            </a:pPr>
            <a:r>
              <a:rPr lang="en-LU" sz="2400" dirty="0"/>
              <a:t>Foundations of High-Performance Data Analytics</a:t>
            </a:r>
          </a:p>
          <a:p>
            <a:r>
              <a:rPr lang="en-LU" sz="2400" dirty="0"/>
              <a:t>	</a:t>
            </a:r>
            <a:r>
              <a:rPr lang="en-LU" sz="2000" dirty="0"/>
              <a:t>Hardware Architecture for Analytics – CPU architecture</a:t>
            </a:r>
            <a:endParaRPr lang="en-LU" sz="2400" dirty="0"/>
          </a:p>
        </p:txBody>
      </p:sp>
      <p:sp>
        <p:nvSpPr>
          <p:cNvPr id="5" name="TextBox 4">
            <a:extLst>
              <a:ext uri="{FF2B5EF4-FFF2-40B4-BE49-F238E27FC236}">
                <a16:creationId xmlns:a16="http://schemas.microsoft.com/office/drawing/2014/main" id="{18B3FD0D-6507-8865-00F9-A1BB18F7D5E5}"/>
              </a:ext>
            </a:extLst>
          </p:cNvPr>
          <p:cNvSpPr txBox="1"/>
          <p:nvPr/>
        </p:nvSpPr>
        <p:spPr>
          <a:xfrm>
            <a:off x="269822" y="1140189"/>
            <a:ext cx="10047174" cy="369332"/>
          </a:xfrm>
          <a:prstGeom prst="rect">
            <a:avLst/>
          </a:prstGeom>
          <a:noFill/>
        </p:spPr>
        <p:txBody>
          <a:bodyPr wrap="none" rtlCol="0">
            <a:spAutoFit/>
          </a:bodyPr>
          <a:lstStyle/>
          <a:p>
            <a:r>
              <a:rPr lang="en-LU" dirty="0"/>
              <a:t>The speed of analytics is determined by how efficiently code uses the available hardware resources. </a:t>
            </a:r>
          </a:p>
        </p:txBody>
      </p:sp>
      <p:sp>
        <p:nvSpPr>
          <p:cNvPr id="6" name="TextBox 5">
            <a:extLst>
              <a:ext uri="{FF2B5EF4-FFF2-40B4-BE49-F238E27FC236}">
                <a16:creationId xmlns:a16="http://schemas.microsoft.com/office/drawing/2014/main" id="{18446605-F29B-0E17-F28D-01E276B5567D}"/>
              </a:ext>
            </a:extLst>
          </p:cNvPr>
          <p:cNvSpPr txBox="1"/>
          <p:nvPr/>
        </p:nvSpPr>
        <p:spPr>
          <a:xfrm>
            <a:off x="269822" y="1608852"/>
            <a:ext cx="10987458" cy="5038367"/>
          </a:xfrm>
          <a:prstGeom prst="rect">
            <a:avLst/>
          </a:prstGeom>
          <a:noFill/>
        </p:spPr>
        <p:txBody>
          <a:bodyPr wrap="square" rtlCol="0">
            <a:spAutoFit/>
          </a:bodyPr>
          <a:lstStyle/>
          <a:p>
            <a:pPr>
              <a:lnSpc>
                <a:spcPct val="150000"/>
              </a:lnSpc>
            </a:pPr>
            <a:r>
              <a:rPr lang="en-LU" dirty="0"/>
              <a:t>CPUs are multi-core processors; each core is a physical execution unit capable of running instructions independently.</a:t>
            </a:r>
          </a:p>
          <a:p>
            <a:pPr marL="285750" indent="-285750">
              <a:lnSpc>
                <a:spcPct val="150000"/>
              </a:lnSpc>
              <a:buFont typeface="Arial" panose="020B0604020202020204" pitchFamily="34" charset="0"/>
              <a:buChar char="•"/>
            </a:pPr>
            <a:r>
              <a:rPr lang="en-LU" dirty="0"/>
              <a:t>If a CPU node has N cores it can execute up to N independent computations in parallel;</a:t>
            </a:r>
          </a:p>
          <a:p>
            <a:pPr marL="285750" indent="-285750">
              <a:lnSpc>
                <a:spcPct val="150000"/>
              </a:lnSpc>
              <a:buFont typeface="Arial" panose="020B0604020202020204" pitchFamily="34" charset="0"/>
              <a:buChar char="•"/>
            </a:pPr>
            <a:r>
              <a:rPr lang="en-LU" dirty="0"/>
              <a:t>Some CPUs suport hardware threads (SMT – simultaneous multithreading / Hyperthreading) – each core can manage multiple instruction streams;</a:t>
            </a:r>
          </a:p>
          <a:p>
            <a:pPr marL="742950" lvl="1" indent="-285750">
              <a:lnSpc>
                <a:spcPct val="150000"/>
              </a:lnSpc>
              <a:buFont typeface="Arial" panose="020B0604020202020204" pitchFamily="34" charset="0"/>
              <a:buChar char="•"/>
            </a:pPr>
            <a:r>
              <a:rPr lang="en-GB" dirty="0"/>
              <a:t>I</a:t>
            </a:r>
            <a:r>
              <a:rPr lang="en-LU" dirty="0"/>
              <a:t>mproves utilisation by hiding latency, but does not double compute performance</a:t>
            </a:r>
          </a:p>
          <a:p>
            <a:pPr marL="742950" lvl="1" indent="-285750">
              <a:lnSpc>
                <a:spcPct val="150000"/>
              </a:lnSpc>
              <a:buFont typeface="Arial" panose="020B0604020202020204" pitchFamily="34" charset="0"/>
              <a:buChar char="•"/>
            </a:pPr>
            <a:endParaRPr lang="en-LU" dirty="0"/>
          </a:p>
          <a:p>
            <a:pPr marL="285750" indent="-285750">
              <a:lnSpc>
                <a:spcPct val="150000"/>
              </a:lnSpc>
              <a:buFont typeface="Arial" panose="020B0604020202020204" pitchFamily="34" charset="0"/>
              <a:buChar char="•"/>
            </a:pPr>
            <a:r>
              <a:rPr lang="en-LU" dirty="0"/>
              <a:t>The aim is to use all cores efficiently, typically via:</a:t>
            </a:r>
          </a:p>
          <a:p>
            <a:pPr marL="742950" lvl="1" indent="-285750">
              <a:lnSpc>
                <a:spcPct val="150000"/>
              </a:lnSpc>
              <a:buFont typeface="Arial" panose="020B0604020202020204" pitchFamily="34" charset="0"/>
              <a:buChar char="•"/>
            </a:pPr>
            <a:r>
              <a:rPr lang="en-GB" dirty="0"/>
              <a:t>M</a:t>
            </a:r>
            <a:r>
              <a:rPr lang="en-LU" dirty="0"/>
              <a:t>ultiprocessing</a:t>
            </a:r>
          </a:p>
          <a:p>
            <a:pPr marL="742950" lvl="1" indent="-285750">
              <a:lnSpc>
                <a:spcPct val="150000"/>
              </a:lnSpc>
              <a:buFont typeface="Arial" panose="020B0604020202020204" pitchFamily="34" charset="0"/>
              <a:buChar char="•"/>
            </a:pPr>
            <a:r>
              <a:rPr lang="en-LU" dirty="0"/>
              <a:t>Dask workers</a:t>
            </a:r>
          </a:p>
          <a:p>
            <a:pPr marL="742950" lvl="1" indent="-285750">
              <a:lnSpc>
                <a:spcPct val="150000"/>
              </a:lnSpc>
              <a:buFont typeface="Arial" panose="020B0604020202020204" pitchFamily="34" charset="0"/>
              <a:buChar char="•"/>
            </a:pPr>
            <a:r>
              <a:rPr lang="en-GB" dirty="0"/>
              <a:t>V</a:t>
            </a:r>
            <a:r>
              <a:rPr lang="en-LU" dirty="0"/>
              <a:t>ectorised libraries</a:t>
            </a:r>
          </a:p>
          <a:p>
            <a:pPr>
              <a:lnSpc>
                <a:spcPct val="150000"/>
              </a:lnSpc>
            </a:pPr>
            <a:endParaRPr lang="en-LU" dirty="0"/>
          </a:p>
        </p:txBody>
      </p:sp>
    </p:spTree>
    <p:extLst>
      <p:ext uri="{BB962C8B-B14F-4D97-AF65-F5344CB8AC3E}">
        <p14:creationId xmlns:p14="http://schemas.microsoft.com/office/powerpoint/2010/main" val="326396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2C39FAA-8190-E367-F023-386AA96D1419}"/>
              </a:ext>
            </a:extLst>
          </p:cNvPr>
          <p:cNvSpPr txBox="1"/>
          <p:nvPr/>
        </p:nvSpPr>
        <p:spPr>
          <a:xfrm>
            <a:off x="269822" y="209862"/>
            <a:ext cx="10987458" cy="830997"/>
          </a:xfrm>
          <a:prstGeom prst="rect">
            <a:avLst/>
          </a:prstGeom>
          <a:noFill/>
        </p:spPr>
        <p:txBody>
          <a:bodyPr wrap="square" rtlCol="0">
            <a:spAutoFit/>
          </a:bodyPr>
          <a:lstStyle/>
          <a:p>
            <a:pPr marL="457200" indent="-457200">
              <a:buAutoNum type="arabicPeriod"/>
            </a:pPr>
            <a:r>
              <a:rPr lang="en-LU" sz="2400" dirty="0"/>
              <a:t>Foundations of High-Performance Data Analytics</a:t>
            </a:r>
          </a:p>
          <a:p>
            <a:r>
              <a:rPr lang="en-LU" sz="2400" dirty="0"/>
              <a:t>	</a:t>
            </a:r>
            <a:r>
              <a:rPr lang="en-LU" sz="2000" dirty="0"/>
              <a:t>Hardware Architecture for Analytics – CPU architecture</a:t>
            </a:r>
            <a:endParaRPr lang="en-LU" sz="2400" dirty="0"/>
          </a:p>
        </p:txBody>
      </p:sp>
      <p:sp>
        <p:nvSpPr>
          <p:cNvPr id="5" name="TextBox 4">
            <a:extLst>
              <a:ext uri="{FF2B5EF4-FFF2-40B4-BE49-F238E27FC236}">
                <a16:creationId xmlns:a16="http://schemas.microsoft.com/office/drawing/2014/main" id="{07DE1325-B2A7-8727-E805-F29192D48FCA}"/>
              </a:ext>
            </a:extLst>
          </p:cNvPr>
          <p:cNvSpPr txBox="1"/>
          <p:nvPr/>
        </p:nvSpPr>
        <p:spPr>
          <a:xfrm>
            <a:off x="354767" y="1319134"/>
            <a:ext cx="11482465" cy="4801314"/>
          </a:xfrm>
          <a:prstGeom prst="rect">
            <a:avLst/>
          </a:prstGeom>
          <a:noFill/>
        </p:spPr>
        <p:txBody>
          <a:bodyPr wrap="square" rtlCol="0">
            <a:spAutoFit/>
          </a:bodyPr>
          <a:lstStyle/>
          <a:p>
            <a:r>
              <a:rPr lang="en-LU" dirty="0"/>
              <a:t>CPU cache (L1, L2, L3) is ultra-fast, small memory built directly into the processor to store frequently accessed data.</a:t>
            </a:r>
          </a:p>
          <a:p>
            <a:r>
              <a:rPr lang="en-LU" dirty="0"/>
              <a:t>It bridges the speed gap between the CPU and slower RAM.</a:t>
            </a:r>
          </a:p>
          <a:p>
            <a:pPr marL="285750" indent="-285750">
              <a:buFont typeface="Arial" panose="020B0604020202020204" pitchFamily="34" charset="0"/>
              <a:buChar char="•"/>
            </a:pPr>
            <a:r>
              <a:rPr lang="en-LU" dirty="0"/>
              <a:t>L1 cache (level 1)</a:t>
            </a:r>
          </a:p>
          <a:p>
            <a:pPr marL="742950" lvl="1" indent="-285750">
              <a:buFont typeface="Arial" panose="020B0604020202020204" pitchFamily="34" charset="0"/>
              <a:buChar char="•"/>
            </a:pPr>
            <a:r>
              <a:rPr lang="en-GB" dirty="0"/>
              <a:t>T</a:t>
            </a:r>
            <a:r>
              <a:rPr lang="en-LU" dirty="0"/>
              <a:t>he smalles and fastest level; the primary cache; built directly into each individual CPU core;</a:t>
            </a:r>
          </a:p>
          <a:p>
            <a:pPr marL="742950" lvl="1" indent="-285750">
              <a:buFont typeface="Arial" panose="020B0604020202020204" pitchFamily="34" charset="0"/>
              <a:buChar char="•"/>
            </a:pPr>
            <a:r>
              <a:rPr lang="en-GB" dirty="0"/>
              <a:t>U</a:t>
            </a:r>
            <a:r>
              <a:rPr lang="en-LU" dirty="0"/>
              <a:t>sually split into two parts: L1i (instructions) and L1d (Data);</a:t>
            </a:r>
          </a:p>
          <a:p>
            <a:pPr marL="742950" lvl="1" indent="-285750">
              <a:buFont typeface="Arial" panose="020B0604020202020204" pitchFamily="34" charset="0"/>
              <a:buChar char="•"/>
            </a:pPr>
            <a:r>
              <a:rPr lang="en-GB" dirty="0"/>
              <a:t>T</a:t>
            </a:r>
            <a:r>
              <a:rPr lang="en-LU" dirty="0"/>
              <a:t>ypically tiny ranging from 32 KB to 128 KB per core.</a:t>
            </a:r>
          </a:p>
          <a:p>
            <a:pPr marL="285750" indent="-285750">
              <a:buFont typeface="Arial" panose="020B0604020202020204" pitchFamily="34" charset="0"/>
              <a:buChar char="•"/>
            </a:pPr>
            <a:r>
              <a:rPr lang="en-LU" dirty="0"/>
              <a:t>L2 cahce (level 2)</a:t>
            </a:r>
          </a:p>
          <a:p>
            <a:pPr marL="742950" lvl="1" indent="-285750">
              <a:buFont typeface="Arial" panose="020B0604020202020204" pitchFamily="34" charset="0"/>
              <a:buChar char="•"/>
            </a:pPr>
            <a:r>
              <a:rPr lang="en-GB" dirty="0"/>
              <a:t>I</a:t>
            </a:r>
            <a:r>
              <a:rPr lang="en-LU" dirty="0"/>
              <a:t>t holds data that did not fit in L1 but is still needed quickly; </a:t>
            </a:r>
          </a:p>
          <a:p>
            <a:pPr marL="742950" lvl="1" indent="-285750">
              <a:buFont typeface="Arial" panose="020B0604020202020204" pitchFamily="34" charset="0"/>
              <a:buChar char="•"/>
            </a:pPr>
            <a:r>
              <a:rPr lang="en-GB" dirty="0"/>
              <a:t>E</a:t>
            </a:r>
            <a:r>
              <a:rPr lang="en-LU" dirty="0"/>
              <a:t>ach core has its own dedicated L2 cache</a:t>
            </a:r>
          </a:p>
          <a:p>
            <a:pPr marL="742950" lvl="1" indent="-285750">
              <a:buFont typeface="Arial" panose="020B0604020202020204" pitchFamily="34" charset="0"/>
              <a:buChar char="•"/>
            </a:pPr>
            <a:r>
              <a:rPr lang="en-GB" dirty="0"/>
              <a:t>S</a:t>
            </a:r>
            <a:r>
              <a:rPr lang="en-LU" dirty="0"/>
              <a:t>lower than L1 and ranges form 256 KB to 1 MB per core.</a:t>
            </a:r>
          </a:p>
          <a:p>
            <a:pPr marL="285750" indent="-285750">
              <a:buFont typeface="Arial" panose="020B0604020202020204" pitchFamily="34" charset="0"/>
              <a:buChar char="•"/>
            </a:pPr>
            <a:r>
              <a:rPr lang="en-LU" dirty="0"/>
              <a:t>L3 cache (level 3)</a:t>
            </a:r>
          </a:p>
          <a:p>
            <a:pPr marL="742950" lvl="1" indent="-285750">
              <a:buFont typeface="Arial" panose="020B0604020202020204" pitchFamily="34" charset="0"/>
              <a:buChar char="•"/>
            </a:pPr>
            <a:r>
              <a:rPr lang="en-GB" dirty="0"/>
              <a:t>I</a:t>
            </a:r>
            <a:r>
              <a:rPr lang="en-LU" dirty="0"/>
              <a:t>t is shared across all cores on the processor; often called Last Level Cache (LLC)</a:t>
            </a:r>
          </a:p>
          <a:p>
            <a:pPr marL="742950" lvl="1" indent="-285750">
              <a:buFont typeface="Arial" panose="020B0604020202020204" pitchFamily="34" charset="0"/>
              <a:buChar char="•"/>
            </a:pPr>
            <a:r>
              <a:rPr lang="en-GB" dirty="0"/>
              <a:t>T</a:t>
            </a:r>
            <a:r>
              <a:rPr lang="en-LU" dirty="0"/>
              <a:t>he slowest of the caches; 4 MB to 96 MB</a:t>
            </a:r>
          </a:p>
          <a:p>
            <a:pPr marL="285750" indent="-285750">
              <a:buFont typeface="Arial" panose="020B0604020202020204" pitchFamily="34" charset="0"/>
              <a:buChar char="•"/>
            </a:pPr>
            <a:endParaRPr lang="en-LU" dirty="0"/>
          </a:p>
          <a:p>
            <a:pPr marL="285750" indent="-285750">
              <a:buFont typeface="Arial" panose="020B0604020202020204" pitchFamily="34" charset="0"/>
              <a:buChar char="•"/>
            </a:pPr>
            <a:r>
              <a:rPr lang="en-LU" dirty="0"/>
              <a:t>When a CPU needs data, it checks L1 -&gt; L2 -&gt; L3; if found (a Cache Hit), the task finishes instantly. If not found (a Cache miss), the CPU stalls and wait hundreds of cycles for RAM, which kills performance.</a:t>
            </a:r>
          </a:p>
        </p:txBody>
      </p:sp>
    </p:spTree>
    <p:extLst>
      <p:ext uri="{BB962C8B-B14F-4D97-AF65-F5344CB8AC3E}">
        <p14:creationId xmlns:p14="http://schemas.microsoft.com/office/powerpoint/2010/main" val="3205248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49A30B-26ED-E824-D12C-91310A83AEB6}"/>
              </a:ext>
            </a:extLst>
          </p:cNvPr>
          <p:cNvSpPr txBox="1"/>
          <p:nvPr/>
        </p:nvSpPr>
        <p:spPr>
          <a:xfrm>
            <a:off x="269822" y="209862"/>
            <a:ext cx="10987458" cy="830997"/>
          </a:xfrm>
          <a:prstGeom prst="rect">
            <a:avLst/>
          </a:prstGeom>
          <a:noFill/>
        </p:spPr>
        <p:txBody>
          <a:bodyPr wrap="square" rtlCol="0">
            <a:spAutoFit/>
          </a:bodyPr>
          <a:lstStyle/>
          <a:p>
            <a:pPr marL="457200" indent="-457200">
              <a:buAutoNum type="arabicPeriod"/>
            </a:pPr>
            <a:r>
              <a:rPr lang="en-LU" sz="2400" dirty="0"/>
              <a:t>Foundations of High-Performance Data Analytics</a:t>
            </a:r>
          </a:p>
          <a:p>
            <a:r>
              <a:rPr lang="en-LU" sz="2400" dirty="0"/>
              <a:t>	</a:t>
            </a:r>
            <a:r>
              <a:rPr lang="en-LU" sz="2000" dirty="0"/>
              <a:t>Hardware Architecture for Analytics – CPU architecture</a:t>
            </a:r>
            <a:endParaRPr lang="en-LU" sz="2400" dirty="0"/>
          </a:p>
        </p:txBody>
      </p:sp>
      <p:sp>
        <p:nvSpPr>
          <p:cNvPr id="6" name="TextBox 5">
            <a:extLst>
              <a:ext uri="{FF2B5EF4-FFF2-40B4-BE49-F238E27FC236}">
                <a16:creationId xmlns:a16="http://schemas.microsoft.com/office/drawing/2014/main" id="{AC9E3914-85B5-77D1-547C-A30C51FC8DBD}"/>
              </a:ext>
            </a:extLst>
          </p:cNvPr>
          <p:cNvSpPr txBox="1"/>
          <p:nvPr/>
        </p:nvSpPr>
        <p:spPr>
          <a:xfrm>
            <a:off x="392242" y="1292826"/>
            <a:ext cx="11407515" cy="5355312"/>
          </a:xfrm>
          <a:prstGeom prst="rect">
            <a:avLst/>
          </a:prstGeom>
          <a:noFill/>
        </p:spPr>
        <p:txBody>
          <a:bodyPr wrap="square" rtlCol="0">
            <a:spAutoFit/>
          </a:bodyPr>
          <a:lstStyle/>
          <a:p>
            <a:r>
              <a:rPr lang="en-LU" dirty="0"/>
              <a:t>In the context of HPDA, CPU cache is the critical bridge that prevents massive “big data” from chocking the processor.</a:t>
            </a:r>
          </a:p>
          <a:p>
            <a:endParaRPr lang="en-LU" dirty="0"/>
          </a:p>
          <a:p>
            <a:pPr marL="285750" indent="-285750">
              <a:buFont typeface="Arial" panose="020B0604020202020204" pitchFamily="34" charset="0"/>
              <a:buChar char="•"/>
            </a:pPr>
            <a:r>
              <a:rPr lang="en-LU" dirty="0"/>
              <a:t>Breaking the memory wall</a:t>
            </a:r>
          </a:p>
          <a:p>
            <a:pPr marL="742950" lvl="1" indent="-285750">
              <a:buFont typeface="Arial" panose="020B0604020202020204" pitchFamily="34" charset="0"/>
              <a:buChar char="•"/>
            </a:pPr>
            <a:r>
              <a:rPr lang="en-GB" dirty="0"/>
              <a:t>I</a:t>
            </a:r>
            <a:r>
              <a:rPr lang="en-LU" dirty="0"/>
              <a:t>n HPDA, datasets are often terabytes in size, but the CPU can only process data as fast as it can reach it.</a:t>
            </a:r>
          </a:p>
          <a:p>
            <a:pPr marL="742950" lvl="1" indent="-285750">
              <a:buFont typeface="Arial" panose="020B0604020202020204" pitchFamily="34" charset="0"/>
              <a:buChar char="•"/>
            </a:pPr>
            <a:r>
              <a:rPr lang="en-LU" dirty="0"/>
              <a:t>HPDA algorithms rely on cache hits to avoid memory stalls; if the data is found in L1 and/or L2, the analysis proceeds instantly; if it falls back to RAM, the CPU ists idel for hundreds of cycles causing a performance bottleneck.</a:t>
            </a:r>
          </a:p>
          <a:p>
            <a:pPr lvl="1"/>
            <a:endParaRPr lang="en-LU" dirty="0"/>
          </a:p>
          <a:p>
            <a:pPr marL="285750" indent="-285750">
              <a:buFont typeface="Arial" panose="020B0604020202020204" pitchFamily="34" charset="0"/>
              <a:buChar char="•"/>
            </a:pPr>
            <a:r>
              <a:rPr lang="en-GB" dirty="0"/>
              <a:t>T</a:t>
            </a:r>
            <a:r>
              <a:rPr lang="en-LU" dirty="0"/>
              <a:t>empory and spatial locality in analytics: HPDA workloads are optimized using two main principles that rely on cache:</a:t>
            </a:r>
          </a:p>
          <a:p>
            <a:pPr marL="742950" lvl="1" indent="-285750">
              <a:buFont typeface="Arial" panose="020B0604020202020204" pitchFamily="34" charset="0"/>
              <a:buChar char="•"/>
            </a:pPr>
            <a:r>
              <a:rPr lang="en-LU" dirty="0"/>
              <a:t>Spatial locality – taking data into the cache in chunks - &gt; sequential data processing is HPDA is faster</a:t>
            </a:r>
          </a:p>
          <a:p>
            <a:pPr marL="742950" lvl="1" indent="-285750">
              <a:buFont typeface="Arial" panose="020B0604020202020204" pitchFamily="34" charset="0"/>
              <a:buChar char="•"/>
            </a:pPr>
            <a:r>
              <a:rPr lang="en-LU" dirty="0"/>
              <a:t>Temporal locality – algorithms that reuse the same data points benefit form keeping the working set of data in the L3 cache</a:t>
            </a:r>
          </a:p>
          <a:p>
            <a:pPr lvl="1"/>
            <a:endParaRPr lang="en-LU" dirty="0"/>
          </a:p>
          <a:p>
            <a:pPr marL="285750" indent="-285750">
              <a:buFont typeface="Arial" panose="020B0604020202020204" pitchFamily="34" charset="0"/>
              <a:buChar char="•"/>
            </a:pPr>
            <a:r>
              <a:rPr lang="en-GB" dirty="0"/>
              <a:t>S</a:t>
            </a:r>
            <a:r>
              <a:rPr lang="en-LU" dirty="0"/>
              <a:t>caling multi-core analysis – HPDA typically uses every available core on a processor</a:t>
            </a:r>
          </a:p>
          <a:p>
            <a:pPr marL="742950" lvl="1" indent="-285750">
              <a:buFont typeface="Arial" panose="020B0604020202020204" pitchFamily="34" charset="0"/>
              <a:buChar char="•"/>
            </a:pPr>
            <a:r>
              <a:rPr lang="en-LU" dirty="0"/>
              <a:t>L3 Cache coordination – allows different cores to share and synchronize data without back to the </a:t>
            </a:r>
          </a:p>
          <a:p>
            <a:pPr marL="742950" lvl="1" indent="-285750">
              <a:buFont typeface="Arial" panose="020B0604020202020204" pitchFamily="34" charset="0"/>
              <a:buChar char="•"/>
            </a:pPr>
            <a:r>
              <a:rPr lang="en-LU" dirty="0"/>
              <a:t>HPDcache – developed specifically for HPC and AI applications to handle the high bandwidth and low latency</a:t>
            </a:r>
          </a:p>
        </p:txBody>
      </p:sp>
    </p:spTree>
    <p:extLst>
      <p:ext uri="{BB962C8B-B14F-4D97-AF65-F5344CB8AC3E}">
        <p14:creationId xmlns:p14="http://schemas.microsoft.com/office/powerpoint/2010/main" val="234650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2104E3-4A79-38B0-FD53-F3DF151C5FEC}"/>
              </a:ext>
            </a:extLst>
          </p:cNvPr>
          <p:cNvSpPr txBox="1"/>
          <p:nvPr/>
        </p:nvSpPr>
        <p:spPr>
          <a:xfrm>
            <a:off x="269822" y="209862"/>
            <a:ext cx="11647358" cy="830997"/>
          </a:xfrm>
          <a:prstGeom prst="rect">
            <a:avLst/>
          </a:prstGeom>
          <a:noFill/>
        </p:spPr>
        <p:txBody>
          <a:bodyPr wrap="square" rtlCol="0">
            <a:spAutoFit/>
          </a:bodyPr>
          <a:lstStyle/>
          <a:p>
            <a:pPr marL="457200" indent="-457200">
              <a:buAutoNum type="arabicPeriod"/>
            </a:pPr>
            <a:r>
              <a:rPr lang="en-LU" sz="2400" dirty="0"/>
              <a:t>Foundations of High-Performance Data Analytics</a:t>
            </a:r>
          </a:p>
          <a:p>
            <a:r>
              <a:rPr lang="en-LU" sz="2400" dirty="0"/>
              <a:t>	</a:t>
            </a:r>
            <a:r>
              <a:rPr lang="en-LU" sz="2000" dirty="0"/>
              <a:t>Hardware Architecture for Analytics – Memory bandwidth vs. compute capacity bottlenecks</a:t>
            </a:r>
            <a:endParaRPr lang="en-LU" sz="2400" dirty="0"/>
          </a:p>
        </p:txBody>
      </p:sp>
      <p:sp>
        <p:nvSpPr>
          <p:cNvPr id="5" name="TextBox 4">
            <a:extLst>
              <a:ext uri="{FF2B5EF4-FFF2-40B4-BE49-F238E27FC236}">
                <a16:creationId xmlns:a16="http://schemas.microsoft.com/office/drawing/2014/main" id="{B9FB7132-0C90-EFC2-3970-CE0083521620}"/>
              </a:ext>
            </a:extLst>
          </p:cNvPr>
          <p:cNvSpPr txBox="1"/>
          <p:nvPr/>
        </p:nvSpPr>
        <p:spPr>
          <a:xfrm>
            <a:off x="207363" y="1304144"/>
            <a:ext cx="11772275" cy="5355312"/>
          </a:xfrm>
          <a:prstGeom prst="rect">
            <a:avLst/>
          </a:prstGeom>
          <a:noFill/>
        </p:spPr>
        <p:txBody>
          <a:bodyPr wrap="square" rtlCol="0">
            <a:spAutoFit/>
          </a:bodyPr>
          <a:lstStyle/>
          <a:p>
            <a:pPr marL="285750" indent="-285750">
              <a:buFont typeface="Arial" panose="020B0604020202020204" pitchFamily="34" charset="0"/>
              <a:buChar char="•"/>
            </a:pPr>
            <a:r>
              <a:rPr lang="en-LU" dirty="0"/>
              <a:t>Compute capacity (peak FLOPS) – the theoretical maximum number of operations (Floating Point Operations Per Second) a processor can perform;</a:t>
            </a:r>
          </a:p>
          <a:p>
            <a:pPr marL="285750" indent="-285750">
              <a:buFont typeface="Arial" panose="020B0604020202020204" pitchFamily="34" charset="0"/>
              <a:buChar char="•"/>
            </a:pPr>
            <a:r>
              <a:rPr lang="en-LU" dirty="0"/>
              <a:t>Memory bandwidth (GB/s) – the speed at which data can be read from or written to the system memory (RAM) by the processor.</a:t>
            </a:r>
          </a:p>
          <a:p>
            <a:pPr marL="285750" indent="-285750">
              <a:buFont typeface="Arial" panose="020B0604020202020204" pitchFamily="34" charset="0"/>
              <a:buChar char="•"/>
            </a:pPr>
            <a:endParaRPr lang="en-LU" dirty="0"/>
          </a:p>
          <a:p>
            <a:pPr marL="285750" indent="-285750">
              <a:buFont typeface="Arial" panose="020B0604020202020204" pitchFamily="34" charset="0"/>
              <a:buChar char="•"/>
            </a:pPr>
            <a:r>
              <a:rPr lang="en-LU" dirty="0"/>
              <a:t>In HPDA, every algorithm hits a ceiling based on one of these two factors:</a:t>
            </a:r>
          </a:p>
          <a:p>
            <a:endParaRPr lang="en-LU" dirty="0"/>
          </a:p>
          <a:p>
            <a:pPr marL="742950" lvl="1" indent="-285750">
              <a:buFont typeface="Arial" panose="020B0604020202020204" pitchFamily="34" charset="0"/>
              <a:buChar char="•"/>
            </a:pPr>
            <a:r>
              <a:rPr lang="en-LU" dirty="0"/>
              <a:t>Memory-bound – if the analysis involves scanning massive databasesm real-time streaming, or graph procesisng, the problem is likely memory bound; the processor is fast and finishes work, but sits idle waiting for the next chunk of data to arrive from RAM; No matter how many cores are added, the speed won’t increase because the memory bandwidth is saturated.</a:t>
            </a:r>
          </a:p>
          <a:p>
            <a:pPr marL="742950" lvl="1" indent="-285750">
              <a:buFont typeface="Arial" panose="020B0604020202020204" pitchFamily="34" charset="0"/>
              <a:buChar char="•"/>
            </a:pPr>
            <a:r>
              <a:rPr lang="en-LU" dirty="0"/>
              <a:t>Compute-bound – occurs in heavy mathematical modeling or the training phase of deep learning. The data stays in L1/L2/L3 cache; the speed of CPU and the number of cores are the primary limits</a:t>
            </a:r>
          </a:p>
          <a:p>
            <a:pPr marL="285750" indent="-285750">
              <a:buFont typeface="Arial" panose="020B0604020202020204" pitchFamily="34" charset="0"/>
              <a:buChar char="•"/>
            </a:pPr>
            <a:endParaRPr lang="en-LU" dirty="0"/>
          </a:p>
          <a:p>
            <a:pPr marL="285750" indent="-285750">
              <a:buFont typeface="Arial" panose="020B0604020202020204" pitchFamily="34" charset="0"/>
              <a:buChar char="•"/>
            </a:pPr>
            <a:r>
              <a:rPr lang="en-LU" dirty="0"/>
              <a:t>HPDA struggles with the Memory Wall:</a:t>
            </a:r>
          </a:p>
          <a:p>
            <a:endParaRPr lang="en-LU" dirty="0"/>
          </a:p>
          <a:p>
            <a:pPr marL="742950" lvl="1" indent="-285750">
              <a:buFont typeface="Arial" panose="020B0604020202020204" pitchFamily="34" charset="0"/>
              <a:buChar char="•"/>
            </a:pPr>
            <a:r>
              <a:rPr lang="en-GB" dirty="0"/>
              <a:t>I</a:t>
            </a:r>
            <a:r>
              <a:rPr lang="en-LU" dirty="0"/>
              <a:t>n big data atsks, the CPU often spends up to 90% of its time waiting for data.</a:t>
            </a:r>
          </a:p>
          <a:p>
            <a:pPr marL="742950" lvl="1" indent="-285750">
              <a:buFont typeface="Arial" panose="020B0604020202020204" pitchFamily="34" charset="0"/>
              <a:buChar char="•"/>
            </a:pPr>
            <a:r>
              <a:rPr lang="en-GB" dirty="0"/>
              <a:t>T</a:t>
            </a:r>
            <a:r>
              <a:rPr lang="en-LU" dirty="0"/>
              <a:t>o fix this, HPDA systems use HBM (high bandwidth memory) = stacks memory layers directly on the processor package to provide massive throughput</a:t>
            </a:r>
          </a:p>
        </p:txBody>
      </p:sp>
    </p:spTree>
    <p:extLst>
      <p:ext uri="{BB962C8B-B14F-4D97-AF65-F5344CB8AC3E}">
        <p14:creationId xmlns:p14="http://schemas.microsoft.com/office/powerpoint/2010/main" val="457984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C0D95D-B9F0-1F5D-204A-C553BA205038}"/>
              </a:ext>
            </a:extLst>
          </p:cNvPr>
          <p:cNvSpPr txBox="1"/>
          <p:nvPr/>
        </p:nvSpPr>
        <p:spPr>
          <a:xfrm>
            <a:off x="269822" y="209862"/>
            <a:ext cx="11647358" cy="830997"/>
          </a:xfrm>
          <a:prstGeom prst="rect">
            <a:avLst/>
          </a:prstGeom>
          <a:noFill/>
        </p:spPr>
        <p:txBody>
          <a:bodyPr wrap="square" rtlCol="0">
            <a:spAutoFit/>
          </a:bodyPr>
          <a:lstStyle/>
          <a:p>
            <a:pPr marL="457200" indent="-457200">
              <a:buAutoNum type="arabicPeriod"/>
            </a:pPr>
            <a:r>
              <a:rPr lang="en-LU" sz="2400" dirty="0"/>
              <a:t>Foundations of High-Performance Data Analytics</a:t>
            </a:r>
          </a:p>
          <a:p>
            <a:r>
              <a:rPr lang="en-LU" sz="2400" dirty="0"/>
              <a:t>	</a:t>
            </a:r>
            <a:r>
              <a:rPr lang="en-LU" sz="2000" dirty="0"/>
              <a:t>Hardware Architecture for Analytics – Memory bandwidth vs. compute capacity bottlenecks</a:t>
            </a:r>
            <a:endParaRPr lang="en-LU" sz="2400" dirty="0"/>
          </a:p>
        </p:txBody>
      </p:sp>
      <p:sp>
        <p:nvSpPr>
          <p:cNvPr id="5" name="TextBox 4">
            <a:extLst>
              <a:ext uri="{FF2B5EF4-FFF2-40B4-BE49-F238E27FC236}">
                <a16:creationId xmlns:a16="http://schemas.microsoft.com/office/drawing/2014/main" id="{AEF5D08A-8C35-BA28-9CE1-485146F23AE3}"/>
              </a:ext>
            </a:extLst>
          </p:cNvPr>
          <p:cNvSpPr txBox="1"/>
          <p:nvPr/>
        </p:nvSpPr>
        <p:spPr>
          <a:xfrm>
            <a:off x="506517" y="1469933"/>
            <a:ext cx="11173968" cy="4247317"/>
          </a:xfrm>
          <a:prstGeom prst="rect">
            <a:avLst/>
          </a:prstGeom>
          <a:noFill/>
        </p:spPr>
        <p:txBody>
          <a:bodyPr wrap="square" rtlCol="0">
            <a:spAutoFit/>
          </a:bodyPr>
          <a:lstStyle/>
          <a:p>
            <a:r>
              <a:rPr lang="en-LU" dirty="0"/>
              <a:t>In HPDA, different workloads experience the memory vs. compute bottlencek in vastly different ways and this is measured by Arithmetic intensity == the ratio of math operations performed per byte or daat fetched.</a:t>
            </a:r>
          </a:p>
          <a:p>
            <a:endParaRPr lang="en-LU" dirty="0"/>
          </a:p>
          <a:p>
            <a:pPr marL="342900" indent="-342900">
              <a:buAutoNum type="arabicPeriod"/>
            </a:pPr>
            <a:r>
              <a:rPr lang="en-LU" dirty="0"/>
              <a:t>SQL engines – the badnwidth bottleneck</a:t>
            </a:r>
          </a:p>
          <a:p>
            <a:pPr marL="742950" lvl="1" indent="-285750">
              <a:buFont typeface="Arial" panose="020B0604020202020204" pitchFamily="34" charset="0"/>
              <a:buChar char="•"/>
            </a:pPr>
            <a:r>
              <a:rPr lang="en-GB" dirty="0"/>
              <a:t>A</a:t>
            </a:r>
            <a:r>
              <a:rPr lang="en-LU" dirty="0"/>
              <a:t>nalytics databases are almost always memory bound</a:t>
            </a:r>
          </a:p>
          <a:p>
            <a:pPr marL="742950" lvl="1" indent="-285750">
              <a:buFont typeface="Arial" panose="020B0604020202020204" pitchFamily="34" charset="0"/>
              <a:buChar char="•"/>
            </a:pPr>
            <a:r>
              <a:rPr lang="en-LU" dirty="0"/>
              <a:t>SQL queries typically involve scanning billions of rows to perform simple operations (e.g., SUM or COUNT); the math is easy for the C</a:t>
            </a:r>
            <a:r>
              <a:rPr lang="en-GB" dirty="0"/>
              <a:t>PU, but fetching those billions of rows from RAM is slow.</a:t>
            </a:r>
          </a:p>
          <a:p>
            <a:pPr marL="742950" lvl="1" indent="-285750">
              <a:buFont typeface="Arial" panose="020B0604020202020204" pitchFamily="34" charset="0"/>
              <a:buChar char="•"/>
            </a:pPr>
            <a:r>
              <a:rPr lang="en-GB" dirty="0"/>
              <a:t>Vectorized execution – instead of processing one row at a time, taking a large vector of data into the L1/L2 cache and use Single Instruction, Multiple Data to process them all at once, maximizing the use of every byte fetched from memory</a:t>
            </a:r>
          </a:p>
          <a:p>
            <a:pPr marL="285750" indent="-285750">
              <a:buFont typeface="Arial" panose="020B0604020202020204" pitchFamily="34" charset="0"/>
              <a:buChar char="•"/>
            </a:pPr>
            <a:r>
              <a:rPr lang="en-GB" dirty="0"/>
              <a:t>Apache Spark = designed for in-memory processing</a:t>
            </a:r>
          </a:p>
          <a:p>
            <a:pPr marL="742950" lvl="1" indent="-285750">
              <a:buFont typeface="Arial" panose="020B0604020202020204" pitchFamily="34" charset="0"/>
              <a:buChar char="•"/>
            </a:pPr>
            <a:r>
              <a:rPr lang="en-GB" dirty="0"/>
              <a:t>Even though data is in RAM, Spark often hits a Network or I/O bottleneck during &lt;&lt;shuffles&gt;&gt; (when data moves between cluster nodes)</a:t>
            </a:r>
          </a:p>
          <a:p>
            <a:pPr marL="742950" lvl="1" indent="-285750">
              <a:buFont typeface="Arial" panose="020B0604020202020204" pitchFamily="34" charset="0"/>
              <a:buChar char="•"/>
            </a:pPr>
            <a:r>
              <a:rPr lang="en-GB" dirty="0"/>
              <a:t>Spark’s performance is highly dependent on Serialization (converting a complex data object into a binary format)</a:t>
            </a:r>
          </a:p>
        </p:txBody>
      </p:sp>
    </p:spTree>
    <p:extLst>
      <p:ext uri="{BB962C8B-B14F-4D97-AF65-F5344CB8AC3E}">
        <p14:creationId xmlns:p14="http://schemas.microsoft.com/office/powerpoint/2010/main" val="906409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EEC0C2-C498-71F3-566C-A3D84A9F9280}"/>
              </a:ext>
            </a:extLst>
          </p:cNvPr>
          <p:cNvSpPr txBox="1"/>
          <p:nvPr/>
        </p:nvSpPr>
        <p:spPr>
          <a:xfrm>
            <a:off x="269822" y="209862"/>
            <a:ext cx="11647358" cy="830997"/>
          </a:xfrm>
          <a:prstGeom prst="rect">
            <a:avLst/>
          </a:prstGeom>
          <a:noFill/>
        </p:spPr>
        <p:txBody>
          <a:bodyPr wrap="square" rtlCol="0">
            <a:spAutoFit/>
          </a:bodyPr>
          <a:lstStyle/>
          <a:p>
            <a:pPr marL="457200" indent="-457200">
              <a:buAutoNum type="arabicPeriod"/>
            </a:pPr>
            <a:r>
              <a:rPr lang="en-LU" sz="2400" dirty="0"/>
              <a:t>Foundations of High-Performance Data Analytics</a:t>
            </a:r>
          </a:p>
          <a:p>
            <a:r>
              <a:rPr lang="en-LU" sz="2400" dirty="0"/>
              <a:t>	</a:t>
            </a:r>
            <a:r>
              <a:rPr lang="en-LU" sz="2000" dirty="0"/>
              <a:t>Hardware Architecture for Analytics – Non Uniform Memory Access (NUMA) considerations</a:t>
            </a:r>
            <a:endParaRPr lang="en-LU" sz="2400" dirty="0"/>
          </a:p>
        </p:txBody>
      </p:sp>
      <p:sp>
        <p:nvSpPr>
          <p:cNvPr id="5" name="TextBox 4">
            <a:extLst>
              <a:ext uri="{FF2B5EF4-FFF2-40B4-BE49-F238E27FC236}">
                <a16:creationId xmlns:a16="http://schemas.microsoft.com/office/drawing/2014/main" id="{66CB981F-AE27-0FFE-8451-028111DAAA37}"/>
              </a:ext>
            </a:extLst>
          </p:cNvPr>
          <p:cNvSpPr txBox="1"/>
          <p:nvPr/>
        </p:nvSpPr>
        <p:spPr>
          <a:xfrm>
            <a:off x="613996" y="1174428"/>
            <a:ext cx="10959010" cy="5453865"/>
          </a:xfrm>
          <a:prstGeom prst="rect">
            <a:avLst/>
          </a:prstGeom>
          <a:noFill/>
        </p:spPr>
        <p:txBody>
          <a:bodyPr wrap="square" rtlCol="0">
            <a:spAutoFit/>
          </a:bodyPr>
          <a:lstStyle/>
          <a:p>
            <a:pPr>
              <a:lnSpc>
                <a:spcPct val="150000"/>
              </a:lnSpc>
            </a:pPr>
            <a:r>
              <a:rPr lang="en-LU" dirty="0"/>
              <a:t>NUMA is a design where memory access speed depends on physical distance (local memory is fast, remote is slow), whereas UMA treats all memory as a single, uniform pool where access speed is identical for every processor.</a:t>
            </a:r>
          </a:p>
          <a:p>
            <a:pPr marL="285750" indent="-285750">
              <a:lnSpc>
                <a:spcPct val="150000"/>
              </a:lnSpc>
              <a:buFont typeface="Arial" panose="020B0604020202020204" pitchFamily="34" charset="0"/>
              <a:buChar char="•"/>
            </a:pPr>
            <a:r>
              <a:rPr lang="en-LU" dirty="0"/>
              <a:t>The total mempry is physically partitioned into NUMA nodes – each CPU socket has its own dedicated local memory controller and RAM</a:t>
            </a:r>
          </a:p>
          <a:p>
            <a:pPr marL="285750" indent="-285750">
              <a:lnSpc>
                <a:spcPct val="150000"/>
              </a:lnSpc>
              <a:buFont typeface="Arial" panose="020B0604020202020204" pitchFamily="34" charset="0"/>
              <a:buChar char="•"/>
            </a:pPr>
            <a:r>
              <a:rPr lang="en-LU" dirty="0"/>
              <a:t>HPDA workloads are uniquely sensitive to NUMA for three reasons:</a:t>
            </a:r>
          </a:p>
          <a:p>
            <a:pPr marL="742950" lvl="1" indent="-285750">
              <a:lnSpc>
                <a:spcPct val="150000"/>
              </a:lnSpc>
              <a:buFont typeface="Arial" panose="020B0604020202020204" pitchFamily="34" charset="0"/>
              <a:buChar char="•"/>
            </a:pPr>
            <a:r>
              <a:rPr lang="en-GB" dirty="0"/>
              <a:t>S</a:t>
            </a:r>
            <a:r>
              <a:rPr lang="en-LU" dirty="0"/>
              <a:t>caling the memory wall – NUMA allows each socket to have its own dedicated space, enabling higher total system bandwidth.</a:t>
            </a:r>
          </a:p>
          <a:p>
            <a:pPr marL="742950" lvl="1" indent="-285750">
              <a:lnSpc>
                <a:spcPct val="150000"/>
              </a:lnSpc>
              <a:buFont typeface="Arial" panose="020B0604020202020204" pitchFamily="34" charset="0"/>
              <a:buChar char="•"/>
            </a:pPr>
            <a:r>
              <a:rPr lang="en-GB" dirty="0"/>
              <a:t>I</a:t>
            </a:r>
            <a:r>
              <a:rPr lang="en-LU" dirty="0"/>
              <a:t>n parallel analytics – if one core is stuck doing Remote access while others use Local access, that single slow thread can hold up the entire job.</a:t>
            </a:r>
          </a:p>
          <a:p>
            <a:pPr marL="742950" lvl="1" indent="-285750">
              <a:lnSpc>
                <a:spcPct val="150000"/>
              </a:lnSpc>
              <a:buFont typeface="Arial" panose="020B0604020202020204" pitchFamily="34" charset="0"/>
              <a:buChar char="•"/>
            </a:pPr>
            <a:r>
              <a:rPr lang="en-GB" dirty="0"/>
              <a:t>I</a:t>
            </a:r>
            <a:r>
              <a:rPr lang="en-LU" dirty="0"/>
              <a:t>n AI driven HPDA, GPUs are often tied to specific NUMA nodes; if your CPU based data loader is on Node 0 but your GPU is on Node 1, performance can drop by 20% or more due to cross-node traffic.</a:t>
            </a:r>
          </a:p>
          <a:p>
            <a:pPr marL="285750" indent="-285750">
              <a:lnSpc>
                <a:spcPct val="150000"/>
              </a:lnSpc>
              <a:buFont typeface="Arial" panose="020B0604020202020204" pitchFamily="34" charset="0"/>
              <a:buChar char="•"/>
            </a:pPr>
            <a:r>
              <a:rPr lang="en-LU" dirty="0"/>
              <a:t>Optimizing HPDA involves </a:t>
            </a:r>
            <a:r>
              <a:rPr lang="en-GB" dirty="0"/>
              <a:t>t</a:t>
            </a:r>
            <a:r>
              <a:rPr lang="en-LU" dirty="0"/>
              <a:t>ransitioning to NUMA-aware execution</a:t>
            </a:r>
          </a:p>
        </p:txBody>
      </p:sp>
    </p:spTree>
    <p:extLst>
      <p:ext uri="{BB962C8B-B14F-4D97-AF65-F5344CB8AC3E}">
        <p14:creationId xmlns:p14="http://schemas.microsoft.com/office/powerpoint/2010/main" val="2472621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015DD3-C6F9-AC02-315C-9590A96148C4}"/>
              </a:ext>
            </a:extLst>
          </p:cNvPr>
          <p:cNvSpPr txBox="1"/>
          <p:nvPr/>
        </p:nvSpPr>
        <p:spPr>
          <a:xfrm>
            <a:off x="269822" y="209862"/>
            <a:ext cx="11647358" cy="830997"/>
          </a:xfrm>
          <a:prstGeom prst="rect">
            <a:avLst/>
          </a:prstGeom>
          <a:noFill/>
        </p:spPr>
        <p:txBody>
          <a:bodyPr wrap="square" rtlCol="0">
            <a:spAutoFit/>
          </a:bodyPr>
          <a:lstStyle/>
          <a:p>
            <a:pPr marL="457200" indent="-457200">
              <a:buAutoNum type="arabicPeriod"/>
            </a:pPr>
            <a:r>
              <a:rPr lang="en-LU" sz="2400" dirty="0"/>
              <a:t>Foundations of High-Performance Data Analytics</a:t>
            </a:r>
          </a:p>
          <a:p>
            <a:r>
              <a:rPr lang="en-LU" sz="2400" dirty="0"/>
              <a:t>	</a:t>
            </a:r>
            <a:r>
              <a:rPr lang="en-LU" sz="2000" dirty="0"/>
              <a:t>Hardware Architecture for Analytics – Network interconnects in HPC cluster</a:t>
            </a:r>
            <a:endParaRPr lang="en-LU" sz="2400" dirty="0"/>
          </a:p>
        </p:txBody>
      </p:sp>
      <p:sp>
        <p:nvSpPr>
          <p:cNvPr id="5" name="TextBox 4">
            <a:extLst>
              <a:ext uri="{FF2B5EF4-FFF2-40B4-BE49-F238E27FC236}">
                <a16:creationId xmlns:a16="http://schemas.microsoft.com/office/drawing/2014/main" id="{DEAEA41E-3CB7-87F3-41BB-AF097028B538}"/>
              </a:ext>
            </a:extLst>
          </p:cNvPr>
          <p:cNvSpPr txBox="1"/>
          <p:nvPr/>
        </p:nvSpPr>
        <p:spPr>
          <a:xfrm>
            <a:off x="405933" y="1305341"/>
            <a:ext cx="11375136" cy="5078313"/>
          </a:xfrm>
          <a:prstGeom prst="rect">
            <a:avLst/>
          </a:prstGeom>
          <a:noFill/>
        </p:spPr>
        <p:txBody>
          <a:bodyPr wrap="square" rtlCol="0">
            <a:spAutoFit/>
          </a:bodyPr>
          <a:lstStyle/>
          <a:p>
            <a:r>
              <a:rPr lang="en-LU" dirty="0"/>
              <a:t>Network interconnects are high-speed links that connect multiple servers into one cluster so they can share and process massive datasets together in parallel.</a:t>
            </a:r>
          </a:p>
          <a:p>
            <a:pPr marL="285750" indent="-285750">
              <a:buFont typeface="Arial" panose="020B0604020202020204" pitchFamily="34" charset="0"/>
              <a:buChar char="•"/>
            </a:pPr>
            <a:r>
              <a:rPr lang="en-LU" dirty="0"/>
              <a:t>InfiniBand:</a:t>
            </a:r>
          </a:p>
          <a:p>
            <a:pPr marL="742950" lvl="1" indent="-285750">
              <a:buFont typeface="Arial" panose="020B0604020202020204" pitchFamily="34" charset="0"/>
              <a:buChar char="•"/>
            </a:pPr>
            <a:r>
              <a:rPr lang="en-LU" dirty="0"/>
              <a:t>Ultra-low latency – uses Remote Direct Memory Access (RDMA) to let one server read memory from another without involving the CPU, drastically reducing overhead;</a:t>
            </a:r>
          </a:p>
          <a:p>
            <a:pPr marL="742950" lvl="1" indent="-285750">
              <a:buFont typeface="Arial" panose="020B0604020202020204" pitchFamily="34" charset="0"/>
              <a:buChar char="•"/>
            </a:pPr>
            <a:r>
              <a:rPr lang="en-LU" dirty="0"/>
              <a:t>High Throughput – designed for huge data pipes, essential for shuffling massive datasets in Spark or GPU clusters;</a:t>
            </a:r>
          </a:p>
          <a:p>
            <a:pPr marL="742950" lvl="1" indent="-285750">
              <a:buFont typeface="Arial" panose="020B0604020202020204" pitchFamily="34" charset="0"/>
              <a:buChar char="•"/>
            </a:pPr>
            <a:r>
              <a:rPr lang="en-LU" dirty="0"/>
              <a:t>Offloading – moves network tasks from the CPU to the hardware, freeing up compute cycles for actual analytics</a:t>
            </a:r>
          </a:p>
          <a:p>
            <a:pPr marL="285750" indent="-285750">
              <a:buFont typeface="Arial" panose="020B0604020202020204" pitchFamily="34" charset="0"/>
              <a:buChar char="•"/>
            </a:pPr>
            <a:r>
              <a:rPr lang="en-LU" dirty="0"/>
              <a:t>Ethernet:</a:t>
            </a:r>
          </a:p>
          <a:p>
            <a:pPr marL="742950" lvl="1" indent="-285750">
              <a:buFont typeface="Arial" panose="020B0604020202020204" pitchFamily="34" charset="0"/>
              <a:buChar char="•"/>
            </a:pPr>
            <a:r>
              <a:rPr lang="en-LU" dirty="0"/>
              <a:t>Cheaper and easier to manage with existing IT infrastructure</a:t>
            </a:r>
          </a:p>
          <a:p>
            <a:pPr marL="742950" lvl="1" indent="-285750">
              <a:buFont typeface="Arial" panose="020B0604020202020204" pitchFamily="34" charset="0"/>
              <a:buChar char="•"/>
            </a:pPr>
            <a:r>
              <a:rPr lang="en-GB" dirty="0"/>
              <a:t>A</a:t>
            </a:r>
            <a:r>
              <a:rPr lang="en-LU" dirty="0"/>
              <a:t>ttempts to bridge the gap by adding InfiniBand RDMA capabilities to Ethernet</a:t>
            </a:r>
          </a:p>
          <a:p>
            <a:pPr marL="742950" lvl="1" indent="-285750">
              <a:buFont typeface="Arial" panose="020B0604020202020204" pitchFamily="34" charset="0"/>
              <a:buChar char="•"/>
            </a:pPr>
            <a:r>
              <a:rPr lang="en-LU" dirty="0"/>
              <a:t>Bottleneck – inconsistent latency, which can slow down synchronized parallel processing in HPDA workloads</a:t>
            </a:r>
          </a:p>
          <a:p>
            <a:endParaRPr lang="en-LU" dirty="0"/>
          </a:p>
          <a:p>
            <a:r>
              <a:rPr lang="en-LU" dirty="0"/>
              <a:t>If the HPDA task is Communication-bound meaning lots of data moving between nodes, InfiniBand is preffered. </a:t>
            </a:r>
          </a:p>
          <a:p>
            <a:r>
              <a:rPr lang="en-LU" dirty="0"/>
              <a:t>If the HPDA task </a:t>
            </a:r>
            <a:r>
              <a:rPr lang="en-GB" dirty="0"/>
              <a:t>is</a:t>
            </a:r>
            <a:r>
              <a:rPr lang="en-LU" dirty="0"/>
              <a:t> Storage-bound, high-speed Ethernet is sufficient. </a:t>
            </a:r>
          </a:p>
          <a:p>
            <a:pPr marL="742950" lvl="1" indent="-285750">
              <a:buFont typeface="Arial" panose="020B0604020202020204" pitchFamily="34" charset="0"/>
              <a:buChar char="•"/>
            </a:pPr>
            <a:endParaRPr lang="en-LU" dirty="0"/>
          </a:p>
        </p:txBody>
      </p:sp>
    </p:spTree>
    <p:extLst>
      <p:ext uri="{BB962C8B-B14F-4D97-AF65-F5344CB8AC3E}">
        <p14:creationId xmlns:p14="http://schemas.microsoft.com/office/powerpoint/2010/main" val="2577977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871C10-2C53-C72B-E780-53801964D6EC}"/>
              </a:ext>
            </a:extLst>
          </p:cNvPr>
          <p:cNvSpPr txBox="1"/>
          <p:nvPr/>
        </p:nvSpPr>
        <p:spPr>
          <a:xfrm>
            <a:off x="269822" y="209862"/>
            <a:ext cx="11647358" cy="830997"/>
          </a:xfrm>
          <a:prstGeom prst="rect">
            <a:avLst/>
          </a:prstGeom>
          <a:noFill/>
        </p:spPr>
        <p:txBody>
          <a:bodyPr wrap="square" rtlCol="0">
            <a:spAutoFit/>
          </a:bodyPr>
          <a:lstStyle/>
          <a:p>
            <a:pPr marL="457200" indent="-457200">
              <a:buAutoNum type="arabicPeriod"/>
            </a:pPr>
            <a:r>
              <a:rPr lang="en-LU" sz="2400" dirty="0"/>
              <a:t>Foundations of High-Performance Data Analytics</a:t>
            </a:r>
          </a:p>
          <a:p>
            <a:r>
              <a:rPr lang="en-LU" sz="2400" dirty="0"/>
              <a:t>	</a:t>
            </a:r>
            <a:r>
              <a:rPr lang="en-LU" sz="2000" dirty="0"/>
              <a:t>Performance Fundamentals – Understanding throughput vs. latency trade-offs</a:t>
            </a:r>
            <a:endParaRPr lang="en-LU" sz="2400" dirty="0"/>
          </a:p>
        </p:txBody>
      </p:sp>
      <p:sp>
        <p:nvSpPr>
          <p:cNvPr id="5" name="TextBox 4">
            <a:extLst>
              <a:ext uri="{FF2B5EF4-FFF2-40B4-BE49-F238E27FC236}">
                <a16:creationId xmlns:a16="http://schemas.microsoft.com/office/drawing/2014/main" id="{BA2DDCE9-4CF6-09C3-AC8C-8338E967E44C}"/>
              </a:ext>
            </a:extLst>
          </p:cNvPr>
          <p:cNvSpPr txBox="1"/>
          <p:nvPr/>
        </p:nvSpPr>
        <p:spPr>
          <a:xfrm>
            <a:off x="269822" y="1299122"/>
            <a:ext cx="10863072" cy="212987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LU" dirty="0"/>
              <a:t>Throughput – the total amount of data processed in a given time (GB/s)</a:t>
            </a:r>
          </a:p>
          <a:p>
            <a:pPr marL="800100" lvl="1" indent="-342900">
              <a:lnSpc>
                <a:spcPct val="150000"/>
              </a:lnSpc>
              <a:buFont typeface="Arial" panose="020B0604020202020204" pitchFamily="34" charset="0"/>
              <a:buChar char="•"/>
            </a:pPr>
            <a:r>
              <a:rPr lang="en-LU" dirty="0"/>
              <a:t>HPDA focus: high throughput is the priority for Batch Processing</a:t>
            </a:r>
          </a:p>
          <a:p>
            <a:pPr marL="342900" indent="-342900">
              <a:lnSpc>
                <a:spcPct val="150000"/>
              </a:lnSpc>
              <a:buFont typeface="Arial" panose="020B0604020202020204" pitchFamily="34" charset="0"/>
              <a:buChar char="•"/>
            </a:pPr>
            <a:r>
              <a:rPr lang="en-LU" dirty="0"/>
              <a:t>Latency – the response metric</a:t>
            </a:r>
          </a:p>
          <a:p>
            <a:pPr marL="800100" lvl="1" indent="-342900">
              <a:lnSpc>
                <a:spcPct val="150000"/>
              </a:lnSpc>
              <a:buFont typeface="Arial" panose="020B0604020202020204" pitchFamily="34" charset="0"/>
              <a:buChar char="•"/>
            </a:pPr>
            <a:r>
              <a:rPr lang="en-GB" dirty="0"/>
              <a:t>T</a:t>
            </a:r>
            <a:r>
              <a:rPr lang="en-LU" dirty="0"/>
              <a:t>he delay before you get a result</a:t>
            </a:r>
          </a:p>
          <a:p>
            <a:pPr marL="800100" lvl="1" indent="-342900">
              <a:lnSpc>
                <a:spcPct val="150000"/>
              </a:lnSpc>
              <a:buFont typeface="Arial" panose="020B0604020202020204" pitchFamily="34" charset="0"/>
              <a:buChar char="•"/>
            </a:pPr>
            <a:r>
              <a:rPr lang="en-LU" dirty="0"/>
              <a:t>HPDA focus: low latency is the priority for Real-Time Analytics </a:t>
            </a:r>
          </a:p>
        </p:txBody>
      </p:sp>
      <p:sp>
        <p:nvSpPr>
          <p:cNvPr id="8" name="TextBox 7">
            <a:extLst>
              <a:ext uri="{FF2B5EF4-FFF2-40B4-BE49-F238E27FC236}">
                <a16:creationId xmlns:a16="http://schemas.microsoft.com/office/drawing/2014/main" id="{B63883AF-5131-245E-347B-0FF9811AC300}"/>
              </a:ext>
            </a:extLst>
          </p:cNvPr>
          <p:cNvSpPr txBox="1"/>
          <p:nvPr/>
        </p:nvSpPr>
        <p:spPr>
          <a:xfrm>
            <a:off x="269822" y="3492680"/>
            <a:ext cx="10863072" cy="296087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The Trade-off: In HPDA every decision to improve one usually hurts the other.</a:t>
            </a:r>
          </a:p>
          <a:p>
            <a:pPr marL="742950" lvl="1" indent="-285750">
              <a:lnSpc>
                <a:spcPct val="150000"/>
              </a:lnSpc>
              <a:buFont typeface="Arial" panose="020B0604020202020204" pitchFamily="34" charset="0"/>
              <a:buChar char="•"/>
            </a:pPr>
            <a:r>
              <a:rPr lang="en-US" dirty="0"/>
              <a:t>Batching data – if you wait to collect 1000 rows of data before processing them, your Throughput goes up (efficiency), but your Latency goes up as well (the 1</a:t>
            </a:r>
            <a:r>
              <a:rPr lang="en-US" baseline="30000" dirty="0"/>
              <a:t>st</a:t>
            </a:r>
            <a:r>
              <a:rPr lang="en-US" dirty="0"/>
              <a:t> row has to wait for the 1000</a:t>
            </a:r>
            <a:r>
              <a:rPr lang="en-US" baseline="30000" dirty="0"/>
              <a:t>th</a:t>
            </a:r>
            <a:r>
              <a:rPr lang="en-US" dirty="0"/>
              <a:t> row).</a:t>
            </a:r>
          </a:p>
          <a:p>
            <a:pPr marL="742950" lvl="1" indent="-285750">
              <a:lnSpc>
                <a:spcPct val="150000"/>
              </a:lnSpc>
              <a:buFont typeface="Arial" panose="020B0604020202020204" pitchFamily="34" charset="0"/>
              <a:buChar char="•"/>
            </a:pPr>
            <a:r>
              <a:rPr lang="en-US" dirty="0"/>
              <a:t>Parallelism (NUMA/Clusters) – adding more nodes increases Throughput, but managing the communication between them adds Latency (time spent in communication over the network)</a:t>
            </a:r>
          </a:p>
          <a:p>
            <a:pPr marL="742950" lvl="1" indent="-285750">
              <a:lnSpc>
                <a:spcPct val="150000"/>
              </a:lnSpc>
              <a:buFont typeface="Arial" panose="020B0604020202020204" pitchFamily="34" charset="0"/>
              <a:buChar char="•"/>
            </a:pPr>
            <a:r>
              <a:rPr lang="en-US" dirty="0"/>
              <a:t>Data Compression: Compressing data helps it move faster through narrow bandwidth (Throughput), but the CPU must spend time decompressing it (Latency).</a:t>
            </a:r>
            <a:endParaRPr lang="en-LU" dirty="0"/>
          </a:p>
        </p:txBody>
      </p:sp>
    </p:spTree>
    <p:extLst>
      <p:ext uri="{BB962C8B-B14F-4D97-AF65-F5344CB8AC3E}">
        <p14:creationId xmlns:p14="http://schemas.microsoft.com/office/powerpoint/2010/main" val="3123628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5E5048F-B889-20D5-7B76-FA2362CC8F75}"/>
              </a:ext>
            </a:extLst>
          </p:cNvPr>
          <p:cNvSpPr txBox="1"/>
          <p:nvPr/>
        </p:nvSpPr>
        <p:spPr>
          <a:xfrm>
            <a:off x="269822" y="209862"/>
            <a:ext cx="11647358" cy="830997"/>
          </a:xfrm>
          <a:prstGeom prst="rect">
            <a:avLst/>
          </a:prstGeom>
          <a:noFill/>
        </p:spPr>
        <p:txBody>
          <a:bodyPr wrap="square" rtlCol="0">
            <a:spAutoFit/>
          </a:bodyPr>
          <a:lstStyle/>
          <a:p>
            <a:pPr marL="457200" indent="-457200">
              <a:buAutoNum type="arabicPeriod"/>
            </a:pPr>
            <a:r>
              <a:rPr lang="en-LU" sz="2400" dirty="0"/>
              <a:t>Foundations of High-Performance Data Analytics</a:t>
            </a:r>
          </a:p>
          <a:p>
            <a:r>
              <a:rPr lang="en-LU" sz="2400" dirty="0"/>
              <a:t>	</a:t>
            </a:r>
            <a:r>
              <a:rPr lang="en-LU" sz="2000" dirty="0"/>
              <a:t>Performance Fundamentals – Memory-bound vs. compute-bound operations</a:t>
            </a:r>
            <a:endParaRPr lang="en-LU" sz="2400" dirty="0"/>
          </a:p>
        </p:txBody>
      </p:sp>
      <p:sp>
        <p:nvSpPr>
          <p:cNvPr id="5" name="TextBox 4">
            <a:extLst>
              <a:ext uri="{FF2B5EF4-FFF2-40B4-BE49-F238E27FC236}">
                <a16:creationId xmlns:a16="http://schemas.microsoft.com/office/drawing/2014/main" id="{E42FE356-3F67-7204-7CCA-BEE5601B8F97}"/>
              </a:ext>
            </a:extLst>
          </p:cNvPr>
          <p:cNvSpPr txBox="1"/>
          <p:nvPr/>
        </p:nvSpPr>
        <p:spPr>
          <a:xfrm>
            <a:off x="269822" y="1260315"/>
            <a:ext cx="11647358" cy="4801314"/>
          </a:xfrm>
          <a:prstGeom prst="rect">
            <a:avLst/>
          </a:prstGeom>
          <a:noFill/>
        </p:spPr>
        <p:txBody>
          <a:bodyPr wrap="square" rtlCol="0">
            <a:spAutoFit/>
          </a:bodyPr>
          <a:lstStyle/>
          <a:p>
            <a:r>
              <a:rPr lang="en-LU" dirty="0"/>
              <a:t>In HPDA, every task hits the maximum theoretical limit of a system’s performance; Knowing what is the limit is the key to optimization.</a:t>
            </a:r>
          </a:p>
          <a:p>
            <a:endParaRPr lang="en-LU" dirty="0"/>
          </a:p>
          <a:p>
            <a:pPr marL="285750" indent="-285750">
              <a:buFont typeface="Arial" panose="020B0604020202020204" pitchFamily="34" charset="0"/>
              <a:buChar char="•"/>
            </a:pPr>
            <a:r>
              <a:rPr lang="en-LU" dirty="0"/>
              <a:t>Memory-bound operations (the data feeding problem)</a:t>
            </a:r>
          </a:p>
          <a:p>
            <a:pPr marL="742950" lvl="1" indent="-285750">
              <a:buFont typeface="Arial" panose="020B0604020202020204" pitchFamily="34" charset="0"/>
              <a:buChar char="•"/>
            </a:pPr>
            <a:r>
              <a:rPr lang="en-GB" dirty="0"/>
              <a:t>T</a:t>
            </a:r>
            <a:r>
              <a:rPr lang="en-LU" dirty="0"/>
              <a:t>he CPU/GPU is fast enough, but it sends most of its time waiting for data to arrive from RAM</a:t>
            </a:r>
          </a:p>
          <a:p>
            <a:pPr marL="742950" lvl="1" indent="-285750">
              <a:buFont typeface="Arial" panose="020B0604020202020204" pitchFamily="34" charset="0"/>
              <a:buChar char="•"/>
            </a:pPr>
            <a:r>
              <a:rPr lang="en-LU" dirty="0"/>
              <a:t>In HPDA: this is the most common bottleneck for Big Data tasks like SQL joins, data shuffling in Spark, or graph analytics;</a:t>
            </a:r>
          </a:p>
          <a:p>
            <a:pPr marL="742950" lvl="1" indent="-285750">
              <a:buFont typeface="Arial" panose="020B0604020202020204" pitchFamily="34" charset="0"/>
              <a:buChar char="•"/>
            </a:pPr>
            <a:r>
              <a:rPr lang="en-LU" dirty="0"/>
              <a:t>Key indicator: Low CPU utilization despite slow performance; the memory bandwidth is saturated;</a:t>
            </a:r>
          </a:p>
          <a:p>
            <a:pPr marL="742950" lvl="1" indent="-285750">
              <a:buFont typeface="Arial" panose="020B0604020202020204" pitchFamily="34" charset="0"/>
              <a:buChar char="•"/>
            </a:pPr>
            <a:r>
              <a:rPr lang="en-LU" dirty="0"/>
              <a:t>Solution: improve cache locality, user faster memory, or implemetn data compression to reduce the volume moving through the pipe.</a:t>
            </a:r>
          </a:p>
          <a:p>
            <a:pPr lvl="1"/>
            <a:endParaRPr lang="en-LU" dirty="0"/>
          </a:p>
          <a:p>
            <a:pPr marL="285750" indent="-285750">
              <a:buFont typeface="Arial" panose="020B0604020202020204" pitchFamily="34" charset="0"/>
              <a:buChar char="•"/>
            </a:pPr>
            <a:r>
              <a:rPr lang="en-LU" dirty="0"/>
              <a:t>Compute-bound operations (the math problem)</a:t>
            </a:r>
          </a:p>
          <a:p>
            <a:pPr marL="742950" lvl="1" indent="-285750">
              <a:buFont typeface="Arial" panose="020B0604020202020204" pitchFamily="34" charset="0"/>
              <a:buChar char="•"/>
            </a:pPr>
            <a:r>
              <a:rPr lang="en-GB" dirty="0"/>
              <a:t>D</a:t>
            </a:r>
            <a:r>
              <a:rPr lang="en-LU" dirty="0"/>
              <a:t>ata is arriving fast enough, but the processor’s cycles are fully occupied with complex calculations</a:t>
            </a:r>
          </a:p>
          <a:p>
            <a:pPr marL="742950" lvl="1" indent="-285750">
              <a:buFont typeface="Arial" panose="020B0604020202020204" pitchFamily="34" charset="0"/>
              <a:buChar char="•"/>
            </a:pPr>
            <a:r>
              <a:rPr lang="en-LU" dirty="0"/>
              <a:t>In HPDA: Typical for Deep learning training, heavy encryption, or complex scientific simulations (e.g., Monte Carlo)</a:t>
            </a:r>
          </a:p>
          <a:p>
            <a:pPr marL="742950" lvl="1" indent="-285750">
              <a:buFont typeface="Arial" panose="020B0604020202020204" pitchFamily="34" charset="0"/>
              <a:buChar char="•"/>
            </a:pPr>
            <a:r>
              <a:rPr lang="en-LU" dirty="0"/>
              <a:t>Key indicator: CPU/GPU is at 100% utilization; FLOPS is the limit;</a:t>
            </a:r>
          </a:p>
          <a:p>
            <a:pPr marL="742950" lvl="1" indent="-285750">
              <a:buFont typeface="Arial" panose="020B0604020202020204" pitchFamily="34" charset="0"/>
              <a:buChar char="•"/>
            </a:pPr>
            <a:r>
              <a:rPr lang="en-LU" dirty="0"/>
              <a:t>Solution: add more cores, increase clock speed, or use spcialized hardware like Tenosr cores.</a:t>
            </a:r>
          </a:p>
        </p:txBody>
      </p:sp>
    </p:spTree>
    <p:extLst>
      <p:ext uri="{BB962C8B-B14F-4D97-AF65-F5344CB8AC3E}">
        <p14:creationId xmlns:p14="http://schemas.microsoft.com/office/powerpoint/2010/main" val="1453867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827A95-A376-2662-25B1-3E630314322D}"/>
              </a:ext>
            </a:extLst>
          </p:cNvPr>
          <p:cNvSpPr txBox="1"/>
          <p:nvPr/>
        </p:nvSpPr>
        <p:spPr>
          <a:xfrm>
            <a:off x="269822" y="209862"/>
            <a:ext cx="11647358" cy="830997"/>
          </a:xfrm>
          <a:prstGeom prst="rect">
            <a:avLst/>
          </a:prstGeom>
          <a:noFill/>
        </p:spPr>
        <p:txBody>
          <a:bodyPr wrap="square" rtlCol="0">
            <a:spAutoFit/>
          </a:bodyPr>
          <a:lstStyle/>
          <a:p>
            <a:pPr marL="457200" indent="-457200">
              <a:buAutoNum type="arabicPeriod"/>
            </a:pPr>
            <a:r>
              <a:rPr lang="en-LU" sz="2400" dirty="0"/>
              <a:t>Foundations of High-Performance Data Analytics</a:t>
            </a:r>
          </a:p>
          <a:p>
            <a:r>
              <a:rPr lang="en-LU" sz="2400" dirty="0"/>
              <a:t>	</a:t>
            </a:r>
            <a:r>
              <a:rPr lang="en-LU" sz="2000" dirty="0"/>
              <a:t>Performance Fundamentals – Vectorization (SIMD) and why it matters for analytics</a:t>
            </a:r>
            <a:endParaRPr lang="en-LU" sz="2400" dirty="0"/>
          </a:p>
        </p:txBody>
      </p:sp>
      <p:sp>
        <p:nvSpPr>
          <p:cNvPr id="5" name="TextBox 4">
            <a:extLst>
              <a:ext uri="{FF2B5EF4-FFF2-40B4-BE49-F238E27FC236}">
                <a16:creationId xmlns:a16="http://schemas.microsoft.com/office/drawing/2014/main" id="{854EBEA0-1F01-52E2-5D25-BD96A77F9AD9}"/>
              </a:ext>
            </a:extLst>
          </p:cNvPr>
          <p:cNvSpPr txBox="1"/>
          <p:nvPr/>
        </p:nvSpPr>
        <p:spPr>
          <a:xfrm>
            <a:off x="479085" y="1335024"/>
            <a:ext cx="11228832" cy="462286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LU" dirty="0"/>
              <a:t>SIMD stands for Single Instruction, Multiple Data.</a:t>
            </a:r>
          </a:p>
          <a:p>
            <a:pPr marL="285750" indent="-285750">
              <a:lnSpc>
                <a:spcPct val="150000"/>
              </a:lnSpc>
              <a:buFont typeface="Arial" panose="020B0604020202020204" pitchFamily="34" charset="0"/>
              <a:buChar char="•"/>
            </a:pPr>
            <a:r>
              <a:rPr lang="en-LU" dirty="0"/>
              <a:t>Traditional processing (Scalar): the CPU takes one piece of data, performs an operation (like addition), and moves to the next;</a:t>
            </a:r>
          </a:p>
          <a:p>
            <a:pPr marL="285750" indent="-285750">
              <a:lnSpc>
                <a:spcPct val="150000"/>
              </a:lnSpc>
              <a:buFont typeface="Arial" panose="020B0604020202020204" pitchFamily="34" charset="0"/>
              <a:buChar char="•"/>
            </a:pPr>
            <a:r>
              <a:rPr lang="en-LU" dirty="0"/>
              <a:t>Vectorized processing (SIMD): the CPU uses “wide registers” to pack multiple pieces of data together and performs the same operation on all of them in a single clock style.</a:t>
            </a:r>
          </a:p>
          <a:p>
            <a:pPr marL="285750" indent="-285750">
              <a:lnSpc>
                <a:spcPct val="150000"/>
              </a:lnSpc>
              <a:buFont typeface="Arial" panose="020B0604020202020204" pitchFamily="34" charset="0"/>
              <a:buChar char="•"/>
            </a:pPr>
            <a:r>
              <a:rPr lang="en-LU" dirty="0"/>
              <a:t>Why it matters for Analytics?</a:t>
            </a:r>
          </a:p>
          <a:p>
            <a:pPr marL="742950" lvl="1" indent="-285750">
              <a:lnSpc>
                <a:spcPct val="150000"/>
              </a:lnSpc>
              <a:buFont typeface="Arial" panose="020B0604020202020204" pitchFamily="34" charset="0"/>
              <a:buChar char="•"/>
            </a:pPr>
            <a:r>
              <a:rPr lang="en-LU" dirty="0"/>
              <a:t>HPDA involves performing the same simple math on millions or billions of rows.</a:t>
            </a:r>
          </a:p>
          <a:p>
            <a:pPr marL="742950" lvl="1" indent="-285750">
              <a:lnSpc>
                <a:spcPct val="150000"/>
              </a:lnSpc>
              <a:buFont typeface="Arial" panose="020B0604020202020204" pitchFamily="34" charset="0"/>
              <a:buChar char="•"/>
            </a:pPr>
            <a:r>
              <a:rPr lang="en-LU" dirty="0"/>
              <a:t>Massive speedup: Modern CPUs can process up to 16 or 32 floating-point numbers at once; this can theoretically make your code 16x faster instantly.</a:t>
            </a:r>
          </a:p>
          <a:p>
            <a:pPr marL="742950" lvl="1" indent="-285750">
              <a:lnSpc>
                <a:spcPct val="150000"/>
              </a:lnSpc>
              <a:buFont typeface="Arial" panose="020B0604020202020204" pitchFamily="34" charset="0"/>
              <a:buChar char="•"/>
            </a:pPr>
            <a:r>
              <a:rPr lang="en-LU" dirty="0"/>
              <a:t>Efficiency: because the CPU does more work per instruction, it uses less energy and generates less heat for the same amount of data.</a:t>
            </a:r>
          </a:p>
        </p:txBody>
      </p:sp>
    </p:spTree>
    <p:extLst>
      <p:ext uri="{BB962C8B-B14F-4D97-AF65-F5344CB8AC3E}">
        <p14:creationId xmlns:p14="http://schemas.microsoft.com/office/powerpoint/2010/main" val="2714708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1FF1417-CF8D-896F-F7D5-F07813096EB7}"/>
              </a:ext>
            </a:extLst>
          </p:cNvPr>
          <p:cNvSpPr txBox="1"/>
          <p:nvPr/>
        </p:nvSpPr>
        <p:spPr>
          <a:xfrm>
            <a:off x="269822" y="209862"/>
            <a:ext cx="11647358" cy="830997"/>
          </a:xfrm>
          <a:prstGeom prst="rect">
            <a:avLst/>
          </a:prstGeom>
          <a:noFill/>
        </p:spPr>
        <p:txBody>
          <a:bodyPr wrap="square" rtlCol="0">
            <a:spAutoFit/>
          </a:bodyPr>
          <a:lstStyle/>
          <a:p>
            <a:pPr marL="457200" indent="-457200">
              <a:buAutoNum type="arabicPeriod"/>
            </a:pPr>
            <a:r>
              <a:rPr lang="en-LU" sz="2400" dirty="0"/>
              <a:t>Foundations of High-Performance Data Analytics</a:t>
            </a:r>
          </a:p>
          <a:p>
            <a:r>
              <a:rPr lang="en-LU" sz="2400" dirty="0"/>
              <a:t>	</a:t>
            </a:r>
            <a:r>
              <a:rPr lang="en-LU" sz="2000" dirty="0"/>
              <a:t>Performance Fundamentals – Vectorization (SIMD) and why it matters for analytics</a:t>
            </a:r>
            <a:endParaRPr lang="en-LU" sz="2400" dirty="0"/>
          </a:p>
        </p:txBody>
      </p:sp>
      <p:sp>
        <p:nvSpPr>
          <p:cNvPr id="5" name="TextBox 4">
            <a:extLst>
              <a:ext uri="{FF2B5EF4-FFF2-40B4-BE49-F238E27FC236}">
                <a16:creationId xmlns:a16="http://schemas.microsoft.com/office/drawing/2014/main" id="{7B78E693-5887-E2B3-91E5-0D0E87BA74FC}"/>
              </a:ext>
            </a:extLst>
          </p:cNvPr>
          <p:cNvSpPr txBox="1"/>
          <p:nvPr/>
        </p:nvSpPr>
        <p:spPr>
          <a:xfrm>
            <a:off x="269822" y="1040859"/>
            <a:ext cx="11324770" cy="3376374"/>
          </a:xfrm>
          <a:prstGeom prst="rect">
            <a:avLst/>
          </a:prstGeom>
          <a:noFill/>
        </p:spPr>
        <p:txBody>
          <a:bodyPr wrap="square" rtlCol="0">
            <a:spAutoFit/>
          </a:bodyPr>
          <a:lstStyle/>
          <a:p>
            <a:pPr>
              <a:lnSpc>
                <a:spcPct val="150000"/>
              </a:lnSpc>
            </a:pPr>
            <a:r>
              <a:rPr lang="en-LU" dirty="0"/>
              <a:t>How HPDA engines use vectorization?</a:t>
            </a:r>
          </a:p>
          <a:p>
            <a:pPr marL="285750" indent="-285750">
              <a:lnSpc>
                <a:spcPct val="150000"/>
              </a:lnSpc>
              <a:buFont typeface="Arial" panose="020B0604020202020204" pitchFamily="34" charset="0"/>
              <a:buChar char="•"/>
            </a:pPr>
            <a:r>
              <a:rPr lang="en-LU" dirty="0"/>
              <a:t>Columnar databases: engines store data in columns so the CPU can grab a “vector” of similar values and use SIMD to scan them fast.</a:t>
            </a:r>
          </a:p>
          <a:p>
            <a:pPr marL="285750" indent="-285750">
              <a:lnSpc>
                <a:spcPct val="150000"/>
              </a:lnSpc>
              <a:buFont typeface="Arial" panose="020B0604020202020204" pitchFamily="34" charset="0"/>
              <a:buChar char="•"/>
            </a:pPr>
            <a:r>
              <a:rPr lang="en-LU" dirty="0"/>
              <a:t>Machine Learning: libraries like NumPy or PyTorch are fast because they are ectorized – they offload math to SIMD instructions under the hood.</a:t>
            </a:r>
          </a:p>
          <a:p>
            <a:pPr marL="285750" indent="-285750">
              <a:lnSpc>
                <a:spcPct val="150000"/>
              </a:lnSpc>
              <a:buFont typeface="Arial" panose="020B0604020202020204" pitchFamily="34" charset="0"/>
              <a:buChar char="•"/>
            </a:pPr>
            <a:r>
              <a:rPr lang="en-LU" dirty="0"/>
              <a:t>While memory bandwidth is slow, vectorization ensures that once data reaches the CPU, it is processed with maximum efficiency, leaving no compute cycle wasted.</a:t>
            </a:r>
          </a:p>
          <a:p>
            <a:pPr>
              <a:lnSpc>
                <a:spcPct val="150000"/>
              </a:lnSpc>
            </a:pPr>
            <a:endParaRPr lang="en-LU" dirty="0"/>
          </a:p>
        </p:txBody>
      </p:sp>
      <p:graphicFrame>
        <p:nvGraphicFramePr>
          <p:cNvPr id="6" name="Table 5">
            <a:extLst>
              <a:ext uri="{FF2B5EF4-FFF2-40B4-BE49-F238E27FC236}">
                <a16:creationId xmlns:a16="http://schemas.microsoft.com/office/drawing/2014/main" id="{41220901-313C-BDFC-A2D9-DB42AD8A6A73}"/>
              </a:ext>
            </a:extLst>
          </p:cNvPr>
          <p:cNvGraphicFramePr>
            <a:graphicFrameLocks noGrp="1"/>
          </p:cNvGraphicFramePr>
          <p:nvPr>
            <p:extLst>
              <p:ext uri="{D42A27DB-BD31-4B8C-83A1-F6EECF244321}">
                <p14:modId xmlns:p14="http://schemas.microsoft.com/office/powerpoint/2010/main" val="3548366442"/>
              </p:ext>
            </p:extLst>
          </p:nvPr>
        </p:nvGraphicFramePr>
        <p:xfrm>
          <a:off x="2029501" y="4417233"/>
          <a:ext cx="8127999" cy="175260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3462527226"/>
                    </a:ext>
                  </a:extLst>
                </a:gridCol>
                <a:gridCol w="2709333">
                  <a:extLst>
                    <a:ext uri="{9D8B030D-6E8A-4147-A177-3AD203B41FA5}">
                      <a16:colId xmlns:a16="http://schemas.microsoft.com/office/drawing/2014/main" val="773425270"/>
                    </a:ext>
                  </a:extLst>
                </a:gridCol>
                <a:gridCol w="2709333">
                  <a:extLst>
                    <a:ext uri="{9D8B030D-6E8A-4147-A177-3AD203B41FA5}">
                      <a16:colId xmlns:a16="http://schemas.microsoft.com/office/drawing/2014/main" val="3463216027"/>
                    </a:ext>
                  </a:extLst>
                </a:gridCol>
              </a:tblGrid>
              <a:tr h="370840">
                <a:tc>
                  <a:txBody>
                    <a:bodyPr/>
                    <a:lstStyle/>
                    <a:p>
                      <a:r>
                        <a:rPr lang="en-LU" dirty="0"/>
                        <a:t>Feature</a:t>
                      </a:r>
                    </a:p>
                  </a:txBody>
                  <a:tcPr/>
                </a:tc>
                <a:tc>
                  <a:txBody>
                    <a:bodyPr/>
                    <a:lstStyle/>
                    <a:p>
                      <a:r>
                        <a:rPr lang="en-LU" dirty="0"/>
                        <a:t>Scalar (Standard)</a:t>
                      </a:r>
                    </a:p>
                  </a:txBody>
                  <a:tcPr/>
                </a:tc>
                <a:tc>
                  <a:txBody>
                    <a:bodyPr/>
                    <a:lstStyle/>
                    <a:p>
                      <a:r>
                        <a:rPr lang="en-LU" dirty="0"/>
                        <a:t>Vectorized (SIMD)</a:t>
                      </a:r>
                    </a:p>
                  </a:txBody>
                  <a:tcPr/>
                </a:tc>
                <a:extLst>
                  <a:ext uri="{0D108BD9-81ED-4DB2-BD59-A6C34878D82A}">
                    <a16:rowId xmlns:a16="http://schemas.microsoft.com/office/drawing/2014/main" val="3635464470"/>
                  </a:ext>
                </a:extLst>
              </a:tr>
              <a:tr h="370840">
                <a:tc>
                  <a:txBody>
                    <a:bodyPr/>
                    <a:lstStyle/>
                    <a:p>
                      <a:r>
                        <a:rPr lang="en-LU" dirty="0"/>
                        <a:t>Data per cycle</a:t>
                      </a:r>
                    </a:p>
                  </a:txBody>
                  <a:tcPr/>
                </a:tc>
                <a:tc>
                  <a:txBody>
                    <a:bodyPr/>
                    <a:lstStyle/>
                    <a:p>
                      <a:r>
                        <a:rPr lang="en-LU" dirty="0"/>
                        <a:t>1 value</a:t>
                      </a:r>
                    </a:p>
                  </a:txBody>
                  <a:tcPr/>
                </a:tc>
                <a:tc>
                  <a:txBody>
                    <a:bodyPr/>
                    <a:lstStyle/>
                    <a:p>
                      <a:r>
                        <a:rPr lang="en-LU" dirty="0"/>
                        <a:t>8, 16, or 32 values</a:t>
                      </a:r>
                    </a:p>
                  </a:txBody>
                  <a:tcPr/>
                </a:tc>
                <a:extLst>
                  <a:ext uri="{0D108BD9-81ED-4DB2-BD59-A6C34878D82A}">
                    <a16:rowId xmlns:a16="http://schemas.microsoft.com/office/drawing/2014/main" val="3346410791"/>
                  </a:ext>
                </a:extLst>
              </a:tr>
              <a:tr h="370840">
                <a:tc>
                  <a:txBody>
                    <a:bodyPr/>
                    <a:lstStyle/>
                    <a:p>
                      <a:r>
                        <a:rPr lang="en-LU" dirty="0"/>
                        <a:t>Instruction count</a:t>
                      </a:r>
                    </a:p>
                  </a:txBody>
                  <a:tcPr/>
                </a:tc>
                <a:tc>
                  <a:txBody>
                    <a:bodyPr/>
                    <a:lstStyle/>
                    <a:p>
                      <a:r>
                        <a:rPr lang="en-GB" dirty="0"/>
                        <a:t>H</a:t>
                      </a:r>
                      <a:r>
                        <a:rPr lang="en-LU" dirty="0"/>
                        <a:t>igh</a:t>
                      </a:r>
                    </a:p>
                  </a:txBody>
                  <a:tcPr/>
                </a:tc>
                <a:tc>
                  <a:txBody>
                    <a:bodyPr/>
                    <a:lstStyle/>
                    <a:p>
                      <a:r>
                        <a:rPr lang="en-GB" dirty="0"/>
                        <a:t>V</a:t>
                      </a:r>
                      <a:r>
                        <a:rPr lang="en-LU" dirty="0"/>
                        <a:t>ery low</a:t>
                      </a:r>
                    </a:p>
                  </a:txBody>
                  <a:tcPr/>
                </a:tc>
                <a:extLst>
                  <a:ext uri="{0D108BD9-81ED-4DB2-BD59-A6C34878D82A}">
                    <a16:rowId xmlns:a16="http://schemas.microsoft.com/office/drawing/2014/main" val="2234847635"/>
                  </a:ext>
                </a:extLst>
              </a:tr>
              <a:tr h="370840">
                <a:tc>
                  <a:txBody>
                    <a:bodyPr/>
                    <a:lstStyle/>
                    <a:p>
                      <a:r>
                        <a:rPr lang="en-LU" dirty="0"/>
                        <a:t>Best for</a:t>
                      </a:r>
                    </a:p>
                  </a:txBody>
                  <a:tcPr/>
                </a:tc>
                <a:tc>
                  <a:txBody>
                    <a:bodyPr/>
                    <a:lstStyle/>
                    <a:p>
                      <a:r>
                        <a:rPr lang="en-GB" dirty="0"/>
                        <a:t>C</a:t>
                      </a:r>
                      <a:r>
                        <a:rPr lang="en-LU" dirty="0"/>
                        <a:t>omplex logic (if/else)</a:t>
                      </a:r>
                    </a:p>
                  </a:txBody>
                  <a:tcPr/>
                </a:tc>
                <a:tc>
                  <a:txBody>
                    <a:bodyPr/>
                    <a:lstStyle/>
                    <a:p>
                      <a:r>
                        <a:rPr lang="en-GB" dirty="0"/>
                        <a:t>B</a:t>
                      </a:r>
                      <a:r>
                        <a:rPr lang="en-LU" dirty="0"/>
                        <a:t>ulk math and data scanning</a:t>
                      </a:r>
                    </a:p>
                  </a:txBody>
                  <a:tcPr/>
                </a:tc>
                <a:extLst>
                  <a:ext uri="{0D108BD9-81ED-4DB2-BD59-A6C34878D82A}">
                    <a16:rowId xmlns:a16="http://schemas.microsoft.com/office/drawing/2014/main" val="620842766"/>
                  </a:ext>
                </a:extLst>
              </a:tr>
            </a:tbl>
          </a:graphicData>
        </a:graphic>
      </p:graphicFrame>
    </p:spTree>
    <p:extLst>
      <p:ext uri="{BB962C8B-B14F-4D97-AF65-F5344CB8AC3E}">
        <p14:creationId xmlns:p14="http://schemas.microsoft.com/office/powerpoint/2010/main" val="1820834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636184-DF15-5A8A-0AEC-E0BECF7D74F5}"/>
              </a:ext>
            </a:extLst>
          </p:cNvPr>
          <p:cNvSpPr txBox="1"/>
          <p:nvPr/>
        </p:nvSpPr>
        <p:spPr>
          <a:xfrm>
            <a:off x="269822" y="209862"/>
            <a:ext cx="11647358" cy="830997"/>
          </a:xfrm>
          <a:prstGeom prst="rect">
            <a:avLst/>
          </a:prstGeom>
          <a:noFill/>
        </p:spPr>
        <p:txBody>
          <a:bodyPr wrap="square" rtlCol="0">
            <a:spAutoFit/>
          </a:bodyPr>
          <a:lstStyle/>
          <a:p>
            <a:pPr marL="457200" indent="-457200">
              <a:buAutoNum type="arabicPeriod"/>
            </a:pPr>
            <a:r>
              <a:rPr lang="en-LU" sz="2400" dirty="0"/>
              <a:t>Foundations of High-Performance Data Analytics</a:t>
            </a:r>
          </a:p>
          <a:p>
            <a:r>
              <a:rPr lang="en-LU" sz="2400" dirty="0"/>
              <a:t>	</a:t>
            </a:r>
            <a:r>
              <a:rPr lang="en-LU" sz="2000" dirty="0"/>
              <a:t>Performance Fundamentals – Data Locality and cache-friendly algorithms</a:t>
            </a:r>
            <a:endParaRPr lang="en-LU" sz="2400" dirty="0"/>
          </a:p>
        </p:txBody>
      </p:sp>
      <p:sp>
        <p:nvSpPr>
          <p:cNvPr id="5" name="TextBox 4">
            <a:extLst>
              <a:ext uri="{FF2B5EF4-FFF2-40B4-BE49-F238E27FC236}">
                <a16:creationId xmlns:a16="http://schemas.microsoft.com/office/drawing/2014/main" id="{59D49004-23F0-752B-2709-FFCD3E2B703D}"/>
              </a:ext>
            </a:extLst>
          </p:cNvPr>
          <p:cNvSpPr txBox="1"/>
          <p:nvPr/>
        </p:nvSpPr>
        <p:spPr>
          <a:xfrm>
            <a:off x="273820" y="1040859"/>
            <a:ext cx="11643360" cy="5078313"/>
          </a:xfrm>
          <a:prstGeom prst="rect">
            <a:avLst/>
          </a:prstGeom>
          <a:noFill/>
        </p:spPr>
        <p:txBody>
          <a:bodyPr wrap="square" rtlCol="0">
            <a:spAutoFit/>
          </a:bodyPr>
          <a:lstStyle/>
          <a:p>
            <a:pPr marL="285750" indent="-285750">
              <a:buFont typeface="Arial" panose="020B0604020202020204" pitchFamily="34" charset="0"/>
              <a:buChar char="•"/>
            </a:pPr>
            <a:r>
              <a:rPr lang="en-LU" dirty="0"/>
              <a:t>The concept is keep the data close</a:t>
            </a:r>
          </a:p>
          <a:p>
            <a:pPr marL="742950" lvl="1" indent="-285750">
              <a:buFont typeface="Arial" panose="020B0604020202020204" pitchFamily="34" charset="0"/>
              <a:buChar char="•"/>
            </a:pPr>
            <a:r>
              <a:rPr lang="en-GB" dirty="0"/>
              <a:t>S</a:t>
            </a:r>
            <a:r>
              <a:rPr lang="en-LU" dirty="0"/>
              <a:t>patial locality: organizing data so that items used together are stored next to each other in memory. When the CPU fetches one byte, it automatically pulls the entire cache line into the fast cache.</a:t>
            </a:r>
          </a:p>
          <a:p>
            <a:pPr marL="742950" lvl="1" indent="-285750">
              <a:buFont typeface="Arial" panose="020B0604020202020204" pitchFamily="34" charset="0"/>
              <a:buChar char="•"/>
            </a:pPr>
            <a:r>
              <a:rPr lang="en-LU" dirty="0"/>
              <a:t>Temporal locality:  reusing the same piece of data multiple times while it is s</a:t>
            </a:r>
            <a:r>
              <a:rPr lang="en-GB" dirty="0" err="1"/>
              <a:t>ti</a:t>
            </a:r>
            <a:r>
              <a:rPr lang="en-LU" dirty="0"/>
              <a:t>ll sitting in the cache, before it gets evicted by new data.</a:t>
            </a:r>
          </a:p>
          <a:p>
            <a:pPr marL="285750" indent="-285750">
              <a:buFont typeface="Arial" panose="020B0604020202020204" pitchFamily="34" charset="0"/>
              <a:buChar char="•"/>
            </a:pPr>
            <a:r>
              <a:rPr lang="en-LU" dirty="0"/>
              <a:t>Cache-friendliness is vital for HPDA:</a:t>
            </a:r>
          </a:p>
          <a:p>
            <a:pPr marL="742950" lvl="1" indent="-285750">
              <a:buFont typeface="Arial" panose="020B0604020202020204" pitchFamily="34" charset="0"/>
              <a:buChar char="•"/>
            </a:pPr>
            <a:r>
              <a:rPr lang="en-GB" dirty="0"/>
              <a:t>T</a:t>
            </a:r>
            <a:r>
              <a:rPr lang="en-LU" dirty="0"/>
              <a:t>he latency gap: accessing L1 cache takes ~ 1ns, while accessing RAM takes ~100 ns; failing to find data in cache is a massive performance penalty.</a:t>
            </a:r>
          </a:p>
          <a:p>
            <a:pPr marL="742950" lvl="1" indent="-285750">
              <a:buFont typeface="Arial" panose="020B0604020202020204" pitchFamily="34" charset="0"/>
              <a:buChar char="•"/>
            </a:pPr>
            <a:r>
              <a:rPr lang="en-LU" dirty="0"/>
              <a:t>Linear vs Random Access:</a:t>
            </a:r>
          </a:p>
          <a:p>
            <a:pPr marL="1200150" lvl="2" indent="-285750">
              <a:buFont typeface="Arial" panose="020B0604020202020204" pitchFamily="34" charset="0"/>
              <a:buChar char="•"/>
            </a:pPr>
            <a:r>
              <a:rPr lang="en-GB" dirty="0"/>
              <a:t>L</a:t>
            </a:r>
            <a:r>
              <a:rPr lang="en-LU" dirty="0"/>
              <a:t>inear – processing a list in order; the CPU predicts the next item and pre-fetches it;</a:t>
            </a:r>
          </a:p>
          <a:p>
            <a:pPr marL="1200150" lvl="2" indent="-285750">
              <a:buFont typeface="Arial" panose="020B0604020202020204" pitchFamily="34" charset="0"/>
              <a:buChar char="•"/>
            </a:pPr>
            <a:r>
              <a:rPr lang="en-LU" dirty="0"/>
              <a:t>Random – jumping around memory – this forces the CPU to wait for RAM every single time;</a:t>
            </a:r>
          </a:p>
          <a:p>
            <a:pPr marL="742950" lvl="1" indent="-285750">
              <a:buFont typeface="Arial" panose="020B0604020202020204" pitchFamily="34" charset="0"/>
              <a:buChar char="•"/>
            </a:pPr>
            <a:r>
              <a:rPr lang="en-LU" dirty="0"/>
              <a:t>Key strategies for cache-friendly analytics:</a:t>
            </a:r>
          </a:p>
          <a:p>
            <a:pPr marL="1200150" lvl="2" indent="-285750">
              <a:buFont typeface="Arial" panose="020B0604020202020204" pitchFamily="34" charset="0"/>
              <a:buChar char="•"/>
            </a:pPr>
            <a:r>
              <a:rPr lang="en-GB" dirty="0"/>
              <a:t>U</a:t>
            </a:r>
            <a:r>
              <a:rPr lang="en-LU" dirty="0"/>
              <a:t>sing arrays, not linked lists = arrays store data in continuous blocks, making them perfect for spatial locality and SIMD vectorization;</a:t>
            </a:r>
          </a:p>
          <a:p>
            <a:pPr marL="1200150" lvl="2" indent="-285750">
              <a:buFont typeface="Arial" panose="020B0604020202020204" pitchFamily="34" charset="0"/>
              <a:buChar char="•"/>
            </a:pPr>
            <a:r>
              <a:rPr lang="en-LU" dirty="0"/>
              <a:t>Columnar storage: storing data by columns ensures the cache is not wasted on neighboring data we do not plan to use;</a:t>
            </a:r>
          </a:p>
          <a:p>
            <a:pPr marL="1200150" lvl="2" indent="-285750">
              <a:buFont typeface="Arial" panose="020B0604020202020204" pitchFamily="34" charset="0"/>
              <a:buChar char="•"/>
            </a:pPr>
            <a:r>
              <a:rPr lang="en-GB" dirty="0"/>
              <a:t>L</a:t>
            </a:r>
            <a:r>
              <a:rPr lang="en-LU" dirty="0"/>
              <a:t>oop tiling = breaking giant datasets into small tiles that fit entirely within the L3 cache. The CPU finishes all work on one tile before moving to the next.</a:t>
            </a:r>
          </a:p>
        </p:txBody>
      </p:sp>
      <p:sp>
        <p:nvSpPr>
          <p:cNvPr id="6" name="TextBox 5">
            <a:extLst>
              <a:ext uri="{FF2B5EF4-FFF2-40B4-BE49-F238E27FC236}">
                <a16:creationId xmlns:a16="http://schemas.microsoft.com/office/drawing/2014/main" id="{0DD53627-A791-18DF-B7EC-7E3D46BC3802}"/>
              </a:ext>
            </a:extLst>
          </p:cNvPr>
          <p:cNvSpPr txBox="1"/>
          <p:nvPr/>
        </p:nvSpPr>
        <p:spPr>
          <a:xfrm>
            <a:off x="269822" y="6131209"/>
            <a:ext cx="11442192" cy="646331"/>
          </a:xfrm>
          <a:prstGeom prst="rect">
            <a:avLst/>
          </a:prstGeom>
          <a:noFill/>
        </p:spPr>
        <p:txBody>
          <a:bodyPr wrap="square" rtlCol="0">
            <a:spAutoFit/>
          </a:bodyPr>
          <a:lstStyle/>
          <a:p>
            <a:r>
              <a:rPr lang="en-LU" dirty="0"/>
              <a:t>The best way to speed up an algorithm is to stop moving data: cache-friendly alg minimize data movement, ensuring the CPU stays at 100% efficiency by working on data that is already local.</a:t>
            </a:r>
          </a:p>
        </p:txBody>
      </p:sp>
    </p:spTree>
    <p:extLst>
      <p:ext uri="{BB962C8B-B14F-4D97-AF65-F5344CB8AC3E}">
        <p14:creationId xmlns:p14="http://schemas.microsoft.com/office/powerpoint/2010/main" val="2421901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E6C5E41-AB48-B4FD-BC5B-12664BF94B78}"/>
              </a:ext>
            </a:extLst>
          </p:cNvPr>
          <p:cNvSpPr txBox="1"/>
          <p:nvPr/>
        </p:nvSpPr>
        <p:spPr>
          <a:xfrm>
            <a:off x="269822" y="209862"/>
            <a:ext cx="11647358" cy="461665"/>
          </a:xfrm>
          <a:prstGeom prst="rect">
            <a:avLst/>
          </a:prstGeom>
          <a:noFill/>
        </p:spPr>
        <p:txBody>
          <a:bodyPr wrap="square" rtlCol="0">
            <a:spAutoFit/>
          </a:bodyPr>
          <a:lstStyle/>
          <a:p>
            <a:pPr marL="457200" indent="-457200">
              <a:buAutoNum type="arabicPeriod"/>
            </a:pPr>
            <a:r>
              <a:rPr lang="en-LU" sz="2400" dirty="0"/>
              <a:t>Conclusion – Bridging the gap between hardware and insights</a:t>
            </a:r>
          </a:p>
        </p:txBody>
      </p:sp>
      <p:sp>
        <p:nvSpPr>
          <p:cNvPr id="5" name="TextBox 4">
            <a:extLst>
              <a:ext uri="{FF2B5EF4-FFF2-40B4-BE49-F238E27FC236}">
                <a16:creationId xmlns:a16="http://schemas.microsoft.com/office/drawing/2014/main" id="{F5B2425B-0B0E-88CA-6E5A-B702D5D8F40E}"/>
              </a:ext>
            </a:extLst>
          </p:cNvPr>
          <p:cNvSpPr txBox="1"/>
          <p:nvPr/>
        </p:nvSpPr>
        <p:spPr>
          <a:xfrm>
            <a:off x="269822" y="1060704"/>
            <a:ext cx="11343058" cy="503836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LU" dirty="0"/>
              <a:t>Hardware is the foundation: the real-time insights on big data cannot be achieved without optimizing for the L1/L2/L3 cache and NUMA architecture. Every cache missing or Remote Memory Access is a direct delay in decision-making.</a:t>
            </a:r>
          </a:p>
          <a:p>
            <a:pPr marL="285750" indent="-285750">
              <a:lnSpc>
                <a:spcPct val="150000"/>
              </a:lnSpc>
              <a:buFont typeface="Arial" panose="020B0604020202020204" pitchFamily="34" charset="0"/>
              <a:buChar char="•"/>
            </a:pPr>
            <a:r>
              <a:rPr lang="en-GB" dirty="0"/>
              <a:t>T</a:t>
            </a:r>
            <a:r>
              <a:rPr lang="en-LU" dirty="0"/>
              <a:t>he chllenge is rarely “not enough CPU pwer”, but the Memory Wall. Success depends on maximizing Memory Bandwidth and reducing data movement.</a:t>
            </a:r>
          </a:p>
          <a:p>
            <a:pPr marL="285750" indent="-285750">
              <a:lnSpc>
                <a:spcPct val="150000"/>
              </a:lnSpc>
              <a:buFont typeface="Arial" panose="020B0604020202020204" pitchFamily="34" charset="0"/>
              <a:buChar char="•"/>
            </a:pPr>
            <a:r>
              <a:rPr lang="en-LU" dirty="0"/>
              <a:t>Efficiency via Specialization:</a:t>
            </a:r>
          </a:p>
          <a:p>
            <a:pPr marL="742950" lvl="1" indent="-285750">
              <a:lnSpc>
                <a:spcPct val="150000"/>
              </a:lnSpc>
              <a:buFont typeface="Arial" panose="020B0604020202020204" pitchFamily="34" charset="0"/>
              <a:buChar char="•"/>
            </a:pPr>
            <a:r>
              <a:rPr lang="en-GB" dirty="0"/>
              <a:t>U</a:t>
            </a:r>
            <a:r>
              <a:rPr lang="en-LU" dirty="0"/>
              <a:t>se vectorization (SIMD) to do more with every clock cycle;</a:t>
            </a:r>
          </a:p>
          <a:p>
            <a:pPr marL="742950" lvl="1" indent="-285750">
              <a:lnSpc>
                <a:spcPct val="150000"/>
              </a:lnSpc>
              <a:buFont typeface="Arial" panose="020B0604020202020204" pitchFamily="34" charset="0"/>
              <a:buChar char="•"/>
            </a:pPr>
            <a:r>
              <a:rPr lang="en-LU" dirty="0"/>
              <a:t>Use InfiniBand to turn separate servers into a single, low-latency compute engine.</a:t>
            </a:r>
          </a:p>
          <a:p>
            <a:pPr marL="285750" indent="-285750">
              <a:lnSpc>
                <a:spcPct val="150000"/>
              </a:lnSpc>
              <a:buFont typeface="Arial" panose="020B0604020202020204" pitchFamily="34" charset="0"/>
              <a:buChar char="•"/>
            </a:pPr>
            <a:r>
              <a:rPr lang="en-LU" dirty="0"/>
              <a:t>Algorithms must be hardware aware – the fastest software is designed with Data Locality in mind; writing code that is friendly to the cache and the memory controller is the only way to achieve 10x-100x performance gains.</a:t>
            </a:r>
          </a:p>
          <a:p>
            <a:pPr marL="285750" indent="-285750">
              <a:lnSpc>
                <a:spcPct val="150000"/>
              </a:lnSpc>
              <a:buFont typeface="Arial" panose="020B0604020202020204" pitchFamily="34" charset="0"/>
              <a:buChar char="•"/>
            </a:pPr>
            <a:endParaRPr lang="en-LU" dirty="0"/>
          </a:p>
          <a:p>
            <a:pPr marL="285750" indent="-285750">
              <a:lnSpc>
                <a:spcPct val="150000"/>
              </a:lnSpc>
              <a:buFont typeface="Arial" panose="020B0604020202020204" pitchFamily="34" charset="0"/>
              <a:buChar char="•"/>
            </a:pPr>
            <a:r>
              <a:rPr lang="en-LU" dirty="0"/>
              <a:t>Performance is not just about how fast you can compute, but about how little time you spend waiting for data.</a:t>
            </a:r>
          </a:p>
        </p:txBody>
      </p:sp>
    </p:spTree>
    <p:extLst>
      <p:ext uri="{BB962C8B-B14F-4D97-AF65-F5344CB8AC3E}">
        <p14:creationId xmlns:p14="http://schemas.microsoft.com/office/powerpoint/2010/main" val="1868059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D9EA53-442E-6683-33F7-11E81EE645D3}"/>
              </a:ext>
            </a:extLst>
          </p:cNvPr>
          <p:cNvSpPr txBox="1"/>
          <p:nvPr/>
        </p:nvSpPr>
        <p:spPr>
          <a:xfrm>
            <a:off x="269822" y="209862"/>
            <a:ext cx="11647358" cy="461665"/>
          </a:xfrm>
          <a:prstGeom prst="rect">
            <a:avLst/>
          </a:prstGeom>
          <a:noFill/>
        </p:spPr>
        <p:txBody>
          <a:bodyPr wrap="square" rtlCol="0">
            <a:spAutoFit/>
          </a:bodyPr>
          <a:lstStyle/>
          <a:p>
            <a:pPr marL="457200" indent="-457200">
              <a:buAutoNum type="arabicPeriod"/>
            </a:pPr>
            <a:r>
              <a:rPr lang="en-LU" sz="2400" dirty="0"/>
              <a:t>Exercise 1 – Finding bottlenecks: why profiling matters</a:t>
            </a:r>
          </a:p>
        </p:txBody>
      </p:sp>
      <p:sp>
        <p:nvSpPr>
          <p:cNvPr id="5" name="TextBox 4">
            <a:extLst>
              <a:ext uri="{FF2B5EF4-FFF2-40B4-BE49-F238E27FC236}">
                <a16:creationId xmlns:a16="http://schemas.microsoft.com/office/drawing/2014/main" id="{1A181532-EE17-76C7-4CD5-EB340ADAD3A6}"/>
              </a:ext>
            </a:extLst>
          </p:cNvPr>
          <p:cNvSpPr txBox="1"/>
          <p:nvPr/>
        </p:nvSpPr>
        <p:spPr>
          <a:xfrm>
            <a:off x="269822" y="864973"/>
            <a:ext cx="11647358" cy="5909310"/>
          </a:xfrm>
          <a:prstGeom prst="rect">
            <a:avLst/>
          </a:prstGeom>
          <a:noFill/>
        </p:spPr>
        <p:txBody>
          <a:bodyPr wrap="square" rtlCol="0">
            <a:spAutoFit/>
          </a:bodyPr>
          <a:lstStyle/>
          <a:p>
            <a:r>
              <a:rPr lang="en-LU" dirty="0"/>
              <a:t>Before optimization, it is needed to find bottlenecks first and this is Profiling. Profiling means measuring where time and memory are spent in a program, or measuring the behavior of a program during execution.</a:t>
            </a:r>
          </a:p>
          <a:p>
            <a:endParaRPr lang="en-LU" dirty="0"/>
          </a:p>
          <a:p>
            <a:r>
              <a:rPr lang="en-LU" dirty="0"/>
              <a:t>In large-scale analytics: datasets are large, operations are complex, multiple steps interact (I/O, compute, memory).</a:t>
            </a:r>
          </a:p>
          <a:p>
            <a:endParaRPr lang="en-LU" dirty="0"/>
          </a:p>
          <a:p>
            <a:r>
              <a:rPr lang="en-LU" dirty="0"/>
              <a:t>It is often needed to optimize the bottleneck and not the entire code.</a:t>
            </a:r>
          </a:p>
          <a:p>
            <a:endParaRPr lang="en-LU" dirty="0"/>
          </a:p>
          <a:p>
            <a:r>
              <a:rPr lang="en-LU" dirty="0"/>
              <a:t>Tools we use in this exercise:</a:t>
            </a:r>
          </a:p>
          <a:p>
            <a:pPr marL="285750" indent="-285750">
              <a:buFont typeface="Arial" panose="020B0604020202020204" pitchFamily="34" charset="0"/>
              <a:buChar char="•"/>
            </a:pPr>
            <a:r>
              <a:rPr lang="en-LU" dirty="0"/>
              <a:t>cProfile:</a:t>
            </a:r>
          </a:p>
          <a:p>
            <a:pPr marL="742950" lvl="1" indent="-285750">
              <a:buFont typeface="Arial" panose="020B0604020202020204" pitchFamily="34" charset="0"/>
              <a:buChar char="•"/>
            </a:pPr>
            <a:r>
              <a:rPr lang="en-GB" dirty="0"/>
              <a:t>M</a:t>
            </a:r>
            <a:r>
              <a:rPr lang="en-LU" dirty="0"/>
              <a:t>easures how much CPU time each function consumes</a:t>
            </a:r>
          </a:p>
          <a:p>
            <a:pPr marL="742950" lvl="1" indent="-285750">
              <a:buFont typeface="Arial" panose="020B0604020202020204" pitchFamily="34" charset="0"/>
              <a:buChar char="•"/>
            </a:pPr>
            <a:r>
              <a:rPr lang="en-GB" dirty="0"/>
              <a:t>H</a:t>
            </a:r>
            <a:r>
              <a:rPr lang="en-LU" dirty="0"/>
              <a:t>elps identify where computation is happening</a:t>
            </a:r>
          </a:p>
          <a:p>
            <a:pPr marL="285750" indent="-285750">
              <a:buFont typeface="Arial" panose="020B0604020202020204" pitchFamily="34" charset="0"/>
              <a:buChar char="•"/>
            </a:pPr>
            <a:r>
              <a:rPr lang="en-GB" dirty="0"/>
              <a:t>t</a:t>
            </a:r>
            <a:r>
              <a:rPr lang="en-LU" dirty="0"/>
              <a:t>racemalloc:</a:t>
            </a:r>
          </a:p>
          <a:p>
            <a:pPr marL="742950" lvl="1" indent="-285750">
              <a:buFont typeface="Arial" panose="020B0604020202020204" pitchFamily="34" charset="0"/>
              <a:buChar char="•"/>
            </a:pPr>
            <a:r>
              <a:rPr lang="en-GB" dirty="0"/>
              <a:t>T</a:t>
            </a:r>
            <a:r>
              <a:rPr lang="en-LU" dirty="0"/>
              <a:t>racks memory allocation and peak memory usage</a:t>
            </a:r>
          </a:p>
          <a:p>
            <a:pPr marL="742950" lvl="1" indent="-285750">
              <a:buFont typeface="Arial" panose="020B0604020202020204" pitchFamily="34" charset="0"/>
              <a:buChar char="•"/>
            </a:pPr>
            <a:r>
              <a:rPr lang="en-GB" dirty="0"/>
              <a:t>H</a:t>
            </a:r>
            <a:r>
              <a:rPr lang="en-LU" dirty="0"/>
              <a:t>elps detect memory-intensive steps like joins or groupby</a:t>
            </a:r>
          </a:p>
          <a:p>
            <a:pPr marL="285750" indent="-285750">
              <a:buFont typeface="Arial" panose="020B0604020202020204" pitchFamily="34" charset="0"/>
              <a:buChar char="•"/>
            </a:pPr>
            <a:r>
              <a:rPr lang="en-GB" dirty="0"/>
              <a:t>t</a:t>
            </a:r>
            <a:r>
              <a:rPr lang="en-LU" dirty="0"/>
              <a:t>ime.perf_counter():</a:t>
            </a:r>
          </a:p>
          <a:p>
            <a:pPr marL="742950" lvl="1" indent="-285750">
              <a:buFont typeface="Arial" panose="020B0604020202020204" pitchFamily="34" charset="0"/>
              <a:buChar char="•"/>
            </a:pPr>
            <a:r>
              <a:rPr lang="en-GB" dirty="0"/>
              <a:t>M</a:t>
            </a:r>
            <a:r>
              <a:rPr lang="en-LU" dirty="0"/>
              <a:t>easures real elapsed time (wall-clock time)</a:t>
            </a:r>
          </a:p>
          <a:p>
            <a:pPr marL="742950" lvl="1" indent="-285750">
              <a:buFont typeface="Arial" panose="020B0604020202020204" pitchFamily="34" charset="0"/>
              <a:buChar char="•"/>
            </a:pPr>
            <a:r>
              <a:rPr lang="en-GB" dirty="0"/>
              <a:t>S</a:t>
            </a:r>
            <a:r>
              <a:rPr lang="en-LU" dirty="0"/>
              <a:t>hows total runtime from the user’s perpective</a:t>
            </a:r>
          </a:p>
          <a:p>
            <a:pPr lvl="1"/>
            <a:endParaRPr lang="en-LU" dirty="0"/>
          </a:p>
          <a:p>
            <a:endParaRPr lang="en-LU" dirty="0"/>
          </a:p>
          <a:p>
            <a:r>
              <a:rPr lang="en-LU" dirty="0"/>
              <a:t>Optimization always starts with measurement -&gt; profiling tells us where the real bottlenecks are</a:t>
            </a:r>
          </a:p>
          <a:p>
            <a:endParaRPr lang="en-LU" dirty="0"/>
          </a:p>
        </p:txBody>
      </p:sp>
    </p:spTree>
    <p:extLst>
      <p:ext uri="{BB962C8B-B14F-4D97-AF65-F5344CB8AC3E}">
        <p14:creationId xmlns:p14="http://schemas.microsoft.com/office/powerpoint/2010/main" val="1118228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75B3D6-4A8B-102D-C0CF-F0441AF8266D}"/>
              </a:ext>
            </a:extLst>
          </p:cNvPr>
          <p:cNvSpPr txBox="1"/>
          <p:nvPr/>
        </p:nvSpPr>
        <p:spPr>
          <a:xfrm>
            <a:off x="269822" y="209862"/>
            <a:ext cx="11647358" cy="461665"/>
          </a:xfrm>
          <a:prstGeom prst="rect">
            <a:avLst/>
          </a:prstGeom>
          <a:noFill/>
        </p:spPr>
        <p:txBody>
          <a:bodyPr wrap="square" rtlCol="0">
            <a:spAutoFit/>
          </a:bodyPr>
          <a:lstStyle/>
          <a:p>
            <a:pPr marL="457200" indent="-457200">
              <a:buAutoNum type="arabicPeriod"/>
            </a:pPr>
            <a:r>
              <a:rPr lang="en-LU" sz="2400" dirty="0"/>
              <a:t>Exercise 1 – Interpreting Profiling Results</a:t>
            </a:r>
          </a:p>
        </p:txBody>
      </p:sp>
      <p:sp>
        <p:nvSpPr>
          <p:cNvPr id="5" name="TextBox 4">
            <a:extLst>
              <a:ext uri="{FF2B5EF4-FFF2-40B4-BE49-F238E27FC236}">
                <a16:creationId xmlns:a16="http://schemas.microsoft.com/office/drawing/2014/main" id="{CB6F5D12-DE64-7DB4-922C-4706AEC76B62}"/>
              </a:ext>
            </a:extLst>
          </p:cNvPr>
          <p:cNvSpPr txBox="1"/>
          <p:nvPr/>
        </p:nvSpPr>
        <p:spPr>
          <a:xfrm>
            <a:off x="269822" y="963827"/>
            <a:ext cx="11647358" cy="5355312"/>
          </a:xfrm>
          <a:prstGeom prst="rect">
            <a:avLst/>
          </a:prstGeom>
          <a:noFill/>
        </p:spPr>
        <p:txBody>
          <a:bodyPr wrap="square" rtlCol="0">
            <a:spAutoFit/>
          </a:bodyPr>
          <a:lstStyle/>
          <a:p>
            <a:r>
              <a:rPr lang="en-LU" dirty="0"/>
              <a:t>CPU time – tells how much computation is happening</a:t>
            </a:r>
          </a:p>
          <a:p>
            <a:pPr marL="742950" lvl="1" indent="-285750">
              <a:buFont typeface="Arial" panose="020B0604020202020204" pitchFamily="34" charset="0"/>
              <a:buChar char="•"/>
            </a:pPr>
            <a:r>
              <a:rPr lang="en-GB" dirty="0"/>
              <a:t>S</a:t>
            </a:r>
            <a:r>
              <a:rPr lang="en-LU" dirty="0"/>
              <a:t>hows which functions dominate execution time</a:t>
            </a:r>
          </a:p>
          <a:p>
            <a:pPr marL="742950" lvl="1" indent="-285750">
              <a:buFont typeface="Arial" panose="020B0604020202020204" pitchFamily="34" charset="0"/>
              <a:buChar char="•"/>
            </a:pPr>
            <a:r>
              <a:rPr lang="en-GB" dirty="0"/>
              <a:t>I</a:t>
            </a:r>
            <a:r>
              <a:rPr lang="en-LU" dirty="0"/>
              <a:t>t helps identify compute-heavy operations</a:t>
            </a:r>
          </a:p>
          <a:p>
            <a:pPr marL="742950" lvl="1" indent="-285750">
              <a:buFont typeface="Arial" panose="020B0604020202020204" pitchFamily="34" charset="0"/>
              <a:buChar char="•"/>
            </a:pPr>
            <a:r>
              <a:rPr lang="en-GB" dirty="0"/>
              <a:t>I</a:t>
            </a:r>
            <a:r>
              <a:rPr lang="en-LU" dirty="0"/>
              <a:t>t is useful for detecting inefficient algorithms or unnecessary loops</a:t>
            </a:r>
          </a:p>
          <a:p>
            <a:pPr marL="742950" lvl="1" indent="-285750">
              <a:buFont typeface="Arial" panose="020B0604020202020204" pitchFamily="34" charset="0"/>
              <a:buChar char="•"/>
            </a:pPr>
            <a:endParaRPr lang="en-LU" dirty="0"/>
          </a:p>
          <a:p>
            <a:r>
              <a:rPr lang="en-LU" dirty="0"/>
              <a:t>Memory profiling tells us:</a:t>
            </a:r>
          </a:p>
          <a:p>
            <a:pPr marL="742950" lvl="1" indent="-285750">
              <a:buFont typeface="Arial" panose="020B0604020202020204" pitchFamily="34" charset="0"/>
              <a:buChar char="•"/>
            </a:pPr>
            <a:r>
              <a:rPr lang="en-GB" dirty="0"/>
              <a:t>H</a:t>
            </a:r>
            <a:r>
              <a:rPr lang="en-LU" dirty="0"/>
              <a:t>ow much RAM is used</a:t>
            </a:r>
          </a:p>
          <a:p>
            <a:pPr marL="742950" lvl="1" indent="-285750">
              <a:buFont typeface="Arial" panose="020B0604020202020204" pitchFamily="34" charset="0"/>
              <a:buChar char="•"/>
            </a:pPr>
            <a:r>
              <a:rPr lang="en-GB" dirty="0"/>
              <a:t>W</a:t>
            </a:r>
            <a:r>
              <a:rPr lang="en-LU" dirty="0"/>
              <a:t>here peak memory usage occurs</a:t>
            </a:r>
          </a:p>
          <a:p>
            <a:pPr marL="742950" lvl="1" indent="-285750">
              <a:buFont typeface="Arial" panose="020B0604020202020204" pitchFamily="34" charset="0"/>
              <a:buChar char="•"/>
            </a:pPr>
            <a:r>
              <a:rPr lang="en-GB" dirty="0"/>
              <a:t>W</a:t>
            </a:r>
            <a:r>
              <a:rPr lang="en-LU" dirty="0"/>
              <a:t>hich operations allocate large temporary structures</a:t>
            </a:r>
          </a:p>
          <a:p>
            <a:r>
              <a:rPr lang="en-LU" dirty="0"/>
              <a:t>In HPC environment, this determines:</a:t>
            </a:r>
          </a:p>
          <a:p>
            <a:pPr marL="742950" lvl="1" indent="-285750">
              <a:buFont typeface="Arial" panose="020B0604020202020204" pitchFamily="34" charset="0"/>
              <a:buChar char="•"/>
            </a:pPr>
            <a:r>
              <a:rPr lang="en-GB" dirty="0"/>
              <a:t>W</a:t>
            </a:r>
            <a:r>
              <a:rPr lang="en-LU" dirty="0"/>
              <a:t>hether the job fits in memory</a:t>
            </a:r>
          </a:p>
          <a:p>
            <a:pPr marL="742950" lvl="1" indent="-285750">
              <a:buFont typeface="Arial" panose="020B0604020202020204" pitchFamily="34" charset="0"/>
              <a:buChar char="•"/>
            </a:pPr>
            <a:r>
              <a:rPr lang="en-GB" dirty="0"/>
              <a:t>W</a:t>
            </a:r>
            <a:r>
              <a:rPr lang="en-LU" dirty="0"/>
              <a:t>hether we risk swapping or failure</a:t>
            </a:r>
          </a:p>
          <a:p>
            <a:r>
              <a:rPr lang="en-LU" dirty="0"/>
              <a:t>I/O measures how long it takes to read and write data from storage</a:t>
            </a:r>
          </a:p>
          <a:p>
            <a:pPr marL="742950" lvl="1" indent="-285750">
              <a:buFont typeface="Arial" panose="020B0604020202020204" pitchFamily="34" charset="0"/>
              <a:buChar char="•"/>
            </a:pPr>
            <a:r>
              <a:rPr lang="en-GB" dirty="0"/>
              <a:t>O</a:t>
            </a:r>
            <a:r>
              <a:rPr lang="en-LU" dirty="0"/>
              <a:t>ften the dominant cost, especially for CSV format</a:t>
            </a:r>
          </a:p>
          <a:p>
            <a:pPr marL="1200150" lvl="2" indent="-285750">
              <a:buFont typeface="Arial" panose="020B0604020202020204" pitchFamily="34" charset="0"/>
              <a:buChar char="•"/>
            </a:pPr>
            <a:r>
              <a:rPr lang="en-GB" dirty="0"/>
              <a:t>C</a:t>
            </a:r>
            <a:r>
              <a:rPr lang="en-LU" dirty="0"/>
              <a:t>SV requires text parsing, no compression or indexing, no ability to skip irrelevant data</a:t>
            </a:r>
          </a:p>
          <a:p>
            <a:pPr marL="1200150" lvl="2" indent="-285750">
              <a:buFont typeface="Arial" panose="020B0604020202020204" pitchFamily="34" charset="0"/>
              <a:buChar char="•"/>
            </a:pPr>
            <a:endParaRPr lang="en-LU" dirty="0"/>
          </a:p>
          <a:p>
            <a:pPr marL="1200150" lvl="2" indent="-285750">
              <a:buFont typeface="Arial" panose="020B0604020202020204" pitchFamily="34" charset="0"/>
              <a:buChar char="•"/>
            </a:pPr>
            <a:endParaRPr lang="en-LU" dirty="0"/>
          </a:p>
          <a:p>
            <a:r>
              <a:rPr lang="en-LU" dirty="0"/>
              <a:t>Profiling shows us that data analytics pipelines, the dominant bottleneck is often data access (I/O) rather than computation.</a:t>
            </a:r>
          </a:p>
        </p:txBody>
      </p:sp>
    </p:spTree>
    <p:extLst>
      <p:ext uri="{BB962C8B-B14F-4D97-AF65-F5344CB8AC3E}">
        <p14:creationId xmlns:p14="http://schemas.microsoft.com/office/powerpoint/2010/main" val="2908004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73448FA-553E-BD72-0D7C-EC2F3A041963}"/>
              </a:ext>
            </a:extLst>
          </p:cNvPr>
          <p:cNvSpPr txBox="1"/>
          <p:nvPr/>
        </p:nvSpPr>
        <p:spPr>
          <a:xfrm>
            <a:off x="269822" y="209862"/>
            <a:ext cx="11647358" cy="461665"/>
          </a:xfrm>
          <a:prstGeom prst="rect">
            <a:avLst/>
          </a:prstGeom>
          <a:noFill/>
        </p:spPr>
        <p:txBody>
          <a:bodyPr wrap="square" rtlCol="0">
            <a:spAutoFit/>
          </a:bodyPr>
          <a:lstStyle/>
          <a:p>
            <a:pPr marL="457200" indent="-457200">
              <a:buAutoNum type="arabicPeriod"/>
            </a:pPr>
            <a:r>
              <a:rPr lang="en-LU" sz="2400" dirty="0"/>
              <a:t>Exercise 1 – File Formats Matter: CSV vs Parquet</a:t>
            </a:r>
          </a:p>
        </p:txBody>
      </p:sp>
      <p:sp>
        <p:nvSpPr>
          <p:cNvPr id="5" name="TextBox 4">
            <a:extLst>
              <a:ext uri="{FF2B5EF4-FFF2-40B4-BE49-F238E27FC236}">
                <a16:creationId xmlns:a16="http://schemas.microsoft.com/office/drawing/2014/main" id="{901E9F46-07A3-851D-BC9F-18FA55692F6F}"/>
              </a:ext>
            </a:extLst>
          </p:cNvPr>
          <p:cNvSpPr txBox="1"/>
          <p:nvPr/>
        </p:nvSpPr>
        <p:spPr>
          <a:xfrm>
            <a:off x="269822" y="671527"/>
            <a:ext cx="11516497" cy="5909310"/>
          </a:xfrm>
          <a:prstGeom prst="rect">
            <a:avLst/>
          </a:prstGeom>
          <a:noFill/>
        </p:spPr>
        <p:txBody>
          <a:bodyPr wrap="square" rtlCol="0">
            <a:spAutoFit/>
          </a:bodyPr>
          <a:lstStyle/>
          <a:p>
            <a:r>
              <a:rPr lang="en-LU" dirty="0"/>
              <a:t>The storage fromat determines how efficiently we can read, process, and move data.</a:t>
            </a:r>
          </a:p>
          <a:p>
            <a:endParaRPr lang="en-LU" dirty="0"/>
          </a:p>
          <a:p>
            <a:pPr marL="285750" indent="-285750">
              <a:buFont typeface="Arial" panose="020B0604020202020204" pitchFamily="34" charset="0"/>
              <a:buChar char="•"/>
            </a:pPr>
            <a:r>
              <a:rPr lang="en-LU" dirty="0"/>
              <a:t> CSV is a plain text format where each row represents a recors and each values </a:t>
            </a:r>
            <a:r>
              <a:rPr lang="en-GB" dirty="0"/>
              <a:t>I</a:t>
            </a:r>
            <a:r>
              <a:rPr lang="en-LU" dirty="0"/>
              <a:t>s stores as a string.</a:t>
            </a:r>
          </a:p>
          <a:p>
            <a:pPr marL="285750" indent="-285750">
              <a:buFont typeface="Arial" panose="020B0604020202020204" pitchFamily="34" charset="0"/>
              <a:buChar char="•"/>
            </a:pPr>
            <a:r>
              <a:rPr lang="en-LU" dirty="0"/>
              <a:t>CSV is untyped because:</a:t>
            </a:r>
          </a:p>
          <a:p>
            <a:pPr marL="742950" lvl="1" indent="-285750">
              <a:buFont typeface="Arial" panose="020B0604020202020204" pitchFamily="34" charset="0"/>
              <a:buChar char="•"/>
            </a:pPr>
            <a:r>
              <a:rPr lang="en-GB" dirty="0"/>
              <a:t>F</a:t>
            </a:r>
            <a:r>
              <a:rPr lang="en-LU" dirty="0"/>
              <a:t>ile does not store the data type of each column</a:t>
            </a:r>
          </a:p>
          <a:p>
            <a:pPr marL="742950" lvl="1" indent="-285750">
              <a:buFont typeface="Arial" panose="020B0604020202020204" pitchFamily="34" charset="0"/>
              <a:buChar char="•"/>
            </a:pPr>
            <a:r>
              <a:rPr lang="en-GB" dirty="0"/>
              <a:t>E</a:t>
            </a:r>
            <a:r>
              <a:rPr lang="en-LU" dirty="0"/>
              <a:t>verything is stored as text</a:t>
            </a:r>
          </a:p>
          <a:p>
            <a:pPr marL="742950" lvl="1" indent="-285750">
              <a:buFont typeface="Arial" panose="020B0604020202020204" pitchFamily="34" charset="0"/>
              <a:buChar char="•"/>
            </a:pPr>
            <a:r>
              <a:rPr lang="en-GB" dirty="0"/>
              <a:t>T</a:t>
            </a:r>
            <a:r>
              <a:rPr lang="en-LU" dirty="0"/>
              <a:t>he system must parse and infer types at reead time – expensive step</a:t>
            </a:r>
          </a:p>
          <a:p>
            <a:pPr marL="285750" indent="-285750">
              <a:buFont typeface="Arial" panose="020B0604020202020204" pitchFamily="34" charset="0"/>
              <a:buChar char="•"/>
            </a:pPr>
            <a:endParaRPr lang="en-LU" dirty="0"/>
          </a:p>
          <a:p>
            <a:pPr marL="285750" indent="-285750">
              <a:buFont typeface="Arial" panose="020B0604020202020204" pitchFamily="34" charset="0"/>
              <a:buChar char="•"/>
            </a:pPr>
            <a:r>
              <a:rPr lang="en-LU" dirty="0"/>
              <a:t>Because CSV is text and row-based:</a:t>
            </a:r>
          </a:p>
          <a:p>
            <a:pPr marL="742950" lvl="1" indent="-285750">
              <a:buFont typeface="Arial" panose="020B0604020202020204" pitchFamily="34" charset="0"/>
              <a:buChar char="•"/>
            </a:pPr>
            <a:r>
              <a:rPr lang="en-GB" dirty="0"/>
              <a:t>T</a:t>
            </a:r>
            <a:r>
              <a:rPr lang="en-LU" dirty="0"/>
              <a:t>he system must read every column even if only a few are needed</a:t>
            </a:r>
          </a:p>
          <a:p>
            <a:pPr marL="742950" lvl="1" indent="-285750">
              <a:buFont typeface="Arial" panose="020B0604020202020204" pitchFamily="34" charset="0"/>
              <a:buChar char="•"/>
            </a:pPr>
            <a:r>
              <a:rPr lang="en-GB" dirty="0"/>
              <a:t>E</a:t>
            </a:r>
            <a:r>
              <a:rPr lang="en-LU" dirty="0"/>
              <a:t>very value must be parsed from string to numeric type</a:t>
            </a:r>
          </a:p>
          <a:p>
            <a:pPr marL="742950" lvl="1" indent="-285750">
              <a:buFont typeface="Arial" panose="020B0604020202020204" pitchFamily="34" charset="0"/>
              <a:buChar char="•"/>
            </a:pPr>
            <a:r>
              <a:rPr lang="en-GB" dirty="0"/>
              <a:t>F</a:t>
            </a:r>
            <a:r>
              <a:rPr lang="en-LU" dirty="0"/>
              <a:t>iles are large because there is no compression</a:t>
            </a:r>
          </a:p>
          <a:p>
            <a:endParaRPr lang="en-LU" dirty="0"/>
          </a:p>
          <a:p>
            <a:pPr marL="285750" indent="-285750">
              <a:buFont typeface="Arial" panose="020B0604020202020204" pitchFamily="34" charset="0"/>
              <a:buChar char="•"/>
            </a:pPr>
            <a:r>
              <a:rPr lang="en-LU" dirty="0"/>
              <a:t>Parquet (columnar, binary format) – strongly typed format designed for analytics</a:t>
            </a:r>
          </a:p>
          <a:p>
            <a:pPr marL="285750" indent="-285750">
              <a:buFont typeface="Arial" panose="020B0604020202020204" pitchFamily="34" charset="0"/>
              <a:buChar char="•"/>
            </a:pPr>
            <a:r>
              <a:rPr lang="en-LU" dirty="0"/>
              <a:t>Parquet is typed because:</a:t>
            </a:r>
          </a:p>
          <a:p>
            <a:pPr marL="742950" lvl="1" indent="-285750">
              <a:buFont typeface="Arial" panose="020B0604020202020204" pitchFamily="34" charset="0"/>
              <a:buChar char="•"/>
            </a:pPr>
            <a:r>
              <a:rPr lang="en-GB" dirty="0"/>
              <a:t>E</a:t>
            </a:r>
            <a:r>
              <a:rPr lang="en-LU" dirty="0"/>
              <a:t>ach column has a defined data type stored in metadata</a:t>
            </a:r>
          </a:p>
          <a:p>
            <a:pPr marL="742950" lvl="1" indent="-285750">
              <a:buFont typeface="Arial" panose="020B0604020202020204" pitchFamily="34" charset="0"/>
              <a:buChar char="•"/>
            </a:pPr>
            <a:r>
              <a:rPr lang="en-GB" dirty="0"/>
              <a:t>V</a:t>
            </a:r>
            <a:r>
              <a:rPr lang="en-LU" dirty="0"/>
              <a:t>alues are stored in binary form (int32, float64, timestamp, etc.)</a:t>
            </a:r>
          </a:p>
          <a:p>
            <a:pPr marL="742950" lvl="1" indent="-285750">
              <a:buFont typeface="Arial" panose="020B0604020202020204" pitchFamily="34" charset="0"/>
              <a:buChar char="•"/>
            </a:pPr>
            <a:r>
              <a:rPr lang="en-GB" dirty="0"/>
              <a:t>N</a:t>
            </a:r>
            <a:r>
              <a:rPr lang="en-LU" dirty="0"/>
              <a:t>o parsing is needed at read time</a:t>
            </a:r>
          </a:p>
          <a:p>
            <a:pPr marL="285750" indent="-285750">
              <a:buFont typeface="Arial" panose="020B0604020202020204" pitchFamily="34" charset="0"/>
              <a:buChar char="•"/>
            </a:pPr>
            <a:r>
              <a:rPr lang="en-LU" dirty="0"/>
              <a:t>Instead of storing rows, Parquet stores columns separately enabling column pruning and better compression.</a:t>
            </a:r>
          </a:p>
          <a:p>
            <a:pPr marL="285750" indent="-285750">
              <a:buFont typeface="Arial" panose="020B0604020202020204" pitchFamily="34" charset="0"/>
              <a:buChar char="•"/>
            </a:pPr>
            <a:r>
              <a:rPr lang="en-LU" dirty="0"/>
              <a:t>Parquet stores statistics per data block allowing us to skip entire blocks of data that do not satisfy a filter conditon and reduce disk I/O dramatically.</a:t>
            </a:r>
          </a:p>
        </p:txBody>
      </p:sp>
    </p:spTree>
    <p:extLst>
      <p:ext uri="{BB962C8B-B14F-4D97-AF65-F5344CB8AC3E}">
        <p14:creationId xmlns:p14="http://schemas.microsoft.com/office/powerpoint/2010/main" val="1994691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730767-0A3B-3529-A1F7-EA96D3CBF47C}"/>
              </a:ext>
            </a:extLst>
          </p:cNvPr>
          <p:cNvSpPr txBox="1"/>
          <p:nvPr/>
        </p:nvSpPr>
        <p:spPr>
          <a:xfrm>
            <a:off x="269822" y="209862"/>
            <a:ext cx="11647358" cy="461665"/>
          </a:xfrm>
          <a:prstGeom prst="rect">
            <a:avLst/>
          </a:prstGeom>
          <a:noFill/>
        </p:spPr>
        <p:txBody>
          <a:bodyPr wrap="square" rtlCol="0">
            <a:spAutoFit/>
          </a:bodyPr>
          <a:lstStyle/>
          <a:p>
            <a:r>
              <a:rPr lang="en-LU" sz="2400" dirty="0"/>
              <a:t>2. Scaling Strategies for Data Analytics</a:t>
            </a:r>
          </a:p>
        </p:txBody>
      </p:sp>
      <p:sp>
        <p:nvSpPr>
          <p:cNvPr id="5" name="TextBox 4">
            <a:extLst>
              <a:ext uri="{FF2B5EF4-FFF2-40B4-BE49-F238E27FC236}">
                <a16:creationId xmlns:a16="http://schemas.microsoft.com/office/drawing/2014/main" id="{98F405B7-F61B-F48E-DB05-AF0389044977}"/>
              </a:ext>
            </a:extLst>
          </p:cNvPr>
          <p:cNvSpPr txBox="1"/>
          <p:nvPr/>
        </p:nvSpPr>
        <p:spPr>
          <a:xfrm>
            <a:off x="442509" y="1773936"/>
            <a:ext cx="11301984" cy="3279552"/>
          </a:xfrm>
          <a:prstGeom prst="rect">
            <a:avLst/>
          </a:prstGeom>
          <a:noFill/>
        </p:spPr>
        <p:txBody>
          <a:bodyPr wrap="square" rtlCol="0">
            <a:spAutoFit/>
          </a:bodyPr>
          <a:lstStyle/>
          <a:p>
            <a:pPr>
              <a:lnSpc>
                <a:spcPct val="150000"/>
              </a:lnSpc>
            </a:pPr>
            <a:r>
              <a:rPr lang="en-LU" sz="2000" dirty="0"/>
              <a:t>Scaling </a:t>
            </a:r>
            <a:r>
              <a:rPr lang="en-GB" sz="2000" dirty="0"/>
              <a:t>I</a:t>
            </a:r>
            <a:r>
              <a:rPr lang="en-LU" sz="2000" dirty="0"/>
              <a:t>s the science of expanding your compute resources to match the exponential growth of your data. The goal of this section is to determine the most efficient and cost-effective way to process huge amount of information.</a:t>
            </a:r>
          </a:p>
          <a:p>
            <a:pPr>
              <a:lnSpc>
                <a:spcPct val="150000"/>
              </a:lnSpc>
            </a:pPr>
            <a:endParaRPr lang="en-LU" sz="2000" dirty="0"/>
          </a:p>
          <a:p>
            <a:pPr>
              <a:lnSpc>
                <a:spcPct val="150000"/>
              </a:lnSpc>
            </a:pPr>
            <a:endParaRPr lang="en-LU" sz="2000" dirty="0"/>
          </a:p>
          <a:p>
            <a:pPr>
              <a:lnSpc>
                <a:spcPct val="150000"/>
              </a:lnSpc>
            </a:pPr>
            <a:r>
              <a:rPr lang="en-LU" sz="2000" dirty="0"/>
              <a:t>Scaling is never “free” == every time you add a core or a node, you introduce a cost in the form of communication or contention. Success in HPDA is about minimizing that cost.</a:t>
            </a:r>
          </a:p>
        </p:txBody>
      </p:sp>
    </p:spTree>
    <p:extLst>
      <p:ext uri="{BB962C8B-B14F-4D97-AF65-F5344CB8AC3E}">
        <p14:creationId xmlns:p14="http://schemas.microsoft.com/office/powerpoint/2010/main" val="4243232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4B84BB4-D14C-1ADC-9F1E-C487DB0CE98B}"/>
              </a:ext>
            </a:extLst>
          </p:cNvPr>
          <p:cNvSpPr txBox="1"/>
          <p:nvPr/>
        </p:nvSpPr>
        <p:spPr>
          <a:xfrm>
            <a:off x="269822" y="209862"/>
            <a:ext cx="11647358" cy="830997"/>
          </a:xfrm>
          <a:prstGeom prst="rect">
            <a:avLst/>
          </a:prstGeom>
          <a:noFill/>
        </p:spPr>
        <p:txBody>
          <a:bodyPr wrap="square" rtlCol="0">
            <a:spAutoFit/>
          </a:bodyPr>
          <a:lstStyle/>
          <a:p>
            <a:r>
              <a:rPr lang="en-LU" sz="2400" dirty="0"/>
              <a:t>2. Scaling Strategies fro Data Analytics</a:t>
            </a:r>
          </a:p>
          <a:p>
            <a:r>
              <a:rPr lang="en-LU" sz="2400" dirty="0"/>
              <a:t>	Multi-core parallelism within a single node</a:t>
            </a:r>
          </a:p>
        </p:txBody>
      </p:sp>
      <p:sp>
        <p:nvSpPr>
          <p:cNvPr id="5" name="TextBox 4">
            <a:extLst>
              <a:ext uri="{FF2B5EF4-FFF2-40B4-BE49-F238E27FC236}">
                <a16:creationId xmlns:a16="http://schemas.microsoft.com/office/drawing/2014/main" id="{67D44311-05DA-A684-5CD4-2799C5326999}"/>
              </a:ext>
            </a:extLst>
          </p:cNvPr>
          <p:cNvSpPr txBox="1"/>
          <p:nvPr/>
        </p:nvSpPr>
        <p:spPr>
          <a:xfrm>
            <a:off x="269822" y="1188720"/>
            <a:ext cx="11288194" cy="5355312"/>
          </a:xfrm>
          <a:prstGeom prst="rect">
            <a:avLst/>
          </a:prstGeom>
          <a:noFill/>
        </p:spPr>
        <p:txBody>
          <a:bodyPr wrap="square" rtlCol="0">
            <a:spAutoFit/>
          </a:bodyPr>
          <a:lstStyle/>
          <a:p>
            <a:r>
              <a:rPr lang="en-LU" dirty="0"/>
              <a:t>Modern servers have 64, 128, or even more cores. To use them, we divide the data into chunks.</a:t>
            </a:r>
          </a:p>
          <a:p>
            <a:pPr marL="742950" lvl="1" indent="-285750">
              <a:buFont typeface="Arial" panose="020B0604020202020204" pitchFamily="34" charset="0"/>
              <a:buChar char="•"/>
            </a:pPr>
            <a:r>
              <a:rPr lang="en-LU" dirty="0"/>
              <a:t>Task decomposition – breaking one giant task into 64 smaller tasks</a:t>
            </a:r>
          </a:p>
          <a:p>
            <a:pPr marL="742950" lvl="1" indent="-285750">
              <a:buFont typeface="Arial" panose="020B0604020202020204" pitchFamily="34" charset="0"/>
              <a:buChar char="•"/>
            </a:pPr>
            <a:r>
              <a:rPr lang="en-LU" dirty="0"/>
              <a:t>Simulataneous execution – each core works on its own piece of the data at the exact same time</a:t>
            </a:r>
          </a:p>
          <a:p>
            <a:pPr marL="742950" lvl="1" indent="-285750">
              <a:buFont typeface="Arial" panose="020B0604020202020204" pitchFamily="34" charset="0"/>
              <a:buChar char="•"/>
            </a:pPr>
            <a:r>
              <a:rPr lang="en-LU" dirty="0"/>
              <a:t>Result aggregation – once all core finish, the results are merged back together instantly.</a:t>
            </a:r>
          </a:p>
          <a:p>
            <a:pPr marL="742950" lvl="1" indent="-285750">
              <a:buFont typeface="Arial" panose="020B0604020202020204" pitchFamily="34" charset="0"/>
              <a:buChar char="•"/>
            </a:pPr>
            <a:endParaRPr lang="en-LU" dirty="0"/>
          </a:p>
          <a:p>
            <a:pPr marL="285750" indent="-285750">
              <a:buFont typeface="Arial" panose="020B0604020202020204" pitchFamily="34" charset="0"/>
              <a:buChar char="•"/>
            </a:pPr>
            <a:r>
              <a:rPr lang="en-GB" dirty="0"/>
              <a:t>T</a:t>
            </a:r>
            <a:r>
              <a:rPr lang="en-LU" dirty="0"/>
              <a:t>he problem: analyzing 1 billion rows of data on a single core is slow (sequential processing);</a:t>
            </a:r>
          </a:p>
          <a:p>
            <a:pPr marL="285750" indent="-285750">
              <a:buFont typeface="Arial" panose="020B0604020202020204" pitchFamily="34" charset="0"/>
              <a:buChar char="•"/>
            </a:pPr>
            <a:r>
              <a:rPr lang="en-GB" dirty="0"/>
              <a:t>T</a:t>
            </a:r>
            <a:r>
              <a:rPr lang="en-LU" dirty="0"/>
              <a:t>he solution: break that 1 billion rows into 64 chunks</a:t>
            </a:r>
          </a:p>
          <a:p>
            <a:pPr marL="285750" indent="-285750">
              <a:buFont typeface="Arial" panose="020B0604020202020204" pitchFamily="34" charset="0"/>
              <a:buChar char="•"/>
            </a:pPr>
            <a:r>
              <a:rPr lang="en-GB" dirty="0"/>
              <a:t>T</a:t>
            </a:r>
            <a:r>
              <a:rPr lang="en-LU" dirty="0"/>
              <a:t>he execution: assign each chunk to one of the 64 physical cores on the server to process them simultaneously;</a:t>
            </a:r>
          </a:p>
          <a:p>
            <a:pPr marL="285750" indent="-285750">
              <a:buFont typeface="Arial" panose="020B0604020202020204" pitchFamily="34" charset="0"/>
              <a:buChar char="•"/>
            </a:pPr>
            <a:r>
              <a:rPr lang="en-LU" dirty="0"/>
              <a:t>This is the &lt;&lt;gold standard&gt;&gt; for performance because of:</a:t>
            </a:r>
          </a:p>
          <a:p>
            <a:pPr marL="742950" lvl="1" indent="-285750">
              <a:buFont typeface="Arial" panose="020B0604020202020204" pitchFamily="34" charset="0"/>
              <a:buChar char="•"/>
            </a:pPr>
            <a:r>
              <a:rPr lang="en-GB" dirty="0"/>
              <a:t>U</a:t>
            </a:r>
            <a:r>
              <a:rPr lang="en-LU" dirty="0"/>
              <a:t>ltra low latency – cores communicate via L3 cache and system RAM; this is 1000x faster then sending data to another server.</a:t>
            </a:r>
          </a:p>
          <a:p>
            <a:pPr marL="742950" lvl="1" indent="-285750">
              <a:buFont typeface="Arial" panose="020B0604020202020204" pitchFamily="34" charset="0"/>
              <a:buChar char="•"/>
            </a:pPr>
            <a:r>
              <a:rPr lang="en-GB" dirty="0"/>
              <a:t>S</a:t>
            </a:r>
            <a:r>
              <a:rPr lang="en-LU" dirty="0"/>
              <a:t>hared address space – every core can see the entire dataset in RAM; no need to make 64 copies of the data, but only giving each core a pointer to its specific section.</a:t>
            </a:r>
          </a:p>
          <a:p>
            <a:pPr marL="742950" lvl="1" indent="-285750">
              <a:buFont typeface="Arial" panose="020B0604020202020204" pitchFamily="34" charset="0"/>
              <a:buChar char="•"/>
            </a:pPr>
            <a:r>
              <a:rPr lang="en-GB" dirty="0"/>
              <a:t>D</a:t>
            </a:r>
            <a:r>
              <a:rPr lang="en-LU" dirty="0"/>
              <a:t>ata locality – by keeping the work inside one node, we avoid the &lt;&lt;network cost&gt;&gt; - the time los on packaging and sending data between machines.</a:t>
            </a:r>
          </a:p>
          <a:p>
            <a:pPr lvl="1"/>
            <a:endParaRPr lang="en-LU" dirty="0"/>
          </a:p>
          <a:p>
            <a:pPr marL="285750" indent="-285750">
              <a:buFont typeface="Arial" panose="020B0604020202020204" pitchFamily="34" charset="0"/>
              <a:buChar char="•"/>
            </a:pPr>
            <a:r>
              <a:rPr lang="en-LU" dirty="0"/>
              <a:t>Adding more cores does not always mean more speed. If the data is not partitioned correctly, 63 cores might sit idle while 1 core does all the work. This is called Load imbalance.</a:t>
            </a:r>
          </a:p>
        </p:txBody>
      </p:sp>
    </p:spTree>
    <p:extLst>
      <p:ext uri="{BB962C8B-B14F-4D97-AF65-F5344CB8AC3E}">
        <p14:creationId xmlns:p14="http://schemas.microsoft.com/office/powerpoint/2010/main" val="1407418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10BA95-F8D1-1BE7-3A8C-20CAFFAD4416}"/>
              </a:ext>
            </a:extLst>
          </p:cNvPr>
          <p:cNvSpPr txBox="1"/>
          <p:nvPr/>
        </p:nvSpPr>
        <p:spPr>
          <a:xfrm>
            <a:off x="269822" y="209862"/>
            <a:ext cx="11647358" cy="830997"/>
          </a:xfrm>
          <a:prstGeom prst="rect">
            <a:avLst/>
          </a:prstGeom>
          <a:noFill/>
        </p:spPr>
        <p:txBody>
          <a:bodyPr wrap="square" rtlCol="0">
            <a:spAutoFit/>
          </a:bodyPr>
          <a:lstStyle/>
          <a:p>
            <a:r>
              <a:rPr lang="en-LU" sz="2400" dirty="0"/>
              <a:t>2. Scaling Strategies fro Data Analytics</a:t>
            </a:r>
          </a:p>
          <a:p>
            <a:r>
              <a:rPr lang="en-LU" sz="2400" dirty="0"/>
              <a:t>	Shared memory programming models</a:t>
            </a:r>
          </a:p>
        </p:txBody>
      </p:sp>
      <p:sp>
        <p:nvSpPr>
          <p:cNvPr id="5" name="TextBox 4">
            <a:extLst>
              <a:ext uri="{FF2B5EF4-FFF2-40B4-BE49-F238E27FC236}">
                <a16:creationId xmlns:a16="http://schemas.microsoft.com/office/drawing/2014/main" id="{1A08A80A-F29E-E4CB-A483-5998A6A8108A}"/>
              </a:ext>
            </a:extLst>
          </p:cNvPr>
          <p:cNvSpPr txBox="1"/>
          <p:nvPr/>
        </p:nvSpPr>
        <p:spPr>
          <a:xfrm>
            <a:off x="269822" y="1335024"/>
            <a:ext cx="11288194" cy="646331"/>
          </a:xfrm>
          <a:prstGeom prst="rect">
            <a:avLst/>
          </a:prstGeom>
          <a:noFill/>
        </p:spPr>
        <p:txBody>
          <a:bodyPr wrap="square" rtlCol="0">
            <a:spAutoFit/>
          </a:bodyPr>
          <a:lstStyle/>
          <a:p>
            <a:r>
              <a:rPr lang="en-LU" dirty="0"/>
              <a:t>A Shared memory programming model is the set of rules that allows multiple </a:t>
            </a:r>
            <a:r>
              <a:rPr lang="en-GB" dirty="0"/>
              <a:t>CPU cores to work on the exact same dataset in RAM without corrupting it.</a:t>
            </a:r>
            <a:endParaRPr lang="en-LU" dirty="0"/>
          </a:p>
        </p:txBody>
      </p:sp>
      <p:sp>
        <p:nvSpPr>
          <p:cNvPr id="6" name="TextBox 5">
            <a:extLst>
              <a:ext uri="{FF2B5EF4-FFF2-40B4-BE49-F238E27FC236}">
                <a16:creationId xmlns:a16="http://schemas.microsoft.com/office/drawing/2014/main" id="{F38DCDC5-326B-4BF0-F597-1B92A3CE3CAC}"/>
              </a:ext>
            </a:extLst>
          </p:cNvPr>
          <p:cNvSpPr txBox="1"/>
          <p:nvPr/>
        </p:nvSpPr>
        <p:spPr>
          <a:xfrm>
            <a:off x="269822" y="2275520"/>
            <a:ext cx="9948672" cy="3970318"/>
          </a:xfrm>
          <a:prstGeom prst="rect">
            <a:avLst/>
          </a:prstGeom>
          <a:noFill/>
        </p:spPr>
        <p:txBody>
          <a:bodyPr wrap="square" rtlCol="0">
            <a:spAutoFit/>
          </a:bodyPr>
          <a:lstStyle/>
          <a:p>
            <a:pPr marL="285750" indent="-285750">
              <a:buFont typeface="Arial" panose="020B0604020202020204" pitchFamily="34" charset="0"/>
              <a:buChar char="•"/>
            </a:pPr>
            <a:r>
              <a:rPr lang="en-GB" dirty="0"/>
              <a:t>The Idea: Instead of each CPU core having its own private copy of the data (which wastes space), all cores see and access the same physical RAM addresses.</a:t>
            </a:r>
          </a:p>
          <a:p>
            <a:pPr marL="285750" indent="-285750">
              <a:buFont typeface="Arial" panose="020B0604020202020204" pitchFamily="34" charset="0"/>
              <a:buChar char="•"/>
            </a:pPr>
            <a:r>
              <a:rPr lang="en-GB" b="1" dirty="0"/>
              <a:t>The Goal:</a:t>
            </a:r>
            <a:r>
              <a:rPr lang="en-GB" dirty="0"/>
              <a:t> To allow 64+ cores to read from and write to one massive 1TB dataset simultaneously at very high speed.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 models in HPDA:</a:t>
            </a:r>
          </a:p>
          <a:p>
            <a:pPr marL="742950" lvl="1" indent="-285750">
              <a:buFont typeface="Arial" panose="020B0604020202020204" pitchFamily="34" charset="0"/>
              <a:buChar char="•"/>
            </a:pPr>
            <a:r>
              <a:rPr lang="en-GB" dirty="0"/>
              <a:t>OpenMP - A simple way to tell the computer, "Run this loop on every core at once." It is the most common way to parallelize C++ or Fortran analytics code.</a:t>
            </a:r>
          </a:p>
          <a:p>
            <a:pPr marL="742950" lvl="1" indent="-285750">
              <a:buFont typeface="Arial" panose="020B0604020202020204" pitchFamily="34" charset="0"/>
              <a:buChar char="•"/>
            </a:pPr>
            <a:r>
              <a:rPr lang="en-GB" dirty="0" err="1"/>
              <a:t>Pthreads</a:t>
            </a:r>
            <a:r>
              <a:rPr lang="en-GB" dirty="0"/>
              <a:t> (Low-Level Control): Gives the programmer manual control over every single thread. It is harder to write but offers the highest performance for complex database engines.</a:t>
            </a:r>
          </a:p>
          <a:p>
            <a:pPr marL="742950" lvl="1" indent="-285750">
              <a:buFont typeface="Arial" panose="020B0604020202020204" pitchFamily="34" charset="0"/>
              <a:buChar char="•"/>
            </a:pPr>
            <a:r>
              <a:rPr lang="en-GB" dirty="0"/>
              <a:t>Managed Threading (Java/Python): Languages like Java (used in Spark) or Python (using libraries like multiprocessing) handle the "rules" for you, but often with more overhead (slight performance cost).</a:t>
            </a:r>
          </a:p>
        </p:txBody>
      </p:sp>
    </p:spTree>
    <p:extLst>
      <p:ext uri="{BB962C8B-B14F-4D97-AF65-F5344CB8AC3E}">
        <p14:creationId xmlns:p14="http://schemas.microsoft.com/office/powerpoint/2010/main" val="20922863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8EE096-7F80-E44A-2D95-29CA38B0BE6B}"/>
              </a:ext>
            </a:extLst>
          </p:cNvPr>
          <p:cNvSpPr txBox="1"/>
          <p:nvPr/>
        </p:nvSpPr>
        <p:spPr>
          <a:xfrm>
            <a:off x="269822" y="209862"/>
            <a:ext cx="11647358" cy="830997"/>
          </a:xfrm>
          <a:prstGeom prst="rect">
            <a:avLst/>
          </a:prstGeom>
          <a:noFill/>
        </p:spPr>
        <p:txBody>
          <a:bodyPr wrap="square" rtlCol="0">
            <a:spAutoFit/>
          </a:bodyPr>
          <a:lstStyle/>
          <a:p>
            <a:r>
              <a:rPr lang="en-LU" sz="2400" dirty="0"/>
              <a:t>2. Scaling Strategies fro Data Analytics</a:t>
            </a:r>
          </a:p>
          <a:p>
            <a:r>
              <a:rPr lang="en-LU" sz="2400" dirty="0"/>
              <a:t>	Shared memory programming models</a:t>
            </a:r>
          </a:p>
        </p:txBody>
      </p:sp>
      <p:sp>
        <p:nvSpPr>
          <p:cNvPr id="5" name="TextBox 4">
            <a:extLst>
              <a:ext uri="{FF2B5EF4-FFF2-40B4-BE49-F238E27FC236}">
                <a16:creationId xmlns:a16="http://schemas.microsoft.com/office/drawing/2014/main" id="{4B512B4B-B40F-C9F8-5E72-3D0B04952A9C}"/>
              </a:ext>
            </a:extLst>
          </p:cNvPr>
          <p:cNvSpPr txBox="1"/>
          <p:nvPr/>
        </p:nvSpPr>
        <p:spPr>
          <a:xfrm>
            <a:off x="506517" y="1517904"/>
            <a:ext cx="11173968" cy="4202882"/>
          </a:xfrm>
          <a:prstGeom prst="rect">
            <a:avLst/>
          </a:prstGeom>
          <a:noFill/>
        </p:spPr>
        <p:txBody>
          <a:bodyPr wrap="square" rtlCol="0">
            <a:spAutoFit/>
          </a:bodyPr>
          <a:lstStyle/>
          <a:p>
            <a:pPr>
              <a:lnSpc>
                <a:spcPct val="150000"/>
              </a:lnSpc>
            </a:pPr>
            <a:r>
              <a:rPr lang="en-LU" sz="2000" dirty="0"/>
              <a:t>The Communication advantage:</a:t>
            </a:r>
          </a:p>
          <a:p>
            <a:pPr marL="285750" indent="-285750">
              <a:lnSpc>
                <a:spcPct val="150000"/>
              </a:lnSpc>
              <a:buFont typeface="Arial" panose="020B0604020202020204" pitchFamily="34" charset="0"/>
              <a:buChar char="•"/>
            </a:pPr>
            <a:r>
              <a:rPr lang="en-LU" sz="2000" dirty="0"/>
              <a:t>Zero-copy efficiency – because every code can see the data, it is not necessary to move it; we just pass a memoty pointer (an address) which takes nanoseconds.</a:t>
            </a:r>
          </a:p>
          <a:p>
            <a:pPr marL="285750" indent="-285750">
              <a:lnSpc>
                <a:spcPct val="150000"/>
              </a:lnSpc>
              <a:buFont typeface="Arial" panose="020B0604020202020204" pitchFamily="34" charset="0"/>
              <a:buChar char="•"/>
            </a:pPr>
            <a:r>
              <a:rPr lang="en-LU" sz="2000" dirty="0"/>
              <a:t>Global visibility – if core A updates one variable in RAM, core B sees that update instantly. This is essential for real-time aggregations.</a:t>
            </a:r>
          </a:p>
          <a:p>
            <a:pPr>
              <a:lnSpc>
                <a:spcPct val="150000"/>
              </a:lnSpc>
            </a:pPr>
            <a:endParaRPr lang="en-LU" sz="2000" dirty="0"/>
          </a:p>
          <a:p>
            <a:pPr>
              <a:lnSpc>
                <a:spcPct val="150000"/>
              </a:lnSpc>
            </a:pPr>
            <a:r>
              <a:rPr lang="en-GB" sz="2000" dirty="0"/>
              <a:t>Shared memory is incredibly fast, but it is dangerous. If two cores try to update the exact same memory address at the exact same millisecond, your data will be corrupted. We solve this using 'Locks' and 'Atomics,' which are the traffic lights of the CPU</a:t>
            </a:r>
            <a:endParaRPr lang="en-LU" sz="2000" dirty="0"/>
          </a:p>
        </p:txBody>
      </p:sp>
    </p:spTree>
    <p:extLst>
      <p:ext uri="{BB962C8B-B14F-4D97-AF65-F5344CB8AC3E}">
        <p14:creationId xmlns:p14="http://schemas.microsoft.com/office/powerpoint/2010/main" val="2086853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2A95F42-8FDC-5056-02BC-7E9E48C1E166}"/>
              </a:ext>
            </a:extLst>
          </p:cNvPr>
          <p:cNvSpPr txBox="1"/>
          <p:nvPr/>
        </p:nvSpPr>
        <p:spPr>
          <a:xfrm>
            <a:off x="269822" y="209862"/>
            <a:ext cx="11647358" cy="830997"/>
          </a:xfrm>
          <a:prstGeom prst="rect">
            <a:avLst/>
          </a:prstGeom>
          <a:noFill/>
        </p:spPr>
        <p:txBody>
          <a:bodyPr wrap="square" rtlCol="0">
            <a:spAutoFit/>
          </a:bodyPr>
          <a:lstStyle/>
          <a:p>
            <a:r>
              <a:rPr lang="en-LU" sz="2400" dirty="0"/>
              <a:t>2. Scaling Strategies fro Data Analytics</a:t>
            </a:r>
          </a:p>
          <a:p>
            <a:r>
              <a:rPr lang="en-LU" sz="2400" dirty="0"/>
              <a:t>	Thread management and avoiding contention</a:t>
            </a:r>
          </a:p>
        </p:txBody>
      </p:sp>
      <p:sp>
        <p:nvSpPr>
          <p:cNvPr id="5" name="TextBox 4">
            <a:extLst>
              <a:ext uri="{FF2B5EF4-FFF2-40B4-BE49-F238E27FC236}">
                <a16:creationId xmlns:a16="http://schemas.microsoft.com/office/drawing/2014/main" id="{E778EE0B-4132-07AF-B00D-F50FF4ABD341}"/>
              </a:ext>
            </a:extLst>
          </p:cNvPr>
          <p:cNvSpPr txBox="1"/>
          <p:nvPr/>
        </p:nvSpPr>
        <p:spPr>
          <a:xfrm>
            <a:off x="269822" y="1316736"/>
            <a:ext cx="11507650" cy="4524315"/>
          </a:xfrm>
          <a:prstGeom prst="rect">
            <a:avLst/>
          </a:prstGeom>
          <a:noFill/>
        </p:spPr>
        <p:txBody>
          <a:bodyPr wrap="square" rtlCol="0">
            <a:spAutoFit/>
          </a:bodyPr>
          <a:lstStyle/>
          <a:p>
            <a:r>
              <a:rPr lang="en-LU" dirty="0"/>
              <a:t>Goal = efficiently use all CPU cores without introducing performance bottlenecks.</a:t>
            </a:r>
          </a:p>
          <a:p>
            <a:endParaRPr lang="en-LU" dirty="0"/>
          </a:p>
          <a:p>
            <a:r>
              <a:rPr lang="en-LU" dirty="0"/>
              <a:t>Thread management means how we assign work to CPU cores and threads so that all cores stay busy and do not interfere with each other.</a:t>
            </a:r>
          </a:p>
          <a:p>
            <a:endParaRPr lang="en-LU" dirty="0"/>
          </a:p>
          <a:p>
            <a:r>
              <a:rPr lang="en-LU" dirty="0"/>
              <a:t>In HPDA, poorly managed threads can lead to idle cores, overhead, and reduced performance.</a:t>
            </a:r>
          </a:p>
          <a:p>
            <a:endParaRPr lang="en-LU" dirty="0"/>
          </a:p>
          <a:p>
            <a:r>
              <a:rPr lang="en-LU" dirty="0"/>
              <a:t>Contention occurs when multiple threads compete for the sam resource such as:</a:t>
            </a:r>
          </a:p>
          <a:p>
            <a:pPr marL="742950" lvl="1" indent="-285750">
              <a:buFont typeface="Arial" panose="020B0604020202020204" pitchFamily="34" charset="0"/>
              <a:buChar char="•"/>
            </a:pPr>
            <a:r>
              <a:rPr lang="en-GB" dirty="0"/>
              <a:t>S</a:t>
            </a:r>
            <a:r>
              <a:rPr lang="en-LU" dirty="0"/>
              <a:t>hared memory</a:t>
            </a:r>
          </a:p>
          <a:p>
            <a:pPr marL="742950" lvl="1" indent="-285750">
              <a:buFont typeface="Arial" panose="020B0604020202020204" pitchFamily="34" charset="0"/>
              <a:buChar char="•"/>
            </a:pPr>
            <a:r>
              <a:rPr lang="en-GB" dirty="0"/>
              <a:t>L</a:t>
            </a:r>
            <a:r>
              <a:rPr lang="en-LU" dirty="0"/>
              <a:t>ocks or synchronization primitives</a:t>
            </a:r>
          </a:p>
          <a:p>
            <a:pPr marL="742950" lvl="1" indent="-285750">
              <a:buFont typeface="Arial" panose="020B0604020202020204" pitchFamily="34" charset="0"/>
              <a:buChar char="•"/>
            </a:pPr>
            <a:r>
              <a:rPr lang="en-GB" dirty="0"/>
              <a:t>D</a:t>
            </a:r>
            <a:r>
              <a:rPr lang="en-LU" dirty="0"/>
              <a:t>isk or I/O channels</a:t>
            </a:r>
          </a:p>
          <a:p>
            <a:pPr marL="742950" lvl="1" indent="-285750">
              <a:buFont typeface="Arial" panose="020B0604020202020204" pitchFamily="34" charset="0"/>
              <a:buChar char="•"/>
            </a:pPr>
            <a:r>
              <a:rPr lang="en-LU" dirty="0"/>
              <a:t>CPU cache lines</a:t>
            </a:r>
          </a:p>
          <a:p>
            <a:r>
              <a:rPr lang="en-GB" dirty="0"/>
              <a:t>A</a:t>
            </a:r>
            <a:r>
              <a:rPr lang="en-LU" dirty="0"/>
              <a:t>nd this causes:</a:t>
            </a:r>
          </a:p>
          <a:p>
            <a:pPr marL="742950" lvl="1" indent="-285750">
              <a:buFont typeface="Arial" panose="020B0604020202020204" pitchFamily="34" charset="0"/>
              <a:buChar char="•"/>
            </a:pPr>
            <a:r>
              <a:rPr lang="en-GB" dirty="0"/>
              <a:t>W</a:t>
            </a:r>
            <a:r>
              <a:rPr lang="en-LU" dirty="0"/>
              <a:t>aiting time</a:t>
            </a:r>
          </a:p>
          <a:p>
            <a:pPr marL="742950" lvl="1" indent="-285750">
              <a:buFont typeface="Arial" panose="020B0604020202020204" pitchFamily="34" charset="0"/>
              <a:buChar char="•"/>
            </a:pPr>
            <a:r>
              <a:rPr lang="en-GB" dirty="0"/>
              <a:t>C</a:t>
            </a:r>
            <a:r>
              <a:rPr lang="en-LU" dirty="0"/>
              <a:t>ontext witching overhead</a:t>
            </a:r>
          </a:p>
          <a:p>
            <a:pPr marL="742950" lvl="1" indent="-285750">
              <a:buFont typeface="Arial" panose="020B0604020202020204" pitchFamily="34" charset="0"/>
              <a:buChar char="•"/>
            </a:pPr>
            <a:r>
              <a:rPr lang="en-GB" dirty="0"/>
              <a:t>R</a:t>
            </a:r>
            <a:r>
              <a:rPr lang="en-LU" dirty="0"/>
              <a:t>educes scalability </a:t>
            </a:r>
          </a:p>
        </p:txBody>
      </p:sp>
    </p:spTree>
    <p:extLst>
      <p:ext uri="{BB962C8B-B14F-4D97-AF65-F5344CB8AC3E}">
        <p14:creationId xmlns:p14="http://schemas.microsoft.com/office/powerpoint/2010/main" val="38817571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9682B1-4CCA-DFDE-04F6-4E65D18B517D}"/>
              </a:ext>
            </a:extLst>
          </p:cNvPr>
          <p:cNvSpPr txBox="1"/>
          <p:nvPr/>
        </p:nvSpPr>
        <p:spPr>
          <a:xfrm>
            <a:off x="269822" y="209862"/>
            <a:ext cx="11647358" cy="830997"/>
          </a:xfrm>
          <a:prstGeom prst="rect">
            <a:avLst/>
          </a:prstGeom>
          <a:noFill/>
        </p:spPr>
        <p:txBody>
          <a:bodyPr wrap="square" rtlCol="0">
            <a:spAutoFit/>
          </a:bodyPr>
          <a:lstStyle/>
          <a:p>
            <a:r>
              <a:rPr lang="en-LU" sz="2400" dirty="0"/>
              <a:t>2. Scaling Strategies fro Data Analytics</a:t>
            </a:r>
          </a:p>
          <a:p>
            <a:r>
              <a:rPr lang="en-LU" sz="2400" dirty="0"/>
              <a:t>	Thread management and avoiding contention</a:t>
            </a:r>
          </a:p>
        </p:txBody>
      </p:sp>
      <p:sp>
        <p:nvSpPr>
          <p:cNvPr id="5" name="TextBox 4">
            <a:extLst>
              <a:ext uri="{FF2B5EF4-FFF2-40B4-BE49-F238E27FC236}">
                <a16:creationId xmlns:a16="http://schemas.microsoft.com/office/drawing/2014/main" id="{00EC5C49-DE97-BDB5-32F5-A51FEFD0EA87}"/>
              </a:ext>
            </a:extLst>
          </p:cNvPr>
          <p:cNvSpPr txBox="1"/>
          <p:nvPr/>
        </p:nvSpPr>
        <p:spPr>
          <a:xfrm>
            <a:off x="269822" y="1040859"/>
            <a:ext cx="11647358" cy="5869364"/>
          </a:xfrm>
          <a:prstGeom prst="rect">
            <a:avLst/>
          </a:prstGeom>
          <a:noFill/>
        </p:spPr>
        <p:txBody>
          <a:bodyPr wrap="square" rtlCol="0">
            <a:spAutoFit/>
          </a:bodyPr>
          <a:lstStyle/>
          <a:p>
            <a:pPr>
              <a:lnSpc>
                <a:spcPct val="150000"/>
              </a:lnSpc>
            </a:pPr>
            <a:r>
              <a:rPr lang="en-LU" dirty="0"/>
              <a:t>Common sources of contention:</a:t>
            </a:r>
          </a:p>
          <a:p>
            <a:pPr marL="742950" lvl="1" indent="-285750">
              <a:lnSpc>
                <a:spcPct val="150000"/>
              </a:lnSpc>
              <a:buFont typeface="Arial" panose="020B0604020202020204" pitchFamily="34" charset="0"/>
              <a:buChar char="•"/>
            </a:pPr>
            <a:r>
              <a:rPr lang="en-GB" dirty="0"/>
              <a:t>T</a:t>
            </a:r>
            <a:r>
              <a:rPr lang="en-LU" dirty="0"/>
              <a:t>oo many threads for the available cores</a:t>
            </a:r>
          </a:p>
          <a:p>
            <a:pPr marL="742950" lvl="1" indent="-285750">
              <a:lnSpc>
                <a:spcPct val="150000"/>
              </a:lnSpc>
              <a:buFont typeface="Arial" panose="020B0604020202020204" pitchFamily="34" charset="0"/>
              <a:buChar char="•"/>
            </a:pPr>
            <a:r>
              <a:rPr lang="en-GB" dirty="0"/>
              <a:t>H</a:t>
            </a:r>
            <a:r>
              <a:rPr lang="en-LU" dirty="0"/>
              <a:t>eavy use of locks or shared data structures</a:t>
            </a:r>
          </a:p>
          <a:p>
            <a:pPr marL="742950" lvl="1" indent="-285750">
              <a:lnSpc>
                <a:spcPct val="150000"/>
              </a:lnSpc>
              <a:buFont typeface="Arial" panose="020B0604020202020204" pitchFamily="34" charset="0"/>
              <a:buChar char="•"/>
            </a:pPr>
            <a:r>
              <a:rPr lang="en-GB" dirty="0"/>
              <a:t>F</a:t>
            </a:r>
            <a:r>
              <a:rPr lang="en-LU" dirty="0"/>
              <a:t>alse sharing (multiple threads modifying nearby memory)</a:t>
            </a:r>
          </a:p>
          <a:p>
            <a:pPr marL="742950" lvl="1" indent="-285750">
              <a:lnSpc>
                <a:spcPct val="150000"/>
              </a:lnSpc>
              <a:buFont typeface="Arial" panose="020B0604020202020204" pitchFamily="34" charset="0"/>
              <a:buChar char="•"/>
            </a:pPr>
            <a:r>
              <a:rPr lang="en-GB" dirty="0"/>
              <a:t>F</a:t>
            </a:r>
            <a:r>
              <a:rPr lang="en-LU" dirty="0"/>
              <a:t>requent communication or synchronization between threads</a:t>
            </a:r>
          </a:p>
          <a:p>
            <a:pPr marL="742950" lvl="1" indent="-285750">
              <a:lnSpc>
                <a:spcPct val="150000"/>
              </a:lnSpc>
              <a:buFont typeface="Arial" panose="020B0604020202020204" pitchFamily="34" charset="0"/>
              <a:buChar char="•"/>
            </a:pPr>
            <a:endParaRPr lang="en-LU" dirty="0"/>
          </a:p>
          <a:p>
            <a:pPr>
              <a:lnSpc>
                <a:spcPct val="150000"/>
              </a:lnSpc>
            </a:pPr>
            <a:r>
              <a:rPr lang="en-LU" dirty="0"/>
              <a:t>Best practices for HPDA to avoid contention and scale efficiently:</a:t>
            </a:r>
          </a:p>
          <a:p>
            <a:pPr marL="742950" lvl="1" indent="-285750">
              <a:lnSpc>
                <a:spcPct val="150000"/>
              </a:lnSpc>
              <a:buFont typeface="Arial" panose="020B0604020202020204" pitchFamily="34" charset="0"/>
              <a:buChar char="•"/>
            </a:pPr>
            <a:r>
              <a:rPr lang="en-GB" dirty="0"/>
              <a:t>M</a:t>
            </a:r>
            <a:r>
              <a:rPr lang="en-LU" dirty="0"/>
              <a:t>atch number of threads to number of physical cores</a:t>
            </a:r>
          </a:p>
          <a:p>
            <a:pPr marL="742950" lvl="1" indent="-285750">
              <a:lnSpc>
                <a:spcPct val="150000"/>
              </a:lnSpc>
              <a:buFont typeface="Arial" panose="020B0604020202020204" pitchFamily="34" charset="0"/>
              <a:buChar char="•"/>
            </a:pPr>
            <a:r>
              <a:rPr lang="en-GB" dirty="0"/>
              <a:t>P</a:t>
            </a:r>
            <a:r>
              <a:rPr lang="en-LU" dirty="0"/>
              <a:t>refer independent taks (parallel) when possible</a:t>
            </a:r>
          </a:p>
          <a:p>
            <a:pPr marL="742950" lvl="1" indent="-285750">
              <a:lnSpc>
                <a:spcPct val="150000"/>
              </a:lnSpc>
              <a:buFont typeface="Arial" panose="020B0604020202020204" pitchFamily="34" charset="0"/>
              <a:buChar char="•"/>
            </a:pPr>
            <a:r>
              <a:rPr lang="en-GB" dirty="0"/>
              <a:t>M</a:t>
            </a:r>
            <a:r>
              <a:rPr lang="en-LU" dirty="0"/>
              <a:t>inimize shared state and locking</a:t>
            </a:r>
          </a:p>
          <a:p>
            <a:pPr marL="742950" lvl="1" indent="-285750">
              <a:lnSpc>
                <a:spcPct val="150000"/>
              </a:lnSpc>
              <a:buFont typeface="Arial" panose="020B0604020202020204" pitchFamily="34" charset="0"/>
              <a:buChar char="•"/>
            </a:pPr>
            <a:r>
              <a:rPr lang="en-GB" dirty="0"/>
              <a:t>U</a:t>
            </a:r>
            <a:r>
              <a:rPr lang="en-LU" dirty="0"/>
              <a:t>se chunking to assign larger independent work units</a:t>
            </a:r>
          </a:p>
          <a:p>
            <a:pPr marL="742950" lvl="1" indent="-285750">
              <a:lnSpc>
                <a:spcPct val="150000"/>
              </a:lnSpc>
              <a:buFont typeface="Arial" panose="020B0604020202020204" pitchFamily="34" charset="0"/>
              <a:buChar char="•"/>
            </a:pPr>
            <a:r>
              <a:rPr lang="en-GB" dirty="0"/>
              <a:t>U</a:t>
            </a:r>
            <a:r>
              <a:rPr lang="en-LU" dirty="0"/>
              <a:t>se process-based parallelism for CPU-bound Python workloads (avoid GIL limits)</a:t>
            </a:r>
          </a:p>
          <a:p>
            <a:pPr marL="742950" lvl="1" indent="-285750">
              <a:lnSpc>
                <a:spcPct val="150000"/>
              </a:lnSpc>
              <a:buFont typeface="Arial" panose="020B0604020202020204" pitchFamily="34" charset="0"/>
              <a:buChar char="•"/>
            </a:pPr>
            <a:r>
              <a:rPr lang="en-GB" dirty="0"/>
              <a:t>E</a:t>
            </a:r>
            <a:r>
              <a:rPr lang="en-LU" dirty="0"/>
              <a:t>nsure good data locality (each thread works on its own data)</a:t>
            </a:r>
          </a:p>
          <a:p>
            <a:pPr marL="742950" lvl="1" indent="-285750">
              <a:lnSpc>
                <a:spcPct val="150000"/>
              </a:lnSpc>
              <a:buFont typeface="Arial" panose="020B0604020202020204" pitchFamily="34" charset="0"/>
              <a:buChar char="•"/>
            </a:pPr>
            <a:endParaRPr lang="en-LU" dirty="0"/>
          </a:p>
        </p:txBody>
      </p:sp>
    </p:spTree>
    <p:extLst>
      <p:ext uri="{BB962C8B-B14F-4D97-AF65-F5344CB8AC3E}">
        <p14:creationId xmlns:p14="http://schemas.microsoft.com/office/powerpoint/2010/main" val="2226338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1BB7274-DE8F-B7B5-83AA-0C0746348EE8}"/>
              </a:ext>
            </a:extLst>
          </p:cNvPr>
          <p:cNvSpPr txBox="1"/>
          <p:nvPr/>
        </p:nvSpPr>
        <p:spPr>
          <a:xfrm>
            <a:off x="269822" y="209862"/>
            <a:ext cx="11647358" cy="830997"/>
          </a:xfrm>
          <a:prstGeom prst="rect">
            <a:avLst/>
          </a:prstGeom>
          <a:noFill/>
        </p:spPr>
        <p:txBody>
          <a:bodyPr wrap="square" rtlCol="0">
            <a:spAutoFit/>
          </a:bodyPr>
          <a:lstStyle/>
          <a:p>
            <a:r>
              <a:rPr lang="en-LU" sz="2400" dirty="0"/>
              <a:t>2. Scaling Strategies fro Data Analytics</a:t>
            </a:r>
          </a:p>
          <a:p>
            <a:r>
              <a:rPr lang="en-LU" sz="2400" dirty="0"/>
              <a:t>	When single-node optimization is sufficient?</a:t>
            </a:r>
          </a:p>
        </p:txBody>
      </p:sp>
      <p:sp>
        <p:nvSpPr>
          <p:cNvPr id="5" name="TextBox 4">
            <a:extLst>
              <a:ext uri="{FF2B5EF4-FFF2-40B4-BE49-F238E27FC236}">
                <a16:creationId xmlns:a16="http://schemas.microsoft.com/office/drawing/2014/main" id="{62263DB2-D675-EEF1-51EC-1D13F12A4F9A}"/>
              </a:ext>
            </a:extLst>
          </p:cNvPr>
          <p:cNvSpPr txBox="1"/>
          <p:nvPr/>
        </p:nvSpPr>
        <p:spPr>
          <a:xfrm>
            <a:off x="269822" y="1261873"/>
            <a:ext cx="11405116" cy="923330"/>
          </a:xfrm>
          <a:prstGeom prst="rect">
            <a:avLst/>
          </a:prstGeom>
          <a:noFill/>
        </p:spPr>
        <p:txBody>
          <a:bodyPr wrap="square" rtlCol="0">
            <a:spAutoFit/>
          </a:bodyPr>
          <a:lstStyle/>
          <a:p>
            <a:r>
              <a:rPr lang="en-LU" dirty="0"/>
              <a:t>In many data analytics scenarios, scaling beyond a single machine is not necessary. </a:t>
            </a:r>
          </a:p>
          <a:p>
            <a:r>
              <a:rPr lang="en-LU" dirty="0"/>
              <a:t>A modern HPC node or server already provides tens to hundreds of CPU cores, large memory capacity, and high memory bandwidth.</a:t>
            </a:r>
          </a:p>
        </p:txBody>
      </p:sp>
      <p:sp>
        <p:nvSpPr>
          <p:cNvPr id="6" name="TextBox 5">
            <a:extLst>
              <a:ext uri="{FF2B5EF4-FFF2-40B4-BE49-F238E27FC236}">
                <a16:creationId xmlns:a16="http://schemas.microsoft.com/office/drawing/2014/main" id="{EEB7032E-19AA-6289-FA25-2E34D39DCA6E}"/>
              </a:ext>
            </a:extLst>
          </p:cNvPr>
          <p:cNvSpPr txBox="1"/>
          <p:nvPr/>
        </p:nvSpPr>
        <p:spPr>
          <a:xfrm>
            <a:off x="269822" y="2400821"/>
            <a:ext cx="10899648" cy="4247317"/>
          </a:xfrm>
          <a:prstGeom prst="rect">
            <a:avLst/>
          </a:prstGeom>
          <a:noFill/>
        </p:spPr>
        <p:txBody>
          <a:bodyPr wrap="square" rtlCol="0">
            <a:spAutoFit/>
          </a:bodyPr>
          <a:lstStyle/>
          <a:p>
            <a:r>
              <a:rPr lang="en-LU" dirty="0"/>
              <a:t>Single-node optimization is typically sufficient when:</a:t>
            </a:r>
          </a:p>
          <a:p>
            <a:pPr marL="742950" lvl="1" indent="-285750">
              <a:buFont typeface="Arial" panose="020B0604020202020204" pitchFamily="34" charset="0"/>
              <a:buChar char="•"/>
            </a:pPr>
            <a:r>
              <a:rPr lang="en-GB" dirty="0"/>
              <a:t>T</a:t>
            </a:r>
            <a:r>
              <a:rPr lang="en-LU" dirty="0"/>
              <a:t>he dataset fits in memory (or can be processed efficiently in chunks)</a:t>
            </a:r>
          </a:p>
          <a:p>
            <a:pPr marL="742950" lvl="1" indent="-285750">
              <a:buFont typeface="Arial" panose="020B0604020202020204" pitchFamily="34" charset="0"/>
              <a:buChar char="•"/>
            </a:pPr>
            <a:r>
              <a:rPr lang="en-GB" dirty="0"/>
              <a:t>T</a:t>
            </a:r>
            <a:r>
              <a:rPr lang="en-LU" dirty="0"/>
              <a:t>he workload is memory-bound rather than communication-bound</a:t>
            </a:r>
          </a:p>
          <a:p>
            <a:pPr marL="742950" lvl="1" indent="-285750">
              <a:buFont typeface="Arial" panose="020B0604020202020204" pitchFamily="34" charset="0"/>
              <a:buChar char="•"/>
            </a:pPr>
            <a:r>
              <a:rPr lang="en-GB" dirty="0"/>
              <a:t>T</a:t>
            </a:r>
            <a:r>
              <a:rPr lang="en-LU" dirty="0"/>
              <a:t>he problem can be parallelised across CPU cores without heavy inter-processing communication</a:t>
            </a:r>
          </a:p>
          <a:p>
            <a:pPr marL="742950" lvl="1" indent="-285750">
              <a:buFont typeface="Arial" panose="020B0604020202020204" pitchFamily="34" charset="0"/>
              <a:buChar char="•"/>
            </a:pPr>
            <a:r>
              <a:rPr lang="en-GB" dirty="0"/>
              <a:t>T</a:t>
            </a:r>
            <a:r>
              <a:rPr lang="en-LU" dirty="0"/>
              <a:t>he total runtime is acceptable within operational consttraints </a:t>
            </a:r>
          </a:p>
          <a:p>
            <a:pPr marL="742950" lvl="1" indent="-285750">
              <a:buFont typeface="Arial" panose="020B0604020202020204" pitchFamily="34" charset="0"/>
              <a:buChar char="•"/>
            </a:pPr>
            <a:r>
              <a:rPr lang="en-GB" dirty="0"/>
              <a:t>T</a:t>
            </a:r>
            <a:r>
              <a:rPr lang="en-LU" dirty="0"/>
              <a:t>he pipeline is iterative or exploratory, where fast development and debugging are required.</a:t>
            </a:r>
          </a:p>
          <a:p>
            <a:pPr lvl="1"/>
            <a:endParaRPr lang="en-LU" dirty="0"/>
          </a:p>
          <a:p>
            <a:r>
              <a:rPr lang="en-LU" dirty="0"/>
              <a:t>Working on a single node provides several important benefits:</a:t>
            </a:r>
          </a:p>
          <a:p>
            <a:pPr marL="742950" lvl="1" indent="-285750">
              <a:buFont typeface="Arial" panose="020B0604020202020204" pitchFamily="34" charset="0"/>
              <a:buChar char="•"/>
            </a:pPr>
            <a:r>
              <a:rPr lang="en-GB" dirty="0"/>
              <a:t>N</a:t>
            </a:r>
            <a:r>
              <a:rPr lang="en-LU" dirty="0"/>
              <a:t>o network communication overhead</a:t>
            </a:r>
          </a:p>
          <a:p>
            <a:pPr marL="742950" lvl="1" indent="-285750">
              <a:buFont typeface="Arial" panose="020B0604020202020204" pitchFamily="34" charset="0"/>
              <a:buChar char="•"/>
            </a:pPr>
            <a:r>
              <a:rPr lang="en-GB" dirty="0"/>
              <a:t>S</a:t>
            </a:r>
            <a:r>
              <a:rPr lang="en-LU" dirty="0"/>
              <a:t>impler programming model</a:t>
            </a:r>
          </a:p>
          <a:p>
            <a:pPr marL="742950" lvl="1" indent="-285750">
              <a:buFont typeface="Arial" panose="020B0604020202020204" pitchFamily="34" charset="0"/>
              <a:buChar char="•"/>
            </a:pPr>
            <a:r>
              <a:rPr lang="en-GB" dirty="0"/>
              <a:t>L</a:t>
            </a:r>
            <a:r>
              <a:rPr lang="en-LU" dirty="0"/>
              <a:t>ower operational complexity</a:t>
            </a:r>
          </a:p>
          <a:p>
            <a:pPr marL="742950" lvl="1" indent="-285750">
              <a:buFont typeface="Arial" panose="020B0604020202020204" pitchFamily="34" charset="0"/>
              <a:buChar char="•"/>
            </a:pPr>
            <a:r>
              <a:rPr lang="en-GB" dirty="0"/>
              <a:t>B</a:t>
            </a:r>
            <a:r>
              <a:rPr lang="en-LU" dirty="0"/>
              <a:t>etter cache and memory locality</a:t>
            </a:r>
          </a:p>
          <a:p>
            <a:pPr marL="742950" lvl="1" indent="-285750">
              <a:buFont typeface="Arial" panose="020B0604020202020204" pitchFamily="34" charset="0"/>
              <a:buChar char="•"/>
            </a:pPr>
            <a:r>
              <a:rPr lang="en-GB" dirty="0"/>
              <a:t>E</a:t>
            </a:r>
            <a:r>
              <a:rPr lang="en-LU" dirty="0"/>
              <a:t>asier reproducibility and debugging</a:t>
            </a:r>
          </a:p>
          <a:p>
            <a:endParaRPr lang="en-LU" dirty="0"/>
          </a:p>
          <a:p>
            <a:r>
              <a:rPr lang="en-LU" dirty="0"/>
              <a:t>Always optimize single node performance first, and move to distributed computing only when necessary.</a:t>
            </a:r>
          </a:p>
        </p:txBody>
      </p:sp>
    </p:spTree>
    <p:extLst>
      <p:ext uri="{BB962C8B-B14F-4D97-AF65-F5344CB8AC3E}">
        <p14:creationId xmlns:p14="http://schemas.microsoft.com/office/powerpoint/2010/main" val="9175436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35E7FA-2C88-0715-C9E2-BBD005D72E6F}"/>
              </a:ext>
            </a:extLst>
          </p:cNvPr>
          <p:cNvSpPr txBox="1"/>
          <p:nvPr/>
        </p:nvSpPr>
        <p:spPr>
          <a:xfrm>
            <a:off x="269822" y="209862"/>
            <a:ext cx="11647358" cy="830997"/>
          </a:xfrm>
          <a:prstGeom prst="rect">
            <a:avLst/>
          </a:prstGeom>
          <a:noFill/>
        </p:spPr>
        <p:txBody>
          <a:bodyPr wrap="square" rtlCol="0">
            <a:spAutoFit/>
          </a:bodyPr>
          <a:lstStyle/>
          <a:p>
            <a:r>
              <a:rPr lang="en-LU" sz="2400" dirty="0"/>
              <a:t>2. Scaling Strategies fro Data Analytics</a:t>
            </a:r>
          </a:p>
          <a:p>
            <a:r>
              <a:rPr lang="en-LU" sz="2400" dirty="0"/>
              <a:t>	Distributed computing fundamentals</a:t>
            </a:r>
          </a:p>
        </p:txBody>
      </p:sp>
      <p:sp>
        <p:nvSpPr>
          <p:cNvPr id="5" name="TextBox 4">
            <a:extLst>
              <a:ext uri="{FF2B5EF4-FFF2-40B4-BE49-F238E27FC236}">
                <a16:creationId xmlns:a16="http://schemas.microsoft.com/office/drawing/2014/main" id="{67A11842-C7D2-2481-5D8C-12E1A951BF92}"/>
              </a:ext>
            </a:extLst>
          </p:cNvPr>
          <p:cNvSpPr txBox="1"/>
          <p:nvPr/>
        </p:nvSpPr>
        <p:spPr>
          <a:xfrm>
            <a:off x="132412" y="1040859"/>
            <a:ext cx="11922178" cy="5355312"/>
          </a:xfrm>
          <a:prstGeom prst="rect">
            <a:avLst/>
          </a:prstGeom>
          <a:noFill/>
        </p:spPr>
        <p:txBody>
          <a:bodyPr wrap="square" rtlCol="0">
            <a:spAutoFit/>
          </a:bodyPr>
          <a:lstStyle/>
          <a:p>
            <a:r>
              <a:rPr lang="en-GB" dirty="0"/>
              <a:t>Distributed computing means executing a single data analytics workload across multiple machines (nodes) that work together over a network.</a:t>
            </a:r>
          </a:p>
          <a:p>
            <a:endParaRPr lang="en-LU" dirty="0"/>
          </a:p>
          <a:p>
            <a:r>
              <a:rPr lang="en-GB" dirty="0"/>
              <a:t>Instead of relying on one machine’s CPU and memory, we aggregate resources across many nodes to process larger datasets and reduce runtime.</a:t>
            </a:r>
          </a:p>
          <a:p>
            <a:endParaRPr lang="en-LU" dirty="0"/>
          </a:p>
          <a:p>
            <a:r>
              <a:rPr lang="en-LU" dirty="0"/>
              <a:t>Principle: divide the data and the computations, execute tasks in parallel across nodes, and combine the results.</a:t>
            </a:r>
          </a:p>
          <a:p>
            <a:endParaRPr lang="en-LU" dirty="0"/>
          </a:p>
          <a:p>
            <a:r>
              <a:rPr lang="en-GB" dirty="0"/>
              <a:t>T</a:t>
            </a:r>
            <a:r>
              <a:rPr lang="en-LU" dirty="0"/>
              <a:t>his involves three fundamental steps:</a:t>
            </a:r>
          </a:p>
          <a:p>
            <a:pPr marL="285750" indent="-285750">
              <a:buFont typeface="Arial" panose="020B0604020202020204" pitchFamily="34" charset="0"/>
              <a:buChar char="•"/>
            </a:pPr>
            <a:r>
              <a:rPr lang="en-LU" dirty="0"/>
              <a:t>Partition the dataset into independent chunks</a:t>
            </a:r>
          </a:p>
          <a:p>
            <a:pPr marL="285750" indent="-285750">
              <a:buFont typeface="Arial" panose="020B0604020202020204" pitchFamily="34" charset="0"/>
              <a:buChar char="•"/>
            </a:pPr>
            <a:r>
              <a:rPr lang="en-LU" dirty="0"/>
              <a:t>Distribute tasks across multiple nodes</a:t>
            </a:r>
          </a:p>
          <a:p>
            <a:pPr marL="285750" indent="-285750">
              <a:buFont typeface="Arial" panose="020B0604020202020204" pitchFamily="34" charset="0"/>
              <a:buChar char="•"/>
            </a:pPr>
            <a:r>
              <a:rPr lang="en-LU" dirty="0"/>
              <a:t>Aggregate partial results into final output</a:t>
            </a:r>
          </a:p>
          <a:p>
            <a:endParaRPr lang="en-LU" dirty="0"/>
          </a:p>
          <a:p>
            <a:pPr marL="285750" indent="-285750">
              <a:buFont typeface="Arial" panose="020B0604020202020204" pitchFamily="34" charset="0"/>
              <a:buChar char="•"/>
            </a:pPr>
            <a:endParaRPr lang="en-LU" dirty="0"/>
          </a:p>
          <a:p>
            <a:r>
              <a:rPr lang="en-GB" dirty="0"/>
              <a:t>A distributed analytics system typically consists of:</a:t>
            </a:r>
          </a:p>
          <a:p>
            <a:pPr marL="285750" indent="-285750">
              <a:buFont typeface="Arial" panose="020B0604020202020204" pitchFamily="34" charset="0"/>
              <a:buChar char="•"/>
            </a:pPr>
            <a:r>
              <a:rPr lang="en-GB" dirty="0"/>
              <a:t>Compute nodes (each with CPU, memory, and local storage)</a:t>
            </a:r>
          </a:p>
          <a:p>
            <a:pPr marL="285750" indent="-285750">
              <a:buFont typeface="Arial" panose="020B0604020202020204" pitchFamily="34" charset="0"/>
              <a:buChar char="•"/>
            </a:pPr>
            <a:r>
              <a:rPr lang="en-GB" dirty="0"/>
              <a:t>Interconnect network (for data exchange between nodes)</a:t>
            </a:r>
          </a:p>
          <a:p>
            <a:pPr marL="285750" indent="-285750">
              <a:buFont typeface="Arial" panose="020B0604020202020204" pitchFamily="34" charset="0"/>
              <a:buChar char="•"/>
            </a:pPr>
            <a:r>
              <a:rPr lang="en-GB" dirty="0"/>
              <a:t>Distributed scheduler (assigns tasks and manages execution)</a:t>
            </a:r>
          </a:p>
          <a:p>
            <a:pPr marL="285750" indent="-285750">
              <a:buFont typeface="Arial" panose="020B0604020202020204" pitchFamily="34" charset="0"/>
              <a:buChar char="•"/>
            </a:pPr>
            <a:r>
              <a:rPr lang="en-GB" dirty="0"/>
              <a:t>Shared or distributed storage system (parallel file systems or object storage)</a:t>
            </a:r>
          </a:p>
        </p:txBody>
      </p:sp>
    </p:spTree>
    <p:extLst>
      <p:ext uri="{BB962C8B-B14F-4D97-AF65-F5344CB8AC3E}">
        <p14:creationId xmlns:p14="http://schemas.microsoft.com/office/powerpoint/2010/main" val="13947076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CF1B89-7069-D2B1-D285-FA407AA2BE18}"/>
              </a:ext>
            </a:extLst>
          </p:cNvPr>
          <p:cNvSpPr txBox="1"/>
          <p:nvPr/>
        </p:nvSpPr>
        <p:spPr>
          <a:xfrm>
            <a:off x="269822" y="209862"/>
            <a:ext cx="11647358" cy="830997"/>
          </a:xfrm>
          <a:prstGeom prst="rect">
            <a:avLst/>
          </a:prstGeom>
          <a:noFill/>
        </p:spPr>
        <p:txBody>
          <a:bodyPr wrap="square" rtlCol="0">
            <a:spAutoFit/>
          </a:bodyPr>
          <a:lstStyle/>
          <a:p>
            <a:r>
              <a:rPr lang="en-LU" sz="2400" dirty="0"/>
              <a:t>2. Scaling Strategies fro Data Analytics</a:t>
            </a:r>
          </a:p>
          <a:p>
            <a:r>
              <a:rPr lang="en-LU" sz="2400" dirty="0"/>
              <a:t>	Distributed computing fundamentals</a:t>
            </a:r>
          </a:p>
        </p:txBody>
      </p:sp>
      <p:sp>
        <p:nvSpPr>
          <p:cNvPr id="5" name="TextBox 4">
            <a:extLst>
              <a:ext uri="{FF2B5EF4-FFF2-40B4-BE49-F238E27FC236}">
                <a16:creationId xmlns:a16="http://schemas.microsoft.com/office/drawing/2014/main" id="{F73D6725-3629-4723-9777-7A65C9ABA125}"/>
              </a:ext>
            </a:extLst>
          </p:cNvPr>
          <p:cNvSpPr txBox="1"/>
          <p:nvPr/>
        </p:nvSpPr>
        <p:spPr>
          <a:xfrm>
            <a:off x="141806" y="1040859"/>
            <a:ext cx="7978066" cy="5632311"/>
          </a:xfrm>
          <a:prstGeom prst="rect">
            <a:avLst/>
          </a:prstGeom>
          <a:noFill/>
        </p:spPr>
        <p:txBody>
          <a:bodyPr wrap="square" rtlCol="0">
            <a:spAutoFit/>
          </a:bodyPr>
          <a:lstStyle/>
          <a:p>
            <a:r>
              <a:rPr lang="en-GB" dirty="0"/>
              <a:t>Distributed performance depends on balancing:</a:t>
            </a:r>
          </a:p>
          <a:p>
            <a:pPr marL="285750" indent="-285750">
              <a:buFont typeface="Arial" panose="020B0604020202020204" pitchFamily="34" charset="0"/>
              <a:buChar char="•"/>
            </a:pPr>
            <a:r>
              <a:rPr lang="en-GB" dirty="0"/>
              <a:t>Computation vs communication</a:t>
            </a:r>
          </a:p>
          <a:p>
            <a:pPr marL="285750" indent="-285750">
              <a:buFont typeface="Arial" panose="020B0604020202020204" pitchFamily="34" charset="0"/>
              <a:buChar char="•"/>
            </a:pPr>
            <a:r>
              <a:rPr lang="en-GB" dirty="0"/>
              <a:t>Data locality (processing data where it is stored)</a:t>
            </a:r>
          </a:p>
          <a:p>
            <a:pPr marL="285750" indent="-285750">
              <a:buFont typeface="Arial" panose="020B0604020202020204" pitchFamily="34" charset="0"/>
              <a:buChar char="•"/>
            </a:pPr>
            <a:r>
              <a:rPr lang="en-GB" dirty="0"/>
              <a:t>Task granularity (size and number of tasks)</a:t>
            </a:r>
          </a:p>
          <a:p>
            <a:pPr marL="285750" indent="-285750">
              <a:buFont typeface="Arial" panose="020B0604020202020204" pitchFamily="34" charset="0"/>
              <a:buChar char="•"/>
            </a:pPr>
            <a:r>
              <a:rPr lang="en-GB" dirty="0"/>
              <a:t>Network bandwidth and latency</a:t>
            </a:r>
          </a:p>
          <a:p>
            <a:endParaRPr lang="en-GB" dirty="0"/>
          </a:p>
          <a:p>
            <a:r>
              <a:rPr lang="en-GB" dirty="0"/>
              <a:t>Poor balance leads to communication bottlenecks, load imbalance, </a:t>
            </a:r>
          </a:p>
          <a:p>
            <a:r>
              <a:rPr lang="en-GB" dirty="0"/>
              <a:t>and inefficient scaling</a:t>
            </a:r>
          </a:p>
          <a:p>
            <a:endParaRPr lang="en-LU" dirty="0"/>
          </a:p>
          <a:p>
            <a:r>
              <a:rPr lang="en-GB" dirty="0"/>
              <a:t>Types of distributed workloads:</a:t>
            </a:r>
          </a:p>
          <a:p>
            <a:pPr marL="285750" indent="-285750">
              <a:buFont typeface="Arial" panose="020B0604020202020204" pitchFamily="34" charset="0"/>
              <a:buChar char="•"/>
            </a:pPr>
            <a:r>
              <a:rPr lang="en-GB" dirty="0"/>
              <a:t>Embarrassingly parallel</a:t>
            </a:r>
          </a:p>
          <a:p>
            <a:pPr marL="285750" indent="-285750">
              <a:buFont typeface="Arial" panose="020B0604020202020204" pitchFamily="34" charset="0"/>
              <a:buChar char="•"/>
            </a:pPr>
            <a:r>
              <a:rPr lang="en-GB" dirty="0"/>
              <a:t>Independent tasks with minimal communication → scale very well</a:t>
            </a:r>
          </a:p>
          <a:p>
            <a:pPr marL="285750" indent="-285750">
              <a:buFont typeface="Arial" panose="020B0604020202020204" pitchFamily="34" charset="0"/>
              <a:buChar char="•"/>
            </a:pPr>
            <a:r>
              <a:rPr lang="en-GB" dirty="0"/>
              <a:t>Communication-heavy workloads</a:t>
            </a:r>
          </a:p>
          <a:p>
            <a:r>
              <a:rPr lang="en-GB" dirty="0"/>
              <a:t>(joins, shuffles, aggregations) → limited by network and coordination overhead</a:t>
            </a:r>
          </a:p>
          <a:p>
            <a:endParaRPr lang="en-GB" dirty="0"/>
          </a:p>
          <a:p>
            <a:r>
              <a:rPr lang="en-GB" dirty="0"/>
              <a:t>Key challenges:</a:t>
            </a:r>
          </a:p>
          <a:p>
            <a:pPr marL="285750" indent="-285750">
              <a:buFont typeface="Arial" panose="020B0604020202020204" pitchFamily="34" charset="0"/>
              <a:buChar char="•"/>
            </a:pPr>
            <a:r>
              <a:rPr lang="en-GB" dirty="0"/>
              <a:t>data partitioning and distribution</a:t>
            </a:r>
          </a:p>
          <a:p>
            <a:pPr marL="285750" indent="-285750">
              <a:buFont typeface="Arial" panose="020B0604020202020204" pitchFamily="34" charset="0"/>
              <a:buChar char="•"/>
            </a:pPr>
            <a:r>
              <a:rPr lang="en-GB" dirty="0"/>
              <a:t>synchronization and task coordination</a:t>
            </a:r>
          </a:p>
          <a:p>
            <a:pPr marL="285750" indent="-285750">
              <a:buFont typeface="Arial" panose="020B0604020202020204" pitchFamily="34" charset="0"/>
              <a:buChar char="•"/>
            </a:pPr>
            <a:r>
              <a:rPr lang="en-GB" dirty="0"/>
              <a:t>fault tolerance and node failures</a:t>
            </a:r>
          </a:p>
          <a:p>
            <a:pPr marL="285750" indent="-285750">
              <a:buFont typeface="Arial" panose="020B0604020202020204" pitchFamily="34" charset="0"/>
              <a:buChar char="•"/>
            </a:pPr>
            <a:r>
              <a:rPr lang="en-GB" dirty="0"/>
              <a:t>serialization and data movement overhead</a:t>
            </a:r>
          </a:p>
        </p:txBody>
      </p:sp>
      <p:sp>
        <p:nvSpPr>
          <p:cNvPr id="6" name="TextBox 5">
            <a:extLst>
              <a:ext uri="{FF2B5EF4-FFF2-40B4-BE49-F238E27FC236}">
                <a16:creationId xmlns:a16="http://schemas.microsoft.com/office/drawing/2014/main" id="{3ED86147-3271-9F6F-C773-000F989648EC}"/>
              </a:ext>
            </a:extLst>
          </p:cNvPr>
          <p:cNvSpPr txBox="1"/>
          <p:nvPr/>
        </p:nvSpPr>
        <p:spPr>
          <a:xfrm>
            <a:off x="8317742" y="2702852"/>
            <a:ext cx="3401568" cy="2308324"/>
          </a:xfrm>
          <a:prstGeom prst="rect">
            <a:avLst/>
          </a:prstGeom>
          <a:noFill/>
        </p:spPr>
        <p:txBody>
          <a:bodyPr wrap="square" rtlCol="0">
            <a:spAutoFit/>
          </a:bodyPr>
          <a:lstStyle/>
          <a:p>
            <a:r>
              <a:rPr lang="en-GB" dirty="0"/>
              <a:t>Distributed computing enables analytics at scale, but performance depends on minimizing communication, maximizing parallelism, and keeping computation close to the data.</a:t>
            </a:r>
          </a:p>
          <a:p>
            <a:endParaRPr lang="en-LU" dirty="0"/>
          </a:p>
        </p:txBody>
      </p:sp>
    </p:spTree>
    <p:extLst>
      <p:ext uri="{BB962C8B-B14F-4D97-AF65-F5344CB8AC3E}">
        <p14:creationId xmlns:p14="http://schemas.microsoft.com/office/powerpoint/2010/main" val="40946654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6CBFDD-DA10-E9E7-27E6-C8C3E631FC86}"/>
              </a:ext>
            </a:extLst>
          </p:cNvPr>
          <p:cNvSpPr txBox="1"/>
          <p:nvPr/>
        </p:nvSpPr>
        <p:spPr>
          <a:xfrm>
            <a:off x="269822" y="209862"/>
            <a:ext cx="11647358" cy="830997"/>
          </a:xfrm>
          <a:prstGeom prst="rect">
            <a:avLst/>
          </a:prstGeom>
          <a:noFill/>
        </p:spPr>
        <p:txBody>
          <a:bodyPr wrap="square" rtlCol="0">
            <a:spAutoFit/>
          </a:bodyPr>
          <a:lstStyle/>
          <a:p>
            <a:r>
              <a:rPr lang="en-LU" sz="2400" dirty="0"/>
              <a:t>2. Scaling Strategies fro Data Analytics</a:t>
            </a:r>
          </a:p>
          <a:p>
            <a:r>
              <a:rPr lang="en-LU" sz="2400" dirty="0"/>
              <a:t>	Data partitioning strategies</a:t>
            </a:r>
          </a:p>
        </p:txBody>
      </p:sp>
      <p:sp>
        <p:nvSpPr>
          <p:cNvPr id="5" name="TextBox 4">
            <a:extLst>
              <a:ext uri="{FF2B5EF4-FFF2-40B4-BE49-F238E27FC236}">
                <a16:creationId xmlns:a16="http://schemas.microsoft.com/office/drawing/2014/main" id="{EA8129ED-CF21-63D2-5C92-C1253CF10DDF}"/>
              </a:ext>
            </a:extLst>
          </p:cNvPr>
          <p:cNvSpPr txBox="1"/>
          <p:nvPr/>
        </p:nvSpPr>
        <p:spPr>
          <a:xfrm>
            <a:off x="141806" y="1040859"/>
            <a:ext cx="11647358" cy="5632311"/>
          </a:xfrm>
          <a:prstGeom prst="rect">
            <a:avLst/>
          </a:prstGeom>
          <a:noFill/>
        </p:spPr>
        <p:txBody>
          <a:bodyPr wrap="square" rtlCol="0">
            <a:spAutoFit/>
          </a:bodyPr>
          <a:lstStyle/>
          <a:p>
            <a:r>
              <a:rPr lang="en-GB" dirty="0"/>
              <a:t>Distributed analytics performance depends critically on how data is partitioned across nodes.</a:t>
            </a:r>
          </a:p>
          <a:p>
            <a:r>
              <a:rPr lang="en-GB" dirty="0"/>
              <a:t>A good partitioning strategy minimizes data movement, balances workload, and aligns with the computation pattern.</a:t>
            </a:r>
            <a:endParaRPr lang="en-LU" dirty="0"/>
          </a:p>
          <a:p>
            <a:endParaRPr lang="en-LU" dirty="0"/>
          </a:p>
          <a:p>
            <a:r>
              <a:rPr lang="en-GB" b="1" dirty="0"/>
              <a:t>Row-based partitioning (horizontal partitioning):</a:t>
            </a:r>
            <a:endParaRPr lang="en-GB" dirty="0"/>
          </a:p>
          <a:p>
            <a:r>
              <a:rPr lang="en-GB" dirty="0"/>
              <a:t>Data is split by </a:t>
            </a:r>
            <a:r>
              <a:rPr lang="en-GB" b="1" dirty="0"/>
              <a:t>rows</a:t>
            </a:r>
            <a:r>
              <a:rPr lang="en-GB" dirty="0"/>
              <a:t>, and each partition contains a subset of records with all columns.</a:t>
            </a:r>
          </a:p>
          <a:p>
            <a:r>
              <a:rPr lang="en-GB" dirty="0"/>
              <a:t>Common in tabular analytics (e.g. event logs, transactions)</a:t>
            </a:r>
          </a:p>
          <a:p>
            <a:r>
              <a:rPr lang="en-GB" dirty="0"/>
              <a:t>Works well for </a:t>
            </a:r>
            <a:r>
              <a:rPr lang="en-GB" b="1" dirty="0"/>
              <a:t>filtering, aggregations, and map-style operations</a:t>
            </a:r>
            <a:endParaRPr lang="en-GB" dirty="0"/>
          </a:p>
          <a:p>
            <a:r>
              <a:rPr lang="en-GB" dirty="0"/>
              <a:t>Enables </a:t>
            </a:r>
            <a:r>
              <a:rPr lang="en-GB" b="1" dirty="0"/>
              <a:t>independent parallel processing per partition</a:t>
            </a:r>
          </a:p>
          <a:p>
            <a:endParaRPr lang="en-GB" b="1" dirty="0"/>
          </a:p>
          <a:p>
            <a:r>
              <a:rPr lang="en-GB" b="1" dirty="0"/>
              <a:t>Column-based partitioning (vertical partitioning):</a:t>
            </a:r>
            <a:endParaRPr lang="en-GB" dirty="0"/>
          </a:p>
          <a:p>
            <a:r>
              <a:rPr lang="en-GB" dirty="0"/>
              <a:t>Data is split by </a:t>
            </a:r>
            <a:r>
              <a:rPr lang="en-GB" b="1" dirty="0"/>
              <a:t>columns</a:t>
            </a:r>
            <a:r>
              <a:rPr lang="en-GB" dirty="0"/>
              <a:t>, storing subsets of variables separately.</a:t>
            </a:r>
          </a:p>
          <a:p>
            <a:r>
              <a:rPr lang="en-GB" dirty="0"/>
              <a:t>Typical in </a:t>
            </a:r>
            <a:r>
              <a:rPr lang="en-GB" b="1" dirty="0"/>
              <a:t>columnar formats</a:t>
            </a:r>
            <a:r>
              <a:rPr lang="en-GB" dirty="0"/>
              <a:t> (Parquet, Arrow, </a:t>
            </a:r>
            <a:r>
              <a:rPr lang="en-GB" dirty="0" err="1"/>
              <a:t>NetCDF</a:t>
            </a:r>
            <a:r>
              <a:rPr lang="en-GB" dirty="0"/>
              <a:t>)</a:t>
            </a:r>
          </a:p>
          <a:p>
            <a:r>
              <a:rPr lang="en-GB" dirty="0"/>
              <a:t>Efficient for </a:t>
            </a:r>
            <a:r>
              <a:rPr lang="en-GB" b="1" dirty="0"/>
              <a:t>analytical queries that access only a few columns</a:t>
            </a:r>
            <a:endParaRPr lang="en-GB" dirty="0"/>
          </a:p>
          <a:p>
            <a:r>
              <a:rPr lang="en-GB" dirty="0"/>
              <a:t>Reduces I/O and improves </a:t>
            </a:r>
            <a:r>
              <a:rPr lang="en-GB" b="1" dirty="0"/>
              <a:t>cache and memory locality</a:t>
            </a:r>
            <a:endParaRPr lang="en-GB" dirty="0"/>
          </a:p>
          <a:p>
            <a:endParaRPr lang="en-GB" dirty="0"/>
          </a:p>
          <a:p>
            <a:r>
              <a:rPr lang="en-GB" b="1" dirty="0"/>
              <a:t>Hash-based partitioning:</a:t>
            </a:r>
            <a:endParaRPr lang="en-GB" dirty="0"/>
          </a:p>
          <a:p>
            <a:r>
              <a:rPr lang="en-GB" dirty="0"/>
              <a:t>Data is distributed across nodes using a </a:t>
            </a:r>
            <a:r>
              <a:rPr lang="en-GB" b="1" dirty="0"/>
              <a:t>hash function on a key</a:t>
            </a:r>
            <a:r>
              <a:rPr lang="en-GB" dirty="0"/>
              <a:t> (e.g. user ID, region).</a:t>
            </a:r>
          </a:p>
          <a:p>
            <a:r>
              <a:rPr lang="en-GB" dirty="0"/>
              <a:t>Ensures </a:t>
            </a:r>
            <a:r>
              <a:rPr lang="en-GB" b="1" dirty="0"/>
              <a:t>even load distribution across nodes</a:t>
            </a:r>
            <a:endParaRPr lang="en-GB" dirty="0"/>
          </a:p>
          <a:p>
            <a:r>
              <a:rPr lang="en-GB" dirty="0"/>
              <a:t>Critical for </a:t>
            </a:r>
            <a:r>
              <a:rPr lang="en-GB" b="1" dirty="0"/>
              <a:t>distributed joins and group-by operations</a:t>
            </a:r>
            <a:endParaRPr lang="en-GB" dirty="0"/>
          </a:p>
          <a:p>
            <a:r>
              <a:rPr lang="en-GB" dirty="0"/>
              <a:t>All records with the same key are located in the same partition</a:t>
            </a:r>
          </a:p>
        </p:txBody>
      </p:sp>
    </p:spTree>
    <p:extLst>
      <p:ext uri="{BB962C8B-B14F-4D97-AF65-F5344CB8AC3E}">
        <p14:creationId xmlns:p14="http://schemas.microsoft.com/office/powerpoint/2010/main" val="9620766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8ACE41F-1AB5-A3C4-019B-3CF828E424E1}"/>
              </a:ext>
            </a:extLst>
          </p:cNvPr>
          <p:cNvSpPr txBox="1"/>
          <p:nvPr/>
        </p:nvSpPr>
        <p:spPr>
          <a:xfrm>
            <a:off x="269822" y="209862"/>
            <a:ext cx="11647358" cy="830997"/>
          </a:xfrm>
          <a:prstGeom prst="rect">
            <a:avLst/>
          </a:prstGeom>
          <a:noFill/>
        </p:spPr>
        <p:txBody>
          <a:bodyPr wrap="square" rtlCol="0">
            <a:spAutoFit/>
          </a:bodyPr>
          <a:lstStyle/>
          <a:p>
            <a:r>
              <a:rPr lang="en-LU" sz="2400" dirty="0"/>
              <a:t>2. Scaling Strategies fro Data Analytics</a:t>
            </a:r>
          </a:p>
          <a:p>
            <a:r>
              <a:rPr lang="en-LU" sz="2400" dirty="0"/>
              <a:t>	Communication Patterns in Distributed Analytics</a:t>
            </a:r>
          </a:p>
        </p:txBody>
      </p:sp>
      <p:sp>
        <p:nvSpPr>
          <p:cNvPr id="5" name="TextBox 4">
            <a:extLst>
              <a:ext uri="{FF2B5EF4-FFF2-40B4-BE49-F238E27FC236}">
                <a16:creationId xmlns:a16="http://schemas.microsoft.com/office/drawing/2014/main" id="{4B2A2C2A-13A5-71D0-E9C4-9AD1D3EA9E8C}"/>
              </a:ext>
            </a:extLst>
          </p:cNvPr>
          <p:cNvSpPr txBox="1"/>
          <p:nvPr/>
        </p:nvSpPr>
        <p:spPr>
          <a:xfrm>
            <a:off x="219456" y="1444752"/>
            <a:ext cx="11631168" cy="5078313"/>
          </a:xfrm>
          <a:prstGeom prst="rect">
            <a:avLst/>
          </a:prstGeom>
          <a:noFill/>
        </p:spPr>
        <p:txBody>
          <a:bodyPr wrap="square" rtlCol="0">
            <a:spAutoFit/>
          </a:bodyPr>
          <a:lstStyle/>
          <a:p>
            <a:r>
              <a:rPr lang="en-GB" dirty="0"/>
              <a:t>The scalability of distributed data analytics is largely determined by </a:t>
            </a:r>
            <a:r>
              <a:rPr lang="en-GB" b="1" dirty="0"/>
              <a:t>how much communication is required between nodes</a:t>
            </a:r>
            <a:r>
              <a:rPr lang="en-GB" dirty="0"/>
              <a:t> during computation.</a:t>
            </a:r>
          </a:p>
          <a:p>
            <a:endParaRPr lang="en-LU" dirty="0"/>
          </a:p>
          <a:p>
            <a:r>
              <a:rPr lang="en-GB" b="1" dirty="0"/>
              <a:t>Embarrassingly parallel workloads:</a:t>
            </a:r>
            <a:endParaRPr lang="en-GB" dirty="0"/>
          </a:p>
          <a:p>
            <a:r>
              <a:rPr lang="en-GB" dirty="0"/>
              <a:t>These workloads consist of </a:t>
            </a:r>
            <a:r>
              <a:rPr lang="en-GB" b="1" dirty="0"/>
              <a:t>independent tasks with no or minimal communication between nodes</a:t>
            </a:r>
            <a:r>
              <a:rPr lang="en-GB" dirty="0"/>
              <a:t>.</a:t>
            </a:r>
          </a:p>
          <a:p>
            <a:r>
              <a:rPr lang="en-GB" dirty="0"/>
              <a:t>Each partition is processed locally and independently</a:t>
            </a:r>
          </a:p>
          <a:p>
            <a:r>
              <a:rPr lang="en-GB" dirty="0"/>
              <a:t>No need to exchange intermediate data</a:t>
            </a:r>
          </a:p>
          <a:p>
            <a:r>
              <a:rPr lang="en-GB" dirty="0"/>
              <a:t>Examples: filtering, simple transformations, per-partition statistics, map-style operations</a:t>
            </a:r>
          </a:p>
          <a:p>
            <a:endParaRPr lang="en-LU" dirty="0"/>
          </a:p>
          <a:p>
            <a:r>
              <a:rPr lang="en-GB" b="1" dirty="0"/>
              <a:t>Shuffle-heavy workloads:</a:t>
            </a:r>
            <a:endParaRPr lang="en-GB" dirty="0"/>
          </a:p>
          <a:p>
            <a:r>
              <a:rPr lang="en-GB" dirty="0"/>
              <a:t>These workloads require </a:t>
            </a:r>
            <a:r>
              <a:rPr lang="en-GB" b="1" dirty="0"/>
              <a:t>data to be redistributed across nodes during execution</a:t>
            </a:r>
            <a:r>
              <a:rPr lang="en-GB" dirty="0"/>
              <a:t>.</a:t>
            </a:r>
          </a:p>
          <a:p>
            <a:r>
              <a:rPr lang="en-GB" dirty="0"/>
              <a:t>Records must be </a:t>
            </a:r>
            <a:r>
              <a:rPr lang="en-GB" b="1" dirty="0"/>
              <a:t>repartitioned based on a key</a:t>
            </a:r>
            <a:r>
              <a:rPr lang="en-GB" dirty="0"/>
              <a:t> (e.g. for joins or group-by)</a:t>
            </a:r>
          </a:p>
          <a:p>
            <a:r>
              <a:rPr lang="en-GB" dirty="0"/>
              <a:t>Large volumes of intermediate data are exchanged over the network</a:t>
            </a:r>
          </a:p>
          <a:p>
            <a:endParaRPr lang="en-LU" dirty="0"/>
          </a:p>
          <a:p>
            <a:r>
              <a:rPr lang="en-GB" dirty="0"/>
              <a:t>The difference between these two patterns is often the </a:t>
            </a:r>
            <a:r>
              <a:rPr lang="en-GB" b="1" dirty="0"/>
              <a:t>dominant factor in distributed performance</a:t>
            </a:r>
            <a:r>
              <a:rPr lang="en-GB" dirty="0"/>
              <a:t>:</a:t>
            </a:r>
          </a:p>
          <a:p>
            <a:r>
              <a:rPr lang="en-GB" dirty="0"/>
              <a:t>embarrassingly parallel → </a:t>
            </a:r>
            <a:r>
              <a:rPr lang="en-GB" b="1" dirty="0"/>
              <a:t>compute-bound scaling</a:t>
            </a:r>
            <a:endParaRPr lang="en-GB" dirty="0"/>
          </a:p>
          <a:p>
            <a:r>
              <a:rPr lang="en-GB" dirty="0"/>
              <a:t>shuffle-heavy → </a:t>
            </a:r>
            <a:r>
              <a:rPr lang="en-GB" b="1" dirty="0"/>
              <a:t>communication-bound scaling</a:t>
            </a:r>
            <a:endParaRPr lang="en-GB" dirty="0"/>
          </a:p>
          <a:p>
            <a:endParaRPr lang="en-LU" dirty="0"/>
          </a:p>
        </p:txBody>
      </p:sp>
    </p:spTree>
    <p:extLst>
      <p:ext uri="{BB962C8B-B14F-4D97-AF65-F5344CB8AC3E}">
        <p14:creationId xmlns:p14="http://schemas.microsoft.com/office/powerpoint/2010/main" val="1545116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ACBCAC-05B9-8ACB-A289-7C5D1708350F}"/>
              </a:ext>
            </a:extLst>
          </p:cNvPr>
          <p:cNvSpPr txBox="1"/>
          <p:nvPr/>
        </p:nvSpPr>
        <p:spPr>
          <a:xfrm>
            <a:off x="269822" y="209862"/>
            <a:ext cx="11647358" cy="830997"/>
          </a:xfrm>
          <a:prstGeom prst="rect">
            <a:avLst/>
          </a:prstGeom>
          <a:noFill/>
        </p:spPr>
        <p:txBody>
          <a:bodyPr wrap="square" rtlCol="0">
            <a:spAutoFit/>
          </a:bodyPr>
          <a:lstStyle/>
          <a:p>
            <a:r>
              <a:rPr lang="en-LU" sz="2400" dirty="0"/>
              <a:t>2. Scaling Strategies for Data Analytics</a:t>
            </a:r>
          </a:p>
          <a:p>
            <a:r>
              <a:rPr lang="en-LU" sz="2400" dirty="0"/>
              <a:t>	Fault tolerance and checkpointing in distributed analytics</a:t>
            </a:r>
          </a:p>
        </p:txBody>
      </p:sp>
      <p:sp>
        <p:nvSpPr>
          <p:cNvPr id="5" name="TextBox 4">
            <a:extLst>
              <a:ext uri="{FF2B5EF4-FFF2-40B4-BE49-F238E27FC236}">
                <a16:creationId xmlns:a16="http://schemas.microsoft.com/office/drawing/2014/main" id="{482F9448-383A-6739-9B33-20CD90ABFBBE}"/>
              </a:ext>
            </a:extLst>
          </p:cNvPr>
          <p:cNvSpPr txBox="1"/>
          <p:nvPr/>
        </p:nvSpPr>
        <p:spPr>
          <a:xfrm>
            <a:off x="269822" y="1040859"/>
            <a:ext cx="11647358" cy="5909310"/>
          </a:xfrm>
          <a:prstGeom prst="rect">
            <a:avLst/>
          </a:prstGeom>
          <a:noFill/>
        </p:spPr>
        <p:txBody>
          <a:bodyPr wrap="square" rtlCol="0">
            <a:spAutoFit/>
          </a:bodyPr>
          <a:lstStyle/>
          <a:p>
            <a:r>
              <a:rPr lang="en-GB" dirty="0"/>
              <a:t>In distributed systems, </a:t>
            </a:r>
            <a:r>
              <a:rPr lang="en-GB" b="1" dirty="0"/>
              <a:t>failures are expected</a:t>
            </a:r>
            <a:r>
              <a:rPr lang="en-GB" dirty="0"/>
              <a:t> (node crashes, network interruptions, memory errors).</a:t>
            </a:r>
          </a:p>
          <a:p>
            <a:r>
              <a:rPr lang="en-GB" dirty="0"/>
              <a:t>Fault tolerance ensures that </a:t>
            </a:r>
            <a:r>
              <a:rPr lang="en-GB" b="1" dirty="0"/>
              <a:t>analytics workflows can continue or recover without restarting from scratch</a:t>
            </a:r>
            <a:r>
              <a:rPr lang="en-GB" dirty="0"/>
              <a:t>.</a:t>
            </a:r>
          </a:p>
          <a:p>
            <a:endParaRPr lang="en-GB" dirty="0"/>
          </a:p>
          <a:p>
            <a:r>
              <a:rPr lang="en-GB" b="1" dirty="0"/>
              <a:t>What is fault tolerance?</a:t>
            </a:r>
            <a:endParaRPr lang="en-GB" dirty="0"/>
          </a:p>
          <a:p>
            <a:r>
              <a:rPr lang="en-GB" dirty="0"/>
              <a:t>Fault tolerance is the ability of a system to:</a:t>
            </a:r>
          </a:p>
          <a:p>
            <a:r>
              <a:rPr lang="en-GB" dirty="0"/>
              <a:t>detect failures during execution</a:t>
            </a:r>
          </a:p>
          <a:p>
            <a:r>
              <a:rPr lang="en-GB" dirty="0"/>
              <a:t>recover lost computations or data</a:t>
            </a:r>
          </a:p>
          <a:p>
            <a:r>
              <a:rPr lang="en-GB" dirty="0"/>
              <a:t>continue processing with minimal disruption</a:t>
            </a:r>
          </a:p>
          <a:p>
            <a:endParaRPr lang="en-GB" dirty="0"/>
          </a:p>
          <a:p>
            <a:r>
              <a:rPr lang="en-GB" dirty="0"/>
              <a:t>Frameworks such as </a:t>
            </a:r>
            <a:r>
              <a:rPr lang="en-GB" dirty="0" err="1"/>
              <a:t>Dask</a:t>
            </a:r>
            <a:r>
              <a:rPr lang="en-GB" dirty="0"/>
              <a:t> or Spark achieve this using </a:t>
            </a:r>
            <a:r>
              <a:rPr lang="en-GB" b="1" dirty="0"/>
              <a:t>task graphs, </a:t>
            </a:r>
            <a:r>
              <a:rPr lang="en-GB" b="1" dirty="0" err="1"/>
              <a:t>recomputation</a:t>
            </a:r>
            <a:r>
              <a:rPr lang="en-GB" b="1" dirty="0"/>
              <a:t>, and data replication strategies</a:t>
            </a:r>
            <a:r>
              <a:rPr lang="en-GB" dirty="0"/>
              <a:t>.</a:t>
            </a:r>
          </a:p>
          <a:p>
            <a:endParaRPr lang="en-GB" dirty="0"/>
          </a:p>
          <a:p>
            <a:r>
              <a:rPr lang="en-GB" b="1" dirty="0"/>
              <a:t>Checkpointing: the core mechanism</a:t>
            </a:r>
            <a:endParaRPr lang="en-GB" dirty="0"/>
          </a:p>
          <a:p>
            <a:r>
              <a:rPr lang="en-GB" dirty="0"/>
              <a:t>Checkpointing means </a:t>
            </a:r>
            <a:r>
              <a:rPr lang="en-GB" b="1" dirty="0"/>
              <a:t>periodically saving intermediate results</a:t>
            </a:r>
            <a:r>
              <a:rPr lang="en-GB" dirty="0"/>
              <a:t> so that computation can resume from a known state instead of restarting the full workflow.</a:t>
            </a:r>
          </a:p>
          <a:p>
            <a:endParaRPr lang="en-GB" dirty="0"/>
          </a:p>
          <a:p>
            <a:r>
              <a:rPr lang="en-GB" dirty="0"/>
              <a:t>Two main approaches:</a:t>
            </a:r>
          </a:p>
          <a:p>
            <a:r>
              <a:rPr lang="en-GB" b="1" dirty="0"/>
              <a:t>In-memory lineage (</a:t>
            </a:r>
            <a:r>
              <a:rPr lang="en-GB" b="1" dirty="0" err="1"/>
              <a:t>recomputation</a:t>
            </a:r>
            <a:r>
              <a:rPr lang="en-GB" b="1" dirty="0"/>
              <a:t>)</a:t>
            </a:r>
            <a:endParaRPr lang="en-GB" dirty="0"/>
          </a:p>
          <a:p>
            <a:r>
              <a:rPr lang="en-GB" dirty="0"/>
              <a:t>Rebuild lost data by re-executing tasks from the task graph</a:t>
            </a:r>
          </a:p>
          <a:p>
            <a:r>
              <a:rPr lang="en-GB" b="1" dirty="0"/>
              <a:t>Persistent checkpoints (on disk/storage)</a:t>
            </a:r>
            <a:endParaRPr lang="en-GB" dirty="0"/>
          </a:p>
          <a:p>
            <a:r>
              <a:rPr lang="en-GB" dirty="0"/>
              <a:t>Save intermediate datasets to stable storage (e.g. Parquet files, distributed file systems)</a:t>
            </a:r>
          </a:p>
          <a:p>
            <a:endParaRPr lang="en-GB" dirty="0"/>
          </a:p>
        </p:txBody>
      </p:sp>
    </p:spTree>
    <p:extLst>
      <p:ext uri="{BB962C8B-B14F-4D97-AF65-F5344CB8AC3E}">
        <p14:creationId xmlns:p14="http://schemas.microsoft.com/office/powerpoint/2010/main" val="10898160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4F70B98-C0E4-0760-541A-610724C9DEBA}"/>
              </a:ext>
            </a:extLst>
          </p:cNvPr>
          <p:cNvSpPr txBox="1"/>
          <p:nvPr/>
        </p:nvSpPr>
        <p:spPr>
          <a:xfrm>
            <a:off x="269822" y="209862"/>
            <a:ext cx="11647358" cy="830997"/>
          </a:xfrm>
          <a:prstGeom prst="rect">
            <a:avLst/>
          </a:prstGeom>
          <a:noFill/>
        </p:spPr>
        <p:txBody>
          <a:bodyPr wrap="square" rtlCol="0">
            <a:spAutoFit/>
          </a:bodyPr>
          <a:lstStyle/>
          <a:p>
            <a:r>
              <a:rPr lang="en-LU" sz="2400" dirty="0"/>
              <a:t>2. Scaling Strategies for Data Analytics</a:t>
            </a:r>
          </a:p>
          <a:p>
            <a:r>
              <a:rPr lang="en-LU" sz="2400" dirty="0"/>
              <a:t>	Fault tolerance and checkpointing in distributed analytics</a:t>
            </a:r>
          </a:p>
        </p:txBody>
      </p:sp>
      <p:sp>
        <p:nvSpPr>
          <p:cNvPr id="5" name="TextBox 4">
            <a:extLst>
              <a:ext uri="{FF2B5EF4-FFF2-40B4-BE49-F238E27FC236}">
                <a16:creationId xmlns:a16="http://schemas.microsoft.com/office/drawing/2014/main" id="{8BA42949-1DDF-57FA-72C8-91DB7C65A163}"/>
              </a:ext>
            </a:extLst>
          </p:cNvPr>
          <p:cNvSpPr txBox="1"/>
          <p:nvPr/>
        </p:nvSpPr>
        <p:spPr>
          <a:xfrm>
            <a:off x="269822" y="1353312"/>
            <a:ext cx="11647358" cy="5078313"/>
          </a:xfrm>
          <a:prstGeom prst="rect">
            <a:avLst/>
          </a:prstGeom>
          <a:noFill/>
        </p:spPr>
        <p:txBody>
          <a:bodyPr wrap="square" rtlCol="0">
            <a:spAutoFit/>
          </a:bodyPr>
          <a:lstStyle/>
          <a:p>
            <a:r>
              <a:rPr lang="en-GB" dirty="0"/>
              <a:t>Checkpointing is important when:</a:t>
            </a:r>
          </a:p>
          <a:p>
            <a:r>
              <a:rPr lang="en-GB" dirty="0"/>
              <a:t>workflows are </a:t>
            </a:r>
            <a:r>
              <a:rPr lang="en-GB" b="1" dirty="0"/>
              <a:t>long-running</a:t>
            </a:r>
            <a:endParaRPr lang="en-GB" dirty="0"/>
          </a:p>
          <a:p>
            <a:r>
              <a:rPr lang="en-GB" dirty="0"/>
              <a:t>computations are </a:t>
            </a:r>
            <a:r>
              <a:rPr lang="en-GB" b="1" dirty="0"/>
              <a:t>expensive to recompute</a:t>
            </a:r>
            <a:endParaRPr lang="en-GB" dirty="0"/>
          </a:p>
          <a:p>
            <a:r>
              <a:rPr lang="en-GB" dirty="0"/>
              <a:t>data pipelines include </a:t>
            </a:r>
            <a:r>
              <a:rPr lang="en-GB" b="1" dirty="0"/>
              <a:t>multiple dependent stages</a:t>
            </a:r>
            <a:endParaRPr lang="en-GB" dirty="0"/>
          </a:p>
          <a:p>
            <a:r>
              <a:rPr lang="en-GB" dirty="0"/>
              <a:t>operating in </a:t>
            </a:r>
            <a:r>
              <a:rPr lang="en-GB" b="1" dirty="0"/>
              <a:t>large clusters with higher failure probability</a:t>
            </a:r>
            <a:endParaRPr lang="en-GB" dirty="0"/>
          </a:p>
          <a:p>
            <a:endParaRPr lang="en-LU" dirty="0"/>
          </a:p>
          <a:p>
            <a:endParaRPr lang="en-LU" dirty="0"/>
          </a:p>
          <a:p>
            <a:r>
              <a:rPr lang="en-GB" dirty="0"/>
              <a:t>Checkpointing introduces a trade-off between:</a:t>
            </a:r>
          </a:p>
          <a:p>
            <a:r>
              <a:rPr lang="en-GB" b="1" dirty="0"/>
              <a:t>performance overhead</a:t>
            </a:r>
            <a:r>
              <a:rPr lang="en-GB" dirty="0"/>
              <a:t> (writing to disk, storage costs)</a:t>
            </a:r>
          </a:p>
          <a:p>
            <a:r>
              <a:rPr lang="en-GB" b="1" dirty="0"/>
              <a:t>recovery time</a:t>
            </a:r>
            <a:r>
              <a:rPr lang="en-GB" dirty="0"/>
              <a:t> (amount of work lost after failure)</a:t>
            </a:r>
          </a:p>
          <a:p>
            <a:endParaRPr lang="en-GB" dirty="0"/>
          </a:p>
          <a:p>
            <a:r>
              <a:rPr lang="en-GB" dirty="0"/>
              <a:t>Optimal strategy:</a:t>
            </a:r>
          </a:p>
          <a:p>
            <a:r>
              <a:rPr lang="en-GB" dirty="0"/>
              <a:t>checkpoint </a:t>
            </a:r>
            <a:r>
              <a:rPr lang="en-GB" b="1" dirty="0"/>
              <a:t>strategically at major pipeline stages</a:t>
            </a:r>
            <a:endParaRPr lang="en-GB" dirty="0"/>
          </a:p>
          <a:p>
            <a:r>
              <a:rPr lang="en-GB" dirty="0"/>
              <a:t>avoid excessive checkpointing that increases I/O overhead</a:t>
            </a:r>
          </a:p>
          <a:p>
            <a:endParaRPr lang="en-GB" dirty="0"/>
          </a:p>
          <a:p>
            <a:r>
              <a:rPr lang="en-GB" dirty="0"/>
              <a:t>Fault tolerance in distributed analytics relies on </a:t>
            </a:r>
            <a:r>
              <a:rPr lang="en-GB" dirty="0" err="1"/>
              <a:t>recomputation</a:t>
            </a:r>
            <a:r>
              <a:rPr lang="en-GB" dirty="0"/>
              <a:t> and checkpointing to recover from failures, ensuring that long-running workflows can complete reliably without restarting from scratch.</a:t>
            </a:r>
          </a:p>
          <a:p>
            <a:endParaRPr lang="en-LU" dirty="0"/>
          </a:p>
        </p:txBody>
      </p:sp>
    </p:spTree>
    <p:extLst>
      <p:ext uri="{BB962C8B-B14F-4D97-AF65-F5344CB8AC3E}">
        <p14:creationId xmlns:p14="http://schemas.microsoft.com/office/powerpoint/2010/main" val="7000712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850D5ED-364A-5E7C-A5F4-9CC128CEFE4D}"/>
              </a:ext>
            </a:extLst>
          </p:cNvPr>
          <p:cNvSpPr txBox="1"/>
          <p:nvPr/>
        </p:nvSpPr>
        <p:spPr>
          <a:xfrm>
            <a:off x="269822" y="209862"/>
            <a:ext cx="11647358" cy="830997"/>
          </a:xfrm>
          <a:prstGeom prst="rect">
            <a:avLst/>
          </a:prstGeom>
          <a:noFill/>
        </p:spPr>
        <p:txBody>
          <a:bodyPr wrap="square" rtlCol="0">
            <a:spAutoFit/>
          </a:bodyPr>
          <a:lstStyle/>
          <a:p>
            <a:r>
              <a:rPr lang="en-LU" sz="2400" dirty="0"/>
              <a:t>2. Scaling Strategies for Data Analytics</a:t>
            </a:r>
          </a:p>
          <a:p>
            <a:r>
              <a:rPr lang="en-LU" sz="2400" dirty="0"/>
              <a:t>	Multi-level parallelism – distributed + multi-threaded</a:t>
            </a:r>
          </a:p>
        </p:txBody>
      </p:sp>
      <p:sp>
        <p:nvSpPr>
          <p:cNvPr id="5" name="TextBox 4">
            <a:extLst>
              <a:ext uri="{FF2B5EF4-FFF2-40B4-BE49-F238E27FC236}">
                <a16:creationId xmlns:a16="http://schemas.microsoft.com/office/drawing/2014/main" id="{895309DF-B108-C7EA-0825-F6CABF21AA8F}"/>
              </a:ext>
            </a:extLst>
          </p:cNvPr>
          <p:cNvSpPr txBox="1"/>
          <p:nvPr/>
        </p:nvSpPr>
        <p:spPr>
          <a:xfrm>
            <a:off x="269822" y="1280160"/>
            <a:ext cx="11647358" cy="4524315"/>
          </a:xfrm>
          <a:prstGeom prst="rect">
            <a:avLst/>
          </a:prstGeom>
          <a:noFill/>
        </p:spPr>
        <p:txBody>
          <a:bodyPr wrap="square" rtlCol="0">
            <a:spAutoFit/>
          </a:bodyPr>
          <a:lstStyle/>
          <a:p>
            <a:r>
              <a:rPr lang="en-GB" dirty="0"/>
              <a:t>High-performance data analytics often requires </a:t>
            </a:r>
            <a:r>
              <a:rPr lang="en-GB" b="1" dirty="0"/>
              <a:t>combining multiple layers of parallelism</a:t>
            </a:r>
            <a:r>
              <a:rPr lang="en-GB" dirty="0"/>
              <a:t> to fully utilise modern hardware.</a:t>
            </a:r>
          </a:p>
          <a:p>
            <a:endParaRPr lang="en-LU" dirty="0"/>
          </a:p>
          <a:p>
            <a:r>
              <a:rPr lang="en-GB" dirty="0"/>
              <a:t>Multi-level parallelism means </a:t>
            </a:r>
            <a:r>
              <a:rPr lang="en-GB" b="1" dirty="0"/>
              <a:t>parallelism across nodes (distributed)</a:t>
            </a:r>
            <a:r>
              <a:rPr lang="en-GB" dirty="0"/>
              <a:t> and </a:t>
            </a:r>
            <a:r>
              <a:rPr lang="en-GB" b="1" dirty="0"/>
              <a:t>within each node (multi-core / multi-threaded)</a:t>
            </a:r>
            <a:r>
              <a:rPr lang="en-GB" dirty="0"/>
              <a:t>.</a:t>
            </a:r>
          </a:p>
          <a:p>
            <a:endParaRPr lang="en-LU" dirty="0"/>
          </a:p>
          <a:p>
            <a:r>
              <a:rPr lang="en-GB" b="1" dirty="0"/>
              <a:t>Two levels of parallelism:</a:t>
            </a:r>
            <a:endParaRPr lang="en-GB" dirty="0"/>
          </a:p>
          <a:p>
            <a:r>
              <a:rPr lang="en-GB" b="1" dirty="0"/>
              <a:t>1. Distributed parallelism (inter-node)</a:t>
            </a:r>
            <a:endParaRPr lang="en-GB" dirty="0"/>
          </a:p>
          <a:p>
            <a:r>
              <a:rPr lang="en-GB" dirty="0"/>
              <a:t>Work is divided across multiple machines</a:t>
            </a:r>
          </a:p>
          <a:p>
            <a:r>
              <a:rPr lang="en-GB" dirty="0"/>
              <a:t>Each node processes a partition of the dataset</a:t>
            </a:r>
          </a:p>
          <a:p>
            <a:r>
              <a:rPr lang="en-GB" dirty="0"/>
              <a:t>Coordination occurs over the network</a:t>
            </a:r>
          </a:p>
          <a:p>
            <a:endParaRPr lang="en-LU" dirty="0"/>
          </a:p>
          <a:p>
            <a:r>
              <a:rPr lang="en-GB" b="1" dirty="0"/>
              <a:t>2. Multi-threaded / multi-core parallelism (intra-node)</a:t>
            </a:r>
            <a:endParaRPr lang="en-GB" dirty="0"/>
          </a:p>
          <a:p>
            <a:r>
              <a:rPr lang="en-GB" dirty="0"/>
              <a:t>Each node uses all available CPU cores</a:t>
            </a:r>
          </a:p>
          <a:p>
            <a:r>
              <a:rPr lang="en-GB" dirty="0"/>
              <a:t>Threads or processes execute tasks in parallel within shared memory</a:t>
            </a:r>
          </a:p>
          <a:p>
            <a:endParaRPr lang="en-LU" dirty="0"/>
          </a:p>
        </p:txBody>
      </p:sp>
      <p:sp>
        <p:nvSpPr>
          <p:cNvPr id="6" name="TextBox 5">
            <a:extLst>
              <a:ext uri="{FF2B5EF4-FFF2-40B4-BE49-F238E27FC236}">
                <a16:creationId xmlns:a16="http://schemas.microsoft.com/office/drawing/2014/main" id="{27743E5A-E3DA-1346-EEAE-D434FF253C8E}"/>
              </a:ext>
            </a:extLst>
          </p:cNvPr>
          <p:cNvSpPr txBox="1"/>
          <p:nvPr/>
        </p:nvSpPr>
        <p:spPr>
          <a:xfrm>
            <a:off x="7900416" y="2887682"/>
            <a:ext cx="3364992" cy="3970318"/>
          </a:xfrm>
          <a:prstGeom prst="rect">
            <a:avLst/>
          </a:prstGeom>
          <a:noFill/>
        </p:spPr>
        <p:txBody>
          <a:bodyPr wrap="square" rtlCol="0">
            <a:spAutoFit/>
          </a:bodyPr>
          <a:lstStyle/>
          <a:p>
            <a:r>
              <a:rPr lang="en-GB" dirty="0"/>
              <a:t>Modern HPC nodes are powerful (many cores, large memory).</a:t>
            </a:r>
          </a:p>
          <a:p>
            <a:r>
              <a:rPr lang="en-GB" dirty="0"/>
              <a:t>Using only distributed parallelism wastes intra-node capacity.</a:t>
            </a:r>
          </a:p>
          <a:p>
            <a:br>
              <a:rPr lang="en-GB" dirty="0"/>
            </a:br>
            <a:endParaRPr lang="en-GB" dirty="0"/>
          </a:p>
          <a:p>
            <a:r>
              <a:rPr lang="en-GB" dirty="0"/>
              <a:t>By combining both levels, we achieve:</a:t>
            </a:r>
          </a:p>
          <a:p>
            <a:r>
              <a:rPr lang="en-GB" dirty="0"/>
              <a:t>higher throughput</a:t>
            </a:r>
          </a:p>
          <a:p>
            <a:r>
              <a:rPr lang="en-GB" dirty="0"/>
              <a:t>better hardware utilisation</a:t>
            </a:r>
          </a:p>
          <a:p>
            <a:r>
              <a:rPr lang="en-GB" dirty="0"/>
              <a:t>reduced execution time</a:t>
            </a:r>
          </a:p>
          <a:p>
            <a:endParaRPr lang="en-LU" dirty="0"/>
          </a:p>
        </p:txBody>
      </p:sp>
    </p:spTree>
    <p:extLst>
      <p:ext uri="{BB962C8B-B14F-4D97-AF65-F5344CB8AC3E}">
        <p14:creationId xmlns:p14="http://schemas.microsoft.com/office/powerpoint/2010/main" val="12988160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32116A-F352-C98C-6F3F-DDADC04E59D2}"/>
              </a:ext>
            </a:extLst>
          </p:cNvPr>
          <p:cNvSpPr txBox="1"/>
          <p:nvPr/>
        </p:nvSpPr>
        <p:spPr>
          <a:xfrm>
            <a:off x="269822" y="209862"/>
            <a:ext cx="11647358" cy="830997"/>
          </a:xfrm>
          <a:prstGeom prst="rect">
            <a:avLst/>
          </a:prstGeom>
          <a:noFill/>
        </p:spPr>
        <p:txBody>
          <a:bodyPr wrap="square" rtlCol="0">
            <a:spAutoFit/>
          </a:bodyPr>
          <a:lstStyle/>
          <a:p>
            <a:r>
              <a:rPr lang="en-LU" sz="2400" dirty="0"/>
              <a:t>2. Scaling Strategies for Data Analytics</a:t>
            </a:r>
          </a:p>
          <a:p>
            <a:r>
              <a:rPr lang="en-LU" sz="2400" dirty="0"/>
              <a:t>	Balancing communication overhead with computation</a:t>
            </a:r>
          </a:p>
        </p:txBody>
      </p:sp>
      <p:sp>
        <p:nvSpPr>
          <p:cNvPr id="5" name="TextBox 4">
            <a:extLst>
              <a:ext uri="{FF2B5EF4-FFF2-40B4-BE49-F238E27FC236}">
                <a16:creationId xmlns:a16="http://schemas.microsoft.com/office/drawing/2014/main" id="{8DBF60C4-6540-0C14-6099-E0946806E696}"/>
              </a:ext>
            </a:extLst>
          </p:cNvPr>
          <p:cNvSpPr txBox="1"/>
          <p:nvPr/>
        </p:nvSpPr>
        <p:spPr>
          <a:xfrm>
            <a:off x="323637" y="1389888"/>
            <a:ext cx="11539728" cy="4801314"/>
          </a:xfrm>
          <a:prstGeom prst="rect">
            <a:avLst/>
          </a:prstGeom>
          <a:noFill/>
        </p:spPr>
        <p:txBody>
          <a:bodyPr wrap="square" rtlCol="0">
            <a:spAutoFit/>
          </a:bodyPr>
          <a:lstStyle/>
          <a:p>
            <a:r>
              <a:rPr lang="en-GB" dirty="0"/>
              <a:t>In distributed analytics, total runtime is determined by </a:t>
            </a:r>
            <a:r>
              <a:rPr lang="en-GB" b="1" dirty="0"/>
              <a:t>both computation and communication</a:t>
            </a:r>
            <a:r>
              <a:rPr lang="en-GB" dirty="0"/>
              <a:t>.</a:t>
            </a:r>
          </a:p>
          <a:p>
            <a:r>
              <a:rPr lang="en-GB" dirty="0"/>
              <a:t>Efficient systems </a:t>
            </a:r>
            <a:r>
              <a:rPr lang="en-GB" b="1" dirty="0"/>
              <a:t>maximize useful computation and minimize data movement across nodes</a:t>
            </a:r>
            <a:r>
              <a:rPr lang="en-GB" dirty="0"/>
              <a:t>.</a:t>
            </a:r>
          </a:p>
          <a:p>
            <a:endParaRPr lang="en-LU" dirty="0"/>
          </a:p>
          <a:p>
            <a:r>
              <a:rPr lang="en-GB" dirty="0"/>
              <a:t>Every distributed workload can be expressed as:</a:t>
            </a:r>
          </a:p>
          <a:p>
            <a:r>
              <a:rPr lang="en-GB" b="1" dirty="0"/>
              <a:t>Total time = computation time + communication time</a:t>
            </a:r>
            <a:endParaRPr lang="en-GB" dirty="0"/>
          </a:p>
          <a:p>
            <a:endParaRPr lang="en-GB" dirty="0"/>
          </a:p>
          <a:p>
            <a:r>
              <a:rPr lang="en-GB" dirty="0"/>
              <a:t>If communication dominates, adding more nodes </a:t>
            </a:r>
            <a:r>
              <a:rPr lang="en-GB" b="1" dirty="0"/>
              <a:t>does not improve performance</a:t>
            </a:r>
            <a:r>
              <a:rPr lang="en-GB" dirty="0"/>
              <a:t> and can even degrade it.</a:t>
            </a:r>
          </a:p>
          <a:p>
            <a:endParaRPr lang="en-LU" dirty="0"/>
          </a:p>
          <a:p>
            <a:r>
              <a:rPr lang="en-GB" b="1" dirty="0"/>
              <a:t>When communication becomes the bottleneck</a:t>
            </a:r>
            <a:endParaRPr lang="en-GB" dirty="0"/>
          </a:p>
          <a:p>
            <a:r>
              <a:rPr lang="en-GB" dirty="0"/>
              <a:t>Communication overhead increases when:</a:t>
            </a:r>
          </a:p>
          <a:p>
            <a:r>
              <a:rPr lang="en-GB" dirty="0"/>
              <a:t>large volumes of data are exchanged between nodes</a:t>
            </a:r>
          </a:p>
          <a:p>
            <a:r>
              <a:rPr lang="en-GB" dirty="0"/>
              <a:t>workloads require </a:t>
            </a:r>
            <a:r>
              <a:rPr lang="en-GB" b="1" dirty="0"/>
              <a:t>frequent synchronization or shuffles</a:t>
            </a:r>
            <a:endParaRPr lang="en-GB" dirty="0"/>
          </a:p>
          <a:p>
            <a:r>
              <a:rPr lang="en-GB" dirty="0"/>
              <a:t>network bandwidth or latency is limited</a:t>
            </a:r>
          </a:p>
          <a:p>
            <a:r>
              <a:rPr lang="en-GB" dirty="0"/>
              <a:t>tasks are too fine-grained (too many small messages)</a:t>
            </a:r>
          </a:p>
          <a:p>
            <a:endParaRPr lang="en-LU" dirty="0"/>
          </a:p>
          <a:p>
            <a:r>
              <a:rPr lang="en-GB" dirty="0"/>
              <a:t>Efficient distributed analytics requires balancing computation and communication so that network overhead does not dominate and limit scalability</a:t>
            </a:r>
          </a:p>
        </p:txBody>
      </p:sp>
    </p:spTree>
    <p:extLst>
      <p:ext uri="{BB962C8B-B14F-4D97-AF65-F5344CB8AC3E}">
        <p14:creationId xmlns:p14="http://schemas.microsoft.com/office/powerpoint/2010/main" val="10321074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A22862-90CC-A40C-6DF5-EE4304CAF100}"/>
              </a:ext>
            </a:extLst>
          </p:cNvPr>
          <p:cNvSpPr txBox="1"/>
          <p:nvPr/>
        </p:nvSpPr>
        <p:spPr>
          <a:xfrm>
            <a:off x="269822" y="209862"/>
            <a:ext cx="11647358" cy="461665"/>
          </a:xfrm>
          <a:prstGeom prst="rect">
            <a:avLst/>
          </a:prstGeom>
          <a:noFill/>
        </p:spPr>
        <p:txBody>
          <a:bodyPr wrap="square" rtlCol="0">
            <a:spAutoFit/>
          </a:bodyPr>
          <a:lstStyle/>
          <a:p>
            <a:r>
              <a:rPr lang="en-LU" sz="2400" dirty="0"/>
              <a:t>3. Python and Dask for scalable analytics</a:t>
            </a:r>
          </a:p>
        </p:txBody>
      </p:sp>
      <p:sp>
        <p:nvSpPr>
          <p:cNvPr id="2" name="TextBox 1">
            <a:extLst>
              <a:ext uri="{FF2B5EF4-FFF2-40B4-BE49-F238E27FC236}">
                <a16:creationId xmlns:a16="http://schemas.microsoft.com/office/drawing/2014/main" id="{1B80301D-C630-B525-E33A-DF438D4075A7}"/>
              </a:ext>
            </a:extLst>
          </p:cNvPr>
          <p:cNvSpPr txBox="1"/>
          <p:nvPr/>
        </p:nvSpPr>
        <p:spPr>
          <a:xfrm>
            <a:off x="269822" y="804672"/>
            <a:ext cx="11306482" cy="5909310"/>
          </a:xfrm>
          <a:prstGeom prst="rect">
            <a:avLst/>
          </a:prstGeom>
          <a:noFill/>
        </p:spPr>
        <p:txBody>
          <a:bodyPr wrap="square" rtlCol="0">
            <a:spAutoFit/>
          </a:bodyPr>
          <a:lstStyle/>
          <a:p>
            <a:r>
              <a:rPr lang="en-GB" dirty="0"/>
              <a:t>So far, we have seen:</a:t>
            </a:r>
          </a:p>
          <a:p>
            <a:r>
              <a:rPr lang="en-GB" dirty="0"/>
              <a:t>how performance is limited by </a:t>
            </a:r>
            <a:r>
              <a:rPr lang="en-GB" b="1" dirty="0"/>
              <a:t>hardware, memory, and I/O</a:t>
            </a:r>
            <a:endParaRPr lang="en-GB" dirty="0"/>
          </a:p>
          <a:p>
            <a:r>
              <a:rPr lang="en-GB" dirty="0"/>
              <a:t>how to </a:t>
            </a:r>
            <a:r>
              <a:rPr lang="en-GB" b="1" dirty="0"/>
              <a:t>measure bottlenecks</a:t>
            </a:r>
            <a:r>
              <a:rPr lang="en-GB" dirty="0"/>
              <a:t> using profiling</a:t>
            </a:r>
          </a:p>
          <a:p>
            <a:r>
              <a:rPr lang="en-GB" dirty="0"/>
              <a:t>how </a:t>
            </a:r>
            <a:r>
              <a:rPr lang="en-GB" b="1" dirty="0"/>
              <a:t>data formats</a:t>
            </a:r>
            <a:r>
              <a:rPr lang="en-GB" dirty="0"/>
              <a:t> impact performance</a:t>
            </a:r>
          </a:p>
          <a:p>
            <a:endParaRPr lang="en-GB" dirty="0"/>
          </a:p>
          <a:p>
            <a:r>
              <a:rPr lang="en-GB" dirty="0"/>
              <a:t>However, pandas on a single core </a:t>
            </a:r>
            <a:r>
              <a:rPr lang="en-GB" b="1" dirty="0"/>
              <a:t>does not scale</a:t>
            </a:r>
            <a:r>
              <a:rPr lang="en-GB" dirty="0"/>
              <a:t> to large datasets or HPC environments. We now need tools that allow us to </a:t>
            </a:r>
            <a:r>
              <a:rPr lang="en-GB" b="1" dirty="0"/>
              <a:t>scale analytics beyond a single core and beyond memory limits</a:t>
            </a:r>
            <a:r>
              <a:rPr lang="en-GB" dirty="0"/>
              <a:t>.</a:t>
            </a:r>
          </a:p>
          <a:p>
            <a:endParaRPr lang="en-GB" dirty="0"/>
          </a:p>
          <a:p>
            <a:r>
              <a:rPr lang="en-GB" b="1" dirty="0" err="1"/>
              <a:t>Dask</a:t>
            </a:r>
            <a:r>
              <a:rPr lang="en-GB" b="1" dirty="0"/>
              <a:t> is a parallel computing framework in Python</a:t>
            </a:r>
            <a:r>
              <a:rPr lang="en-GB" dirty="0"/>
              <a:t> that extends familiar tools like: NumPy, panda, scikit-learn with </a:t>
            </a:r>
            <a:r>
              <a:rPr lang="en-GB" b="1" dirty="0"/>
              <a:t>parallel and distributed execution</a:t>
            </a:r>
            <a:r>
              <a:rPr lang="en-GB" dirty="0"/>
              <a:t>.</a:t>
            </a:r>
          </a:p>
          <a:p>
            <a:endParaRPr lang="en-GB" dirty="0"/>
          </a:p>
          <a:p>
            <a:r>
              <a:rPr lang="en-GB" dirty="0"/>
              <a:t>It allows us to:</a:t>
            </a:r>
          </a:p>
          <a:p>
            <a:r>
              <a:rPr lang="en-GB" dirty="0"/>
              <a:t>run computations on </a:t>
            </a:r>
            <a:r>
              <a:rPr lang="en-GB" b="1" dirty="0"/>
              <a:t>multiple CPU cores</a:t>
            </a:r>
            <a:endParaRPr lang="en-GB" dirty="0"/>
          </a:p>
          <a:p>
            <a:r>
              <a:rPr lang="en-GB" dirty="0"/>
              <a:t>scale to </a:t>
            </a:r>
            <a:r>
              <a:rPr lang="en-GB" b="1" dirty="0"/>
              <a:t>clusters and HPC systems</a:t>
            </a:r>
            <a:endParaRPr lang="en-GB" dirty="0"/>
          </a:p>
          <a:p>
            <a:r>
              <a:rPr lang="en-GB" dirty="0"/>
              <a:t>process datasets </a:t>
            </a:r>
            <a:r>
              <a:rPr lang="en-GB" b="1" dirty="0"/>
              <a:t>larger than memory</a:t>
            </a:r>
            <a:endParaRPr lang="en-GB" dirty="0"/>
          </a:p>
          <a:p>
            <a:endParaRPr lang="en-GB" dirty="0"/>
          </a:p>
          <a:p>
            <a:r>
              <a:rPr lang="en-GB" dirty="0"/>
              <a:t>In this part of the training, we will focus on:</a:t>
            </a:r>
          </a:p>
          <a:p>
            <a:r>
              <a:rPr lang="en-GB" dirty="0"/>
              <a:t>how </a:t>
            </a:r>
            <a:r>
              <a:rPr lang="en-GB" dirty="0" err="1"/>
              <a:t>Dask</a:t>
            </a:r>
            <a:r>
              <a:rPr lang="en-GB" dirty="0"/>
              <a:t> enables </a:t>
            </a:r>
            <a:r>
              <a:rPr lang="en-GB" b="1" dirty="0"/>
              <a:t>parallel execution</a:t>
            </a:r>
            <a:r>
              <a:rPr lang="en-GB" dirty="0"/>
              <a:t> using task graphs</a:t>
            </a:r>
          </a:p>
          <a:p>
            <a:r>
              <a:rPr lang="en-GB" dirty="0"/>
              <a:t>how to use </a:t>
            </a:r>
            <a:r>
              <a:rPr lang="en-GB" b="1" dirty="0" err="1"/>
              <a:t>Dask</a:t>
            </a:r>
            <a:r>
              <a:rPr lang="en-GB" b="1" dirty="0"/>
              <a:t> </a:t>
            </a:r>
            <a:r>
              <a:rPr lang="en-GB" b="1" dirty="0" err="1"/>
              <a:t>DataFrame</a:t>
            </a:r>
            <a:r>
              <a:rPr lang="en-GB" b="1" dirty="0"/>
              <a:t> and Array</a:t>
            </a:r>
            <a:r>
              <a:rPr lang="en-GB" dirty="0"/>
              <a:t> for large datasets</a:t>
            </a:r>
          </a:p>
          <a:p>
            <a:r>
              <a:rPr lang="en-GB" dirty="0"/>
              <a:t>how to scale from </a:t>
            </a:r>
            <a:r>
              <a:rPr lang="en-GB" b="1" dirty="0"/>
              <a:t>single machine → multi-core → cluster</a:t>
            </a:r>
            <a:endParaRPr lang="en-GB" dirty="0"/>
          </a:p>
          <a:p>
            <a:r>
              <a:rPr lang="en-GB" dirty="0"/>
              <a:t>how to </a:t>
            </a:r>
            <a:r>
              <a:rPr lang="en-GB" b="1" dirty="0"/>
              <a:t>optimize </a:t>
            </a:r>
            <a:r>
              <a:rPr lang="en-GB" b="1" dirty="0" err="1"/>
              <a:t>Dask</a:t>
            </a:r>
            <a:r>
              <a:rPr lang="en-GB" b="1" dirty="0"/>
              <a:t> workflows</a:t>
            </a:r>
            <a:r>
              <a:rPr lang="en-GB" dirty="0"/>
              <a:t> for performance</a:t>
            </a:r>
          </a:p>
        </p:txBody>
      </p:sp>
    </p:spTree>
    <p:extLst>
      <p:ext uri="{BB962C8B-B14F-4D97-AF65-F5344CB8AC3E}">
        <p14:creationId xmlns:p14="http://schemas.microsoft.com/office/powerpoint/2010/main" val="19282652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213D55D-6947-5EA1-7D2C-E7659B0D9831}"/>
              </a:ext>
            </a:extLst>
          </p:cNvPr>
          <p:cNvSpPr txBox="1"/>
          <p:nvPr/>
        </p:nvSpPr>
        <p:spPr>
          <a:xfrm>
            <a:off x="269822" y="209862"/>
            <a:ext cx="11647358" cy="830997"/>
          </a:xfrm>
          <a:prstGeom prst="rect">
            <a:avLst/>
          </a:prstGeom>
          <a:noFill/>
        </p:spPr>
        <p:txBody>
          <a:bodyPr wrap="square" rtlCol="0">
            <a:spAutoFit/>
          </a:bodyPr>
          <a:lstStyle/>
          <a:p>
            <a:r>
              <a:rPr lang="en-LU" sz="2400" dirty="0"/>
              <a:t>3. Python and Dask for scalable analytics</a:t>
            </a:r>
          </a:p>
          <a:p>
            <a:r>
              <a:rPr lang="en-LU" sz="2400" dirty="0"/>
              <a:t>	Why Dask for CPU-based analytics</a:t>
            </a:r>
          </a:p>
        </p:txBody>
      </p:sp>
      <p:sp>
        <p:nvSpPr>
          <p:cNvPr id="5" name="TextBox 4">
            <a:extLst>
              <a:ext uri="{FF2B5EF4-FFF2-40B4-BE49-F238E27FC236}">
                <a16:creationId xmlns:a16="http://schemas.microsoft.com/office/drawing/2014/main" id="{992D79C8-51EF-1214-0BBF-11F657BA7F71}"/>
              </a:ext>
            </a:extLst>
          </p:cNvPr>
          <p:cNvSpPr txBox="1"/>
          <p:nvPr/>
        </p:nvSpPr>
        <p:spPr>
          <a:xfrm>
            <a:off x="0" y="1389888"/>
            <a:ext cx="11917180" cy="4207370"/>
          </a:xfrm>
          <a:prstGeom prst="rect">
            <a:avLst/>
          </a:prstGeom>
          <a:noFill/>
        </p:spPr>
        <p:txBody>
          <a:bodyPr wrap="square" rtlCol="0">
            <a:spAutoFit/>
          </a:bodyPr>
          <a:lstStyle/>
          <a:p>
            <a:pPr>
              <a:lnSpc>
                <a:spcPct val="150000"/>
              </a:lnSpc>
            </a:pPr>
            <a:r>
              <a:rPr lang="en-LU" dirty="0"/>
              <a:t>Dask extends the familiar Python data ecosystem to parallel and scalable execution on CPUs.</a:t>
            </a:r>
          </a:p>
          <a:p>
            <a:pPr>
              <a:lnSpc>
                <a:spcPct val="150000"/>
              </a:lnSpc>
            </a:pPr>
            <a:endParaRPr lang="en-LU" dirty="0"/>
          </a:p>
          <a:p>
            <a:pPr>
              <a:lnSpc>
                <a:spcPct val="150000"/>
              </a:lnSpc>
            </a:pPr>
            <a:r>
              <a:rPr lang="en-LU" dirty="0"/>
              <a:t>Dask is useful because:</a:t>
            </a:r>
          </a:p>
          <a:p>
            <a:pPr marL="285750" indent="-285750">
              <a:lnSpc>
                <a:spcPct val="150000"/>
              </a:lnSpc>
              <a:buFont typeface="Arial" panose="020B0604020202020204" pitchFamily="34" charset="0"/>
              <a:buChar char="•"/>
            </a:pPr>
            <a:r>
              <a:rPr lang="en-LU" dirty="0"/>
              <a:t>Familiar API – dask DataFrame and Array closly match pandas and NumPy, so existing workflows can be reused</a:t>
            </a:r>
          </a:p>
          <a:p>
            <a:pPr marL="285750" indent="-285750">
              <a:lnSpc>
                <a:spcPct val="150000"/>
              </a:lnSpc>
              <a:buFont typeface="Arial" panose="020B0604020202020204" pitchFamily="34" charset="0"/>
              <a:buChar char="•"/>
            </a:pPr>
            <a:r>
              <a:rPr lang="en-LU" dirty="0"/>
              <a:t>Parallel execution – computations are automatically distributed across multiple CPU cores or nodes</a:t>
            </a:r>
          </a:p>
          <a:p>
            <a:pPr marL="285750" indent="-285750">
              <a:lnSpc>
                <a:spcPct val="150000"/>
              </a:lnSpc>
              <a:buFont typeface="Arial" panose="020B0604020202020204" pitchFamily="34" charset="0"/>
              <a:buChar char="•"/>
            </a:pPr>
            <a:r>
              <a:rPr lang="en-LU" dirty="0"/>
              <a:t>Dask builds a task graph and execute s only when needed, enabling optimization</a:t>
            </a:r>
          </a:p>
          <a:p>
            <a:pPr marL="285750" indent="-285750">
              <a:lnSpc>
                <a:spcPct val="150000"/>
              </a:lnSpc>
              <a:buFont typeface="Arial" panose="020B0604020202020204" pitchFamily="34" charset="0"/>
              <a:buChar char="•"/>
            </a:pPr>
            <a:r>
              <a:rPr lang="en-LU" dirty="0"/>
              <a:t>Datasets larger than memory are processed in chunks from disk</a:t>
            </a:r>
          </a:p>
          <a:p>
            <a:pPr marL="285750" indent="-285750">
              <a:lnSpc>
                <a:spcPct val="150000"/>
              </a:lnSpc>
              <a:buFont typeface="Arial" panose="020B0604020202020204" pitchFamily="34" charset="0"/>
              <a:buChar char="•"/>
            </a:pPr>
            <a:r>
              <a:rPr lang="en-GB" dirty="0"/>
              <a:t>W</a:t>
            </a:r>
            <a:r>
              <a:rPr lang="en-LU" dirty="0"/>
              <a:t>orks natievly with NumPy, pandas, scikit-learn, and PyArrow.</a:t>
            </a:r>
          </a:p>
          <a:p>
            <a:pPr marL="285750" indent="-285750">
              <a:lnSpc>
                <a:spcPct val="150000"/>
              </a:lnSpc>
              <a:buFont typeface="Arial" panose="020B0604020202020204" pitchFamily="34" charset="0"/>
              <a:buChar char="•"/>
            </a:pPr>
            <a:endParaRPr lang="en-LU" dirty="0"/>
          </a:p>
          <a:p>
            <a:pPr marL="285750" indent="-285750">
              <a:lnSpc>
                <a:spcPct val="150000"/>
              </a:lnSpc>
              <a:buFont typeface="Arial" panose="020B0604020202020204" pitchFamily="34" charset="0"/>
              <a:buChar char="•"/>
            </a:pPr>
            <a:r>
              <a:rPr lang="en-LU" dirty="0"/>
              <a:t>Dask enables scalable, parallel data analytics in Python while keeping a familiar programming model.</a:t>
            </a:r>
          </a:p>
        </p:txBody>
      </p:sp>
    </p:spTree>
    <p:extLst>
      <p:ext uri="{BB962C8B-B14F-4D97-AF65-F5344CB8AC3E}">
        <p14:creationId xmlns:p14="http://schemas.microsoft.com/office/powerpoint/2010/main" val="39740003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D54D84-FD70-495F-52DC-E5D1BA777AEC}"/>
              </a:ext>
            </a:extLst>
          </p:cNvPr>
          <p:cNvSpPr txBox="1"/>
          <p:nvPr/>
        </p:nvSpPr>
        <p:spPr>
          <a:xfrm>
            <a:off x="269822" y="209862"/>
            <a:ext cx="11647358" cy="830997"/>
          </a:xfrm>
          <a:prstGeom prst="rect">
            <a:avLst/>
          </a:prstGeom>
          <a:noFill/>
        </p:spPr>
        <p:txBody>
          <a:bodyPr wrap="square" rtlCol="0">
            <a:spAutoFit/>
          </a:bodyPr>
          <a:lstStyle/>
          <a:p>
            <a:r>
              <a:rPr lang="en-LU" sz="2400" dirty="0"/>
              <a:t>3. Python and Dask for scalable analytics</a:t>
            </a:r>
          </a:p>
          <a:p>
            <a:r>
              <a:rPr lang="en-LU" sz="2400" dirty="0"/>
              <a:t>	Dask Architecture: Task Graph and scheduling</a:t>
            </a:r>
          </a:p>
        </p:txBody>
      </p:sp>
      <p:sp>
        <p:nvSpPr>
          <p:cNvPr id="5" name="TextBox 4">
            <a:extLst>
              <a:ext uri="{FF2B5EF4-FFF2-40B4-BE49-F238E27FC236}">
                <a16:creationId xmlns:a16="http://schemas.microsoft.com/office/drawing/2014/main" id="{EFD638AD-CE3D-FA5E-B93A-21277D53EEAD}"/>
              </a:ext>
            </a:extLst>
          </p:cNvPr>
          <p:cNvSpPr txBox="1"/>
          <p:nvPr/>
        </p:nvSpPr>
        <p:spPr>
          <a:xfrm>
            <a:off x="269822" y="1389888"/>
            <a:ext cx="11647358" cy="5078313"/>
          </a:xfrm>
          <a:prstGeom prst="rect">
            <a:avLst/>
          </a:prstGeom>
          <a:noFill/>
        </p:spPr>
        <p:txBody>
          <a:bodyPr wrap="square" rtlCol="0">
            <a:spAutoFit/>
          </a:bodyPr>
          <a:lstStyle/>
          <a:p>
            <a:r>
              <a:rPr lang="en-GB" dirty="0" err="1"/>
              <a:t>Dask</a:t>
            </a:r>
            <a:r>
              <a:rPr lang="en-GB" dirty="0"/>
              <a:t> executes computations using a </a:t>
            </a:r>
            <a:r>
              <a:rPr lang="en-GB" b="1" dirty="0"/>
              <a:t>task graph model</a:t>
            </a:r>
            <a:r>
              <a:rPr lang="en-GB" dirty="0"/>
              <a:t>.</a:t>
            </a:r>
          </a:p>
          <a:p>
            <a:endParaRPr lang="en-LU" dirty="0"/>
          </a:p>
          <a:p>
            <a:r>
              <a:rPr lang="en-GB" b="1" dirty="0"/>
              <a:t>Task graph model:</a:t>
            </a:r>
          </a:p>
          <a:p>
            <a:r>
              <a:rPr lang="en-GB" dirty="0"/>
              <a:t>Each operation is represented as a </a:t>
            </a:r>
            <a:r>
              <a:rPr lang="en-GB" b="1" dirty="0"/>
              <a:t>node in a graph</a:t>
            </a:r>
            <a:endParaRPr lang="en-GB" dirty="0"/>
          </a:p>
          <a:p>
            <a:r>
              <a:rPr lang="en-GB" dirty="0"/>
              <a:t>Dependencies define the </a:t>
            </a:r>
            <a:r>
              <a:rPr lang="en-GB" b="1" dirty="0"/>
              <a:t>execution order</a:t>
            </a:r>
            <a:endParaRPr lang="en-GB" dirty="0"/>
          </a:p>
          <a:p>
            <a:r>
              <a:rPr lang="en-GB" dirty="0"/>
              <a:t>The graph is </a:t>
            </a:r>
            <a:r>
              <a:rPr lang="en-GB" b="1" dirty="0"/>
              <a:t>optimized before execution</a:t>
            </a:r>
            <a:endParaRPr lang="en-GB" dirty="0"/>
          </a:p>
          <a:p>
            <a:endParaRPr lang="en-LU" dirty="0"/>
          </a:p>
          <a:p>
            <a:r>
              <a:rPr lang="en-GB" b="1" dirty="0"/>
              <a:t>Scheduling and execution:</a:t>
            </a:r>
            <a:endParaRPr lang="en-GB" dirty="0"/>
          </a:p>
          <a:p>
            <a:r>
              <a:rPr lang="en-GB" dirty="0" err="1"/>
              <a:t>Dask</a:t>
            </a:r>
            <a:r>
              <a:rPr lang="en-GB" dirty="0"/>
              <a:t> uses a </a:t>
            </a:r>
            <a:r>
              <a:rPr lang="en-GB" b="1" dirty="0"/>
              <a:t>scheduler</a:t>
            </a:r>
            <a:r>
              <a:rPr lang="en-GB" dirty="0"/>
              <a:t> to assign tasks to workers:</a:t>
            </a:r>
          </a:p>
          <a:p>
            <a:r>
              <a:rPr lang="en-GB" b="1" dirty="0"/>
              <a:t>Threaded scheduler</a:t>
            </a:r>
            <a:r>
              <a:rPr lang="en-GB" dirty="0"/>
              <a:t> → shared memory, lightweight parallelism</a:t>
            </a:r>
          </a:p>
          <a:p>
            <a:r>
              <a:rPr lang="en-GB" b="1" dirty="0"/>
              <a:t>Process scheduler</a:t>
            </a:r>
            <a:r>
              <a:rPr lang="en-GB" dirty="0"/>
              <a:t> → multiple processes, bypass GIL</a:t>
            </a:r>
          </a:p>
          <a:p>
            <a:r>
              <a:rPr lang="en-GB" b="1" dirty="0"/>
              <a:t>Distributed scheduler</a:t>
            </a:r>
            <a:r>
              <a:rPr lang="en-GB" dirty="0"/>
              <a:t> → cluster-level execution</a:t>
            </a:r>
          </a:p>
          <a:p>
            <a:endParaRPr lang="en-GB" dirty="0"/>
          </a:p>
          <a:p>
            <a:r>
              <a:rPr lang="en-GB" dirty="0"/>
              <a:t>Schedulers support:</a:t>
            </a:r>
          </a:p>
          <a:p>
            <a:r>
              <a:rPr lang="en-GB" b="1" dirty="0"/>
              <a:t>work stealing</a:t>
            </a:r>
            <a:r>
              <a:rPr lang="en-GB" dirty="0"/>
              <a:t> → idle workers take tasks from busy ones</a:t>
            </a:r>
          </a:p>
          <a:p>
            <a:r>
              <a:rPr lang="en-GB" b="1" dirty="0"/>
              <a:t>dynamic task balancing</a:t>
            </a:r>
            <a:endParaRPr lang="en-GB" dirty="0"/>
          </a:p>
          <a:p>
            <a:endParaRPr lang="en-GB" dirty="0"/>
          </a:p>
          <a:p>
            <a:r>
              <a:rPr lang="en-GB" dirty="0" err="1"/>
              <a:t>Dask</a:t>
            </a:r>
            <a:r>
              <a:rPr lang="en-GB" dirty="0"/>
              <a:t> separates what to compute (task graph) from how to compute it (scheduler)</a:t>
            </a:r>
            <a:r>
              <a:rPr lang="en-LU" dirty="0"/>
              <a:t>.</a:t>
            </a:r>
            <a:endParaRPr lang="en-GB" dirty="0"/>
          </a:p>
        </p:txBody>
      </p:sp>
    </p:spTree>
    <p:extLst>
      <p:ext uri="{BB962C8B-B14F-4D97-AF65-F5344CB8AC3E}">
        <p14:creationId xmlns:p14="http://schemas.microsoft.com/office/powerpoint/2010/main" val="11948058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0CF0094-1C38-A9A8-728C-7AEF5F738416}"/>
              </a:ext>
            </a:extLst>
          </p:cNvPr>
          <p:cNvSpPr txBox="1"/>
          <p:nvPr/>
        </p:nvSpPr>
        <p:spPr>
          <a:xfrm>
            <a:off x="269822" y="209862"/>
            <a:ext cx="11647358" cy="830997"/>
          </a:xfrm>
          <a:prstGeom prst="rect">
            <a:avLst/>
          </a:prstGeom>
          <a:noFill/>
        </p:spPr>
        <p:txBody>
          <a:bodyPr wrap="square" rtlCol="0">
            <a:spAutoFit/>
          </a:bodyPr>
          <a:lstStyle/>
          <a:p>
            <a:r>
              <a:rPr lang="en-LU" sz="2400" dirty="0"/>
              <a:t>3. Python and Dask for scalable analytics</a:t>
            </a:r>
          </a:p>
          <a:p>
            <a:r>
              <a:rPr lang="en-LU" sz="2400" dirty="0"/>
              <a:t>	Dask data structures</a:t>
            </a:r>
          </a:p>
        </p:txBody>
      </p:sp>
      <p:sp>
        <p:nvSpPr>
          <p:cNvPr id="5" name="TextBox 4">
            <a:extLst>
              <a:ext uri="{FF2B5EF4-FFF2-40B4-BE49-F238E27FC236}">
                <a16:creationId xmlns:a16="http://schemas.microsoft.com/office/drawing/2014/main" id="{4D62768A-BA5C-5331-3863-E12CBF4CD5CD}"/>
              </a:ext>
            </a:extLst>
          </p:cNvPr>
          <p:cNvSpPr txBox="1"/>
          <p:nvPr/>
        </p:nvSpPr>
        <p:spPr>
          <a:xfrm>
            <a:off x="269822" y="1261872"/>
            <a:ext cx="11647358" cy="5355312"/>
          </a:xfrm>
          <a:prstGeom prst="rect">
            <a:avLst/>
          </a:prstGeom>
          <a:noFill/>
        </p:spPr>
        <p:txBody>
          <a:bodyPr wrap="square" rtlCol="0">
            <a:spAutoFit/>
          </a:bodyPr>
          <a:lstStyle/>
          <a:p>
            <a:r>
              <a:rPr lang="en-GB" b="1" dirty="0"/>
              <a:t>Core </a:t>
            </a:r>
            <a:r>
              <a:rPr lang="en-GB" b="1" dirty="0" err="1"/>
              <a:t>Dask</a:t>
            </a:r>
            <a:r>
              <a:rPr lang="en-GB" b="1" dirty="0"/>
              <a:t> collections:</a:t>
            </a:r>
          </a:p>
          <a:p>
            <a:endParaRPr lang="en-GB" b="1" dirty="0"/>
          </a:p>
          <a:p>
            <a:r>
              <a:rPr lang="en-GB" b="1" dirty="0" err="1"/>
              <a:t>Dask</a:t>
            </a:r>
            <a:r>
              <a:rPr lang="en-GB" b="1" dirty="0"/>
              <a:t> </a:t>
            </a:r>
            <a:r>
              <a:rPr lang="en-GB" b="1" dirty="0" err="1"/>
              <a:t>DataFrame</a:t>
            </a:r>
            <a:endParaRPr lang="en-GB" dirty="0"/>
          </a:p>
          <a:p>
            <a:r>
              <a:rPr lang="en-GB" dirty="0"/>
              <a:t>→ parallel version of pandas </a:t>
            </a:r>
            <a:r>
              <a:rPr lang="en-GB" dirty="0" err="1"/>
              <a:t>DataFrame</a:t>
            </a:r>
            <a:endParaRPr lang="en-GB" dirty="0"/>
          </a:p>
          <a:p>
            <a:r>
              <a:rPr lang="en-GB" dirty="0"/>
              <a:t>→ partitioned by rows across workers</a:t>
            </a:r>
          </a:p>
          <a:p>
            <a:endParaRPr lang="en-GB" dirty="0"/>
          </a:p>
          <a:p>
            <a:r>
              <a:rPr lang="en-GB" b="1" dirty="0" err="1"/>
              <a:t>Dask</a:t>
            </a:r>
            <a:r>
              <a:rPr lang="en-GB" b="1" dirty="0"/>
              <a:t> Array</a:t>
            </a:r>
            <a:endParaRPr lang="en-GB" dirty="0"/>
          </a:p>
          <a:p>
            <a:r>
              <a:rPr lang="en-GB" dirty="0"/>
              <a:t>→ parallel NumPy arrays</a:t>
            </a:r>
          </a:p>
          <a:p>
            <a:r>
              <a:rPr lang="en-GB" dirty="0"/>
              <a:t>→ chunked into blocks</a:t>
            </a:r>
          </a:p>
          <a:p>
            <a:endParaRPr lang="en-GB" dirty="0"/>
          </a:p>
          <a:p>
            <a:r>
              <a:rPr lang="en-GB" b="1" dirty="0" err="1"/>
              <a:t>Dask</a:t>
            </a:r>
            <a:r>
              <a:rPr lang="en-GB" b="1" dirty="0"/>
              <a:t> Bag</a:t>
            </a:r>
            <a:endParaRPr lang="en-GB" dirty="0"/>
          </a:p>
          <a:p>
            <a:r>
              <a:rPr lang="en-GB" dirty="0"/>
              <a:t>→ for unstructured or semi-structured data</a:t>
            </a:r>
          </a:p>
          <a:p>
            <a:endParaRPr lang="en-GB" dirty="0"/>
          </a:p>
          <a:p>
            <a:r>
              <a:rPr lang="en-GB" b="1" dirty="0" err="1"/>
              <a:t>Dask</a:t>
            </a:r>
            <a:r>
              <a:rPr lang="en-GB" b="1" dirty="0"/>
              <a:t> Delayed</a:t>
            </a:r>
            <a:endParaRPr lang="en-GB" dirty="0"/>
          </a:p>
          <a:p>
            <a:r>
              <a:rPr lang="en-GB" dirty="0"/>
              <a:t>→ builds custom task graphs from arbitrary Python functions</a:t>
            </a:r>
          </a:p>
          <a:p>
            <a:endParaRPr lang="en-LU" dirty="0"/>
          </a:p>
          <a:p>
            <a:r>
              <a:rPr lang="en-GB" dirty="0"/>
              <a:t>Large datasets are split into partitions, and each partition is processed independently in parallel</a:t>
            </a:r>
          </a:p>
          <a:p>
            <a:endParaRPr lang="en-LU" dirty="0"/>
          </a:p>
          <a:p>
            <a:r>
              <a:rPr lang="en-GB" dirty="0" err="1"/>
              <a:t>Dask</a:t>
            </a:r>
            <a:r>
              <a:rPr lang="en-GB" dirty="0"/>
              <a:t> collections allow us to scale familiar data structures across cores and clusters.</a:t>
            </a:r>
          </a:p>
        </p:txBody>
      </p:sp>
    </p:spTree>
    <p:extLst>
      <p:ext uri="{BB962C8B-B14F-4D97-AF65-F5344CB8AC3E}">
        <p14:creationId xmlns:p14="http://schemas.microsoft.com/office/powerpoint/2010/main" val="23410981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7F9259-EE9C-D7DF-0365-8185CD1F3B9F}"/>
              </a:ext>
            </a:extLst>
          </p:cNvPr>
          <p:cNvSpPr txBox="1"/>
          <p:nvPr/>
        </p:nvSpPr>
        <p:spPr>
          <a:xfrm>
            <a:off x="269822" y="209862"/>
            <a:ext cx="11647358" cy="830997"/>
          </a:xfrm>
          <a:prstGeom prst="rect">
            <a:avLst/>
          </a:prstGeom>
          <a:noFill/>
        </p:spPr>
        <p:txBody>
          <a:bodyPr wrap="square" rtlCol="0">
            <a:spAutoFit/>
          </a:bodyPr>
          <a:lstStyle/>
          <a:p>
            <a:r>
              <a:rPr lang="en-LU" sz="2400" dirty="0"/>
              <a:t>3. Python and Dask for scalable analytics</a:t>
            </a:r>
          </a:p>
          <a:p>
            <a:r>
              <a:rPr lang="en-LU" sz="2400" dirty="0"/>
              <a:t>	Monitoring and profiling with the Dask dashboard</a:t>
            </a:r>
          </a:p>
        </p:txBody>
      </p:sp>
      <p:sp>
        <p:nvSpPr>
          <p:cNvPr id="5" name="TextBox 4">
            <a:extLst>
              <a:ext uri="{FF2B5EF4-FFF2-40B4-BE49-F238E27FC236}">
                <a16:creationId xmlns:a16="http://schemas.microsoft.com/office/drawing/2014/main" id="{F21C3052-3625-6213-DA0A-5FF0A1AB7979}"/>
              </a:ext>
            </a:extLst>
          </p:cNvPr>
          <p:cNvSpPr txBox="1"/>
          <p:nvPr/>
        </p:nvSpPr>
        <p:spPr>
          <a:xfrm>
            <a:off x="237744" y="1426464"/>
            <a:ext cx="11667744" cy="4524315"/>
          </a:xfrm>
          <a:prstGeom prst="rect">
            <a:avLst/>
          </a:prstGeom>
          <a:noFill/>
        </p:spPr>
        <p:txBody>
          <a:bodyPr wrap="square" rtlCol="0">
            <a:spAutoFit/>
          </a:bodyPr>
          <a:lstStyle/>
          <a:p>
            <a:r>
              <a:rPr lang="en-GB" dirty="0" err="1"/>
              <a:t>Dask</a:t>
            </a:r>
            <a:r>
              <a:rPr lang="en-GB" dirty="0"/>
              <a:t> provides a </a:t>
            </a:r>
            <a:r>
              <a:rPr lang="en-GB" b="1" dirty="0"/>
              <a:t>real-time dashboard</a:t>
            </a:r>
            <a:r>
              <a:rPr lang="en-GB" dirty="0"/>
              <a:t> for monitoring execution.</a:t>
            </a:r>
          </a:p>
          <a:p>
            <a:endParaRPr lang="en-LU" dirty="0"/>
          </a:p>
          <a:p>
            <a:r>
              <a:rPr lang="en-GB" b="1" dirty="0"/>
              <a:t>What the dashboard shows:</a:t>
            </a:r>
          </a:p>
          <a:p>
            <a:r>
              <a:rPr lang="en-GB" b="1" dirty="0"/>
              <a:t>Task execution timeline</a:t>
            </a:r>
            <a:endParaRPr lang="en-GB" dirty="0"/>
          </a:p>
          <a:p>
            <a:r>
              <a:rPr lang="en-GB" b="1" dirty="0"/>
              <a:t>CPU and memory usage per worker</a:t>
            </a:r>
            <a:endParaRPr lang="en-GB" dirty="0"/>
          </a:p>
          <a:p>
            <a:r>
              <a:rPr lang="en-GB" b="1" dirty="0"/>
              <a:t>task graph visualization</a:t>
            </a:r>
            <a:endParaRPr lang="en-GB" dirty="0"/>
          </a:p>
          <a:p>
            <a:r>
              <a:rPr lang="en-GB" b="1" dirty="0"/>
              <a:t>data transfer between workers</a:t>
            </a:r>
            <a:endParaRPr lang="en-GB" dirty="0"/>
          </a:p>
          <a:p>
            <a:endParaRPr lang="en-LU" dirty="0"/>
          </a:p>
          <a:p>
            <a:r>
              <a:rPr lang="en-GB" dirty="0"/>
              <a:t>The dashboard allows you to:</a:t>
            </a:r>
          </a:p>
          <a:p>
            <a:r>
              <a:rPr lang="en-GB" dirty="0"/>
              <a:t>identify </a:t>
            </a:r>
            <a:r>
              <a:rPr lang="en-GB" b="1" dirty="0"/>
              <a:t>stragglers or slow tasks</a:t>
            </a:r>
            <a:endParaRPr lang="en-GB" dirty="0"/>
          </a:p>
          <a:p>
            <a:r>
              <a:rPr lang="en-GB" dirty="0"/>
              <a:t>detect </a:t>
            </a:r>
            <a:r>
              <a:rPr lang="en-GB" b="1" dirty="0"/>
              <a:t>memory pressure or spilling</a:t>
            </a:r>
            <a:endParaRPr lang="en-GB" dirty="0"/>
          </a:p>
          <a:p>
            <a:r>
              <a:rPr lang="en-GB" dirty="0"/>
              <a:t>observe </a:t>
            </a:r>
            <a:r>
              <a:rPr lang="en-GB" b="1" dirty="0"/>
              <a:t>communication bottlenecks</a:t>
            </a:r>
            <a:endParaRPr lang="en-GB" dirty="0"/>
          </a:p>
          <a:p>
            <a:r>
              <a:rPr lang="en-GB" dirty="0"/>
              <a:t>verify </a:t>
            </a:r>
            <a:r>
              <a:rPr lang="en-GB" b="1" dirty="0"/>
              <a:t>parallel efficiency</a:t>
            </a:r>
          </a:p>
          <a:p>
            <a:endParaRPr lang="en-GB" dirty="0"/>
          </a:p>
          <a:p>
            <a:endParaRPr lang="en-LU" dirty="0"/>
          </a:p>
          <a:p>
            <a:r>
              <a:rPr lang="en-GB" dirty="0"/>
              <a:t>The </a:t>
            </a:r>
            <a:r>
              <a:rPr lang="en-GB" dirty="0" err="1"/>
              <a:t>Dask</a:t>
            </a:r>
            <a:r>
              <a:rPr lang="en-GB" dirty="0"/>
              <a:t> dashboard is essential for understanding performance and diagnosing bottlenecks in distributed workflows</a:t>
            </a:r>
          </a:p>
        </p:txBody>
      </p:sp>
    </p:spTree>
    <p:extLst>
      <p:ext uri="{BB962C8B-B14F-4D97-AF65-F5344CB8AC3E}">
        <p14:creationId xmlns:p14="http://schemas.microsoft.com/office/powerpoint/2010/main" val="31944716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C65E98-7F20-A6CF-FD2F-5732E42FBDA3}"/>
              </a:ext>
            </a:extLst>
          </p:cNvPr>
          <p:cNvSpPr txBox="1"/>
          <p:nvPr/>
        </p:nvSpPr>
        <p:spPr>
          <a:xfrm>
            <a:off x="269822" y="209862"/>
            <a:ext cx="11647358" cy="830997"/>
          </a:xfrm>
          <a:prstGeom prst="rect">
            <a:avLst/>
          </a:prstGeom>
          <a:noFill/>
        </p:spPr>
        <p:txBody>
          <a:bodyPr wrap="square" rtlCol="0">
            <a:spAutoFit/>
          </a:bodyPr>
          <a:lstStyle/>
          <a:p>
            <a:r>
              <a:rPr lang="en-LU" sz="2400" dirty="0"/>
              <a:t>3. Python and Dask for scalable analytics</a:t>
            </a:r>
          </a:p>
          <a:p>
            <a:r>
              <a:rPr lang="en-LU" sz="2400" dirty="0"/>
              <a:t>	Performance optimization in Dask</a:t>
            </a:r>
          </a:p>
        </p:txBody>
      </p:sp>
      <p:sp>
        <p:nvSpPr>
          <p:cNvPr id="5" name="TextBox 4">
            <a:extLst>
              <a:ext uri="{FF2B5EF4-FFF2-40B4-BE49-F238E27FC236}">
                <a16:creationId xmlns:a16="http://schemas.microsoft.com/office/drawing/2014/main" id="{F9FD45D7-5504-9926-BDC4-1E92313EA556}"/>
              </a:ext>
            </a:extLst>
          </p:cNvPr>
          <p:cNvSpPr txBox="1"/>
          <p:nvPr/>
        </p:nvSpPr>
        <p:spPr>
          <a:xfrm>
            <a:off x="269822" y="1194273"/>
            <a:ext cx="11647358" cy="5453865"/>
          </a:xfrm>
          <a:prstGeom prst="rect">
            <a:avLst/>
          </a:prstGeom>
          <a:noFill/>
        </p:spPr>
        <p:txBody>
          <a:bodyPr wrap="square" rtlCol="0">
            <a:spAutoFit/>
          </a:bodyPr>
          <a:lstStyle/>
          <a:p>
            <a:pPr>
              <a:lnSpc>
                <a:spcPct val="150000"/>
              </a:lnSpc>
            </a:pPr>
            <a:r>
              <a:rPr lang="en-GB" dirty="0"/>
              <a:t>Efficient </a:t>
            </a:r>
            <a:r>
              <a:rPr lang="en-GB" dirty="0" err="1"/>
              <a:t>Dask</a:t>
            </a:r>
            <a:r>
              <a:rPr lang="en-GB" dirty="0"/>
              <a:t> workflows require </a:t>
            </a:r>
            <a:r>
              <a:rPr lang="en-GB" b="1" dirty="0"/>
              <a:t>careful optimization of execution patterns</a:t>
            </a:r>
            <a:r>
              <a:rPr lang="en-GB" dirty="0"/>
              <a:t>.</a:t>
            </a:r>
          </a:p>
          <a:p>
            <a:pPr>
              <a:lnSpc>
                <a:spcPct val="150000"/>
              </a:lnSpc>
            </a:pPr>
            <a:endParaRPr lang="en-LU" dirty="0"/>
          </a:p>
          <a:p>
            <a:pPr>
              <a:lnSpc>
                <a:spcPct val="150000"/>
              </a:lnSpc>
            </a:pPr>
            <a:r>
              <a:rPr lang="en-GB" b="1" dirty="0"/>
              <a:t>Choose appropriate chunk sizes</a:t>
            </a:r>
            <a:endParaRPr lang="en-GB" dirty="0"/>
          </a:p>
          <a:p>
            <a:pPr>
              <a:lnSpc>
                <a:spcPct val="150000"/>
              </a:lnSpc>
            </a:pPr>
            <a:r>
              <a:rPr lang="en-GB" dirty="0"/>
              <a:t>→ too small = overhead, too large = memory pressure</a:t>
            </a:r>
          </a:p>
          <a:p>
            <a:pPr>
              <a:lnSpc>
                <a:spcPct val="150000"/>
              </a:lnSpc>
            </a:pPr>
            <a:r>
              <a:rPr lang="en-GB" b="1" dirty="0"/>
              <a:t>Persist vs compute</a:t>
            </a:r>
            <a:endParaRPr lang="en-GB" dirty="0"/>
          </a:p>
          <a:p>
            <a:pPr>
              <a:lnSpc>
                <a:spcPct val="150000"/>
              </a:lnSpc>
            </a:pPr>
            <a:r>
              <a:rPr lang="en-GB" dirty="0"/>
              <a:t>→ persist() keeps data in memory for reuse</a:t>
            </a:r>
          </a:p>
          <a:p>
            <a:pPr>
              <a:lnSpc>
                <a:spcPct val="150000"/>
              </a:lnSpc>
            </a:pPr>
            <a:r>
              <a:rPr lang="en-GB" dirty="0"/>
              <a:t>→ compute() executes and returns results</a:t>
            </a:r>
          </a:p>
          <a:p>
            <a:pPr>
              <a:lnSpc>
                <a:spcPct val="150000"/>
              </a:lnSpc>
            </a:pPr>
            <a:r>
              <a:rPr lang="en-GB" b="1" dirty="0"/>
              <a:t>Avoid unnecessary shuffles</a:t>
            </a:r>
            <a:endParaRPr lang="en-GB" dirty="0"/>
          </a:p>
          <a:p>
            <a:pPr>
              <a:lnSpc>
                <a:spcPct val="150000"/>
              </a:lnSpc>
            </a:pPr>
            <a:r>
              <a:rPr lang="en-GB" dirty="0"/>
              <a:t>→ </a:t>
            </a:r>
            <a:r>
              <a:rPr lang="en-GB" dirty="0" err="1"/>
              <a:t>groupby</a:t>
            </a:r>
            <a:r>
              <a:rPr lang="en-GB" dirty="0"/>
              <a:t> and join operations trigger expensive data movement</a:t>
            </a:r>
          </a:p>
          <a:p>
            <a:pPr>
              <a:lnSpc>
                <a:spcPct val="150000"/>
              </a:lnSpc>
            </a:pPr>
            <a:r>
              <a:rPr lang="en-GB" b="1" dirty="0"/>
              <a:t>Exploit column pruning and predicate pushdown</a:t>
            </a:r>
            <a:endParaRPr lang="en-GB" dirty="0"/>
          </a:p>
          <a:p>
            <a:pPr>
              <a:lnSpc>
                <a:spcPct val="150000"/>
              </a:lnSpc>
            </a:pPr>
            <a:r>
              <a:rPr lang="en-GB" dirty="0"/>
              <a:t>→ read only required data</a:t>
            </a:r>
          </a:p>
          <a:p>
            <a:pPr>
              <a:lnSpc>
                <a:spcPct val="150000"/>
              </a:lnSpc>
            </a:pPr>
            <a:endParaRPr lang="en-LU" dirty="0"/>
          </a:p>
          <a:p>
            <a:pPr>
              <a:lnSpc>
                <a:spcPct val="150000"/>
              </a:lnSpc>
            </a:pPr>
            <a:r>
              <a:rPr lang="en-GB" dirty="0"/>
              <a:t>Minimize data movement and maximize local computation.</a:t>
            </a:r>
          </a:p>
        </p:txBody>
      </p:sp>
    </p:spTree>
    <p:extLst>
      <p:ext uri="{BB962C8B-B14F-4D97-AF65-F5344CB8AC3E}">
        <p14:creationId xmlns:p14="http://schemas.microsoft.com/office/powerpoint/2010/main" val="15416733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7AC79F3-F297-BEEE-2DB5-058BFA056CB1}"/>
              </a:ext>
            </a:extLst>
          </p:cNvPr>
          <p:cNvSpPr txBox="1"/>
          <p:nvPr/>
        </p:nvSpPr>
        <p:spPr>
          <a:xfrm>
            <a:off x="269822" y="209862"/>
            <a:ext cx="11647358" cy="830997"/>
          </a:xfrm>
          <a:prstGeom prst="rect">
            <a:avLst/>
          </a:prstGeom>
          <a:noFill/>
        </p:spPr>
        <p:txBody>
          <a:bodyPr wrap="square" rtlCol="0">
            <a:spAutoFit/>
          </a:bodyPr>
          <a:lstStyle/>
          <a:p>
            <a:r>
              <a:rPr lang="en-LU" sz="2400" dirty="0"/>
              <a:t>3. Python and Dask for scalable analytics</a:t>
            </a:r>
          </a:p>
          <a:p>
            <a:r>
              <a:rPr lang="en-LU" sz="2400" dirty="0"/>
              <a:t>	Efficient storage and I/O in Dask workflows</a:t>
            </a:r>
          </a:p>
        </p:txBody>
      </p:sp>
      <p:sp>
        <p:nvSpPr>
          <p:cNvPr id="5" name="TextBox 4">
            <a:extLst>
              <a:ext uri="{FF2B5EF4-FFF2-40B4-BE49-F238E27FC236}">
                <a16:creationId xmlns:a16="http://schemas.microsoft.com/office/drawing/2014/main" id="{BC252E59-8DBA-E977-1E26-08D7FD807A3B}"/>
              </a:ext>
            </a:extLst>
          </p:cNvPr>
          <p:cNvSpPr txBox="1"/>
          <p:nvPr/>
        </p:nvSpPr>
        <p:spPr>
          <a:xfrm>
            <a:off x="269822" y="1261872"/>
            <a:ext cx="11471074" cy="5078313"/>
          </a:xfrm>
          <a:prstGeom prst="rect">
            <a:avLst/>
          </a:prstGeom>
          <a:noFill/>
        </p:spPr>
        <p:txBody>
          <a:bodyPr wrap="square" rtlCol="0">
            <a:spAutoFit/>
          </a:bodyPr>
          <a:lstStyle/>
          <a:p>
            <a:r>
              <a:rPr lang="en-GB" dirty="0"/>
              <a:t>Storage format and I/O strategy have a </a:t>
            </a:r>
            <a:r>
              <a:rPr lang="en-GB" b="1" dirty="0"/>
              <a:t>direct impact on performance</a:t>
            </a:r>
            <a:r>
              <a:rPr lang="en-GB" dirty="0"/>
              <a:t>. Efficient file formats are essential to achieving scalable performance in </a:t>
            </a:r>
            <a:r>
              <a:rPr lang="en-GB" dirty="0" err="1"/>
              <a:t>Dask</a:t>
            </a:r>
            <a:r>
              <a:rPr lang="en-GB" dirty="0"/>
              <a:t> and HPDA workflows.</a:t>
            </a:r>
          </a:p>
          <a:p>
            <a:endParaRPr lang="en-LU" dirty="0"/>
          </a:p>
          <a:p>
            <a:r>
              <a:rPr lang="en-GB" b="1" dirty="0"/>
              <a:t>Recommended formats</a:t>
            </a:r>
          </a:p>
          <a:p>
            <a:r>
              <a:rPr lang="en-GB" b="1" dirty="0"/>
              <a:t>Parquet</a:t>
            </a:r>
            <a:endParaRPr lang="en-GB" dirty="0"/>
          </a:p>
          <a:p>
            <a:r>
              <a:rPr lang="en-GB" dirty="0"/>
              <a:t>→ columnar, compressed, supports pruning and pushdown</a:t>
            </a:r>
          </a:p>
          <a:p>
            <a:r>
              <a:rPr lang="en-GB" b="1" dirty="0"/>
              <a:t>HDF5 / </a:t>
            </a:r>
            <a:r>
              <a:rPr lang="en-GB" b="1" dirty="0" err="1"/>
              <a:t>NetCDF</a:t>
            </a:r>
            <a:endParaRPr lang="en-GB" dirty="0"/>
          </a:p>
          <a:p>
            <a:r>
              <a:rPr lang="en-GB" dirty="0"/>
              <a:t>→ common in scientific and time-series data</a:t>
            </a:r>
          </a:p>
          <a:p>
            <a:endParaRPr lang="en-LU" dirty="0"/>
          </a:p>
          <a:p>
            <a:r>
              <a:rPr lang="en-GB" dirty="0"/>
              <a:t>Efficient formats reduce:</a:t>
            </a:r>
          </a:p>
          <a:p>
            <a:r>
              <a:rPr lang="en-GB" dirty="0"/>
              <a:t>disk I/O</a:t>
            </a:r>
          </a:p>
          <a:p>
            <a:r>
              <a:rPr lang="en-GB" dirty="0"/>
              <a:t>memory usage</a:t>
            </a:r>
          </a:p>
          <a:p>
            <a:r>
              <a:rPr lang="en-GB" dirty="0"/>
              <a:t>network transfer in distributed systems</a:t>
            </a:r>
          </a:p>
          <a:p>
            <a:endParaRPr lang="en-LU" dirty="0"/>
          </a:p>
          <a:p>
            <a:r>
              <a:rPr lang="en-GB" dirty="0" err="1"/>
              <a:t>Dask</a:t>
            </a:r>
            <a:r>
              <a:rPr lang="en-GB" dirty="0"/>
              <a:t> can read data in </a:t>
            </a:r>
            <a:r>
              <a:rPr lang="en-GB" b="1" dirty="0"/>
              <a:t>parallel directly from these formats</a:t>
            </a:r>
            <a:r>
              <a:rPr lang="en-GB" dirty="0"/>
              <a:t>, enabling high throughput.</a:t>
            </a:r>
          </a:p>
          <a:p>
            <a:endParaRPr lang="en-GB" dirty="0"/>
          </a:p>
          <a:p>
            <a:r>
              <a:rPr lang="en-GB" dirty="0" err="1"/>
              <a:t>Dask</a:t>
            </a:r>
            <a:r>
              <a:rPr lang="en-GB" dirty="0"/>
              <a:t> gives us the ability to scale Python analytics workflows from a single core to HPC clusters, but performance depends on how we structure data, tasks, and communication.</a:t>
            </a:r>
            <a:endParaRPr lang="en-LU" dirty="0"/>
          </a:p>
        </p:txBody>
      </p:sp>
    </p:spTree>
    <p:extLst>
      <p:ext uri="{BB962C8B-B14F-4D97-AF65-F5344CB8AC3E}">
        <p14:creationId xmlns:p14="http://schemas.microsoft.com/office/powerpoint/2010/main" val="30042632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98B6CE-466C-7062-95D2-271D947FF7BE}"/>
              </a:ext>
            </a:extLst>
          </p:cNvPr>
          <p:cNvSpPr txBox="1"/>
          <p:nvPr/>
        </p:nvSpPr>
        <p:spPr>
          <a:xfrm>
            <a:off x="269822" y="209862"/>
            <a:ext cx="11647358" cy="461665"/>
          </a:xfrm>
          <a:prstGeom prst="rect">
            <a:avLst/>
          </a:prstGeom>
          <a:noFill/>
        </p:spPr>
        <p:txBody>
          <a:bodyPr wrap="square" rtlCol="0">
            <a:spAutoFit/>
          </a:bodyPr>
          <a:lstStyle/>
          <a:p>
            <a:r>
              <a:rPr lang="en-LU" sz="2400" dirty="0"/>
              <a:t>Exercise 2 – overview: single node parallelization with Dask</a:t>
            </a:r>
          </a:p>
        </p:txBody>
      </p:sp>
      <p:sp>
        <p:nvSpPr>
          <p:cNvPr id="5" name="TextBox 4">
            <a:extLst>
              <a:ext uri="{FF2B5EF4-FFF2-40B4-BE49-F238E27FC236}">
                <a16:creationId xmlns:a16="http://schemas.microsoft.com/office/drawing/2014/main" id="{3012E289-B980-6985-D0AF-CDCD00A9E0DE}"/>
              </a:ext>
            </a:extLst>
          </p:cNvPr>
          <p:cNvSpPr txBox="1"/>
          <p:nvPr/>
        </p:nvSpPr>
        <p:spPr>
          <a:xfrm>
            <a:off x="269822" y="877824"/>
            <a:ext cx="11507650" cy="5909310"/>
          </a:xfrm>
          <a:prstGeom prst="rect">
            <a:avLst/>
          </a:prstGeom>
          <a:noFill/>
        </p:spPr>
        <p:txBody>
          <a:bodyPr wrap="square" rtlCol="0">
            <a:spAutoFit/>
          </a:bodyPr>
          <a:lstStyle/>
          <a:p>
            <a:r>
              <a:rPr lang="en-GB" dirty="0"/>
              <a:t>In this exercise, focus is moved from </a:t>
            </a:r>
            <a:r>
              <a:rPr lang="en-GB" b="1" dirty="0"/>
              <a:t>single-core analytics (pandas)</a:t>
            </a:r>
            <a:r>
              <a:rPr lang="en-GB" dirty="0"/>
              <a:t> to </a:t>
            </a:r>
            <a:r>
              <a:rPr lang="en-GB" b="1" dirty="0"/>
              <a:t>multi-core parallel analytics (</a:t>
            </a:r>
            <a:r>
              <a:rPr lang="en-GB" b="1" dirty="0" err="1"/>
              <a:t>Dask</a:t>
            </a:r>
            <a:r>
              <a:rPr lang="en-GB" b="1" dirty="0"/>
              <a:t>)</a:t>
            </a:r>
            <a:r>
              <a:rPr lang="en-GB" dirty="0"/>
              <a:t> on a single HPC node.</a:t>
            </a:r>
          </a:p>
          <a:p>
            <a:endParaRPr lang="en-LU" dirty="0"/>
          </a:p>
          <a:p>
            <a:r>
              <a:rPr lang="en-GB" dirty="0"/>
              <a:t>We will compare how the same workload behaves on </a:t>
            </a:r>
            <a:r>
              <a:rPr lang="en-GB" b="1" dirty="0"/>
              <a:t>1 core vs up to 64 cores</a:t>
            </a:r>
            <a:r>
              <a:rPr lang="en-GB" dirty="0"/>
              <a:t>.</a:t>
            </a:r>
          </a:p>
          <a:p>
            <a:endParaRPr lang="en-LU" dirty="0"/>
          </a:p>
          <a:p>
            <a:r>
              <a:rPr lang="en-GB" dirty="0"/>
              <a:t>During this exercise, we will:</a:t>
            </a:r>
          </a:p>
          <a:p>
            <a:r>
              <a:rPr lang="en-GB" b="1" dirty="0"/>
              <a:t>Benchmark different </a:t>
            </a:r>
            <a:r>
              <a:rPr lang="en-GB" b="1" dirty="0" err="1"/>
              <a:t>Dask</a:t>
            </a:r>
            <a:r>
              <a:rPr lang="en-GB" b="1" dirty="0"/>
              <a:t> schedulers</a:t>
            </a:r>
            <a:endParaRPr lang="en-GB" dirty="0"/>
          </a:p>
          <a:p>
            <a:r>
              <a:rPr lang="en-GB" dirty="0"/>
              <a:t>→ synchronous vs threads vs processes</a:t>
            </a:r>
          </a:p>
          <a:p>
            <a:r>
              <a:rPr lang="en-GB" b="1" dirty="0"/>
              <a:t>Experiment with partitioning (</a:t>
            </a:r>
            <a:r>
              <a:rPr lang="en-GB" b="1" dirty="0" err="1"/>
              <a:t>npartitions</a:t>
            </a:r>
            <a:r>
              <a:rPr lang="en-GB" b="1" dirty="0"/>
              <a:t>)</a:t>
            </a:r>
            <a:endParaRPr lang="en-GB" dirty="0"/>
          </a:p>
          <a:p>
            <a:r>
              <a:rPr lang="en-GB" dirty="0"/>
              <a:t>→ understand how chunk size impacts performance</a:t>
            </a:r>
          </a:p>
          <a:p>
            <a:r>
              <a:rPr lang="en-GB" b="1" dirty="0"/>
              <a:t>Process datasets larger than RAM</a:t>
            </a:r>
            <a:endParaRPr lang="en-GB" dirty="0"/>
          </a:p>
          <a:p>
            <a:r>
              <a:rPr lang="en-GB" dirty="0"/>
              <a:t>→ demonstrate out-of-core computation</a:t>
            </a:r>
          </a:p>
          <a:p>
            <a:r>
              <a:rPr lang="en-GB" b="1" dirty="0"/>
              <a:t>Use the </a:t>
            </a:r>
            <a:r>
              <a:rPr lang="en-GB" b="1" dirty="0" err="1"/>
              <a:t>Dask</a:t>
            </a:r>
            <a:r>
              <a:rPr lang="en-GB" b="1" dirty="0"/>
              <a:t> dashboard</a:t>
            </a:r>
            <a:endParaRPr lang="en-GB" dirty="0"/>
          </a:p>
          <a:p>
            <a:r>
              <a:rPr lang="en-GB" dirty="0"/>
              <a:t>→ visualise task execution and resource usage</a:t>
            </a:r>
          </a:p>
          <a:p>
            <a:endParaRPr lang="en-GB" dirty="0"/>
          </a:p>
          <a:p>
            <a:r>
              <a:rPr lang="en-GB" dirty="0"/>
              <a:t>We will run the </a:t>
            </a:r>
            <a:r>
              <a:rPr lang="en-GB" b="1" dirty="0"/>
              <a:t>same analytics pipeline</a:t>
            </a:r>
            <a:r>
              <a:rPr lang="en-GB" dirty="0"/>
              <a:t>:</a:t>
            </a:r>
          </a:p>
          <a:p>
            <a:r>
              <a:rPr lang="en-GB" dirty="0"/>
              <a:t>once with </a:t>
            </a:r>
            <a:r>
              <a:rPr lang="en-GB" b="1" dirty="0"/>
              <a:t>pandas (single core)</a:t>
            </a:r>
            <a:endParaRPr lang="en-GB" dirty="0"/>
          </a:p>
          <a:p>
            <a:r>
              <a:rPr lang="en-GB" dirty="0"/>
              <a:t>once with </a:t>
            </a:r>
            <a:r>
              <a:rPr lang="en-GB" b="1" dirty="0" err="1"/>
              <a:t>Dask</a:t>
            </a:r>
            <a:r>
              <a:rPr lang="en-GB" b="1" dirty="0"/>
              <a:t> (multi-core parallel execution)</a:t>
            </a:r>
            <a:endParaRPr lang="en-GB" dirty="0"/>
          </a:p>
          <a:p>
            <a:r>
              <a:rPr lang="en-GB" dirty="0"/>
              <a:t>on the </a:t>
            </a:r>
            <a:r>
              <a:rPr lang="en-GB" b="1" dirty="0"/>
              <a:t>same dataset and operations</a:t>
            </a:r>
            <a:r>
              <a:rPr lang="en-GB" dirty="0"/>
              <a:t>.</a:t>
            </a:r>
          </a:p>
          <a:p>
            <a:endParaRPr lang="en-GB" dirty="0"/>
          </a:p>
          <a:p>
            <a:endParaRPr lang="en-LU" dirty="0"/>
          </a:p>
        </p:txBody>
      </p:sp>
      <p:sp>
        <p:nvSpPr>
          <p:cNvPr id="6" name="TextBox 5">
            <a:extLst>
              <a:ext uri="{FF2B5EF4-FFF2-40B4-BE49-F238E27FC236}">
                <a16:creationId xmlns:a16="http://schemas.microsoft.com/office/drawing/2014/main" id="{568CE13D-0DD2-5520-182F-65080058F439}"/>
              </a:ext>
            </a:extLst>
          </p:cNvPr>
          <p:cNvSpPr txBox="1"/>
          <p:nvPr/>
        </p:nvSpPr>
        <p:spPr>
          <a:xfrm>
            <a:off x="7565136" y="2905577"/>
            <a:ext cx="4626864" cy="2585323"/>
          </a:xfrm>
          <a:prstGeom prst="rect">
            <a:avLst/>
          </a:prstGeom>
          <a:noFill/>
        </p:spPr>
        <p:txBody>
          <a:bodyPr wrap="square" rtlCol="0">
            <a:spAutoFit/>
          </a:bodyPr>
          <a:lstStyle/>
          <a:p>
            <a:r>
              <a:rPr lang="en-GB" dirty="0"/>
              <a:t>By the end of this exercise, you will understand:</a:t>
            </a:r>
          </a:p>
          <a:p>
            <a:endParaRPr lang="en-GB" dirty="0"/>
          </a:p>
          <a:p>
            <a:r>
              <a:rPr lang="en-GB" dirty="0"/>
              <a:t>how </a:t>
            </a:r>
            <a:r>
              <a:rPr lang="en-GB" dirty="0" err="1"/>
              <a:t>Dask</a:t>
            </a:r>
            <a:r>
              <a:rPr lang="en-GB" dirty="0"/>
              <a:t> parallelizes pandas workflows</a:t>
            </a:r>
          </a:p>
          <a:p>
            <a:r>
              <a:rPr lang="en-GB" dirty="0"/>
              <a:t>how to choose the right scheduler and partitioning</a:t>
            </a:r>
          </a:p>
          <a:p>
            <a:r>
              <a:rPr lang="en-GB" dirty="0"/>
              <a:t>how much performance improvement is achievable on a single node</a:t>
            </a:r>
          </a:p>
          <a:p>
            <a:endParaRPr lang="en-LU" dirty="0"/>
          </a:p>
        </p:txBody>
      </p:sp>
    </p:spTree>
    <p:extLst>
      <p:ext uri="{BB962C8B-B14F-4D97-AF65-F5344CB8AC3E}">
        <p14:creationId xmlns:p14="http://schemas.microsoft.com/office/powerpoint/2010/main" val="21341881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D0ED76-8A46-4091-E5A0-8665872C74EE}"/>
              </a:ext>
            </a:extLst>
          </p:cNvPr>
          <p:cNvSpPr txBox="1"/>
          <p:nvPr/>
        </p:nvSpPr>
        <p:spPr>
          <a:xfrm>
            <a:off x="269822" y="209862"/>
            <a:ext cx="11647358" cy="461665"/>
          </a:xfrm>
          <a:prstGeom prst="rect">
            <a:avLst/>
          </a:prstGeom>
          <a:noFill/>
        </p:spPr>
        <p:txBody>
          <a:bodyPr wrap="square" rtlCol="0">
            <a:spAutoFit/>
          </a:bodyPr>
          <a:lstStyle/>
          <a:p>
            <a:r>
              <a:rPr lang="en-LU" sz="2400" dirty="0"/>
              <a:t>Exercise 3 – overview: distirbuted analytics on HPC cluster</a:t>
            </a:r>
          </a:p>
        </p:txBody>
      </p:sp>
      <p:sp>
        <p:nvSpPr>
          <p:cNvPr id="5" name="TextBox 4">
            <a:extLst>
              <a:ext uri="{FF2B5EF4-FFF2-40B4-BE49-F238E27FC236}">
                <a16:creationId xmlns:a16="http://schemas.microsoft.com/office/drawing/2014/main" id="{D4CF4BA1-AEEE-C5B8-A1B6-007553C30D73}"/>
              </a:ext>
            </a:extLst>
          </p:cNvPr>
          <p:cNvSpPr txBox="1"/>
          <p:nvPr/>
        </p:nvSpPr>
        <p:spPr>
          <a:xfrm>
            <a:off x="269822" y="987552"/>
            <a:ext cx="11647358" cy="5632311"/>
          </a:xfrm>
          <a:prstGeom prst="rect">
            <a:avLst/>
          </a:prstGeom>
          <a:noFill/>
        </p:spPr>
        <p:txBody>
          <a:bodyPr wrap="square" rtlCol="0">
            <a:spAutoFit/>
          </a:bodyPr>
          <a:lstStyle/>
          <a:p>
            <a:r>
              <a:rPr lang="en-GB" dirty="0"/>
              <a:t>In Exercise 2 we scaled across cores on one machine. Now we scale across nodes on an HPC cluster and see how communication affects performance.</a:t>
            </a:r>
          </a:p>
          <a:p>
            <a:endParaRPr lang="en-GB" dirty="0"/>
          </a:p>
          <a:p>
            <a:r>
              <a:rPr lang="en-GB" dirty="0"/>
              <a:t>In this exercise, we move from </a:t>
            </a:r>
            <a:r>
              <a:rPr lang="en-GB" b="1" dirty="0"/>
              <a:t>single-node parallelism</a:t>
            </a:r>
            <a:r>
              <a:rPr lang="en-GB" dirty="0"/>
              <a:t> to </a:t>
            </a:r>
            <a:r>
              <a:rPr lang="en-GB" b="1" dirty="0"/>
              <a:t>multi-node distributed analytics</a:t>
            </a:r>
            <a:r>
              <a:rPr lang="en-GB" dirty="0"/>
              <a:t> on an HPC cluster.</a:t>
            </a:r>
          </a:p>
          <a:p>
            <a:endParaRPr lang="en-LU" dirty="0"/>
          </a:p>
          <a:p>
            <a:r>
              <a:rPr lang="en-GB" dirty="0"/>
              <a:t>We will scale a real analytics pipeline across multiple nodes and measure </a:t>
            </a:r>
            <a:r>
              <a:rPr lang="en-GB" b="1" dirty="0"/>
              <a:t>scaling efficiency and communication overhead</a:t>
            </a:r>
            <a:r>
              <a:rPr lang="en-GB" dirty="0"/>
              <a:t>.</a:t>
            </a:r>
          </a:p>
          <a:p>
            <a:endParaRPr lang="en-LU" dirty="0"/>
          </a:p>
          <a:p>
            <a:r>
              <a:rPr lang="en-GB" dirty="0"/>
              <a:t>During this exercise, we will:</a:t>
            </a:r>
          </a:p>
          <a:p>
            <a:r>
              <a:rPr lang="en-GB" b="1" dirty="0"/>
              <a:t>Deploy a </a:t>
            </a:r>
            <a:r>
              <a:rPr lang="en-GB" b="1" dirty="0" err="1"/>
              <a:t>Dask</a:t>
            </a:r>
            <a:r>
              <a:rPr lang="en-GB" b="1" dirty="0"/>
              <a:t> cluster on HPC (SLURM / MeluXina)</a:t>
            </a:r>
            <a:endParaRPr lang="en-GB" dirty="0"/>
          </a:p>
          <a:p>
            <a:r>
              <a:rPr lang="en-GB" dirty="0"/>
              <a:t>→ multiple nodes, high-speed InfiniBand interconnect</a:t>
            </a:r>
          </a:p>
          <a:p>
            <a:r>
              <a:rPr lang="en-GB" b="1" dirty="0"/>
              <a:t>Run a distributed analytics pipeline</a:t>
            </a:r>
            <a:endParaRPr lang="en-GB" dirty="0"/>
          </a:p>
          <a:p>
            <a:r>
              <a:rPr lang="en-GB" dirty="0"/>
              <a:t>→ </a:t>
            </a:r>
            <a:r>
              <a:rPr lang="en-GB" dirty="0" err="1"/>
              <a:t>groupby</a:t>
            </a:r>
            <a:r>
              <a:rPr lang="en-GB" dirty="0"/>
              <a:t>, join, time-series aggregation, parallel I/O</a:t>
            </a:r>
          </a:p>
          <a:p>
            <a:r>
              <a:rPr lang="en-GB" b="1" dirty="0"/>
              <a:t>Measure scaling efficiency</a:t>
            </a:r>
            <a:endParaRPr lang="en-GB" dirty="0"/>
          </a:p>
          <a:p>
            <a:r>
              <a:rPr lang="en-GB" dirty="0"/>
              <a:t>→ speedup vs number of workers (Amdahl’s Law in practice)</a:t>
            </a:r>
          </a:p>
          <a:p>
            <a:r>
              <a:rPr lang="en-GB" b="1" dirty="0"/>
              <a:t>Identify shuffle-heavy operations</a:t>
            </a:r>
            <a:endParaRPr lang="en-GB" dirty="0"/>
          </a:p>
          <a:p>
            <a:r>
              <a:rPr lang="en-GB" dirty="0"/>
              <a:t>→ understand why joins and repartitions are expensive</a:t>
            </a:r>
          </a:p>
          <a:p>
            <a:r>
              <a:rPr lang="en-GB" b="1" dirty="0"/>
              <a:t>Apply optimization techniques</a:t>
            </a:r>
            <a:endParaRPr lang="en-GB" dirty="0"/>
          </a:p>
          <a:p>
            <a:r>
              <a:rPr lang="en-GB" dirty="0"/>
              <a:t>→ reduce communication and improve performance</a:t>
            </a:r>
            <a:endParaRPr lang="en-LU" dirty="0"/>
          </a:p>
          <a:p>
            <a:endParaRPr lang="en-LU" dirty="0"/>
          </a:p>
        </p:txBody>
      </p:sp>
      <p:sp>
        <p:nvSpPr>
          <p:cNvPr id="6" name="TextBox 5">
            <a:extLst>
              <a:ext uri="{FF2B5EF4-FFF2-40B4-BE49-F238E27FC236}">
                <a16:creationId xmlns:a16="http://schemas.microsoft.com/office/drawing/2014/main" id="{4C63280F-00A5-D256-10CA-7C0B30D884A9}"/>
              </a:ext>
            </a:extLst>
          </p:cNvPr>
          <p:cNvSpPr txBox="1"/>
          <p:nvPr/>
        </p:nvSpPr>
        <p:spPr>
          <a:xfrm>
            <a:off x="7960438" y="2926544"/>
            <a:ext cx="3421707" cy="3693319"/>
          </a:xfrm>
          <a:prstGeom prst="rect">
            <a:avLst/>
          </a:prstGeom>
          <a:noFill/>
        </p:spPr>
        <p:txBody>
          <a:bodyPr wrap="square" rtlCol="0">
            <a:spAutoFit/>
          </a:bodyPr>
          <a:lstStyle/>
          <a:p>
            <a:r>
              <a:rPr lang="en-GB" dirty="0"/>
              <a:t>Exercise shows:</a:t>
            </a:r>
          </a:p>
          <a:p>
            <a:endParaRPr lang="en-GB" dirty="0"/>
          </a:p>
          <a:p>
            <a:r>
              <a:rPr lang="en-GB" dirty="0"/>
              <a:t>how to deploy and use </a:t>
            </a:r>
            <a:r>
              <a:rPr lang="en-GB" b="1" dirty="0" err="1"/>
              <a:t>Dask</a:t>
            </a:r>
            <a:r>
              <a:rPr lang="en-GB" b="1" dirty="0"/>
              <a:t> on an HPC cluster</a:t>
            </a:r>
            <a:endParaRPr lang="en-GB" dirty="0"/>
          </a:p>
          <a:p>
            <a:r>
              <a:rPr lang="en-GB" dirty="0"/>
              <a:t>how distributed analytics pipelines execute across nodes</a:t>
            </a:r>
          </a:p>
          <a:p>
            <a:r>
              <a:rPr lang="en-GB" dirty="0"/>
              <a:t>why </a:t>
            </a:r>
            <a:r>
              <a:rPr lang="en-GB" b="1" dirty="0"/>
              <a:t>data movement (shuffle)</a:t>
            </a:r>
            <a:r>
              <a:rPr lang="en-GB" dirty="0"/>
              <a:t> is the main bottleneck</a:t>
            </a:r>
          </a:p>
          <a:p>
            <a:r>
              <a:rPr lang="en-GB" dirty="0"/>
              <a:t>how </a:t>
            </a:r>
            <a:r>
              <a:rPr lang="en-GB" b="1" dirty="0"/>
              <a:t>InfiniBand vs Ethernet</a:t>
            </a:r>
            <a:r>
              <a:rPr lang="en-GB" dirty="0"/>
              <a:t> affects performance</a:t>
            </a:r>
          </a:p>
          <a:p>
            <a:r>
              <a:rPr lang="en-GB" dirty="0"/>
              <a:t>how to optimize workflows for </a:t>
            </a:r>
            <a:r>
              <a:rPr lang="en-GB" b="1" dirty="0"/>
              <a:t>distributed efficiency</a:t>
            </a:r>
            <a:endParaRPr lang="en-GB" dirty="0"/>
          </a:p>
          <a:p>
            <a:endParaRPr lang="en-LU" dirty="0"/>
          </a:p>
        </p:txBody>
      </p:sp>
    </p:spTree>
    <p:extLst>
      <p:ext uri="{BB962C8B-B14F-4D97-AF65-F5344CB8AC3E}">
        <p14:creationId xmlns:p14="http://schemas.microsoft.com/office/powerpoint/2010/main" val="37693566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8675BCD-6779-796F-448F-F8A41D5D7FD8}"/>
              </a:ext>
            </a:extLst>
          </p:cNvPr>
          <p:cNvSpPr txBox="1"/>
          <p:nvPr/>
        </p:nvSpPr>
        <p:spPr>
          <a:xfrm>
            <a:off x="269822" y="209862"/>
            <a:ext cx="11647358" cy="461665"/>
          </a:xfrm>
          <a:prstGeom prst="rect">
            <a:avLst/>
          </a:prstGeom>
          <a:noFill/>
        </p:spPr>
        <p:txBody>
          <a:bodyPr wrap="square" rtlCol="0">
            <a:spAutoFit/>
          </a:bodyPr>
          <a:lstStyle/>
          <a:p>
            <a:r>
              <a:rPr lang="en-LU" sz="2400" dirty="0"/>
              <a:t>Conclusion</a:t>
            </a:r>
          </a:p>
        </p:txBody>
      </p:sp>
      <p:sp>
        <p:nvSpPr>
          <p:cNvPr id="5" name="TextBox 4">
            <a:extLst>
              <a:ext uri="{FF2B5EF4-FFF2-40B4-BE49-F238E27FC236}">
                <a16:creationId xmlns:a16="http://schemas.microsoft.com/office/drawing/2014/main" id="{32B50C10-9AA6-5B7D-9AE8-6B31C1CDDF93}"/>
              </a:ext>
            </a:extLst>
          </p:cNvPr>
          <p:cNvSpPr txBox="1"/>
          <p:nvPr/>
        </p:nvSpPr>
        <p:spPr>
          <a:xfrm>
            <a:off x="269822" y="932688"/>
            <a:ext cx="11647358" cy="5355312"/>
          </a:xfrm>
          <a:prstGeom prst="rect">
            <a:avLst/>
          </a:prstGeom>
          <a:noFill/>
        </p:spPr>
        <p:txBody>
          <a:bodyPr wrap="square" rtlCol="0">
            <a:spAutoFit/>
          </a:bodyPr>
          <a:lstStyle/>
          <a:p>
            <a:r>
              <a:rPr lang="en-LU" dirty="0"/>
              <a:t>Performance optimization is a structured process: measure -&gt; optimise -&gt; scale</a:t>
            </a:r>
          </a:p>
          <a:p>
            <a:endParaRPr lang="en-LU" dirty="0"/>
          </a:p>
          <a:p>
            <a:r>
              <a:rPr lang="en-GB" b="1" dirty="0"/>
              <a:t>1. Measure first (Profiling)</a:t>
            </a:r>
            <a:endParaRPr lang="en-GB" dirty="0"/>
          </a:p>
          <a:p>
            <a:r>
              <a:rPr lang="en-GB" dirty="0"/>
              <a:t>Identify CPU, memory, and I/O bottlenecks</a:t>
            </a:r>
          </a:p>
          <a:p>
            <a:r>
              <a:rPr lang="en-GB" dirty="0"/>
              <a:t>Use: </a:t>
            </a:r>
            <a:r>
              <a:rPr lang="en-GB" dirty="0" err="1"/>
              <a:t>cProfile</a:t>
            </a:r>
            <a:r>
              <a:rPr lang="en-GB" dirty="0"/>
              <a:t>, </a:t>
            </a:r>
            <a:r>
              <a:rPr lang="en-GB" dirty="0" err="1"/>
              <a:t>tracemalloc</a:t>
            </a:r>
            <a:r>
              <a:rPr lang="en-GB" dirty="0"/>
              <a:t>, </a:t>
            </a:r>
            <a:r>
              <a:rPr lang="en-GB" dirty="0" err="1"/>
              <a:t>Dask</a:t>
            </a:r>
            <a:r>
              <a:rPr lang="en-GB" dirty="0"/>
              <a:t> dashboard</a:t>
            </a:r>
          </a:p>
          <a:p>
            <a:endParaRPr lang="en-GB" dirty="0"/>
          </a:p>
          <a:p>
            <a:r>
              <a:rPr lang="en-GB" b="1" dirty="0"/>
              <a:t>2. Fix algorithms and data structures</a:t>
            </a:r>
            <a:endParaRPr lang="en-GB" dirty="0"/>
          </a:p>
          <a:p>
            <a:r>
              <a:rPr lang="en-GB" dirty="0"/>
              <a:t>Replace Python loops with </a:t>
            </a:r>
            <a:r>
              <a:rPr lang="en-GB" b="1" dirty="0"/>
              <a:t>vectorised NumPy/Pandas operations</a:t>
            </a:r>
            <a:endParaRPr lang="en-GB" dirty="0"/>
          </a:p>
          <a:p>
            <a:r>
              <a:rPr lang="en-GB" dirty="0"/>
              <a:t>Avoid apply() for row-wise logic</a:t>
            </a:r>
          </a:p>
          <a:p>
            <a:r>
              <a:rPr lang="en-GB" dirty="0"/>
              <a:t>Use efficient aggregations (single-pass </a:t>
            </a:r>
            <a:r>
              <a:rPr lang="en-GB" dirty="0" err="1"/>
              <a:t>groupby</a:t>
            </a:r>
            <a:r>
              <a:rPr lang="en-GB" dirty="0"/>
              <a:t>)</a:t>
            </a:r>
          </a:p>
          <a:p>
            <a:endParaRPr lang="en-GB" dirty="0"/>
          </a:p>
          <a:p>
            <a:r>
              <a:rPr lang="en-GB" b="1" dirty="0"/>
              <a:t>3. Reduce data movement</a:t>
            </a:r>
            <a:endParaRPr lang="en-GB" dirty="0"/>
          </a:p>
          <a:p>
            <a:r>
              <a:rPr lang="en-GB" dirty="0"/>
              <a:t>Use </a:t>
            </a:r>
            <a:r>
              <a:rPr lang="en-GB" b="1" dirty="0"/>
              <a:t>Parquet / columnar formats</a:t>
            </a:r>
            <a:endParaRPr lang="en-GB" dirty="0"/>
          </a:p>
          <a:p>
            <a:r>
              <a:rPr lang="en-GB" dirty="0"/>
              <a:t>Apply </a:t>
            </a:r>
            <a:r>
              <a:rPr lang="en-GB" b="1" dirty="0"/>
              <a:t>column pruning and predicate pushdown</a:t>
            </a:r>
            <a:endParaRPr lang="en-GB" dirty="0"/>
          </a:p>
          <a:p>
            <a:r>
              <a:rPr lang="en-GB" dirty="0"/>
              <a:t>Avoid unnecessary joins and shuffles</a:t>
            </a:r>
          </a:p>
          <a:p>
            <a:endParaRPr lang="en-GB" dirty="0"/>
          </a:p>
          <a:p>
            <a:r>
              <a:rPr lang="en-GB" b="1" dirty="0"/>
              <a:t>4. Optimise memory usage</a:t>
            </a:r>
            <a:endParaRPr lang="en-GB" dirty="0"/>
          </a:p>
          <a:p>
            <a:r>
              <a:rPr lang="en-GB" dirty="0"/>
              <a:t>Use </a:t>
            </a:r>
            <a:r>
              <a:rPr lang="en-GB" b="1" dirty="0"/>
              <a:t>appropriate </a:t>
            </a:r>
            <a:r>
              <a:rPr lang="en-GB" b="1" dirty="0" err="1"/>
              <a:t>dtypes</a:t>
            </a:r>
            <a:r>
              <a:rPr lang="en-GB" b="1" dirty="0"/>
              <a:t> (category, int32, float32)</a:t>
            </a:r>
            <a:endParaRPr lang="en-GB" dirty="0"/>
          </a:p>
          <a:p>
            <a:r>
              <a:rPr lang="en-GB" dirty="0"/>
              <a:t>Ensure good </a:t>
            </a:r>
            <a:r>
              <a:rPr lang="en-GB" b="1" dirty="0"/>
              <a:t>data locality</a:t>
            </a:r>
            <a:r>
              <a:rPr lang="en-GB" dirty="0"/>
              <a:t> and partitioning</a:t>
            </a:r>
          </a:p>
        </p:txBody>
      </p:sp>
      <p:sp>
        <p:nvSpPr>
          <p:cNvPr id="6" name="TextBox 5">
            <a:extLst>
              <a:ext uri="{FF2B5EF4-FFF2-40B4-BE49-F238E27FC236}">
                <a16:creationId xmlns:a16="http://schemas.microsoft.com/office/drawing/2014/main" id="{5D79206A-17B1-8353-F84A-3A2E2BD8FE8A}"/>
              </a:ext>
            </a:extLst>
          </p:cNvPr>
          <p:cNvSpPr txBox="1"/>
          <p:nvPr/>
        </p:nvSpPr>
        <p:spPr>
          <a:xfrm>
            <a:off x="7333488" y="1371600"/>
            <a:ext cx="4583692" cy="3139321"/>
          </a:xfrm>
          <a:prstGeom prst="rect">
            <a:avLst/>
          </a:prstGeom>
          <a:noFill/>
        </p:spPr>
        <p:txBody>
          <a:bodyPr wrap="square" rtlCol="0">
            <a:spAutoFit/>
          </a:bodyPr>
          <a:lstStyle/>
          <a:p>
            <a:r>
              <a:rPr lang="en-GB" b="1" dirty="0"/>
              <a:t>5. Parallelise on a single node</a:t>
            </a:r>
            <a:endParaRPr lang="en-GB" dirty="0"/>
          </a:p>
          <a:p>
            <a:r>
              <a:rPr lang="en-GB" dirty="0"/>
              <a:t>Use </a:t>
            </a:r>
            <a:r>
              <a:rPr lang="en-GB" b="1" dirty="0"/>
              <a:t>multi-core execution (</a:t>
            </a:r>
            <a:r>
              <a:rPr lang="en-GB" b="1" dirty="0" err="1"/>
              <a:t>Dask</a:t>
            </a:r>
            <a:r>
              <a:rPr lang="en-GB" b="1" dirty="0"/>
              <a:t> threads/processes)</a:t>
            </a:r>
            <a:endParaRPr lang="en-GB" dirty="0"/>
          </a:p>
          <a:p>
            <a:r>
              <a:rPr lang="en-GB" dirty="0"/>
              <a:t>Choose optimal </a:t>
            </a:r>
            <a:r>
              <a:rPr lang="en-GB" b="1" dirty="0"/>
              <a:t>chunk size / </a:t>
            </a:r>
            <a:r>
              <a:rPr lang="en-GB" b="1" dirty="0" err="1"/>
              <a:t>npartitions</a:t>
            </a:r>
            <a:endParaRPr lang="en-GB" dirty="0"/>
          </a:p>
          <a:p>
            <a:br>
              <a:rPr lang="en-GB" dirty="0"/>
            </a:br>
            <a:endParaRPr lang="en-GB" dirty="0"/>
          </a:p>
          <a:p>
            <a:r>
              <a:rPr lang="en-GB" b="1" dirty="0"/>
              <a:t>6. Scale out to HPC cluster</a:t>
            </a:r>
            <a:endParaRPr lang="en-GB" dirty="0"/>
          </a:p>
          <a:p>
            <a:r>
              <a:rPr lang="en-GB" dirty="0"/>
              <a:t>Distribute workload across nodes using </a:t>
            </a:r>
            <a:r>
              <a:rPr lang="en-GB" dirty="0" err="1"/>
              <a:t>Dask</a:t>
            </a:r>
            <a:r>
              <a:rPr lang="en-GB" dirty="0"/>
              <a:t> distributed</a:t>
            </a:r>
          </a:p>
          <a:p>
            <a:r>
              <a:rPr lang="en-GB" dirty="0"/>
              <a:t>Minimise communication overhead (especially shuffles)</a:t>
            </a:r>
          </a:p>
        </p:txBody>
      </p:sp>
      <p:sp>
        <p:nvSpPr>
          <p:cNvPr id="7" name="TextBox 6">
            <a:extLst>
              <a:ext uri="{FF2B5EF4-FFF2-40B4-BE49-F238E27FC236}">
                <a16:creationId xmlns:a16="http://schemas.microsoft.com/office/drawing/2014/main" id="{5655E6C6-F889-3A93-18A1-E98527C32A0D}"/>
              </a:ext>
            </a:extLst>
          </p:cNvPr>
          <p:cNvSpPr txBox="1"/>
          <p:nvPr/>
        </p:nvSpPr>
        <p:spPr>
          <a:xfrm>
            <a:off x="7430774" y="5170810"/>
            <a:ext cx="4389120" cy="1477328"/>
          </a:xfrm>
          <a:prstGeom prst="rect">
            <a:avLst/>
          </a:prstGeom>
          <a:noFill/>
        </p:spPr>
        <p:txBody>
          <a:bodyPr wrap="square" rtlCol="0">
            <a:spAutoFit/>
          </a:bodyPr>
          <a:lstStyle/>
          <a:p>
            <a:r>
              <a:rPr lang="en-GB" dirty="0"/>
              <a:t>The biggest performance gains usually come from </a:t>
            </a:r>
            <a:r>
              <a:rPr lang="en-GB" b="1" dirty="0"/>
              <a:t>algorithmic improvements and I/O optimisation</a:t>
            </a:r>
            <a:r>
              <a:rPr lang="en-GB" dirty="0"/>
              <a:t>, not from adding more hardware!</a:t>
            </a:r>
          </a:p>
          <a:p>
            <a:endParaRPr lang="en-LU" dirty="0"/>
          </a:p>
        </p:txBody>
      </p:sp>
    </p:spTree>
    <p:extLst>
      <p:ext uri="{BB962C8B-B14F-4D97-AF65-F5344CB8AC3E}">
        <p14:creationId xmlns:p14="http://schemas.microsoft.com/office/powerpoint/2010/main" val="33859387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2081</TotalTime>
  <Words>7133</Words>
  <Application>Microsoft Macintosh PowerPoint</Application>
  <PresentationFormat>Widescreen</PresentationFormat>
  <Paragraphs>736</Paragraphs>
  <Slides>45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Aleksandra RANCIC</dc:creator>
  <cp:lastModifiedBy>Aleksandra RANCIC</cp:lastModifiedBy>
  <cp:revision>28</cp:revision>
  <dcterms:created xsi:type="dcterms:W3CDTF">2026-02-16T14:46:33Z</dcterms:created>
  <dcterms:modified xsi:type="dcterms:W3CDTF">2026-02-18T11:50:27Z</dcterms:modified>
</cp:coreProperties>
</file>