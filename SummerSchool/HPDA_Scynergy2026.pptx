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91" r:id="rId7"/>
    <p:sldId id="261" r:id="rId8"/>
    <p:sldId id="263" r:id="rId9"/>
    <p:sldId id="265" r:id="rId10"/>
    <p:sldId id="266" r:id="rId11"/>
    <p:sldId id="267" r:id="rId12"/>
    <p:sldId id="269" r:id="rId13"/>
    <p:sldId id="292" r:id="rId14"/>
    <p:sldId id="293" r:id="rId15"/>
    <p:sldId id="271" r:id="rId16"/>
    <p:sldId id="294" r:id="rId17"/>
    <p:sldId id="295" r:id="rId18"/>
    <p:sldId id="275" r:id="rId19"/>
    <p:sldId id="296" r:id="rId20"/>
    <p:sldId id="297" r:id="rId21"/>
    <p:sldId id="298" r:id="rId22"/>
    <p:sldId id="281" r:id="rId23"/>
    <p:sldId id="284" r:id="rId24"/>
    <p:sldId id="285" r:id="rId25"/>
    <p:sldId id="290" r:id="rId2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1B2A"/>
    <a:srgbClr val="F0B34F"/>
    <a:srgbClr val="FED855"/>
    <a:srgbClr val="F4D1A5"/>
    <a:srgbClr val="36DAD4"/>
    <a:srgbClr val="94A3B8"/>
    <a:srgbClr val="7F7F7F"/>
    <a:srgbClr val="000000"/>
    <a:srgbClr val="117F88"/>
    <a:srgbClr val="4C8C7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20"/>
    <p:restoredTop sz="56492"/>
  </p:normalViewPr>
  <p:slideViewPr>
    <p:cSldViewPr snapToGrid="0" snapToObjects="1">
      <p:cViewPr varScale="1">
        <p:scale>
          <a:sx n="72" d="100"/>
          <a:sy n="72" d="100"/>
        </p:scale>
        <p:origin x="216" y="3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62" b="1" i="0" u="none" strike="noStrike" kern="1200" cap="none" spc="20" baseline="0">
                <a:solidFill>
                  <a:prstClr val="black">
                    <a:lumMod val="50000"/>
                    <a:lumOff val="50000"/>
                  </a:prstClr>
                </a:solidFill>
                <a:latin typeface="+mn-lt"/>
                <a:ea typeface="+mn-ea"/>
                <a:cs typeface="+mn-cs"/>
              </a:defRPr>
            </a:pPr>
            <a:r>
              <a:rPr lang="en-GB" sz="1600" b="1" dirty="0"/>
              <a:t>Pipeline Execution Time: CSV vs Parquet (50M rows)</a:t>
            </a:r>
          </a:p>
        </c:rich>
      </c:tx>
      <c:layout>
        <c:manualLayout>
          <c:xMode val="edge"/>
          <c:yMode val="edge"/>
          <c:x val="0.11776142373544927"/>
          <c:y val="0"/>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62" b="1" i="0" u="none" strike="noStrike" kern="1200" cap="none" spc="20" baseline="0">
              <a:solidFill>
                <a:prstClr val="black">
                  <a:lumMod val="50000"/>
                  <a:lumOff val="50000"/>
                </a:prstClr>
              </a:solidFill>
              <a:latin typeface="+mn-lt"/>
              <a:ea typeface="+mn-ea"/>
              <a:cs typeface="+mn-cs"/>
            </a:defRPr>
          </a:pPr>
          <a:endParaRPr lang="en-LU"/>
        </a:p>
      </c:txPr>
    </c:title>
    <c:autoTitleDeleted val="0"/>
    <c:plotArea>
      <c:layout/>
      <c:barChart>
        <c:barDir val="col"/>
        <c:grouping val="clustered"/>
        <c:varyColors val="0"/>
        <c:ser>
          <c:idx val="0"/>
          <c:order val="0"/>
          <c:tx>
            <c:strRef>
              <c:f>Sheet1!$B$1</c:f>
              <c:strCache>
                <c:ptCount val="1"/>
                <c:pt idx="0">
                  <c:v>CSV (s)</c:v>
                </c:pt>
              </c:strCache>
            </c:strRef>
          </c:tx>
          <c:spPr>
            <a:solidFill>
              <a:srgbClr val="D9534F"/>
            </a:solidFill>
            <a:ln w="9525" cap="flat" cmpd="sng" algn="ctr">
              <a:solidFill>
                <a:srgbClr val="C00000"/>
              </a:solidFill>
              <a:round/>
            </a:ln>
            <a:effectLst>
              <a:outerShdw blurRad="40000" dist="20000" dir="5400000" rotWithShape="0">
                <a:srgbClr val="000000">
                  <a:alpha val="38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L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Sheet1!$A$2:$A$4</c:f>
              <c:strCache>
                <c:ptCount val="3"/>
                <c:pt idx="0">
                  <c:v>Load</c:v>
                </c:pt>
                <c:pt idx="1">
                  <c:v>Compute (B-E)</c:v>
                </c:pt>
                <c:pt idx="2">
                  <c:v>TOTAL</c:v>
                </c:pt>
              </c:strCache>
            </c:strRef>
          </c:cat>
          <c:val>
            <c:numRef>
              <c:f>Sheet1!$B$2:$B$4</c:f>
              <c:numCache>
                <c:formatCode>General</c:formatCode>
                <c:ptCount val="3"/>
                <c:pt idx="0">
                  <c:v>867.09</c:v>
                </c:pt>
                <c:pt idx="1">
                  <c:v>9.5299999999999994</c:v>
                </c:pt>
                <c:pt idx="2">
                  <c:v>876.62</c:v>
                </c:pt>
              </c:numCache>
            </c:numRef>
          </c:val>
          <c:extLst>
            <c:ext xmlns:c16="http://schemas.microsoft.com/office/drawing/2014/chart" uri="{C3380CC4-5D6E-409C-BE32-E72D297353CC}">
              <c16:uniqueId val="{00000000-0903-2045-91AF-F4A708FF8936}"/>
            </c:ext>
          </c:extLst>
        </c:ser>
        <c:ser>
          <c:idx val="1"/>
          <c:order val="1"/>
          <c:tx>
            <c:strRef>
              <c:f>Sheet1!$C$1</c:f>
              <c:strCache>
                <c:ptCount val="1"/>
                <c:pt idx="0">
                  <c:v>Parquet (s)</c:v>
                </c:pt>
              </c:strCache>
            </c:strRef>
          </c:tx>
          <c:spPr>
            <a:solidFill>
              <a:srgbClr val="4C8C7A"/>
            </a:solidFill>
            <a:ln w="9525" cap="flat" cmpd="sng" algn="ctr">
              <a:solidFill>
                <a:srgbClr val="2F7F7A"/>
              </a:solidFill>
              <a:round/>
            </a:ln>
            <a:effectLst>
              <a:outerShdw blurRad="40000" dist="20000" dir="5400000" rotWithShape="0">
                <a:srgbClr val="000000">
                  <a:alpha val="38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L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Sheet1!$A$2:$A$4</c:f>
              <c:strCache>
                <c:ptCount val="3"/>
                <c:pt idx="0">
                  <c:v>Load</c:v>
                </c:pt>
                <c:pt idx="1">
                  <c:v>Compute (B-E)</c:v>
                </c:pt>
                <c:pt idx="2">
                  <c:v>TOTAL</c:v>
                </c:pt>
              </c:strCache>
            </c:strRef>
          </c:cat>
          <c:val>
            <c:numRef>
              <c:f>Sheet1!$C$2:$C$4</c:f>
              <c:numCache>
                <c:formatCode>General</c:formatCode>
                <c:ptCount val="3"/>
                <c:pt idx="0">
                  <c:v>8.01</c:v>
                </c:pt>
                <c:pt idx="1">
                  <c:v>6.6</c:v>
                </c:pt>
                <c:pt idx="2">
                  <c:v>14.61</c:v>
                </c:pt>
              </c:numCache>
            </c:numRef>
          </c:val>
          <c:extLst>
            <c:ext xmlns:c16="http://schemas.microsoft.com/office/drawing/2014/chart" uri="{C3380CC4-5D6E-409C-BE32-E72D297353CC}">
              <c16:uniqueId val="{00000001-0903-2045-91AF-F4A708FF8936}"/>
            </c:ext>
          </c:extLst>
        </c:ser>
        <c:dLbls>
          <c:dLblPos val="outEnd"/>
          <c:showLegendKey val="0"/>
          <c:showVal val="1"/>
          <c:showCatName val="0"/>
          <c:showSerName val="0"/>
          <c:showPercent val="0"/>
          <c:showBubbleSize val="0"/>
        </c:dLbls>
        <c:gapWidth val="100"/>
        <c:overlap val="-24"/>
        <c:axId val="1112072511"/>
        <c:axId val="1112044223"/>
      </c:barChart>
      <c:catAx>
        <c:axId val="11120725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LU"/>
          </a:p>
        </c:txPr>
        <c:crossAx val="1112044223"/>
        <c:crosses val="autoZero"/>
        <c:auto val="1"/>
        <c:lblAlgn val="ctr"/>
        <c:lblOffset val="100"/>
        <c:noMultiLvlLbl val="0"/>
      </c:catAx>
      <c:valAx>
        <c:axId val="111204422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LU"/>
          </a:p>
        </c:txPr>
        <c:crossAx val="111207251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L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LU"/>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GB" sz="1600" dirty="0"/>
              <a:t>Pipeline execution</a:t>
            </a:r>
            <a:r>
              <a:rPr lang="en-GB" sz="1600" baseline="0" dirty="0"/>
              <a:t> time</a:t>
            </a:r>
          </a:p>
          <a:p>
            <a:pPr>
              <a:defRPr sz="1600"/>
            </a:pPr>
            <a:r>
              <a:rPr lang="en-GB" sz="1600" baseline="0" dirty="0"/>
              <a:t>Same pipeline · 32 cores · Parquet input </a:t>
            </a:r>
            <a:endParaRPr lang="en-GB" sz="1600" dirty="0"/>
          </a:p>
        </c:rich>
      </c:tx>
      <c:layout>
        <c:manualLayout>
          <c:xMode val="edge"/>
          <c:yMode val="edge"/>
          <c:x val="0.16267383134917393"/>
          <c:y val="3.2669566626622869E-2"/>
        </c:manualLayout>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en-LU"/>
        </a:p>
      </c:txPr>
    </c:title>
    <c:autoTitleDeleted val="0"/>
    <c:plotArea>
      <c:layout/>
      <c:barChart>
        <c:barDir val="col"/>
        <c:grouping val="clustered"/>
        <c:varyColors val="0"/>
        <c:ser>
          <c:idx val="0"/>
          <c:order val="0"/>
          <c:tx>
            <c:strRef>
              <c:f>Sheet1!$B$1</c:f>
              <c:strCache>
                <c:ptCount val="1"/>
                <c:pt idx="0">
                  <c:v>pandas (s)</c:v>
                </c:pt>
              </c:strCache>
            </c:strRef>
          </c:tx>
          <c:spPr>
            <a:solidFill>
              <a:schemeClr val="accent2">
                <a:shade val="76000"/>
              </a:schemeClr>
            </a:solidFill>
            <a:ln>
              <a:noFill/>
            </a:ln>
            <a:effectLst/>
          </c:spPr>
          <c:invertIfNegative val="0"/>
          <c:cat>
            <c:strRef>
              <c:f>Sheet1!$A$2:$A$3</c:f>
              <c:strCache>
                <c:ptCount val="2"/>
                <c:pt idx="0">
                  <c:v>~128 MB</c:v>
                </c:pt>
                <c:pt idx="1">
                  <c:v>~1278 MB</c:v>
                </c:pt>
              </c:strCache>
            </c:strRef>
          </c:cat>
          <c:val>
            <c:numRef>
              <c:f>Sheet1!$B$2:$B$3</c:f>
              <c:numCache>
                <c:formatCode>General</c:formatCode>
                <c:ptCount val="2"/>
                <c:pt idx="0">
                  <c:v>0.54</c:v>
                </c:pt>
                <c:pt idx="1">
                  <c:v>4.62</c:v>
                </c:pt>
              </c:numCache>
            </c:numRef>
          </c:val>
          <c:extLst>
            <c:ext xmlns:c16="http://schemas.microsoft.com/office/drawing/2014/chart" uri="{C3380CC4-5D6E-409C-BE32-E72D297353CC}">
              <c16:uniqueId val="{00000000-19F2-804D-A9D6-4CACAA256CAF}"/>
            </c:ext>
          </c:extLst>
        </c:ser>
        <c:ser>
          <c:idx val="1"/>
          <c:order val="1"/>
          <c:tx>
            <c:strRef>
              <c:f>Sheet1!$C$1</c:f>
              <c:strCache>
                <c:ptCount val="1"/>
                <c:pt idx="0">
                  <c:v>Dask (s)</c:v>
                </c:pt>
              </c:strCache>
            </c:strRef>
          </c:tx>
          <c:spPr>
            <a:solidFill>
              <a:schemeClr val="accent2">
                <a:tint val="77000"/>
              </a:schemeClr>
            </a:solidFill>
            <a:ln>
              <a:noFill/>
            </a:ln>
            <a:effectLst/>
          </c:spPr>
          <c:invertIfNegative val="0"/>
          <c:cat>
            <c:strRef>
              <c:f>Sheet1!$A$2:$A$3</c:f>
              <c:strCache>
                <c:ptCount val="2"/>
                <c:pt idx="0">
                  <c:v>~128 MB</c:v>
                </c:pt>
                <c:pt idx="1">
                  <c:v>~1278 MB</c:v>
                </c:pt>
              </c:strCache>
            </c:strRef>
          </c:cat>
          <c:val>
            <c:numRef>
              <c:f>Sheet1!$C$2:$C$3</c:f>
              <c:numCache>
                <c:formatCode>General</c:formatCode>
                <c:ptCount val="2"/>
                <c:pt idx="0">
                  <c:v>2.02</c:v>
                </c:pt>
                <c:pt idx="1">
                  <c:v>3.71</c:v>
                </c:pt>
              </c:numCache>
            </c:numRef>
          </c:val>
          <c:extLst>
            <c:ext xmlns:c16="http://schemas.microsoft.com/office/drawing/2014/chart" uri="{C3380CC4-5D6E-409C-BE32-E72D297353CC}">
              <c16:uniqueId val="{00000001-19F2-804D-A9D6-4CACAA256CAF}"/>
            </c:ext>
          </c:extLst>
        </c:ser>
        <c:dLbls>
          <c:showLegendKey val="0"/>
          <c:showVal val="0"/>
          <c:showCatName val="0"/>
          <c:showSerName val="0"/>
          <c:showPercent val="0"/>
          <c:showBubbleSize val="0"/>
        </c:dLbls>
        <c:gapWidth val="219"/>
        <c:overlap val="-27"/>
        <c:axId val="1080307519"/>
        <c:axId val="1080299903"/>
      </c:barChart>
      <c:catAx>
        <c:axId val="10803075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LU"/>
          </a:p>
        </c:txPr>
        <c:crossAx val="1080299903"/>
        <c:crosses val="autoZero"/>
        <c:auto val="1"/>
        <c:lblAlgn val="ctr"/>
        <c:lblOffset val="100"/>
        <c:noMultiLvlLbl val="0"/>
      </c:catAx>
      <c:valAx>
        <c:axId val="108029990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LU"/>
          </a:p>
        </c:txPr>
        <c:crossAx val="108030751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L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LU"/>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GB" sz="1600" dirty="0"/>
              <a:t>Execution</a:t>
            </a:r>
            <a:r>
              <a:rPr lang="en-GB" sz="1600" baseline="0" dirty="0"/>
              <a:t> Time (s) by Scheduler (smaller vs larger dataset)</a:t>
            </a:r>
            <a:endParaRPr lang="en-GB" sz="1600" dirty="0"/>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clustered"/>
        <c:varyColors val="0"/>
        <c:ser>
          <c:idx val="0"/>
          <c:order val="0"/>
          <c:tx>
            <c:strRef>
              <c:f>Sheet1!$B$1</c:f>
              <c:strCache>
                <c:ptCount val="1"/>
                <c:pt idx="0">
                  <c:v>Small dataset (~128 MB)</c:v>
                </c:pt>
              </c:strCache>
            </c:strRef>
          </c:tx>
          <c:spPr>
            <a:solidFill>
              <a:schemeClr val="accent4">
                <a:shade val="76000"/>
              </a:schemeClr>
            </a:solidFill>
            <a:ln>
              <a:noFill/>
            </a:ln>
            <a:effectLst/>
          </c:spPr>
          <c:invertIfNegative val="0"/>
          <c:cat>
            <c:strRef>
              <c:f>Sheet1!$A$2:$A$4</c:f>
              <c:strCache>
                <c:ptCount val="3"/>
                <c:pt idx="0">
                  <c:v>synchronous</c:v>
                </c:pt>
                <c:pt idx="1">
                  <c:v>threads</c:v>
                </c:pt>
                <c:pt idx="2">
                  <c:v>processes</c:v>
                </c:pt>
              </c:strCache>
            </c:strRef>
          </c:cat>
          <c:val>
            <c:numRef>
              <c:f>Sheet1!$B$2:$B$4</c:f>
              <c:numCache>
                <c:formatCode>General</c:formatCode>
                <c:ptCount val="3"/>
                <c:pt idx="0">
                  <c:v>1.48</c:v>
                </c:pt>
                <c:pt idx="1">
                  <c:v>0.92</c:v>
                </c:pt>
                <c:pt idx="2">
                  <c:v>34.32</c:v>
                </c:pt>
              </c:numCache>
            </c:numRef>
          </c:val>
          <c:extLst>
            <c:ext xmlns:c16="http://schemas.microsoft.com/office/drawing/2014/chart" uri="{C3380CC4-5D6E-409C-BE32-E72D297353CC}">
              <c16:uniqueId val="{00000000-6D9B-8D4A-B1A6-F0BFB5B42816}"/>
            </c:ext>
          </c:extLst>
        </c:ser>
        <c:ser>
          <c:idx val="1"/>
          <c:order val="1"/>
          <c:tx>
            <c:strRef>
              <c:f>Sheet1!$C$1</c:f>
              <c:strCache>
                <c:ptCount val="1"/>
                <c:pt idx="0">
                  <c:v>Larger dataset (1278 MB)</c:v>
                </c:pt>
              </c:strCache>
            </c:strRef>
          </c:tx>
          <c:spPr>
            <a:solidFill>
              <a:schemeClr val="accent4">
                <a:tint val="77000"/>
              </a:schemeClr>
            </a:solidFill>
            <a:ln>
              <a:noFill/>
            </a:ln>
            <a:effectLst/>
          </c:spPr>
          <c:invertIfNegative val="0"/>
          <c:cat>
            <c:strRef>
              <c:f>Sheet1!$A$2:$A$4</c:f>
              <c:strCache>
                <c:ptCount val="3"/>
                <c:pt idx="0">
                  <c:v>synchronous</c:v>
                </c:pt>
                <c:pt idx="1">
                  <c:v>threads</c:v>
                </c:pt>
                <c:pt idx="2">
                  <c:v>processes</c:v>
                </c:pt>
              </c:strCache>
            </c:strRef>
          </c:cat>
          <c:val>
            <c:numRef>
              <c:f>Sheet1!$C$2:$C$4</c:f>
              <c:numCache>
                <c:formatCode>General</c:formatCode>
                <c:ptCount val="3"/>
                <c:pt idx="0">
                  <c:v>13.86</c:v>
                </c:pt>
                <c:pt idx="1">
                  <c:v>3.31</c:v>
                </c:pt>
                <c:pt idx="2">
                  <c:v>50.43</c:v>
                </c:pt>
              </c:numCache>
            </c:numRef>
          </c:val>
          <c:extLst>
            <c:ext xmlns:c16="http://schemas.microsoft.com/office/drawing/2014/chart" uri="{C3380CC4-5D6E-409C-BE32-E72D297353CC}">
              <c16:uniqueId val="{00000001-6D9B-8D4A-B1A6-F0BFB5B42816}"/>
            </c:ext>
          </c:extLst>
        </c:ser>
        <c:dLbls>
          <c:showLegendKey val="0"/>
          <c:showVal val="0"/>
          <c:showCatName val="0"/>
          <c:showSerName val="0"/>
          <c:showPercent val="0"/>
          <c:showBubbleSize val="0"/>
        </c:dLbls>
        <c:gapWidth val="219"/>
        <c:overlap val="-27"/>
        <c:axId val="1067956223"/>
        <c:axId val="1067952191"/>
      </c:barChart>
      <c:catAx>
        <c:axId val="1067956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LU"/>
          </a:p>
        </c:txPr>
        <c:crossAx val="1067952191"/>
        <c:crosses val="autoZero"/>
        <c:auto val="1"/>
        <c:lblAlgn val="ctr"/>
        <c:lblOffset val="100"/>
        <c:noMultiLvlLbl val="0"/>
      </c:catAx>
      <c:valAx>
        <c:axId val="106795219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LU"/>
          </a:p>
        </c:txPr>
        <c:crossAx val="1067956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L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LU"/>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r>
              <a:rPr lang="en-GB"/>
              <a:t>Effect of Partition Count on Execution Time</a:t>
            </a: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endParaRPr lang="en-LU"/>
        </a:p>
      </c:txPr>
    </c:title>
    <c:autoTitleDeleted val="0"/>
    <c:plotArea>
      <c:layout/>
      <c:lineChart>
        <c:grouping val="standard"/>
        <c:varyColors val="0"/>
        <c:ser>
          <c:idx val="0"/>
          <c:order val="0"/>
          <c:tx>
            <c:strRef>
              <c:f>Sheet1!$B$1</c:f>
              <c:strCache>
                <c:ptCount val="1"/>
                <c:pt idx="0">
                  <c:v>Small dataset (~128 MB)</c:v>
                </c:pt>
              </c:strCache>
            </c:strRef>
          </c:tx>
          <c:spPr>
            <a:ln w="28575" cap="rnd">
              <a:solidFill>
                <a:schemeClr val="accent1"/>
              </a:solidFill>
              <a:round/>
            </a:ln>
            <a:effectLst/>
          </c:spPr>
          <c:marker>
            <c:symbol val="none"/>
          </c:marker>
          <c:cat>
            <c:numRef>
              <c:f>Sheet1!$A$2:$A$6</c:f>
              <c:numCache>
                <c:formatCode>General</c:formatCode>
                <c:ptCount val="5"/>
                <c:pt idx="0">
                  <c:v>1</c:v>
                </c:pt>
                <c:pt idx="1">
                  <c:v>16</c:v>
                </c:pt>
                <c:pt idx="2">
                  <c:v>32</c:v>
                </c:pt>
                <c:pt idx="3">
                  <c:v>64</c:v>
                </c:pt>
                <c:pt idx="4">
                  <c:v>128</c:v>
                </c:pt>
              </c:numCache>
            </c:numRef>
          </c:cat>
          <c:val>
            <c:numRef>
              <c:f>Sheet1!$B$2:$B$6</c:f>
              <c:numCache>
                <c:formatCode>General</c:formatCode>
                <c:ptCount val="5"/>
                <c:pt idx="0">
                  <c:v>2.37</c:v>
                </c:pt>
                <c:pt idx="1">
                  <c:v>1.37</c:v>
                </c:pt>
                <c:pt idx="2">
                  <c:v>1.39</c:v>
                </c:pt>
                <c:pt idx="3">
                  <c:v>2.15</c:v>
                </c:pt>
                <c:pt idx="4">
                  <c:v>3.75</c:v>
                </c:pt>
              </c:numCache>
            </c:numRef>
          </c:val>
          <c:smooth val="0"/>
          <c:extLst>
            <c:ext xmlns:c16="http://schemas.microsoft.com/office/drawing/2014/chart" uri="{C3380CC4-5D6E-409C-BE32-E72D297353CC}">
              <c16:uniqueId val="{00000000-538D-EF4D-9590-4C9232F58ED1}"/>
            </c:ext>
          </c:extLst>
        </c:ser>
        <c:ser>
          <c:idx val="1"/>
          <c:order val="1"/>
          <c:tx>
            <c:strRef>
              <c:f>Sheet1!$C$1</c:f>
              <c:strCache>
                <c:ptCount val="1"/>
                <c:pt idx="0">
                  <c:v>Larger dataset (~1278 MB)</c:v>
                </c:pt>
              </c:strCache>
            </c:strRef>
          </c:tx>
          <c:spPr>
            <a:ln w="28575" cap="rnd">
              <a:solidFill>
                <a:schemeClr val="accent2"/>
              </a:solidFill>
              <a:round/>
            </a:ln>
            <a:effectLst/>
          </c:spPr>
          <c:marker>
            <c:symbol val="none"/>
          </c:marker>
          <c:cat>
            <c:numRef>
              <c:f>Sheet1!$A$2:$A$6</c:f>
              <c:numCache>
                <c:formatCode>General</c:formatCode>
                <c:ptCount val="5"/>
                <c:pt idx="0">
                  <c:v>1</c:v>
                </c:pt>
                <c:pt idx="1">
                  <c:v>16</c:v>
                </c:pt>
                <c:pt idx="2">
                  <c:v>32</c:v>
                </c:pt>
                <c:pt idx="3">
                  <c:v>64</c:v>
                </c:pt>
                <c:pt idx="4">
                  <c:v>128</c:v>
                </c:pt>
              </c:numCache>
            </c:numRef>
          </c:cat>
          <c:val>
            <c:numRef>
              <c:f>Sheet1!$C$2:$C$6</c:f>
              <c:numCache>
                <c:formatCode>General</c:formatCode>
                <c:ptCount val="5"/>
                <c:pt idx="0">
                  <c:v>12.09</c:v>
                </c:pt>
                <c:pt idx="1">
                  <c:v>3.56</c:v>
                </c:pt>
                <c:pt idx="2">
                  <c:v>2.99</c:v>
                </c:pt>
                <c:pt idx="3">
                  <c:v>3.89</c:v>
                </c:pt>
                <c:pt idx="4">
                  <c:v>6.24</c:v>
                </c:pt>
              </c:numCache>
            </c:numRef>
          </c:val>
          <c:smooth val="0"/>
          <c:extLst>
            <c:ext xmlns:c16="http://schemas.microsoft.com/office/drawing/2014/chart" uri="{C3380CC4-5D6E-409C-BE32-E72D297353CC}">
              <c16:uniqueId val="{00000001-538D-EF4D-9590-4C9232F58ED1}"/>
            </c:ext>
          </c:extLst>
        </c:ser>
        <c:dLbls>
          <c:showLegendKey val="0"/>
          <c:showVal val="0"/>
          <c:showCatName val="0"/>
          <c:showSerName val="0"/>
          <c:showPercent val="0"/>
          <c:showBubbleSize val="0"/>
        </c:dLbls>
        <c:smooth val="0"/>
        <c:axId val="1112088895"/>
        <c:axId val="1252281407"/>
      </c:lineChart>
      <c:catAx>
        <c:axId val="11120888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LU"/>
          </a:p>
        </c:txPr>
        <c:crossAx val="1252281407"/>
        <c:crosses val="autoZero"/>
        <c:auto val="1"/>
        <c:lblAlgn val="ctr"/>
        <c:lblOffset val="100"/>
        <c:noMultiLvlLbl val="0"/>
      </c:catAx>
      <c:valAx>
        <c:axId val="12522814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LU"/>
          </a:p>
        </c:txPr>
        <c:crossAx val="111208889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L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pPr>
      <a:endParaRPr lang="en-LU"/>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withinLinear" id="17">
  <a:schemeClr val="accent4"/>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L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559871-E47D-E44F-A1DB-7FA53C501ACE}" type="datetimeFigureOut">
              <a:rPr lang="en-LU" smtClean="0"/>
              <a:t>10/07/2026</a:t>
            </a:fld>
            <a:endParaRPr lang="en-L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L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L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L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48CBE3-8885-9F42-A1AF-D0A0D7B6B611}" type="slidenum">
              <a:rPr lang="en-LU" smtClean="0"/>
              <a:t>‹#›</a:t>
            </a:fld>
            <a:endParaRPr lang="en-LU"/>
          </a:p>
        </p:txBody>
      </p:sp>
    </p:spTree>
    <p:extLst>
      <p:ext uri="{BB962C8B-B14F-4D97-AF65-F5344CB8AC3E}">
        <p14:creationId xmlns:p14="http://schemas.microsoft.com/office/powerpoint/2010/main" val="583310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U"/>
          </a:p>
        </p:txBody>
      </p:sp>
      <p:sp>
        <p:nvSpPr>
          <p:cNvPr id="4" name="Slide Number Placeholder 3"/>
          <p:cNvSpPr>
            <a:spLocks noGrp="1"/>
          </p:cNvSpPr>
          <p:nvPr>
            <p:ph type="sldNum" sz="quarter" idx="5"/>
          </p:nvPr>
        </p:nvSpPr>
        <p:spPr/>
        <p:txBody>
          <a:bodyPr/>
          <a:lstStyle/>
          <a:p>
            <a:fld id="{5A48CBE3-8885-9F42-A1AF-D0A0D7B6B611}" type="slidenum">
              <a:rPr lang="en-LU" smtClean="0"/>
              <a:t>1</a:t>
            </a:fld>
            <a:endParaRPr lang="en-LU"/>
          </a:p>
        </p:txBody>
      </p:sp>
    </p:spTree>
    <p:extLst>
      <p:ext uri="{BB962C8B-B14F-4D97-AF65-F5344CB8AC3E}">
        <p14:creationId xmlns:p14="http://schemas.microsoft.com/office/powerpoint/2010/main" val="400919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session is structured as a progression — not of tools, but of problems.</a:t>
            </a:r>
          </a:p>
          <a:p>
            <a:r>
              <a:rPr lang="en-GB" dirty="0"/>
              <a:t>We start with a simple pandas workflow, identify where it breaks, and then move step by step toward scalable solutions.</a:t>
            </a:r>
          </a:p>
          <a:p>
            <a:r>
              <a:rPr lang="en-GB" dirty="0"/>
              <a:t>First, we set the context.</a:t>
            </a:r>
          </a:p>
          <a:p>
            <a:r>
              <a:rPr lang="en-GB" dirty="0"/>
              <a:t>Performance is not just about speed — it is about:</a:t>
            </a:r>
          </a:p>
          <a:p>
            <a:r>
              <a:rPr lang="en-GB" dirty="0"/>
              <a:t>- latency (how fast results arrive)</a:t>
            </a:r>
          </a:p>
          <a:p>
            <a:r>
              <a:rPr lang="en-GB" dirty="0"/>
              <a:t>- scale (how much data we can handle)</a:t>
            </a:r>
          </a:p>
          <a:p>
            <a:r>
              <a:rPr lang="en-GB" dirty="0"/>
              <a:t>- cost (compute and storage)</a:t>
            </a:r>
          </a:p>
          <a:p>
            <a:r>
              <a:rPr lang="en-GB" dirty="0"/>
              <a:t>The key idea: at small scale, performance is invisible.</a:t>
            </a:r>
          </a:p>
          <a:p>
            <a:r>
              <a:rPr lang="en-GB" dirty="0"/>
              <a:t>At larger scale, it becomes the dominant constraint.</a:t>
            </a:r>
            <a:endParaRPr lang="en-LU" dirty="0"/>
          </a:p>
          <a:p>
            <a:r>
              <a:rPr lang="en-GB" dirty="0"/>
              <a:t>Then we define HPDA through a concrete example.</a:t>
            </a:r>
          </a:p>
          <a:p>
            <a:r>
              <a:rPr lang="en-GB" dirty="0"/>
              <a:t>We run a pandas pipeline on a realistic dataset and measure:</a:t>
            </a:r>
          </a:p>
          <a:p>
            <a:r>
              <a:rPr lang="en-GB" dirty="0"/>
              <a:t>- execution time</a:t>
            </a:r>
          </a:p>
          <a:p>
            <a:r>
              <a:rPr lang="en-GB" dirty="0"/>
              <a:t>- memory usage</a:t>
            </a:r>
          </a:p>
          <a:p>
            <a:r>
              <a:rPr lang="en-GB" dirty="0"/>
              <a:t>- I/O cost</a:t>
            </a:r>
          </a:p>
          <a:p>
            <a:r>
              <a:rPr lang="en-GB" dirty="0"/>
              <a:t>This is critical:</a:t>
            </a:r>
          </a:p>
          <a:p>
            <a:r>
              <a:rPr lang="en-GB" dirty="0"/>
              <a:t>we are not guessing bottlenecks — we measure them.</a:t>
            </a:r>
          </a:p>
          <a:p>
            <a:r>
              <a:rPr lang="en-GB" dirty="0"/>
              <a:t>Then we switch from CSV to Parquet.</a:t>
            </a:r>
          </a:p>
          <a:p>
            <a:r>
              <a:rPr lang="en-GB" dirty="0"/>
              <a:t>This shows the first major insight:</a:t>
            </a:r>
          </a:p>
          <a:p>
            <a:r>
              <a:rPr lang="en-GB" dirty="0"/>
              <a:t>performance is often limited by I/O, not compute.</a:t>
            </a:r>
            <a:endParaRPr lang="en-LU" dirty="0"/>
          </a:p>
          <a:p>
            <a:r>
              <a:rPr lang="en-GB" dirty="0"/>
              <a:t>Next, we introduce parallelism using </a:t>
            </a:r>
            <a:r>
              <a:rPr lang="en-GB" dirty="0" err="1"/>
              <a:t>Dask</a:t>
            </a:r>
            <a:r>
              <a:rPr lang="en-GB" dirty="0"/>
              <a:t>.</a:t>
            </a:r>
          </a:p>
          <a:p>
            <a:r>
              <a:rPr lang="en-GB" dirty="0"/>
              <a:t>We take the same workload and try to scale it across cores.</a:t>
            </a:r>
          </a:p>
          <a:p>
            <a:r>
              <a:rPr lang="en-GB" dirty="0"/>
              <a:t>Important:</a:t>
            </a:r>
          </a:p>
          <a:p>
            <a:r>
              <a:rPr lang="en-GB" dirty="0"/>
              <a:t>parallelism is not automatically faster.</a:t>
            </a:r>
          </a:p>
          <a:p>
            <a:r>
              <a:rPr lang="en-GB" dirty="0"/>
              <a:t>We will see:</a:t>
            </a:r>
          </a:p>
          <a:p>
            <a:r>
              <a:rPr lang="en-GB" dirty="0"/>
              <a:t>- when it improves performance</a:t>
            </a:r>
          </a:p>
          <a:p>
            <a:r>
              <a:rPr lang="en-GB" dirty="0"/>
              <a:t>- when overhead dominates</a:t>
            </a:r>
          </a:p>
          <a:p>
            <a:r>
              <a:rPr lang="en-GB" dirty="0"/>
              <a:t>- how dataset size changes the outcome</a:t>
            </a:r>
            <a:br>
              <a:rPr lang="en-GB" dirty="0"/>
            </a:br>
            <a:r>
              <a:rPr lang="en-GB" dirty="0"/>
              <a:t>Now we step back and interpret results.</a:t>
            </a:r>
          </a:p>
          <a:p>
            <a:r>
              <a:rPr lang="en-GB" dirty="0"/>
              <a:t>The goal is not “use </a:t>
            </a:r>
            <a:r>
              <a:rPr lang="en-GB" dirty="0" err="1"/>
              <a:t>Dask</a:t>
            </a:r>
            <a:r>
              <a:rPr lang="en-GB" dirty="0"/>
              <a:t>”.</a:t>
            </a:r>
          </a:p>
          <a:p>
            <a:endParaRPr lang="en-GB" dirty="0"/>
          </a:p>
          <a:p>
            <a:r>
              <a:rPr lang="en-GB" dirty="0"/>
              <a:t>The goal is:</a:t>
            </a:r>
          </a:p>
          <a:p>
            <a:r>
              <a:rPr lang="en-GB" dirty="0"/>
              <a:t>understand when to use which approach.</a:t>
            </a:r>
          </a:p>
          <a:p>
            <a:endParaRPr lang="en-GB" dirty="0"/>
          </a:p>
          <a:p>
            <a:r>
              <a:rPr lang="en-GB" dirty="0"/>
              <a:t>We connect:</a:t>
            </a:r>
          </a:p>
          <a:p>
            <a:r>
              <a:rPr lang="en-GB" dirty="0"/>
              <a:t>- pandas vs </a:t>
            </a:r>
            <a:r>
              <a:rPr lang="en-GB" dirty="0" err="1"/>
              <a:t>Dask</a:t>
            </a:r>
            <a:endParaRPr lang="en-GB" dirty="0"/>
          </a:p>
          <a:p>
            <a:r>
              <a:rPr lang="en-GB" dirty="0"/>
              <a:t>- I/O vs compute bottlenecks</a:t>
            </a:r>
          </a:p>
          <a:p>
            <a:r>
              <a:rPr lang="en-GB" dirty="0"/>
              <a:t>- partitioning and workload structure</a:t>
            </a:r>
          </a:p>
          <a:p>
            <a:endParaRPr lang="en-GB" dirty="0"/>
          </a:p>
          <a:p>
            <a:r>
              <a:rPr lang="en-GB" dirty="0"/>
              <a:t>This is where engineering thinking replaces trial-and-error.</a:t>
            </a:r>
          </a:p>
          <a:p>
            <a:endParaRPr lang="en-GB" dirty="0"/>
          </a:p>
          <a:p>
            <a:r>
              <a:rPr lang="en-GB" dirty="0"/>
              <a:t>Finally, we extract practical rules.</a:t>
            </a:r>
          </a:p>
        </p:txBody>
      </p:sp>
      <p:sp>
        <p:nvSpPr>
          <p:cNvPr id="4" name="Slide Number Placeholder 3"/>
          <p:cNvSpPr>
            <a:spLocks noGrp="1"/>
          </p:cNvSpPr>
          <p:nvPr>
            <p:ph type="sldNum" sz="quarter" idx="5"/>
          </p:nvPr>
        </p:nvSpPr>
        <p:spPr/>
        <p:txBody>
          <a:bodyPr/>
          <a:lstStyle/>
          <a:p>
            <a:fld id="{5A48CBE3-8885-9F42-A1AF-D0A0D7B6B611}" type="slidenum">
              <a:rPr lang="en-LU" smtClean="0"/>
              <a:t>2</a:t>
            </a:fld>
            <a:endParaRPr lang="en-LU"/>
          </a:p>
        </p:txBody>
      </p:sp>
    </p:spTree>
    <p:extLst>
      <p:ext uri="{BB962C8B-B14F-4D97-AF65-F5344CB8AC3E}">
        <p14:creationId xmlns:p14="http://schemas.microsoft.com/office/powerpoint/2010/main" val="3145365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LU"/>
          </a:p>
        </p:txBody>
      </p:sp>
      <p:sp>
        <p:nvSpPr>
          <p:cNvPr id="3" name="Notes Placeholder 2"/>
          <p:cNvSpPr>
            <a:spLocks noGrp="1"/>
          </p:cNvSpPr>
          <p:nvPr>
            <p:ph type="body" idx="1"/>
          </p:nvPr>
        </p:nvSpPr>
        <p:spPr/>
        <p:txBody>
          <a:bodyPr/>
          <a:lstStyle/>
          <a:p>
            <a:r>
              <a:rPr lang="en-GB" dirty="0"/>
              <a:t>High-Performance Data Analytics is not about tools, it’s about constraints. At small scale, analytics is simple because everything fits in memory and runs fast enough by default. But once data grows, this breaks. Data no longer fits in memory, execution time becomes too long, and the dominant cost is no longer computation but I/O and data movement. At that point, performance is not automatic anymore — it has to be engineered. That means thinking explicitly about how data is stored, how it is partitioned, and how computations are executed.</a:t>
            </a:r>
          </a:p>
          <a:p>
            <a:endParaRPr lang="en-GB" dirty="0"/>
          </a:p>
          <a:p>
            <a:r>
              <a:rPr lang="en-GB" dirty="0"/>
              <a:t>This is the key difference between traditional analytics and HPDA. In traditional analytics, we assume a single machine, data fits in memory, and performance is handled implicitly by the system. In HPDA, we move to multi-core or distributed execution, data may exceed memory, and performance becomes a design problem rather than a given.</a:t>
            </a:r>
          </a:p>
          <a:p>
            <a:endParaRPr lang="en-GB" dirty="0"/>
          </a:p>
          <a:p>
            <a:r>
              <a:rPr lang="en-GB" dirty="0"/>
              <a:t>On the right, this spectrum shows how systems evolve as problems grow. We start with spreadsheets, where everything is manual and small. Then we move to databases and BI tools, where the system handles performance internally and we just write queries. But once the single-node limit is reached, we enter HPDA, where parallel execution is required and we must reason about performance ourselves. Beyond that are real-time systems, where latency constraints dominate, but that is outside the scope of this session.</a:t>
            </a:r>
          </a:p>
          <a:p>
            <a:endParaRPr lang="en-GB" dirty="0"/>
          </a:p>
          <a:p>
            <a:r>
              <a:rPr lang="en-GB" dirty="0"/>
              <a:t>The important idea is that you do not choose to move to HPDA — the problem forces you there when scale and performance constraints exceed what a single system can handle.</a:t>
            </a:r>
            <a:endParaRPr lang="en-LU" dirty="0"/>
          </a:p>
        </p:txBody>
      </p:sp>
      <p:sp>
        <p:nvSpPr>
          <p:cNvPr id="4" name="Slide Number Placeholder 3"/>
          <p:cNvSpPr>
            <a:spLocks noGrp="1"/>
          </p:cNvSpPr>
          <p:nvPr>
            <p:ph type="sldNum" sz="quarter" idx="5"/>
          </p:nvPr>
        </p:nvSpPr>
        <p:spPr/>
        <p:txBody>
          <a:bodyPr/>
          <a:lstStyle/>
          <a:p>
            <a:fld id="{5A48CBE3-8885-9F42-A1AF-D0A0D7B6B611}" type="slidenum">
              <a:rPr lang="en-LU" smtClean="0"/>
              <a:t>3</a:t>
            </a:fld>
            <a:endParaRPr lang="en-LU"/>
          </a:p>
        </p:txBody>
      </p:sp>
    </p:spTree>
    <p:extLst>
      <p:ext uri="{BB962C8B-B14F-4D97-AF65-F5344CB8AC3E}">
        <p14:creationId xmlns:p14="http://schemas.microsoft.com/office/powerpoint/2010/main" val="4206513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explains why traditional analytics breaks — and it always breaks in the same three ways: volume, velocity, and variety.</a:t>
            </a:r>
          </a:p>
          <a:p>
            <a:endParaRPr lang="en-GB" dirty="0"/>
          </a:p>
          <a:p>
            <a:r>
              <a:rPr lang="en-GB" dirty="0"/>
              <a:t>First, volume. At some point, the dataset becomes larger than what RAM can hold. A single day of trading data, for example, can easily reach terabytes. Traditional systems assume everything fits in memory, so once that assumption fails, performance collapses. You either run out of memory or the system starts swapping to disk, which makes everything extremely slow.</a:t>
            </a:r>
          </a:p>
          <a:p>
            <a:endParaRPr lang="en-GB" dirty="0"/>
          </a:p>
          <a:p>
            <a:r>
              <a:rPr lang="en-GB" dirty="0"/>
              <a:t>Second, velocity. This is about how fast data arrives and how quickly you need results. If data is coming in continuously and decisions must be made in milliseconds, batch processing is no longer sufficient. You simply cannot process data fast enough in a sequential way, so latency becomes the main constraint.</a:t>
            </a:r>
          </a:p>
          <a:p>
            <a:endParaRPr lang="en-GB" dirty="0"/>
          </a:p>
          <a:p>
            <a:r>
              <a:rPr lang="en-GB" dirty="0"/>
              <a:t>Third, variety. Data is no longer clean, structured tables. You have multiple formats — structured tables, JSON, logs — and before you can even </a:t>
            </a:r>
            <a:r>
              <a:rPr lang="en-GB" dirty="0" err="1"/>
              <a:t>analyze</a:t>
            </a:r>
            <a:r>
              <a:rPr lang="en-GB" dirty="0"/>
              <a:t> anything, you need to transform and align the data. That adds additional overhead and complexity.</a:t>
            </a:r>
          </a:p>
          <a:p>
            <a:endParaRPr lang="en-GB" dirty="0"/>
          </a:p>
          <a:p>
            <a:r>
              <a:rPr lang="en-GB" dirty="0"/>
              <a:t>The key point is that these are not isolated problems — they compound. Larger data increases I/O, higher velocity increases pressure on execution time, and higher variety increases processing complexity.</a:t>
            </a:r>
          </a:p>
          <a:p>
            <a:endParaRPr lang="en-GB" dirty="0"/>
          </a:p>
          <a:p>
            <a:r>
              <a:rPr lang="en-GB" dirty="0"/>
              <a:t>HPDA exists to address exactly these three constraints. It does this through parallelism to handle volume and speed, columnar storage like Parquet to reduce I/O, and optimized execution strategies to manage complexity.</a:t>
            </a:r>
            <a:endParaRPr lang="en-LU" dirty="0"/>
          </a:p>
        </p:txBody>
      </p:sp>
      <p:sp>
        <p:nvSpPr>
          <p:cNvPr id="4" name="Slide Number Placeholder 3"/>
          <p:cNvSpPr>
            <a:spLocks noGrp="1"/>
          </p:cNvSpPr>
          <p:nvPr>
            <p:ph type="sldNum" sz="quarter" idx="5"/>
          </p:nvPr>
        </p:nvSpPr>
        <p:spPr/>
        <p:txBody>
          <a:bodyPr/>
          <a:lstStyle/>
          <a:p>
            <a:fld id="{5A48CBE3-8885-9F42-A1AF-D0A0D7B6B611}" type="slidenum">
              <a:rPr lang="en-LU" smtClean="0"/>
              <a:t>4</a:t>
            </a:fld>
            <a:endParaRPr lang="en-LU"/>
          </a:p>
        </p:txBody>
      </p:sp>
    </p:spTree>
    <p:extLst>
      <p:ext uri="{BB962C8B-B14F-4D97-AF65-F5344CB8AC3E}">
        <p14:creationId xmlns:p14="http://schemas.microsoft.com/office/powerpoint/2010/main" val="3039480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Up to this point, we’ve seen that traditional analytics breaks when we hit limits in memory, latency, and complexity. The natural question is: why is this happening more and more today?</a:t>
            </a:r>
          </a:p>
          <a:p>
            <a:endParaRPr lang="en-GB" dirty="0"/>
          </a:p>
          <a:p>
            <a:r>
              <a:rPr lang="en-GB" dirty="0"/>
              <a:t>The answer is that scale is no longer an edge case — it is the default.</a:t>
            </a:r>
          </a:p>
          <a:p>
            <a:endParaRPr lang="en-GB" dirty="0"/>
          </a:p>
          <a:p>
            <a:r>
              <a:rPr lang="en-GB" dirty="0"/>
              <a:t>First, IoT and connected devices. Modern systems continuously generate high-frequency data streams — sensors, machines, logs — producing billions of events per hour. This creates constant pressure on both storage and processing, not just occasional spikes.</a:t>
            </a:r>
          </a:p>
          <a:p>
            <a:endParaRPr lang="en-GB" dirty="0"/>
          </a:p>
          <a:p>
            <a:r>
              <a:rPr lang="en-GB" dirty="0"/>
              <a:t>Second, customer </a:t>
            </a:r>
            <a:r>
              <a:rPr lang="en-GB" dirty="0" err="1"/>
              <a:t>behavior</a:t>
            </a:r>
            <a:r>
              <a:rPr lang="en-GB" dirty="0"/>
              <a:t> data. Every interaction — clicks, transactions, user activity — is recorded. At scale, this quickly becomes terabytes per day. Even simple analytics becomes expensive because of the sheer volume.</a:t>
            </a:r>
          </a:p>
          <a:p>
            <a:endParaRPr lang="en-GB" dirty="0"/>
          </a:p>
          <a:p>
            <a:r>
              <a:rPr lang="en-GB" dirty="0"/>
              <a:t>Third, machine learning and AI. These systems require large historical datasets for training and often need to process the same data repeatedly. At the same time, inference must be fast, often in milliseconds. So we combine heavy compute requirements with strict latency constraints.</a:t>
            </a:r>
          </a:p>
          <a:p>
            <a:endParaRPr lang="en-GB" dirty="0"/>
          </a:p>
          <a:p>
            <a:r>
              <a:rPr lang="en-GB" dirty="0"/>
              <a:t>Fourth, regulation and compliance. Data must be traceable, auditable, and often processed in near real time. This adds additional constraints that are not purely technical but also legal and operational.</a:t>
            </a:r>
          </a:p>
          <a:p>
            <a:endParaRPr lang="en-GB" dirty="0"/>
          </a:p>
          <a:p>
            <a:r>
              <a:rPr lang="en-GB" dirty="0"/>
              <a:t>The key idea is that these factors do not act independently — they reinforce each other. Data is larger, arrives faster, and must be processed under stricter constraints. This increases pressure on memory, compute, and latency simultaneously.</a:t>
            </a:r>
          </a:p>
          <a:p>
            <a:endParaRPr lang="en-GB" dirty="0"/>
          </a:p>
          <a:p>
            <a:r>
              <a:rPr lang="en-GB" dirty="0"/>
              <a:t>This is why scaling is not something we choose — it is something the problem forces us to deal with.</a:t>
            </a:r>
            <a:endParaRPr lang="en-LU" dirty="0"/>
          </a:p>
        </p:txBody>
      </p:sp>
      <p:sp>
        <p:nvSpPr>
          <p:cNvPr id="4" name="Slide Number Placeholder 3"/>
          <p:cNvSpPr>
            <a:spLocks noGrp="1"/>
          </p:cNvSpPr>
          <p:nvPr>
            <p:ph type="sldNum" sz="quarter" idx="5"/>
          </p:nvPr>
        </p:nvSpPr>
        <p:spPr/>
        <p:txBody>
          <a:bodyPr/>
          <a:lstStyle/>
          <a:p>
            <a:fld id="{5A48CBE3-8885-9F42-A1AF-D0A0D7B6B611}" type="slidenum">
              <a:rPr lang="en-LU" smtClean="0"/>
              <a:t>5</a:t>
            </a:fld>
            <a:endParaRPr lang="en-LU"/>
          </a:p>
        </p:txBody>
      </p:sp>
    </p:spTree>
    <p:extLst>
      <p:ext uri="{BB962C8B-B14F-4D97-AF65-F5344CB8AC3E}">
        <p14:creationId xmlns:p14="http://schemas.microsoft.com/office/powerpoint/2010/main" val="3088855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we move from concepts to a concrete problem. Up to this point, we’ve discussed why traditional analytics breaks — now we will observe it directly.</a:t>
            </a:r>
          </a:p>
          <a:p>
            <a:endParaRPr lang="en-GB" dirty="0"/>
          </a:p>
          <a:p>
            <a:r>
              <a:rPr lang="en-GB" dirty="0"/>
              <a:t>In this exercise, we take a realistic transactions dataset of around five million rows and run a standard pandas pipeline. There is nothing exotic here — this is exactly the kind of workflow people write every day. And yet, we will see that it becomes slow.</a:t>
            </a:r>
          </a:p>
          <a:p>
            <a:endParaRPr lang="en-GB" dirty="0"/>
          </a:p>
          <a:p>
            <a:r>
              <a:rPr lang="en-GB" dirty="0"/>
              <a:t>The goal is not to optimize the code. The goal is to understand where the time is actually spent.</a:t>
            </a:r>
          </a:p>
          <a:p>
            <a:endParaRPr lang="en-GB" dirty="0"/>
          </a:p>
          <a:p>
            <a:r>
              <a:rPr lang="en-GB" dirty="0"/>
              <a:t>So instead of guessing, we approach this like engineers. We break the pipeline into steps and measure:</a:t>
            </a:r>
          </a:p>
          <a:p>
            <a:r>
              <a:rPr lang="en-GB" dirty="0"/>
              <a:t>- where time is spent</a:t>
            </a:r>
          </a:p>
          <a:p>
            <a:r>
              <a:rPr lang="en-GB" dirty="0"/>
              <a:t>- what resource is limiting performance</a:t>
            </a:r>
          </a:p>
          <a:p>
            <a:r>
              <a:rPr lang="en-GB" dirty="0"/>
              <a:t>- and what the impact of that limitation is</a:t>
            </a:r>
          </a:p>
          <a:p>
            <a:endParaRPr lang="en-GB" dirty="0"/>
          </a:p>
          <a:p>
            <a:r>
              <a:rPr lang="en-GB" dirty="0"/>
              <a:t>When you </a:t>
            </a:r>
            <a:r>
              <a:rPr lang="en-GB" dirty="0" err="1"/>
              <a:t>analyze</a:t>
            </a:r>
            <a:r>
              <a:rPr lang="en-GB" dirty="0"/>
              <a:t> performance, always think in terms of three things: CPU, memory, and I/O.</a:t>
            </a:r>
          </a:p>
          <a:p>
            <a:endParaRPr lang="en-GB" dirty="0"/>
          </a:p>
          <a:p>
            <a:r>
              <a:rPr lang="en-GB" dirty="0"/>
              <a:t>CPU means actual computation — arithmetic, aggregations, transformations. Memory means how much data must be held and whether operations cause large intermediate allocations. And I/O means reading and writing data — which is often the hidden bottleneck.</a:t>
            </a:r>
          </a:p>
          <a:p>
            <a:endParaRPr lang="en-GB" dirty="0"/>
          </a:p>
          <a:p>
            <a:r>
              <a:rPr lang="en-GB" dirty="0"/>
              <a:t>In this exercise, the pipeline consists of several stages. First, we load the CSV file. This step is deceptively expensive because CSV is plain text. Every value must be parsed character by character, and types must be inferred or converted. This is CPU-heavy and I/O-heavy at the same time.</a:t>
            </a:r>
          </a:p>
          <a:p>
            <a:endParaRPr lang="en-GB" dirty="0"/>
          </a:p>
          <a:p>
            <a:r>
              <a:rPr lang="en-GB" dirty="0"/>
              <a:t>Then we compute a derived column — revenue — which is a simple vectorized operation. This step is fast and not a bottleneck. This is important: not all operations are equal.</a:t>
            </a:r>
          </a:p>
          <a:p>
            <a:endParaRPr lang="en-GB" dirty="0"/>
          </a:p>
          <a:p>
            <a:r>
              <a:rPr lang="en-GB" dirty="0"/>
              <a:t>Next, we perform a </a:t>
            </a:r>
            <a:r>
              <a:rPr lang="en-GB" dirty="0" err="1"/>
              <a:t>groupby</a:t>
            </a:r>
            <a:r>
              <a:rPr lang="en-GB" dirty="0"/>
              <a:t> aggregation. This requires scanning the entire dataset and building hash tables in memory. As cardinality increases, memory pressure grows and performance degrades.</a:t>
            </a:r>
          </a:p>
          <a:p>
            <a:endParaRPr lang="en-GB" dirty="0"/>
          </a:p>
          <a:p>
            <a:r>
              <a:rPr lang="en-GB" dirty="0"/>
              <a:t>After that, we perform a join. This is one of the most expensive operations. It requires aligning rows based on keys, often creating large intermediate structures. Memory usage can spike significantly here — often several times the dataset size.</a:t>
            </a:r>
          </a:p>
          <a:p>
            <a:endParaRPr lang="en-GB" dirty="0"/>
          </a:p>
          <a:p>
            <a:r>
              <a:rPr lang="en-GB" dirty="0"/>
              <a:t>Finally, we apply a filter, which is relatively cheap again.</a:t>
            </a:r>
          </a:p>
          <a:p>
            <a:endParaRPr lang="en-GB" dirty="0"/>
          </a:p>
          <a:p>
            <a:r>
              <a:rPr lang="en-GB" dirty="0"/>
              <a:t>We also profile the pipeline using </a:t>
            </a:r>
            <a:r>
              <a:rPr lang="en-GB" dirty="0" err="1"/>
              <a:t>cProfile</a:t>
            </a:r>
            <a:r>
              <a:rPr lang="en-GB" dirty="0"/>
              <a:t> and track memory with </a:t>
            </a:r>
            <a:r>
              <a:rPr lang="en-GB" dirty="0" err="1"/>
              <a:t>tracemalloc</a:t>
            </a:r>
            <a:r>
              <a:rPr lang="en-GB" dirty="0"/>
              <a:t>. This allows us to see not just total runtime, but where time accumulates and where memory peaks occur.</a:t>
            </a:r>
          </a:p>
          <a:p>
            <a:endParaRPr lang="en-GB" dirty="0"/>
          </a:p>
          <a:p>
            <a:r>
              <a:rPr lang="en-GB" dirty="0"/>
              <a:t>Then we repeat the same pipeline using Parquet instead of CSV. No logic changes — only the storage format changes.</a:t>
            </a:r>
          </a:p>
          <a:p>
            <a:endParaRPr lang="en-GB" dirty="0"/>
          </a:p>
          <a:p>
            <a:r>
              <a:rPr lang="en-GB" dirty="0"/>
              <a:t>Physically, this is what happens: instead of reading raw text and parsing everything, we read a binary, columnar format. Only the required columns are loaded, and they are already typed. This reduces both I/O and CPU overhead dramatically.</a:t>
            </a:r>
          </a:p>
          <a:p>
            <a:endParaRPr lang="en-GB" dirty="0"/>
          </a:p>
          <a:p>
            <a:r>
              <a:rPr lang="en-GB" dirty="0"/>
              <a:t>This is the key insight of the exercise:</a:t>
            </a:r>
          </a:p>
          <a:p>
            <a:r>
              <a:rPr lang="en-GB" dirty="0"/>
              <a:t>the biggest performance improvement does not come from faster algorithms — it comes from better data layout.</a:t>
            </a:r>
          </a:p>
          <a:p>
            <a:endParaRPr lang="en-GB" dirty="0"/>
          </a:p>
          <a:p>
            <a:r>
              <a:rPr lang="en-GB" dirty="0"/>
              <a:t>By the end of this exercise, you should clearly see that the main bottleneck is not computation, but data access. CSV forces you to read and parse everything, while Parquet allows you to skip unnecessary data and read efficiently.</a:t>
            </a:r>
          </a:p>
          <a:p>
            <a:endParaRPr lang="en-GB" dirty="0"/>
          </a:p>
          <a:p>
            <a:r>
              <a:rPr lang="en-GB" dirty="0"/>
              <a:t>This sets the foundation for everything that follows. Before introducing parallelism, you must understand whether your problem is CPU-bound, memory-bound, or I/O-bound. Otherwise, you risk optimizing the wrong thing.</a:t>
            </a:r>
            <a:endParaRPr lang="en-LU" dirty="0"/>
          </a:p>
        </p:txBody>
      </p:sp>
      <p:sp>
        <p:nvSpPr>
          <p:cNvPr id="4" name="Slide Number Placeholder 3"/>
          <p:cNvSpPr>
            <a:spLocks noGrp="1"/>
          </p:cNvSpPr>
          <p:nvPr>
            <p:ph type="sldNum" sz="quarter" idx="5"/>
          </p:nvPr>
        </p:nvSpPr>
        <p:spPr/>
        <p:txBody>
          <a:bodyPr/>
          <a:lstStyle/>
          <a:p>
            <a:fld id="{5A48CBE3-8885-9F42-A1AF-D0A0D7B6B611}" type="slidenum">
              <a:rPr lang="en-LU" smtClean="0"/>
              <a:t>6</a:t>
            </a:fld>
            <a:endParaRPr lang="en-LU"/>
          </a:p>
        </p:txBody>
      </p:sp>
    </p:spTree>
    <p:extLst>
      <p:ext uri="{BB962C8B-B14F-4D97-AF65-F5344CB8AC3E}">
        <p14:creationId xmlns:p14="http://schemas.microsoft.com/office/powerpoint/2010/main" val="34279260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we just observed in the exercise— it comes from fundamental limitations of CSV and pandas.</a:t>
            </a:r>
          </a:p>
          <a:p>
            <a:endParaRPr lang="en-GB" dirty="0"/>
          </a:p>
          <a:p>
            <a:r>
              <a:rPr lang="en-GB" dirty="0"/>
              <a:t>First, CSV parsing is single-threaded. When you call </a:t>
            </a:r>
            <a:r>
              <a:rPr lang="en-GB" dirty="0" err="1"/>
              <a:t>read_csv</a:t>
            </a:r>
            <a:r>
              <a:rPr lang="en-GB" dirty="0"/>
              <a:t>, pandas reads the file character by character on a single CPU core. Even if you are on a machine with many cores, only one is doing the work. So most of your compute capacity is simply unused.</a:t>
            </a:r>
          </a:p>
          <a:p>
            <a:endParaRPr lang="en-GB" dirty="0"/>
          </a:p>
          <a:p>
            <a:r>
              <a:rPr lang="en-GB" dirty="0"/>
              <a:t>Second, CSV is a row-based text format. This means that every row contains all columns, and the system must read all of them, even if you only need a subset. There is no way to skip irrelevant data. So I/O cost is proportional to the entire dataset, not to what you actually query.</a:t>
            </a:r>
          </a:p>
          <a:p>
            <a:endParaRPr lang="en-GB" dirty="0"/>
          </a:p>
          <a:p>
            <a:r>
              <a:rPr lang="en-GB" dirty="0"/>
              <a:t>Third, CSV has no type information. Everything is stored as text. On every read, pandas must parse and convert values into integers, floats, or dates. This adds additional CPU overhead every time the file is loaded.</a:t>
            </a:r>
          </a:p>
          <a:p>
            <a:endParaRPr lang="en-GB" dirty="0"/>
          </a:p>
          <a:p>
            <a:r>
              <a:rPr lang="en-GB" dirty="0"/>
              <a:t>Fourth, pandas requires the full dataset to fit in memory before processing. And because of parsing and intermediate structures, memory usage can be several times larger than the file size. This creates a hard limit: once the dataset exceeds available RAM, the workflow breaks down.</a:t>
            </a:r>
          </a:p>
          <a:p>
            <a:endParaRPr lang="en-GB" dirty="0"/>
          </a:p>
          <a:p>
            <a:r>
              <a:rPr lang="en-GB" dirty="0"/>
              <a:t>On the right, you can summarize this as a single problem: we are using a single-threaded system at scale. One worker is responsible for millions of rows, it reads everything whether needed or not, it recomputes types every time, and it requires the full dataset in memory.</a:t>
            </a:r>
          </a:p>
          <a:p>
            <a:endParaRPr lang="en-GB" dirty="0"/>
          </a:p>
          <a:p>
            <a:r>
              <a:rPr lang="en-GB" dirty="0"/>
              <a:t>This is exactly where HPDA approaches differ. Instead of a single-threaded, row-based, text-driven model, we move to parallel execution, columnar storage where only needed data is read, typed schemas that avoid parsing overhead, and out-of-core processing that allows working with data larger than memory.</a:t>
            </a:r>
          </a:p>
          <a:p>
            <a:endParaRPr lang="en-GB" dirty="0"/>
          </a:p>
          <a:p>
            <a:r>
              <a:rPr lang="en-GB" dirty="0"/>
              <a:t>So the limitation is not just that pandas is slow — it is that the entire model does not scale beyond a certain point.</a:t>
            </a:r>
            <a:endParaRPr lang="en-LU" dirty="0"/>
          </a:p>
        </p:txBody>
      </p:sp>
      <p:sp>
        <p:nvSpPr>
          <p:cNvPr id="4" name="Slide Number Placeholder 3"/>
          <p:cNvSpPr>
            <a:spLocks noGrp="1"/>
          </p:cNvSpPr>
          <p:nvPr>
            <p:ph type="sldNum" sz="quarter" idx="5"/>
          </p:nvPr>
        </p:nvSpPr>
        <p:spPr/>
        <p:txBody>
          <a:bodyPr/>
          <a:lstStyle/>
          <a:p>
            <a:fld id="{5A48CBE3-8885-9F42-A1AF-D0A0D7B6B611}" type="slidenum">
              <a:rPr lang="en-LU" smtClean="0"/>
              <a:t>7</a:t>
            </a:fld>
            <a:endParaRPr lang="en-LU"/>
          </a:p>
        </p:txBody>
      </p:sp>
    </p:spTree>
    <p:extLst>
      <p:ext uri="{BB962C8B-B14F-4D97-AF65-F5344CB8AC3E}">
        <p14:creationId xmlns:p14="http://schemas.microsoft.com/office/powerpoint/2010/main" val="1912250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that we’ve seen that the pipeline is slow, the next step is not to optimize blindly, but to measure where the time and resources are actually going.</a:t>
            </a:r>
          </a:p>
          <a:p>
            <a:endParaRPr lang="en-GB" dirty="0"/>
          </a:p>
          <a:p>
            <a:r>
              <a:rPr lang="en-GB" dirty="0"/>
              <a:t>You cannot optimize what you do not measure. In practice, performance analysis comes down to three dimensions: CPU, memory, and I/O.</a:t>
            </a:r>
          </a:p>
          <a:p>
            <a:endParaRPr lang="en-GB" dirty="0"/>
          </a:p>
          <a:p>
            <a:r>
              <a:rPr lang="en-GB" dirty="0"/>
              <a:t>First, CPU. Here the question is: where is time spent in terms of computation? We use tools like </a:t>
            </a:r>
            <a:r>
              <a:rPr lang="en-GB" dirty="0" err="1"/>
              <a:t>cProfile</a:t>
            </a:r>
            <a:r>
              <a:rPr lang="en-GB" dirty="0"/>
              <a:t> or </a:t>
            </a:r>
            <a:r>
              <a:rPr lang="en-GB" dirty="0" err="1"/>
              <a:t>py</a:t>
            </a:r>
            <a:r>
              <a:rPr lang="en-GB" dirty="0"/>
              <a:t>-spy to identify which functions dominate runtime. However, there is an important limitation — many operations in pandas rely on C extensions, such as NumPy, so CPU profilers do not always show what is happening inside those calls. So CPU profiling gives us a partial view.</a:t>
            </a:r>
          </a:p>
          <a:p>
            <a:endParaRPr lang="en-GB" dirty="0"/>
          </a:p>
          <a:p>
            <a:r>
              <a:rPr lang="en-GB" dirty="0"/>
              <a:t>Second, memory. Here we look at how much memory is used during each step of the pipeline. This is critical because operations like joins or </a:t>
            </a:r>
            <a:r>
              <a:rPr lang="en-GB" dirty="0" err="1"/>
              <a:t>groupbys</a:t>
            </a:r>
            <a:r>
              <a:rPr lang="en-GB" dirty="0"/>
              <a:t> can create large intermediate data structures. It is common to see memory usage spike to three to five times the size of the dataset. On shared HPC systems, this can lead to failures or severe slowdowns. We use tools like </a:t>
            </a:r>
            <a:r>
              <a:rPr lang="en-GB" dirty="0" err="1"/>
              <a:t>tracemalloc</a:t>
            </a:r>
            <a:r>
              <a:rPr lang="en-GB" dirty="0"/>
              <a:t> to track peak memory usage.</a:t>
            </a:r>
          </a:p>
          <a:p>
            <a:endParaRPr lang="en-GB" dirty="0"/>
          </a:p>
          <a:p>
            <a:r>
              <a:rPr lang="en-GB" dirty="0"/>
              <a:t>Third, I/O. This is often the most important and most underestimated factor. The question here is: how much data are we reading and writing, and how fast can the storage system deliver it? Unlike CPU, I/O bottlenecks are not always visible in standard profilers. A simple way to reason about it is to combine execution time with file size — if reading takes a long time relative to file size, you are I/O-bound.</a:t>
            </a:r>
          </a:p>
          <a:p>
            <a:endParaRPr lang="en-GB" dirty="0"/>
          </a:p>
          <a:p>
            <a:r>
              <a:rPr lang="en-GB" dirty="0"/>
              <a:t>The key insight is that the single biggest bottleneck in data analytics is very often I/O, not CPU. This is why changing the storage format, for example from CSV to Parquet, can yield much larger improvements than optimizing code or adding compute.</a:t>
            </a:r>
          </a:p>
          <a:p>
            <a:endParaRPr lang="en-GB" dirty="0"/>
          </a:p>
          <a:p>
            <a:r>
              <a:rPr lang="en-GB" dirty="0"/>
              <a:t>So before thinking about parallelism or more hardware, the first question should always be: are we limited by how we read and move data?</a:t>
            </a:r>
            <a:endParaRPr lang="en-LU" dirty="0"/>
          </a:p>
        </p:txBody>
      </p:sp>
      <p:sp>
        <p:nvSpPr>
          <p:cNvPr id="4" name="Slide Number Placeholder 3"/>
          <p:cNvSpPr>
            <a:spLocks noGrp="1"/>
          </p:cNvSpPr>
          <p:nvPr>
            <p:ph type="sldNum" sz="quarter" idx="5"/>
          </p:nvPr>
        </p:nvSpPr>
        <p:spPr/>
        <p:txBody>
          <a:bodyPr/>
          <a:lstStyle/>
          <a:p>
            <a:fld id="{5A48CBE3-8885-9F42-A1AF-D0A0D7B6B611}" type="slidenum">
              <a:rPr lang="en-LU" smtClean="0"/>
              <a:t>8</a:t>
            </a:fld>
            <a:endParaRPr lang="en-LU"/>
          </a:p>
        </p:txBody>
      </p:sp>
    </p:spTree>
    <p:extLst>
      <p:ext uri="{BB962C8B-B14F-4D97-AF65-F5344CB8AC3E}">
        <p14:creationId xmlns:p14="http://schemas.microsoft.com/office/powerpoint/2010/main" val="7939215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key change we make in this exercise is not in the algorithm, but in how data is stored.</a:t>
            </a:r>
          </a:p>
          <a:p>
            <a:br>
              <a:rPr lang="en-GB" dirty="0"/>
            </a:br>
            <a:endParaRPr lang="en-GB" dirty="0"/>
          </a:p>
          <a:p>
            <a:r>
              <a:rPr lang="en-GB" dirty="0"/>
              <a:t>On the left, we have CSV, which is a row-based format. Data is stored row by row, meaning every row contains all columns. So even if your query only needs one column, for example “amount”, the system still has to read every column of every row. That means unnecessary I/O, which quickly becomes the dominant cost.</a:t>
            </a:r>
          </a:p>
          <a:p>
            <a:br>
              <a:rPr lang="en-GB" dirty="0"/>
            </a:br>
            <a:endParaRPr lang="en-GB" dirty="0"/>
          </a:p>
          <a:p>
            <a:r>
              <a:rPr lang="en-GB" dirty="0"/>
              <a:t>On the right, we have Parquet, which is a columnar format. Data is stored column by column. This means that if your query only needs the “amount” column, the system can read only that column and skip everything else. This is the first major improvement — reducing how much data we actually read.</a:t>
            </a:r>
          </a:p>
          <a:p>
            <a:br>
              <a:rPr lang="en-GB" dirty="0"/>
            </a:br>
            <a:endParaRPr lang="en-GB" dirty="0"/>
          </a:p>
          <a:p>
            <a:r>
              <a:rPr lang="en-GB" dirty="0"/>
              <a:t>This is called projection pushdown. Only the columns required by the query are loaded from disk. In a wide table with many columns, this can reduce I/O dramatically.</a:t>
            </a:r>
          </a:p>
          <a:p>
            <a:br>
              <a:rPr lang="en-GB" dirty="0"/>
            </a:br>
            <a:endParaRPr lang="en-GB" dirty="0"/>
          </a:p>
          <a:p>
            <a:r>
              <a:rPr lang="en-GB" dirty="0"/>
              <a:t>The second improvement is predicate pushdown. Parquet stores metadata, such as min and max values for blocks of data. This allows the system to skip entire chunks of the file if they do not match a filter condition. So instead of scanning the whole dataset, we can avoid reading large parts of it.</a:t>
            </a:r>
          </a:p>
          <a:p>
            <a:br>
              <a:rPr lang="en-GB" dirty="0"/>
            </a:br>
            <a:endParaRPr lang="en-GB" dirty="0"/>
          </a:p>
          <a:p>
            <a:r>
              <a:rPr lang="en-GB" dirty="0"/>
              <a:t>Third, compression. Columnar data compresses much better because values in the same column tend to be similar. Formats like Snappy or ZSTD reduce file size significantly, which further reduces I/O.</a:t>
            </a:r>
          </a:p>
          <a:p>
            <a:br>
              <a:rPr lang="en-GB" dirty="0"/>
            </a:br>
            <a:endParaRPr lang="en-GB" dirty="0"/>
          </a:p>
          <a:p>
            <a:r>
              <a:rPr lang="en-GB" dirty="0"/>
              <a:t>Finally, typed schema. In Parquet, data is stored with explicit types. An integer is stored as an integer, not as text. This means we avoid the expensive parsing step that CSV requires, where every value must be interpreted and converted during reading.</a:t>
            </a:r>
          </a:p>
          <a:p>
            <a:br>
              <a:rPr lang="en-GB" dirty="0"/>
            </a:br>
            <a:endParaRPr lang="en-GB" dirty="0"/>
          </a:p>
          <a:p>
            <a:r>
              <a:rPr lang="en-GB" dirty="0"/>
              <a:t>Physically, what changes is simple but powerful: instead of reading raw text and parsing everything, we read structured, compressed, column-specific binary data. This reduces both the amount of data read and the amount of work required to interpret it.</a:t>
            </a:r>
          </a:p>
          <a:p>
            <a:br>
              <a:rPr lang="en-GB" dirty="0"/>
            </a:br>
            <a:endParaRPr lang="en-GB" dirty="0"/>
          </a:p>
          <a:p>
            <a:r>
              <a:rPr lang="en-GB" dirty="0"/>
              <a:t>This is why switching from CSV to Parquet often gives large speedups without changing any computation — because we are fixing the I/O bottleneck directly.</a:t>
            </a:r>
          </a:p>
          <a:p>
            <a:endParaRPr lang="en-LU" dirty="0"/>
          </a:p>
        </p:txBody>
      </p:sp>
      <p:sp>
        <p:nvSpPr>
          <p:cNvPr id="4" name="Slide Number Placeholder 3"/>
          <p:cNvSpPr>
            <a:spLocks noGrp="1"/>
          </p:cNvSpPr>
          <p:nvPr>
            <p:ph type="sldNum" sz="quarter" idx="5"/>
          </p:nvPr>
        </p:nvSpPr>
        <p:spPr/>
        <p:txBody>
          <a:bodyPr/>
          <a:lstStyle/>
          <a:p>
            <a:fld id="{5A48CBE3-8885-9F42-A1AF-D0A0D7B6B611}" type="slidenum">
              <a:rPr lang="en-LU" smtClean="0"/>
              <a:t>9</a:t>
            </a:fld>
            <a:endParaRPr lang="en-LU"/>
          </a:p>
        </p:txBody>
      </p:sp>
    </p:spTree>
    <p:extLst>
      <p:ext uri="{BB962C8B-B14F-4D97-AF65-F5344CB8AC3E}">
        <p14:creationId xmlns:p14="http://schemas.microsoft.com/office/powerpoint/2010/main" val="42576704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we look at the actual results of the experiment, and this is where the key insight becomes very clear.</a:t>
            </a:r>
          </a:p>
          <a:p>
            <a:endParaRPr lang="en-GB" dirty="0"/>
          </a:p>
          <a:p>
            <a:r>
              <a:rPr lang="en-GB" dirty="0"/>
              <a:t>We ran exactly the same pipeline on the same dataset, once with CSV and once with Parquet. No changes in logic, no optimization of the code — only the storage format was changed.</a:t>
            </a:r>
          </a:p>
          <a:p>
            <a:endParaRPr lang="en-GB" dirty="0"/>
          </a:p>
          <a:p>
            <a:r>
              <a:rPr lang="en-GB" dirty="0"/>
              <a:t>On the left, you can see the breakdown. The loading step dominates the runtime when using CSV. It takes hundreds of seconds, while the compute part — the actual analytics — is relatively small. This already tells us something important: most of the time is not spent computing, but reading and parsing data.</a:t>
            </a:r>
          </a:p>
          <a:p>
            <a:endParaRPr lang="en-GB" dirty="0"/>
          </a:p>
          <a:p>
            <a:r>
              <a:rPr lang="en-GB" dirty="0"/>
              <a:t>With Parquet, the situation changes completely. The load time drops dramatically because we are no longer parsing text and we are reading only the necessary columns. The compute time stays roughly similar, because the actual operations have not changed.</a:t>
            </a:r>
          </a:p>
          <a:p>
            <a:endParaRPr lang="en-GB" dirty="0"/>
          </a:p>
          <a:p>
            <a:r>
              <a:rPr lang="en-GB" dirty="0"/>
              <a:t>If we look at the total pipeline time, the difference is massive. We get a large speedup — not because we made the computation faster, but because we reduced the amount of data we read and the work needed to interpret it.</a:t>
            </a:r>
          </a:p>
          <a:p>
            <a:endParaRPr lang="en-GB" dirty="0"/>
          </a:p>
          <a:p>
            <a:r>
              <a:rPr lang="en-GB" dirty="0"/>
              <a:t>On the right, you see three key takeaways. First, the file is smaller due to compression. Second, the pipeline is significantly faster. And third, this required zero changes to the code — we only changed the data format.</a:t>
            </a:r>
          </a:p>
          <a:p>
            <a:endParaRPr lang="en-GB" dirty="0"/>
          </a:p>
          <a:p>
            <a:r>
              <a:rPr lang="en-GB" dirty="0"/>
              <a:t>This leads to the most important conclusion of this exercise: this is not a compute problem, it is a storage problem. The bottleneck is I/O, not CPU.</a:t>
            </a:r>
          </a:p>
          <a:p>
            <a:endParaRPr lang="en-GB" dirty="0"/>
          </a:p>
          <a:p>
            <a:r>
              <a:rPr lang="en-GB" dirty="0"/>
              <a:t>And this is why switching to a columnar format like Parquet is often the cheapest and most effective performance improvement you can make before doing anything more complex like parallelism or distributed computing.</a:t>
            </a:r>
            <a:endParaRPr lang="en-LU" dirty="0"/>
          </a:p>
        </p:txBody>
      </p:sp>
      <p:sp>
        <p:nvSpPr>
          <p:cNvPr id="4" name="Slide Number Placeholder 3"/>
          <p:cNvSpPr>
            <a:spLocks noGrp="1"/>
          </p:cNvSpPr>
          <p:nvPr>
            <p:ph type="sldNum" sz="quarter" idx="5"/>
          </p:nvPr>
        </p:nvSpPr>
        <p:spPr/>
        <p:txBody>
          <a:bodyPr/>
          <a:lstStyle/>
          <a:p>
            <a:fld id="{5A48CBE3-8885-9F42-A1AF-D0A0D7B6B611}" type="slidenum">
              <a:rPr lang="en-LU" smtClean="0"/>
              <a:t>10</a:t>
            </a:fld>
            <a:endParaRPr lang="en-LU"/>
          </a:p>
        </p:txBody>
      </p:sp>
    </p:spTree>
    <p:extLst>
      <p:ext uri="{BB962C8B-B14F-4D97-AF65-F5344CB8AC3E}">
        <p14:creationId xmlns:p14="http://schemas.microsoft.com/office/powerpoint/2010/main" val="17580886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far, we’ve focused on a single pipeline and a single bottleneck. Now we step back and look at the bigger picture — how real HPDA systems are structured.</a:t>
            </a:r>
          </a:p>
          <a:p>
            <a:br>
              <a:rPr lang="en-GB" dirty="0"/>
            </a:br>
            <a:endParaRPr lang="en-GB" dirty="0"/>
          </a:p>
          <a:p>
            <a:r>
              <a:rPr lang="en-GB" dirty="0"/>
              <a:t>Every HPDA system, regardless of the specific tools used, can be understood as four layers.</a:t>
            </a:r>
          </a:p>
          <a:p>
            <a:br>
              <a:rPr lang="en-GB" dirty="0"/>
            </a:br>
            <a:endParaRPr lang="en-GB" dirty="0"/>
          </a:p>
          <a:p>
            <a:r>
              <a:rPr lang="en-GB" dirty="0"/>
              <a:t>At the bottom is the ingestion layer. This is how data enters the system — from streams, APIs, batch jobs, or event pipelines. The key point here is that data is often arriving continuously and from multiple sources.</a:t>
            </a:r>
          </a:p>
          <a:p>
            <a:br>
              <a:rPr lang="en-GB" dirty="0"/>
            </a:br>
            <a:endParaRPr lang="en-GB" dirty="0"/>
          </a:p>
          <a:p>
            <a:r>
              <a:rPr lang="en-GB" dirty="0"/>
              <a:t>Above that is the storage layer. This is where data is stored, typically in formats like Parquet and in systems like data lakes or object storage. This is exactly the layer we improved in the previous exercise by switching from CSV to Parquet.</a:t>
            </a:r>
          </a:p>
          <a:p>
            <a:br>
              <a:rPr lang="en-GB" dirty="0"/>
            </a:br>
            <a:endParaRPr lang="en-GB" dirty="0"/>
          </a:p>
          <a:p>
            <a:r>
              <a:rPr lang="en-GB" dirty="0"/>
              <a:t>Next is the compute layer. This is where data is processed — using systems like </a:t>
            </a:r>
            <a:r>
              <a:rPr lang="en-GB" dirty="0" err="1"/>
              <a:t>Dask</a:t>
            </a:r>
            <a:r>
              <a:rPr lang="en-GB" dirty="0"/>
              <a:t>, Spark, or SQL engines. This is where parallelism and distributed execution come into play.</a:t>
            </a:r>
          </a:p>
          <a:p>
            <a:br>
              <a:rPr lang="en-GB" dirty="0"/>
            </a:br>
            <a:endParaRPr lang="en-GB" dirty="0"/>
          </a:p>
          <a:p>
            <a:r>
              <a:rPr lang="en-GB" dirty="0"/>
              <a:t>Finally, at the top is the consumption layer. This is where results are used — dashboards, BI tools, machine learning models, APIs, or notebooks.</a:t>
            </a:r>
          </a:p>
          <a:p>
            <a:br>
              <a:rPr lang="en-GB" dirty="0"/>
            </a:br>
            <a:endParaRPr lang="en-GB" dirty="0"/>
          </a:p>
          <a:p>
            <a:r>
              <a:rPr lang="en-GB" dirty="0"/>
              <a:t>Data flows from bottom to top: it is ingested, stored, processed, and then consumed.</a:t>
            </a:r>
          </a:p>
          <a:p>
            <a:br>
              <a:rPr lang="en-GB" dirty="0"/>
            </a:br>
            <a:endParaRPr lang="en-GB" dirty="0"/>
          </a:p>
          <a:p>
            <a:r>
              <a:rPr lang="en-GB" dirty="0"/>
              <a:t>But performance issues often propagate in the opposite direction. If the storage layer is inefficient, as we saw with CSV, it will limit the compute layer. And if compute is slow, it impacts what can be delivered to the end user.</a:t>
            </a:r>
          </a:p>
          <a:p>
            <a:br>
              <a:rPr lang="en-GB" dirty="0"/>
            </a:br>
            <a:endParaRPr lang="en-GB" dirty="0"/>
          </a:p>
          <a:p>
            <a:r>
              <a:rPr lang="en-GB" dirty="0"/>
              <a:t>The key takeaway is that performance is not isolated to one tool or one layer. It is a system-level property. Improving one layer, such as storage, can have a large impact on the entire pipeline.</a:t>
            </a:r>
          </a:p>
          <a:p>
            <a:endParaRPr lang="en-LU" dirty="0"/>
          </a:p>
        </p:txBody>
      </p:sp>
      <p:sp>
        <p:nvSpPr>
          <p:cNvPr id="4" name="Slide Number Placeholder 3"/>
          <p:cNvSpPr>
            <a:spLocks noGrp="1"/>
          </p:cNvSpPr>
          <p:nvPr>
            <p:ph type="sldNum" sz="quarter" idx="5"/>
          </p:nvPr>
        </p:nvSpPr>
        <p:spPr/>
        <p:txBody>
          <a:bodyPr/>
          <a:lstStyle/>
          <a:p>
            <a:fld id="{5A48CBE3-8885-9F42-A1AF-D0A0D7B6B611}" type="slidenum">
              <a:rPr lang="en-LU" smtClean="0"/>
              <a:t>11</a:t>
            </a:fld>
            <a:endParaRPr lang="en-LU"/>
          </a:p>
        </p:txBody>
      </p:sp>
    </p:spTree>
    <p:extLst>
      <p:ext uri="{BB962C8B-B14F-4D97-AF65-F5344CB8AC3E}">
        <p14:creationId xmlns:p14="http://schemas.microsoft.com/office/powerpoint/2010/main" val="1569912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that we’ve addressed the I/O bottleneck with Parquet, the next question is: can we make the computation itself faster? This is where we move from a single-core model, like pandas, to a multi-core model using </a:t>
            </a:r>
            <a:r>
              <a:rPr lang="en-GB" dirty="0" err="1"/>
              <a:t>Dask</a:t>
            </a:r>
            <a:r>
              <a:rPr lang="en-GB" dirty="0"/>
              <a:t>.</a:t>
            </a:r>
          </a:p>
          <a:p>
            <a:endParaRPr lang="en-GB" dirty="0"/>
          </a:p>
          <a:p>
            <a:r>
              <a:rPr lang="en-GB" dirty="0"/>
              <a:t>In pandas, everything runs on a single core. Even on a machine with many CPUs, only one is doing the work. </a:t>
            </a:r>
            <a:r>
              <a:rPr lang="en-GB" dirty="0" err="1"/>
              <a:t>Dask</a:t>
            </a:r>
            <a:r>
              <a:rPr lang="en-GB" dirty="0"/>
              <a:t> changes this by using all available cores and executing operations in parallel. Importantly, the API remains very similar, so the migration cost is low.</a:t>
            </a:r>
          </a:p>
          <a:p>
            <a:endParaRPr lang="en-GB" dirty="0"/>
          </a:p>
          <a:p>
            <a:r>
              <a:rPr lang="en-GB" dirty="0"/>
              <a:t>The key concept behind </a:t>
            </a:r>
            <a:r>
              <a:rPr lang="en-GB" dirty="0" err="1"/>
              <a:t>Dask</a:t>
            </a:r>
            <a:r>
              <a:rPr lang="en-GB" dirty="0"/>
              <a:t> is partitioning. Instead of working with one large </a:t>
            </a:r>
            <a:r>
              <a:rPr lang="en-GB" dirty="0" err="1"/>
              <a:t>DataFrame</a:t>
            </a:r>
            <a:r>
              <a:rPr lang="en-GB" dirty="0"/>
              <a:t>, </a:t>
            </a:r>
            <a:r>
              <a:rPr lang="en-GB" dirty="0" err="1"/>
              <a:t>Dask</a:t>
            </a:r>
            <a:r>
              <a:rPr lang="en-GB" dirty="0"/>
              <a:t> splits it into multiple smaller chunks called partitions. Each partition is essentially a pandas </a:t>
            </a:r>
            <a:r>
              <a:rPr lang="en-GB" dirty="0" err="1"/>
              <a:t>DataFrame</a:t>
            </a:r>
            <a:r>
              <a:rPr lang="en-GB" dirty="0"/>
              <a:t>, and these can be processed independently. This is what enables parallelism.</a:t>
            </a:r>
          </a:p>
          <a:p>
            <a:endParaRPr lang="en-GB" dirty="0"/>
          </a:p>
          <a:p>
            <a:r>
              <a:rPr lang="en-GB" dirty="0"/>
              <a:t>The second concept is lazy evaluation. When you write operations in </a:t>
            </a:r>
            <a:r>
              <a:rPr lang="en-GB" dirty="0" err="1"/>
              <a:t>Dask</a:t>
            </a:r>
            <a:r>
              <a:rPr lang="en-GB" dirty="0"/>
              <a:t>, nothing is executed immediately. Instead, </a:t>
            </a:r>
            <a:r>
              <a:rPr lang="en-GB" dirty="0" err="1"/>
              <a:t>Dask</a:t>
            </a:r>
            <a:r>
              <a:rPr lang="en-GB" dirty="0"/>
              <a:t> builds a task graph — a representation of all the operations that need to be performed. Actual execution only happens when you call compute. This allows </a:t>
            </a:r>
            <a:r>
              <a:rPr lang="en-GB" dirty="0" err="1"/>
              <a:t>Dask</a:t>
            </a:r>
            <a:r>
              <a:rPr lang="en-GB" dirty="0"/>
              <a:t> to optimize the workflow before running it.</a:t>
            </a:r>
          </a:p>
          <a:p>
            <a:endParaRPr lang="en-GB" dirty="0"/>
          </a:p>
          <a:p>
            <a:r>
              <a:rPr lang="en-GB" dirty="0"/>
              <a:t>That leads to the third concept: the task graph, or DAG. This graph describes every step in the computation and the dependencies between them. </a:t>
            </a:r>
            <a:r>
              <a:rPr lang="en-GB" dirty="0" err="1"/>
              <a:t>Dask</a:t>
            </a:r>
            <a:r>
              <a:rPr lang="en-GB" dirty="0"/>
              <a:t> can use this structure to reorder operations, fuse steps together, and parallelize execution automatically.</a:t>
            </a:r>
          </a:p>
          <a:p>
            <a:endParaRPr lang="en-GB" dirty="0"/>
          </a:p>
          <a:p>
            <a:r>
              <a:rPr lang="en-GB" dirty="0"/>
              <a:t>Finally, the scheduler is the component that executes this graph. It decides how tasks are assigned to workers, whether using threads, processes, or distributed systems. The choice of scheduler has a direct impact on performance.</a:t>
            </a:r>
          </a:p>
          <a:p>
            <a:endParaRPr lang="en-GB" dirty="0"/>
          </a:p>
          <a:p>
            <a:r>
              <a:rPr lang="en-GB" dirty="0"/>
              <a:t>So the overall idea is simple: instead of one large computation on one core, we break the problem into many smaller tasks, organize them into a graph, and execute them in parallel across multiple cores.</a:t>
            </a:r>
          </a:p>
          <a:p>
            <a:endParaRPr lang="en-GB" dirty="0"/>
          </a:p>
          <a:p>
            <a:r>
              <a:rPr lang="en-GB" dirty="0"/>
              <a:t>This is the foundation of scalable computation, but as we will see, parallelism is not always a free speedup — it introduces its own overheads.</a:t>
            </a:r>
            <a:endParaRPr lang="en-LU" dirty="0"/>
          </a:p>
        </p:txBody>
      </p:sp>
      <p:sp>
        <p:nvSpPr>
          <p:cNvPr id="4" name="Slide Number Placeholder 3"/>
          <p:cNvSpPr>
            <a:spLocks noGrp="1"/>
          </p:cNvSpPr>
          <p:nvPr>
            <p:ph type="sldNum" sz="quarter" idx="5"/>
          </p:nvPr>
        </p:nvSpPr>
        <p:spPr/>
        <p:txBody>
          <a:bodyPr/>
          <a:lstStyle/>
          <a:p>
            <a:fld id="{5A48CBE3-8885-9F42-A1AF-D0A0D7B6B611}" type="slidenum">
              <a:rPr lang="en-LU" smtClean="0"/>
              <a:t>12</a:t>
            </a:fld>
            <a:endParaRPr lang="en-LU"/>
          </a:p>
        </p:txBody>
      </p:sp>
    </p:spTree>
    <p:extLst>
      <p:ext uri="{BB962C8B-B14F-4D97-AF65-F5344CB8AC3E}">
        <p14:creationId xmlns:p14="http://schemas.microsoft.com/office/powerpoint/2010/main" val="21730034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that we’ve fixed the storage bottleneck, the next step is to see whether we can speed up the computation itself by using all available CPU cores.</a:t>
            </a:r>
          </a:p>
          <a:p>
            <a:endParaRPr lang="en-GB" dirty="0"/>
          </a:p>
          <a:p>
            <a:r>
              <a:rPr lang="en-GB" dirty="0"/>
              <a:t>In this exercise, the goal is very simple: instead of using one core, as pandas does, we try to use all cores through parallel execution.</a:t>
            </a:r>
          </a:p>
          <a:p>
            <a:endParaRPr lang="en-GB" dirty="0"/>
          </a:p>
          <a:p>
            <a:r>
              <a:rPr lang="en-GB" dirty="0"/>
              <a:t>We deliberately keep everything else the same. We use the same dataset — now stored in Parquet from the previous exercise — and we run the same pipeline. The only thing we change is the execution model: we replace pandas with </a:t>
            </a:r>
            <a:r>
              <a:rPr lang="en-GB" dirty="0" err="1"/>
              <a:t>Dask</a:t>
            </a:r>
            <a:r>
              <a:rPr lang="en-GB" dirty="0"/>
              <a:t> and move from sequential to parallel execution.</a:t>
            </a:r>
          </a:p>
          <a:p>
            <a:endParaRPr lang="en-GB" dirty="0"/>
          </a:p>
          <a:p>
            <a:r>
              <a:rPr lang="en-GB" dirty="0"/>
              <a:t>The workload itself is straightforward. First, we read the Parquet dataset. Then we compute a derived column, revenue, exactly as before. Finally, we perform a </a:t>
            </a:r>
            <a:r>
              <a:rPr lang="en-GB" dirty="0" err="1"/>
              <a:t>groupby</a:t>
            </a:r>
            <a:r>
              <a:rPr lang="en-GB" dirty="0"/>
              <a:t> aggregation. These are the same operations we already </a:t>
            </a:r>
            <a:r>
              <a:rPr lang="en-GB" dirty="0" err="1"/>
              <a:t>analyzed</a:t>
            </a:r>
            <a:r>
              <a:rPr lang="en-GB" dirty="0"/>
              <a:t> — nothing new in terms of logic.</a:t>
            </a:r>
          </a:p>
          <a:p>
            <a:endParaRPr lang="en-GB" dirty="0"/>
          </a:p>
          <a:p>
            <a:r>
              <a:rPr lang="en-GB" dirty="0"/>
              <a:t>What changes is how this work is executed. Instead of processing the entire dataset in one pass on a single core, </a:t>
            </a:r>
            <a:r>
              <a:rPr lang="en-GB" dirty="0" err="1"/>
              <a:t>Dask</a:t>
            </a:r>
            <a:r>
              <a:rPr lang="en-GB" dirty="0"/>
              <a:t> splits the data into partitions. Each partition is processed independently, and multiple partitions are handled at the same time across different cores.</a:t>
            </a:r>
          </a:p>
          <a:p>
            <a:endParaRPr lang="en-GB" dirty="0"/>
          </a:p>
          <a:p>
            <a:r>
              <a:rPr lang="en-GB" dirty="0"/>
              <a:t>So in theory, this should give us a speedup proportional to the number of cores. However, this is where things become more interesting.</a:t>
            </a:r>
          </a:p>
          <a:p>
            <a:endParaRPr lang="en-GB" dirty="0"/>
          </a:p>
          <a:p>
            <a:r>
              <a:rPr lang="en-GB" dirty="0"/>
              <a:t>Parallel execution introduces overhead. There is a cost to splitting data, scheduling tasks, and coordinating execution across workers. If the workload is small or the tasks are lightweight, this overhead can outweigh the benefits of parallelism.</a:t>
            </a:r>
          </a:p>
          <a:p>
            <a:endParaRPr lang="en-GB" dirty="0"/>
          </a:p>
          <a:p>
            <a:r>
              <a:rPr lang="en-GB" dirty="0"/>
              <a:t>This is exactly what we want to observe in this exercise. We are not assuming that </a:t>
            </a:r>
            <a:r>
              <a:rPr lang="en-GB" dirty="0" err="1"/>
              <a:t>Dask</a:t>
            </a:r>
            <a:r>
              <a:rPr lang="en-GB" dirty="0"/>
              <a:t> is faster — we are testing under what conditions it becomes faster.</a:t>
            </a:r>
          </a:p>
          <a:p>
            <a:endParaRPr lang="en-GB" dirty="0"/>
          </a:p>
          <a:p>
            <a:r>
              <a:rPr lang="en-GB" dirty="0"/>
              <a:t>A key detail is that we are now working with Parquet. This ensures that we are not limited by I/O anymore, so we can isolate the effect of parallel computation. If we kept CSV, we would still be bottlenecked by reading and parsing, and parallelism would not help much.</a:t>
            </a:r>
          </a:p>
          <a:p>
            <a:endParaRPr lang="en-GB" dirty="0"/>
          </a:p>
          <a:p>
            <a:r>
              <a:rPr lang="en-GB" dirty="0"/>
              <a:t>So the purpose of this exercise is not just to “use </a:t>
            </a:r>
            <a:r>
              <a:rPr lang="en-GB" dirty="0" err="1"/>
              <a:t>Dask</a:t>
            </a:r>
            <a:r>
              <a:rPr lang="en-GB" dirty="0"/>
              <a:t>”, but to understand the trade-off. Parallelism can reduce compute time, but it introduces coordination costs. Whether it helps depends on the size of the dataset, the complexity of the operations, and how well the workload can be divided into independent tasks.</a:t>
            </a:r>
          </a:p>
          <a:p>
            <a:endParaRPr lang="en-GB" dirty="0"/>
          </a:p>
          <a:p>
            <a:r>
              <a:rPr lang="en-GB" dirty="0"/>
              <a:t>By the end of this exercise, you should be able to answer a critical question: when does parallelism actually improve performance, and when does it not?</a:t>
            </a:r>
            <a:endParaRPr lang="en-LU" dirty="0"/>
          </a:p>
        </p:txBody>
      </p:sp>
      <p:sp>
        <p:nvSpPr>
          <p:cNvPr id="4" name="Slide Number Placeholder 3"/>
          <p:cNvSpPr>
            <a:spLocks noGrp="1"/>
          </p:cNvSpPr>
          <p:nvPr>
            <p:ph type="sldNum" sz="quarter" idx="5"/>
          </p:nvPr>
        </p:nvSpPr>
        <p:spPr/>
        <p:txBody>
          <a:bodyPr/>
          <a:lstStyle/>
          <a:p>
            <a:fld id="{5A48CBE3-8885-9F42-A1AF-D0A0D7B6B611}" type="slidenum">
              <a:rPr lang="en-LU" smtClean="0"/>
              <a:t>13</a:t>
            </a:fld>
            <a:endParaRPr lang="en-LU"/>
          </a:p>
        </p:txBody>
      </p:sp>
    </p:spTree>
    <p:extLst>
      <p:ext uri="{BB962C8B-B14F-4D97-AF65-F5344CB8AC3E}">
        <p14:creationId xmlns:p14="http://schemas.microsoft.com/office/powerpoint/2010/main" val="14241376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we look at the results of the second exercise, and this is where we challenge a very common assumption: that parallelism always makes things faster.</a:t>
            </a:r>
          </a:p>
          <a:p>
            <a:br>
              <a:rPr lang="en-GB" dirty="0"/>
            </a:br>
            <a:endParaRPr lang="en-GB" dirty="0"/>
          </a:p>
          <a:p>
            <a:r>
              <a:rPr lang="en-GB" dirty="0"/>
              <a:t>On the left, we compare execution time for the same pipeline, using pandas and </a:t>
            </a:r>
            <a:r>
              <a:rPr lang="en-GB" dirty="0" err="1"/>
              <a:t>Dask</a:t>
            </a:r>
            <a:r>
              <a:rPr lang="en-GB" dirty="0"/>
              <a:t>, across two dataset sizes. The key difference is scale.</a:t>
            </a:r>
          </a:p>
          <a:p>
            <a:br>
              <a:rPr lang="en-GB" dirty="0"/>
            </a:br>
            <a:endParaRPr lang="en-GB" dirty="0"/>
          </a:p>
          <a:p>
            <a:r>
              <a:rPr lang="en-GB" dirty="0"/>
              <a:t>For the small dataset, around 128 MB, pandas is actually faster. </a:t>
            </a:r>
            <a:r>
              <a:rPr lang="en-GB" dirty="0" err="1"/>
              <a:t>Dask</a:t>
            </a:r>
            <a:r>
              <a:rPr lang="en-GB" dirty="0"/>
              <a:t> is slower. The reason is overhead. </a:t>
            </a:r>
            <a:r>
              <a:rPr lang="en-GB" dirty="0" err="1"/>
              <a:t>Dask</a:t>
            </a:r>
            <a:r>
              <a:rPr lang="en-GB" dirty="0"/>
              <a:t> has to split the data into partitions, build a task graph, and schedule tasks across multiple cores. For a small workload, this coordination cost is larger than the actual computation time.</a:t>
            </a:r>
          </a:p>
          <a:p>
            <a:br>
              <a:rPr lang="en-GB" dirty="0"/>
            </a:br>
            <a:endParaRPr lang="en-GB" dirty="0"/>
          </a:p>
          <a:p>
            <a:r>
              <a:rPr lang="en-GB" dirty="0"/>
              <a:t>For the larger dataset, around 1.2 GB, the situation changes. Now the computation is heavy enough that parallelism starts to pay off. </a:t>
            </a:r>
            <a:r>
              <a:rPr lang="en-GB" dirty="0" err="1"/>
              <a:t>Dask</a:t>
            </a:r>
            <a:r>
              <a:rPr lang="en-GB" dirty="0"/>
              <a:t> can process multiple partitions at the same time, and the benefit of using multiple cores outweighs the overhead.</a:t>
            </a:r>
          </a:p>
          <a:p>
            <a:br>
              <a:rPr lang="en-GB" dirty="0"/>
            </a:br>
            <a:endParaRPr lang="en-GB" dirty="0"/>
          </a:p>
          <a:p>
            <a:r>
              <a:rPr lang="en-GB" dirty="0"/>
              <a:t>So the key takeaway is that parallelism is not a free speedup. It only helps when the workload is large enough to amortize the cost of coordination.</a:t>
            </a:r>
          </a:p>
          <a:p>
            <a:br>
              <a:rPr lang="en-GB" dirty="0"/>
            </a:br>
            <a:endParaRPr lang="en-GB" dirty="0"/>
          </a:p>
          <a:p>
            <a:r>
              <a:rPr lang="en-GB" dirty="0"/>
              <a:t>This leads to a very important principle: small data is often faster on a single core, while large data benefits from parallel execution.</a:t>
            </a:r>
          </a:p>
          <a:p>
            <a:br>
              <a:rPr lang="en-GB" dirty="0"/>
            </a:br>
            <a:endParaRPr lang="en-GB" dirty="0"/>
          </a:p>
          <a:p>
            <a:r>
              <a:rPr lang="en-GB" dirty="0"/>
              <a:t>Another way to think about it is that </a:t>
            </a:r>
            <a:r>
              <a:rPr lang="en-GB" dirty="0" err="1"/>
              <a:t>Dask</a:t>
            </a:r>
            <a:r>
              <a:rPr lang="en-GB" dirty="0"/>
              <a:t> trades overhead for scalability. If the problem is too small, you pay the overhead without gaining much. If the problem is large, that overhead becomes negligible compared to the total work.</a:t>
            </a:r>
          </a:p>
          <a:p>
            <a:br>
              <a:rPr lang="en-GB" dirty="0"/>
            </a:br>
            <a:endParaRPr lang="en-GB" dirty="0"/>
          </a:p>
          <a:p>
            <a:r>
              <a:rPr lang="en-GB" dirty="0"/>
              <a:t>So the decision is not “pandas or </a:t>
            </a:r>
            <a:r>
              <a:rPr lang="en-GB" dirty="0" err="1"/>
              <a:t>Dask</a:t>
            </a:r>
            <a:r>
              <a:rPr lang="en-GB" dirty="0"/>
              <a:t>”, but “is my workload large and complex enough to benefit from parallelism?”</a:t>
            </a:r>
          </a:p>
          <a:p>
            <a:br>
              <a:rPr lang="en-GB" dirty="0"/>
            </a:br>
            <a:endParaRPr lang="en-GB" dirty="0"/>
          </a:p>
          <a:p>
            <a:r>
              <a:rPr lang="en-GB" dirty="0"/>
              <a:t>This is why we first optimized I/O in Exercise 1. Only after removing that bottleneck does it make sense to consider parallel execution.</a:t>
            </a:r>
          </a:p>
          <a:p>
            <a:endParaRPr lang="en-LU" dirty="0"/>
          </a:p>
        </p:txBody>
      </p:sp>
      <p:sp>
        <p:nvSpPr>
          <p:cNvPr id="4" name="Slide Number Placeholder 3"/>
          <p:cNvSpPr>
            <a:spLocks noGrp="1"/>
          </p:cNvSpPr>
          <p:nvPr>
            <p:ph type="sldNum" sz="quarter" idx="5"/>
          </p:nvPr>
        </p:nvSpPr>
        <p:spPr/>
        <p:txBody>
          <a:bodyPr/>
          <a:lstStyle/>
          <a:p>
            <a:fld id="{5A48CBE3-8885-9F42-A1AF-D0A0D7B6B611}" type="slidenum">
              <a:rPr lang="en-LU" smtClean="0"/>
              <a:t>14</a:t>
            </a:fld>
            <a:endParaRPr lang="en-LU"/>
          </a:p>
        </p:txBody>
      </p:sp>
    </p:spTree>
    <p:extLst>
      <p:ext uri="{BB962C8B-B14F-4D97-AF65-F5344CB8AC3E}">
        <p14:creationId xmlns:p14="http://schemas.microsoft.com/office/powerpoint/2010/main" val="27362821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Up to this point, we’ve seen that parallelism can help — but how it is executed matters. In </a:t>
            </a:r>
            <a:r>
              <a:rPr lang="en-GB" dirty="0" err="1"/>
              <a:t>Dask</a:t>
            </a:r>
            <a:r>
              <a:rPr lang="en-GB" dirty="0"/>
              <a:t>, this is controlled by the scheduler.</a:t>
            </a:r>
          </a:p>
          <a:p>
            <a:endParaRPr lang="en-GB" dirty="0"/>
          </a:p>
          <a:p>
            <a:r>
              <a:rPr lang="en-GB" dirty="0"/>
              <a:t>There is no single “best” scheduler. The choice depends on the workload.</a:t>
            </a:r>
          </a:p>
          <a:p>
            <a:endParaRPr lang="en-GB" dirty="0"/>
          </a:p>
          <a:p>
            <a:r>
              <a:rPr lang="en-GB" dirty="0"/>
              <a:t>First, synchronous. This is essentially no parallelism. Everything runs step by step on one core. It is useful for debugging because </a:t>
            </a:r>
            <a:r>
              <a:rPr lang="en-GB" dirty="0" err="1"/>
              <a:t>behavior</a:t>
            </a:r>
            <a:r>
              <a:rPr lang="en-GB" dirty="0"/>
              <a:t> is predictable, but it provides no performance improvement and should not be used for real workloads.</a:t>
            </a:r>
          </a:p>
          <a:p>
            <a:endParaRPr lang="en-GB" dirty="0"/>
          </a:p>
          <a:p>
            <a:r>
              <a:rPr lang="en-GB" dirty="0"/>
              <a:t>Second, threads. This is the default and the most relevant for our case. Threads share memory, so there is no data copying between workers. This makes them efficient for pandas and NumPy operations, because those libraries release the GIL internally. For vectorized operations, this gives low overhead and good performance. However, if you run pure Python loops, the GIL becomes a bottleneck and threads do not scale well.</a:t>
            </a:r>
          </a:p>
          <a:p>
            <a:endParaRPr lang="en-GB" dirty="0"/>
          </a:p>
          <a:p>
            <a:r>
              <a:rPr lang="en-GB" dirty="0"/>
              <a:t>Third, processes. Here each worker runs in a separate Python process, so there is no GIL limitation. This is useful for CPU-bound Python code. However, processes do not share memory, so data must be serialized and transferred between them. This introduces overhead and often makes them slower for pandas workloads.</a:t>
            </a:r>
          </a:p>
          <a:p>
            <a:endParaRPr lang="en-GB" dirty="0"/>
          </a:p>
          <a:p>
            <a:r>
              <a:rPr lang="en-GB" dirty="0"/>
              <a:t>Finally, distributed execution. This extends the same model across multiple machines. It allows scaling to large clusters, but introduces additional overhead from networking and coordination. For small datasets, this overhead dominates, so it only makes sense at large scale.</a:t>
            </a:r>
          </a:p>
          <a:p>
            <a:endParaRPr lang="en-GB" dirty="0"/>
          </a:p>
          <a:p>
            <a:r>
              <a:rPr lang="en-GB" dirty="0"/>
              <a:t>The key takeaway is that the scheduler is not just an implementation detail — it directly affects performance. For our use case, which relies on pandas and NumPy, threads are typically the best choice because they combine low overhead with effective parallelism.</a:t>
            </a:r>
            <a:endParaRPr lang="en-LU" dirty="0"/>
          </a:p>
        </p:txBody>
      </p:sp>
      <p:sp>
        <p:nvSpPr>
          <p:cNvPr id="4" name="Slide Number Placeholder 3"/>
          <p:cNvSpPr>
            <a:spLocks noGrp="1"/>
          </p:cNvSpPr>
          <p:nvPr>
            <p:ph type="sldNum" sz="quarter" idx="5"/>
          </p:nvPr>
        </p:nvSpPr>
        <p:spPr/>
        <p:txBody>
          <a:bodyPr/>
          <a:lstStyle/>
          <a:p>
            <a:fld id="{5A48CBE3-8885-9F42-A1AF-D0A0D7B6B611}" type="slidenum">
              <a:rPr lang="en-LU" smtClean="0"/>
              <a:t>15</a:t>
            </a:fld>
            <a:endParaRPr lang="en-LU"/>
          </a:p>
        </p:txBody>
      </p:sp>
    </p:spTree>
    <p:extLst>
      <p:ext uri="{BB962C8B-B14F-4D97-AF65-F5344CB8AC3E}">
        <p14:creationId xmlns:p14="http://schemas.microsoft.com/office/powerpoint/2010/main" val="3762547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we validate something that is often overlooked: even if you choose the right tool, using the wrong execution model can completely negate its benefits.</a:t>
            </a:r>
          </a:p>
          <a:p>
            <a:br>
              <a:rPr lang="en-GB" dirty="0"/>
            </a:br>
            <a:endParaRPr lang="en-GB" dirty="0"/>
          </a:p>
          <a:p>
            <a:r>
              <a:rPr lang="en-GB" dirty="0"/>
              <a:t>Here we compare execution time across different schedulers for both a small and a larger dataset.</a:t>
            </a:r>
          </a:p>
          <a:p>
            <a:br>
              <a:rPr lang="en-GB" dirty="0"/>
            </a:br>
            <a:endParaRPr lang="en-GB" dirty="0"/>
          </a:p>
          <a:p>
            <a:r>
              <a:rPr lang="en-GB" dirty="0"/>
              <a:t>Starting with synchronous execution, this is essentially single-threaded. As expected, performance is poor because we are not using any parallelism. This behaves similarly to pandas.</a:t>
            </a:r>
          </a:p>
          <a:p>
            <a:br>
              <a:rPr lang="en-GB" dirty="0"/>
            </a:br>
            <a:endParaRPr lang="en-GB" dirty="0"/>
          </a:p>
          <a:p>
            <a:r>
              <a:rPr lang="en-GB" dirty="0"/>
              <a:t>With threads, we see the best performance in both cases. This is because threads have low overhead and work well with pandas and NumPy operations, which release the GIL. This allows multiple cores to be used efficiently without copying data.</a:t>
            </a:r>
          </a:p>
          <a:p>
            <a:br>
              <a:rPr lang="en-GB" dirty="0"/>
            </a:br>
            <a:endParaRPr lang="en-GB" dirty="0"/>
          </a:p>
          <a:p>
            <a:r>
              <a:rPr lang="en-GB" dirty="0"/>
              <a:t>Now, look at processes. In theory, processes should give better parallelism because they avoid the GIL. But in practice, they are significantly slower here. The reason is the overhead of data serialization and communication between processes. Every time data is passed between workers, it must be pickled and transferred, which is expensive.</a:t>
            </a:r>
          </a:p>
          <a:p>
            <a:br>
              <a:rPr lang="en-GB" dirty="0"/>
            </a:br>
            <a:endParaRPr lang="en-GB" dirty="0"/>
          </a:p>
          <a:p>
            <a:r>
              <a:rPr lang="en-GB" dirty="0"/>
              <a:t>This effect becomes even more pronounced as the dataset grows. Instead of speeding up, processes introduce so much overhead that they perform worse than threads, and in some cases even worse than a simple single-threaded approach.</a:t>
            </a:r>
          </a:p>
          <a:p>
            <a:br>
              <a:rPr lang="en-GB" dirty="0"/>
            </a:br>
            <a:endParaRPr lang="en-GB" dirty="0"/>
          </a:p>
          <a:p>
            <a:r>
              <a:rPr lang="en-GB" dirty="0"/>
              <a:t>The key takeaway is that choosing the wrong scheduler can make </a:t>
            </a:r>
            <a:r>
              <a:rPr lang="en-GB" dirty="0" err="1"/>
              <a:t>Dask</a:t>
            </a:r>
            <a:r>
              <a:rPr lang="en-GB" dirty="0"/>
              <a:t> slower than pandas. Parallelism alone is not enough — how you implement it matters.</a:t>
            </a:r>
          </a:p>
          <a:p>
            <a:br>
              <a:rPr lang="en-GB" dirty="0"/>
            </a:br>
            <a:endParaRPr lang="en-GB" dirty="0"/>
          </a:p>
          <a:p>
            <a:r>
              <a:rPr lang="en-GB" dirty="0"/>
              <a:t>For workloads based on pandas and NumPy, threads are typically the most efficient choice because they combine low overhead with effective parallel execution.</a:t>
            </a:r>
          </a:p>
          <a:p>
            <a:br>
              <a:rPr lang="en-GB" dirty="0"/>
            </a:br>
            <a:endParaRPr lang="en-GB" dirty="0"/>
          </a:p>
          <a:p>
            <a:r>
              <a:rPr lang="en-GB" dirty="0"/>
              <a:t>So the lesson here is that performance is not just about using </a:t>
            </a:r>
            <a:r>
              <a:rPr lang="en-GB" dirty="0" err="1"/>
              <a:t>Dask</a:t>
            </a:r>
            <a:r>
              <a:rPr lang="en-GB" dirty="0"/>
              <a:t>, but about understanding how it executes your workload.</a:t>
            </a:r>
          </a:p>
          <a:p>
            <a:endParaRPr lang="en-LU" dirty="0"/>
          </a:p>
        </p:txBody>
      </p:sp>
      <p:sp>
        <p:nvSpPr>
          <p:cNvPr id="4" name="Slide Number Placeholder 3"/>
          <p:cNvSpPr>
            <a:spLocks noGrp="1"/>
          </p:cNvSpPr>
          <p:nvPr>
            <p:ph type="sldNum" sz="quarter" idx="5"/>
          </p:nvPr>
        </p:nvSpPr>
        <p:spPr/>
        <p:txBody>
          <a:bodyPr/>
          <a:lstStyle/>
          <a:p>
            <a:fld id="{5A48CBE3-8885-9F42-A1AF-D0A0D7B6B611}" type="slidenum">
              <a:rPr lang="en-LU" smtClean="0"/>
              <a:t>16</a:t>
            </a:fld>
            <a:endParaRPr lang="en-LU"/>
          </a:p>
        </p:txBody>
      </p:sp>
    </p:spTree>
    <p:extLst>
      <p:ext uri="{BB962C8B-B14F-4D97-AF65-F5344CB8AC3E}">
        <p14:creationId xmlns:p14="http://schemas.microsoft.com/office/powerpoint/2010/main" val="17169183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that we understand parallel execution and the role of the scheduler, the next question is: how do we divide the data? This is where partitioning becomes critical.</a:t>
            </a:r>
          </a:p>
          <a:p>
            <a:br>
              <a:rPr lang="en-GB" dirty="0"/>
            </a:br>
            <a:endParaRPr lang="en-GB" dirty="0"/>
          </a:p>
          <a:p>
            <a:r>
              <a:rPr lang="en-GB" dirty="0"/>
              <a:t>A partition is simply a chunk of the dataset that can be processed independently. </a:t>
            </a:r>
            <a:r>
              <a:rPr lang="en-GB" dirty="0" err="1"/>
              <a:t>Dask</a:t>
            </a:r>
            <a:r>
              <a:rPr lang="en-GB" dirty="0"/>
              <a:t> uses partitions to distribute work across cores. But the number of partitions has a direct impact on performance.</a:t>
            </a:r>
          </a:p>
          <a:p>
            <a:br>
              <a:rPr lang="en-GB" dirty="0"/>
            </a:br>
            <a:endParaRPr lang="en-GB" dirty="0"/>
          </a:p>
          <a:p>
            <a:r>
              <a:rPr lang="en-GB" dirty="0"/>
              <a:t>On the left, you see execution time as a function of the number of partitions. The key pattern is a U-shaped curve.</a:t>
            </a:r>
          </a:p>
          <a:p>
            <a:br>
              <a:rPr lang="en-GB" dirty="0"/>
            </a:br>
            <a:endParaRPr lang="en-GB" dirty="0"/>
          </a:p>
          <a:p>
            <a:r>
              <a:rPr lang="en-GB" dirty="0"/>
              <a:t>If we have too few partitions, we do not have enough parallelism. Some cores remain idle because there are not enough tasks to distribute. In this case, performance is closer to sequential execution.</a:t>
            </a:r>
          </a:p>
          <a:p>
            <a:br>
              <a:rPr lang="en-GB" dirty="0"/>
            </a:br>
            <a:endParaRPr lang="en-GB" dirty="0"/>
          </a:p>
          <a:p>
            <a:r>
              <a:rPr lang="en-GB" dirty="0"/>
              <a:t>If we increase the number of partitions, performance improves because more cores are used. We reach a point where all cores are busy and the workload is well balanced. This is the sweet spot.</a:t>
            </a:r>
          </a:p>
          <a:p>
            <a:br>
              <a:rPr lang="en-GB" dirty="0"/>
            </a:br>
            <a:endParaRPr lang="en-GB" dirty="0"/>
          </a:p>
          <a:p>
            <a:r>
              <a:rPr lang="en-GB" dirty="0"/>
              <a:t>However, if we keep increasing the number of partitions, performance starts to degrade again. The reason is scheduler overhead. Each partition becomes a task, and managing thousands of small tasks introduces significant coordination cost. At that point, the overhead outweighs the benefit of parallelism.</a:t>
            </a:r>
          </a:p>
          <a:p>
            <a:br>
              <a:rPr lang="en-GB" dirty="0"/>
            </a:br>
            <a:endParaRPr lang="en-GB" dirty="0"/>
          </a:p>
          <a:p>
            <a:r>
              <a:rPr lang="en-GB" dirty="0"/>
              <a:t>So the goal is to find the balance between too few and too many partitions.</a:t>
            </a:r>
          </a:p>
          <a:p>
            <a:br>
              <a:rPr lang="en-GB" dirty="0"/>
            </a:br>
            <a:endParaRPr lang="en-GB" dirty="0"/>
          </a:p>
          <a:p>
            <a:r>
              <a:rPr lang="en-GB" dirty="0"/>
              <a:t>A useful rule of thumb is to aim for partitions that are large enough to keep computation efficient, but small enough to allow parallelism. Typically, this means targeting chunk sizes of a few hundred megabytes and using at least two to four times as many partitions as there are cores.</a:t>
            </a:r>
          </a:p>
          <a:p>
            <a:br>
              <a:rPr lang="en-GB" dirty="0"/>
            </a:br>
            <a:endParaRPr lang="en-GB" dirty="0"/>
          </a:p>
          <a:p>
            <a:r>
              <a:rPr lang="en-GB" dirty="0"/>
              <a:t>The key takeaway is that partitioning is not just a technical detail — it is a tuning parameter that directly affects performance. Even with the right tool and scheduler, poor partitioning can significantly degrade results.</a:t>
            </a:r>
          </a:p>
          <a:p>
            <a:endParaRPr lang="en-LU" dirty="0"/>
          </a:p>
        </p:txBody>
      </p:sp>
      <p:sp>
        <p:nvSpPr>
          <p:cNvPr id="4" name="Slide Number Placeholder 3"/>
          <p:cNvSpPr>
            <a:spLocks noGrp="1"/>
          </p:cNvSpPr>
          <p:nvPr>
            <p:ph type="sldNum" sz="quarter" idx="5"/>
          </p:nvPr>
        </p:nvSpPr>
        <p:spPr/>
        <p:txBody>
          <a:bodyPr/>
          <a:lstStyle/>
          <a:p>
            <a:fld id="{5A48CBE3-8885-9F42-A1AF-D0A0D7B6B611}" type="slidenum">
              <a:rPr lang="en-LU" smtClean="0"/>
              <a:t>17</a:t>
            </a:fld>
            <a:endParaRPr lang="en-LU"/>
          </a:p>
        </p:txBody>
      </p:sp>
    </p:spTree>
    <p:extLst>
      <p:ext uri="{BB962C8B-B14F-4D97-AF65-F5344CB8AC3E}">
        <p14:creationId xmlns:p14="http://schemas.microsoft.com/office/powerpoint/2010/main" val="4716522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far, everything we’ve done has been on a single machine, using multiple cores. The next step is to extend this idea across multiple machines, which is how real HPC systems operate.</a:t>
            </a:r>
          </a:p>
          <a:p>
            <a:br>
              <a:rPr lang="en-GB" dirty="0"/>
            </a:br>
            <a:endParaRPr lang="en-GB" dirty="0"/>
          </a:p>
          <a:p>
            <a:r>
              <a:rPr lang="en-GB" dirty="0"/>
              <a:t>The key idea is that the execution model does not fundamentally change — we still work with partitions, task graphs, and schedulers. What changes is that these components are now distributed across nodes.</a:t>
            </a:r>
          </a:p>
          <a:p>
            <a:br>
              <a:rPr lang="en-GB" dirty="0"/>
            </a:br>
            <a:endParaRPr lang="en-GB" dirty="0"/>
          </a:p>
          <a:p>
            <a:r>
              <a:rPr lang="en-GB" dirty="0"/>
              <a:t>At the top, we have the client. This is your Python script or notebook. It defines the computation but does not execute it directly.</a:t>
            </a:r>
          </a:p>
          <a:p>
            <a:br>
              <a:rPr lang="en-GB" dirty="0"/>
            </a:br>
            <a:endParaRPr lang="en-GB" dirty="0"/>
          </a:p>
          <a:p>
            <a:r>
              <a:rPr lang="en-GB" dirty="0"/>
              <a:t>Then we have the scheduler. This is the central component that coordinates the entire computation. It keeps track of all tasks, dependencies, and workers, and decides where each task should run.</a:t>
            </a:r>
          </a:p>
          <a:p>
            <a:br>
              <a:rPr lang="en-GB" dirty="0"/>
            </a:br>
            <a:endParaRPr lang="en-GB" dirty="0"/>
          </a:p>
          <a:p>
            <a:r>
              <a:rPr lang="en-GB" dirty="0"/>
              <a:t>Below that are the workers. These are the processes running on different nodes. Each worker executes tasks on its local partitions. In practice, each core can process one partition at a time, so more cores and more nodes mean more work can be done in parallel.</a:t>
            </a:r>
          </a:p>
          <a:p>
            <a:br>
              <a:rPr lang="en-GB" dirty="0"/>
            </a:br>
            <a:endParaRPr lang="en-GB" dirty="0"/>
          </a:p>
          <a:p>
            <a:r>
              <a:rPr lang="en-GB" dirty="0"/>
              <a:t>Finally, we have shared storage, such as Lustre. This is critical in HPC environments. All nodes access the same data through a parallel file system, which allows multiple workers to read and write data simultaneously without duplicating it.</a:t>
            </a:r>
          </a:p>
          <a:p>
            <a:br>
              <a:rPr lang="en-GB" dirty="0"/>
            </a:br>
            <a:endParaRPr lang="en-GB" dirty="0"/>
          </a:p>
          <a:p>
            <a:r>
              <a:rPr lang="en-GB" dirty="0"/>
              <a:t>The key scaling idea is simple: more workers mean more partitions can be processed in parallel. This increases throughput and allows us to handle much larger datasets.</a:t>
            </a:r>
          </a:p>
          <a:p>
            <a:br>
              <a:rPr lang="en-GB" dirty="0"/>
            </a:br>
            <a:endParaRPr lang="en-GB" dirty="0"/>
          </a:p>
          <a:p>
            <a:r>
              <a:rPr lang="en-GB" dirty="0"/>
              <a:t>However, it is important to note that distributing computation also introduces new costs, such as network communication and coordination between nodes. So while the model scales, performance still depends on how efficiently data is moved and processed.</a:t>
            </a:r>
          </a:p>
          <a:p>
            <a:br>
              <a:rPr lang="en-GB" dirty="0"/>
            </a:br>
            <a:endParaRPr lang="en-GB" dirty="0"/>
          </a:p>
          <a:p>
            <a:r>
              <a:rPr lang="en-GB" dirty="0"/>
              <a:t>So conceptually, we are extending the same parallel model from one node to many nodes, while relying on shared storage and a central scheduler to coordinate execution.</a:t>
            </a:r>
          </a:p>
          <a:p>
            <a:endParaRPr lang="en-LU" dirty="0"/>
          </a:p>
        </p:txBody>
      </p:sp>
      <p:sp>
        <p:nvSpPr>
          <p:cNvPr id="4" name="Slide Number Placeholder 3"/>
          <p:cNvSpPr>
            <a:spLocks noGrp="1"/>
          </p:cNvSpPr>
          <p:nvPr>
            <p:ph type="sldNum" sz="quarter" idx="5"/>
          </p:nvPr>
        </p:nvSpPr>
        <p:spPr/>
        <p:txBody>
          <a:bodyPr/>
          <a:lstStyle/>
          <a:p>
            <a:fld id="{5A48CBE3-8885-9F42-A1AF-D0A0D7B6B611}" type="slidenum">
              <a:rPr lang="en-LU" smtClean="0"/>
              <a:t>18</a:t>
            </a:fld>
            <a:endParaRPr lang="en-LU"/>
          </a:p>
        </p:txBody>
      </p:sp>
    </p:spTree>
    <p:extLst>
      <p:ext uri="{BB962C8B-B14F-4D97-AF65-F5344CB8AC3E}">
        <p14:creationId xmlns:p14="http://schemas.microsoft.com/office/powerpoint/2010/main" val="36352682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far, everything we’ve discussed might seem technical, but these constraints come directly from real-world problems.</a:t>
            </a:r>
          </a:p>
          <a:p>
            <a:br>
              <a:rPr lang="en-GB" dirty="0"/>
            </a:br>
            <a:endParaRPr lang="en-GB" dirty="0"/>
          </a:p>
          <a:p>
            <a:r>
              <a:rPr lang="en-GB" dirty="0"/>
              <a:t>Take finance and insurance. In fraud detection, systems process tens of thousands of transactions per second. Each transaction must be scored by a model within a few hundred milliseconds. If I/O is slow, data cannot be loaded and processed fast enough, which directly increases latency. Even small delays can translate into large financial losses.</a:t>
            </a:r>
          </a:p>
          <a:p>
            <a:br>
              <a:rPr lang="en-GB" dirty="0"/>
            </a:br>
            <a:endParaRPr lang="en-GB" dirty="0"/>
          </a:p>
          <a:p>
            <a:r>
              <a:rPr lang="en-GB" dirty="0"/>
              <a:t>In healthcare and industrial operations, we see a different pattern. Here, systems monitor thousands of sensors continuously. The goal is to detect anomalies before failures occur. This requires processing large volumes of data and often reprocessing historical data. If we do not parallelize effectively, the system cannot keep up with incoming data, and critical signals may be missed.</a:t>
            </a:r>
          </a:p>
          <a:p>
            <a:br>
              <a:rPr lang="en-GB" dirty="0"/>
            </a:br>
            <a:endParaRPr lang="en-GB" dirty="0"/>
          </a:p>
          <a:p>
            <a:r>
              <a:rPr lang="en-GB" dirty="0"/>
              <a:t>In retail and logistics, the pattern is batch processing under strict deadlines. Large volumes of data must be processed overnight, for example for pricing or supply chain optimization. In this case, throughput is critical. Both I/O and parallel execution determine whether the system finishes on time.</a:t>
            </a:r>
          </a:p>
          <a:p>
            <a:br>
              <a:rPr lang="en-GB" dirty="0"/>
            </a:br>
            <a:endParaRPr lang="en-GB" dirty="0"/>
          </a:p>
          <a:p>
            <a:r>
              <a:rPr lang="en-GB" dirty="0"/>
              <a:t>The key idea across all these examples is that performance is not just about speed — it directly impacts outcomes. Slow I/O leads to delayed decisions, lack of parallelism leads to systems falling behind, and insufficient throughput leads to missed deadlines.</a:t>
            </a:r>
          </a:p>
          <a:p>
            <a:br>
              <a:rPr lang="en-GB" dirty="0"/>
            </a:br>
            <a:endParaRPr lang="en-GB" dirty="0"/>
          </a:p>
          <a:p>
            <a:r>
              <a:rPr lang="en-GB" dirty="0"/>
              <a:t>So HPDA is not an abstract concept. It is a response to real constraints where data scale, latency, and throughput have direct business consequences.</a:t>
            </a:r>
          </a:p>
          <a:p>
            <a:endParaRPr lang="en-LU" dirty="0"/>
          </a:p>
        </p:txBody>
      </p:sp>
      <p:sp>
        <p:nvSpPr>
          <p:cNvPr id="4" name="Slide Number Placeholder 3"/>
          <p:cNvSpPr>
            <a:spLocks noGrp="1"/>
          </p:cNvSpPr>
          <p:nvPr>
            <p:ph type="sldNum" sz="quarter" idx="5"/>
          </p:nvPr>
        </p:nvSpPr>
        <p:spPr/>
        <p:txBody>
          <a:bodyPr/>
          <a:lstStyle/>
          <a:p>
            <a:fld id="{5A48CBE3-8885-9F42-A1AF-D0A0D7B6B611}" type="slidenum">
              <a:rPr lang="en-LU" smtClean="0"/>
              <a:t>22</a:t>
            </a:fld>
            <a:endParaRPr lang="en-LU"/>
          </a:p>
        </p:txBody>
      </p:sp>
    </p:spTree>
    <p:extLst>
      <p:ext uri="{BB962C8B-B14F-4D97-AF65-F5344CB8AC3E}">
        <p14:creationId xmlns:p14="http://schemas.microsoft.com/office/powerpoint/2010/main" val="18504797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now conclude by turning everything we’ve seen into a set of practical questions. The goal is not to remember tools, but to develop a way of thinking about performance problems.</a:t>
            </a:r>
          </a:p>
          <a:p>
            <a:br>
              <a:rPr lang="en-GB" dirty="0"/>
            </a:br>
            <a:endParaRPr lang="en-GB" dirty="0"/>
          </a:p>
          <a:p>
            <a:r>
              <a:rPr lang="en-GB" dirty="0"/>
              <a:t>The first question is: is this an I/O or a compute problem? In the first exercise, we saw that CSV versus Parquet made a dramatic difference. That tells us that I/O can dominate performance. If your bottleneck is storage or data access, adding more compute or parallelism will not help.</a:t>
            </a:r>
          </a:p>
          <a:p>
            <a:br>
              <a:rPr lang="en-GB" dirty="0"/>
            </a:br>
            <a:endParaRPr lang="en-GB" dirty="0"/>
          </a:p>
          <a:p>
            <a:r>
              <a:rPr lang="en-GB" dirty="0"/>
              <a:t>The second question is: do we actually need parallelism? We saw that pandas performs very well on small datasets, and that </a:t>
            </a:r>
            <a:r>
              <a:rPr lang="en-GB" dirty="0" err="1"/>
              <a:t>Dask</a:t>
            </a:r>
            <a:r>
              <a:rPr lang="en-GB" dirty="0"/>
              <a:t> only becomes beneficial as data grows. Parallelism introduces overhead, so it should only be used when the workload is large enough to justify it.</a:t>
            </a:r>
          </a:p>
          <a:p>
            <a:br>
              <a:rPr lang="en-GB" dirty="0"/>
            </a:br>
            <a:endParaRPr lang="en-GB" dirty="0"/>
          </a:p>
          <a:p>
            <a:r>
              <a:rPr lang="en-GB" dirty="0"/>
              <a:t>The third question is: will the workload scale? Not all operations benefit equally from parallelism. Heavy computations, such as large aggregations, can benefit significantly. But simple or lightweight operations may become slower when parallelized because overhead dominates.</a:t>
            </a:r>
          </a:p>
          <a:p>
            <a:br>
              <a:rPr lang="en-GB" dirty="0"/>
            </a:br>
            <a:endParaRPr lang="en-GB" dirty="0"/>
          </a:p>
          <a:p>
            <a:r>
              <a:rPr lang="en-GB" dirty="0"/>
              <a:t>The fourth question is: can the data be partitioned effectively? Parallel systems rely on dividing the data into independent chunks. If the workload can be cleanly partitioned, we can achieve good speedups. If not, for example in cases with heavy data dependencies or large joins, performance gains will be limited.</a:t>
            </a:r>
          </a:p>
          <a:p>
            <a:br>
              <a:rPr lang="en-GB" dirty="0"/>
            </a:br>
            <a:endParaRPr lang="en-GB" dirty="0"/>
          </a:p>
          <a:p>
            <a:r>
              <a:rPr lang="en-GB" dirty="0"/>
              <a:t>So the key takeaway is that choosing the right approach is not about picking a tool first. It is about understanding the nature of the problem — whether it is I/O-bound or compute-bound, whether it scales, and whether it can be partitioned efficiently.</a:t>
            </a:r>
          </a:p>
          <a:p>
            <a:br>
              <a:rPr lang="en-GB" dirty="0"/>
            </a:br>
            <a:endParaRPr lang="en-GB" dirty="0"/>
          </a:p>
          <a:p>
            <a:r>
              <a:rPr lang="en-GB" dirty="0"/>
              <a:t>If you answer these questions correctly, the choice of tools becomes much clearer.</a:t>
            </a:r>
          </a:p>
          <a:p>
            <a:endParaRPr lang="en-LU" dirty="0"/>
          </a:p>
        </p:txBody>
      </p:sp>
      <p:sp>
        <p:nvSpPr>
          <p:cNvPr id="4" name="Slide Number Placeholder 3"/>
          <p:cNvSpPr>
            <a:spLocks noGrp="1"/>
          </p:cNvSpPr>
          <p:nvPr>
            <p:ph type="sldNum" sz="quarter" idx="5"/>
          </p:nvPr>
        </p:nvSpPr>
        <p:spPr/>
        <p:txBody>
          <a:bodyPr/>
          <a:lstStyle/>
          <a:p>
            <a:fld id="{5A48CBE3-8885-9F42-A1AF-D0A0D7B6B611}" type="slidenum">
              <a:rPr lang="en-LU" smtClean="0"/>
              <a:t>23</a:t>
            </a:fld>
            <a:endParaRPr lang="en-LU"/>
          </a:p>
        </p:txBody>
      </p:sp>
    </p:spTree>
    <p:extLst>
      <p:ext uri="{BB962C8B-B14F-4D97-AF65-F5344CB8AC3E}">
        <p14:creationId xmlns:p14="http://schemas.microsoft.com/office/powerpoint/2010/main" val="39160289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finish by connecting everything into a decision framework. The key idea is simple: different problems require different tools. There is no single best solution — the context determines the choice.</a:t>
            </a:r>
          </a:p>
          <a:p>
            <a:endParaRPr lang="en-GB" dirty="0"/>
          </a:p>
          <a:p>
            <a:r>
              <a:rPr lang="en-GB" dirty="0"/>
              <a:t>Starting at the top, spreadsheets or SQL-based systems are ideal for small, simple, interactive analysis. If the data fits comfortably in memory and you are exploring or building dashboards, these tools are efficient and easy to use. But they do not scale to large datasets or automated pipelines.</a:t>
            </a:r>
          </a:p>
          <a:p>
            <a:endParaRPr lang="en-GB" dirty="0"/>
          </a:p>
          <a:p>
            <a:r>
              <a:rPr lang="en-GB" dirty="0"/>
              <a:t>Next, pandas on a single node. This is the default for data science. It works very well when data fits in memory, allows fast iteration, and has low overhead. But it is fundamentally limited by RAM and by single-machine execution.</a:t>
            </a:r>
          </a:p>
          <a:p>
            <a:endParaRPr lang="en-GB" dirty="0"/>
          </a:p>
          <a:p>
            <a:r>
              <a:rPr lang="en-GB" dirty="0"/>
              <a:t>Then we move to </a:t>
            </a:r>
            <a:r>
              <a:rPr lang="en-GB" dirty="0" err="1"/>
              <a:t>Dask</a:t>
            </a:r>
            <a:r>
              <a:rPr lang="en-GB" dirty="0"/>
              <a:t> on a single node. This is the first step into scalable analytics. It allows us to process data larger than memory and use multiple cores while keeping a pandas-like workflow. However, it introduces overhead, so it is not efficient for small or simple tasks.</a:t>
            </a:r>
          </a:p>
          <a:p>
            <a:endParaRPr lang="en-GB" dirty="0"/>
          </a:p>
          <a:p>
            <a:r>
              <a:rPr lang="en-GB" dirty="0"/>
              <a:t>Beyond that, we have distributed systems like </a:t>
            </a:r>
            <a:r>
              <a:rPr lang="en-GB" dirty="0" err="1"/>
              <a:t>Dask</a:t>
            </a:r>
            <a:r>
              <a:rPr lang="en-GB" dirty="0"/>
              <a:t> distributed or Spark. These are designed for very large datasets and multi-node processing. They are necessary when data and workloads exceed a single machine. However, they come with additional complexity, require proper infrastructure like distributed storage, and need careful tuning.</a:t>
            </a:r>
          </a:p>
          <a:p>
            <a:endParaRPr lang="en-GB" dirty="0"/>
          </a:p>
          <a:p>
            <a:r>
              <a:rPr lang="en-GB" dirty="0"/>
              <a:t>Finally, streaming systems such as Flink or Kafka. These are used when data arrives continuously and decisions must be made in real time. Here, latency is the primary constraint, not just throughput. These systems are not needed for batch analytics but are essential for real-time applications.</a:t>
            </a:r>
          </a:p>
          <a:p>
            <a:endParaRPr lang="en-GB" dirty="0"/>
          </a:p>
          <a:p>
            <a:r>
              <a:rPr lang="en-GB" dirty="0"/>
              <a:t>The key takeaway is that tool choice follows the problem. As data grows and constraints change — from memory limits to parallelism to real-time requirements — we move across this spectrum.</a:t>
            </a:r>
          </a:p>
          <a:p>
            <a:endParaRPr lang="en-GB" dirty="0"/>
          </a:p>
          <a:p>
            <a:r>
              <a:rPr lang="en-GB" dirty="0"/>
              <a:t>So the goal is not to learn one tool, but to understand where your problem sits and choose the simplest tool that satisfies its constraints.</a:t>
            </a:r>
            <a:endParaRPr lang="en-LU" dirty="0"/>
          </a:p>
        </p:txBody>
      </p:sp>
      <p:sp>
        <p:nvSpPr>
          <p:cNvPr id="4" name="Slide Number Placeholder 3"/>
          <p:cNvSpPr>
            <a:spLocks noGrp="1"/>
          </p:cNvSpPr>
          <p:nvPr>
            <p:ph type="sldNum" sz="quarter" idx="5"/>
          </p:nvPr>
        </p:nvSpPr>
        <p:spPr/>
        <p:txBody>
          <a:bodyPr/>
          <a:lstStyle/>
          <a:p>
            <a:fld id="{5A48CBE3-8885-9F42-A1AF-D0A0D7B6B611}" type="slidenum">
              <a:rPr lang="en-LU" smtClean="0"/>
              <a:t>24</a:t>
            </a:fld>
            <a:endParaRPr lang="en-LU"/>
          </a:p>
        </p:txBody>
      </p:sp>
    </p:spTree>
    <p:extLst>
      <p:ext uri="{BB962C8B-B14F-4D97-AF65-F5344CB8AC3E}">
        <p14:creationId xmlns:p14="http://schemas.microsoft.com/office/powerpoint/2010/main" val="100193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6058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4" name="Shape 2"/>
          <p:cNvSpPr/>
          <p:nvPr/>
        </p:nvSpPr>
        <p:spPr>
          <a:xfrm>
            <a:off x="0" y="3931920"/>
            <a:ext cx="5943600" cy="54864"/>
          </a:xfrm>
          <a:prstGeom prst="rect">
            <a:avLst/>
          </a:prstGeom>
          <a:solidFill>
            <a:srgbClr val="0D9488"/>
          </a:solidFill>
          <a:ln w="12700">
            <a:solidFill>
              <a:srgbClr val="0D9488"/>
            </a:solidFill>
            <a:prstDash val="solid"/>
          </a:ln>
        </p:spPr>
        <p:txBody>
          <a:bodyPr/>
          <a:lstStyle/>
          <a:p>
            <a:endParaRPr lang="en-LU"/>
          </a:p>
        </p:txBody>
      </p:sp>
      <p:sp>
        <p:nvSpPr>
          <p:cNvPr id="5" name="Text 3"/>
          <p:cNvSpPr/>
          <p:nvPr/>
        </p:nvSpPr>
        <p:spPr>
          <a:xfrm>
            <a:off x="457200" y="822960"/>
            <a:ext cx="5486400" cy="411480"/>
          </a:xfrm>
          <a:prstGeom prst="rect">
            <a:avLst/>
          </a:prstGeom>
          <a:noFill/>
          <a:ln/>
        </p:spPr>
        <p:txBody>
          <a:bodyPr wrap="square" lIns="0" tIns="0" rIns="0" bIns="0" rtlCol="0" anchor="ctr"/>
          <a:lstStyle/>
          <a:p>
            <a:pPr marL="0" indent="0">
              <a:buNone/>
            </a:pPr>
            <a:r>
              <a:rPr lang="en-US" sz="1300" b="1" kern="0" spc="400" dirty="0">
                <a:solidFill>
                  <a:srgbClr val="14B8A6"/>
                </a:solidFill>
              </a:rPr>
              <a:t>INTRODUCTION TO</a:t>
            </a:r>
            <a:endParaRPr lang="en-US" sz="1300" dirty="0"/>
          </a:p>
        </p:txBody>
      </p:sp>
      <p:sp>
        <p:nvSpPr>
          <p:cNvPr id="6" name="Text 4"/>
          <p:cNvSpPr/>
          <p:nvPr/>
        </p:nvSpPr>
        <p:spPr>
          <a:xfrm>
            <a:off x="457200" y="1234440"/>
            <a:ext cx="5669280" cy="1920240"/>
          </a:xfrm>
          <a:prstGeom prst="rect">
            <a:avLst/>
          </a:prstGeom>
          <a:noFill/>
          <a:ln/>
        </p:spPr>
        <p:txBody>
          <a:bodyPr wrap="square" lIns="0" tIns="0" rIns="0" bIns="0" rtlCol="0" anchor="ctr"/>
          <a:lstStyle/>
          <a:p>
            <a:pPr marL="0" indent="0">
              <a:lnSpc>
                <a:spcPct val="110000"/>
              </a:lnSpc>
              <a:buNone/>
            </a:pPr>
            <a:r>
              <a:rPr lang="en-US" sz="4400" b="1" dirty="0">
                <a:solidFill>
                  <a:srgbClr val="FFFFFF"/>
                </a:solidFill>
              </a:rPr>
              <a:t>High-Performance</a:t>
            </a:r>
            <a:endParaRPr lang="en-US" sz="4400" dirty="0"/>
          </a:p>
          <a:p>
            <a:pPr marL="0" indent="0">
              <a:lnSpc>
                <a:spcPct val="110000"/>
              </a:lnSpc>
              <a:buNone/>
            </a:pPr>
            <a:r>
              <a:rPr lang="en-US" sz="4400" b="1" dirty="0">
                <a:solidFill>
                  <a:srgbClr val="FFFFFF"/>
                </a:solidFill>
              </a:rPr>
              <a:t>Data Analytics</a:t>
            </a:r>
            <a:endParaRPr lang="en-US" sz="4400" dirty="0"/>
          </a:p>
        </p:txBody>
      </p:sp>
      <p:sp>
        <p:nvSpPr>
          <p:cNvPr id="8" name="Text 6"/>
          <p:cNvSpPr/>
          <p:nvPr/>
        </p:nvSpPr>
        <p:spPr>
          <a:xfrm>
            <a:off x="457200" y="4160520"/>
            <a:ext cx="5486400" cy="365760"/>
          </a:xfrm>
          <a:prstGeom prst="rect">
            <a:avLst/>
          </a:prstGeom>
          <a:noFill/>
          <a:ln/>
        </p:spPr>
        <p:txBody>
          <a:bodyPr wrap="square" lIns="0" tIns="0" rIns="0" bIns="0" rtlCol="0" anchor="ctr"/>
          <a:lstStyle/>
          <a:p>
            <a:pPr marL="0" indent="0">
              <a:buNone/>
            </a:pPr>
            <a:r>
              <a:rPr lang="en-US" sz="1300" dirty="0" err="1">
                <a:solidFill>
                  <a:srgbClr val="94A3B8"/>
                </a:solidFill>
              </a:rPr>
              <a:t>SCynergy</a:t>
            </a:r>
            <a:r>
              <a:rPr lang="en-US" sz="1300" dirty="0">
                <a:solidFill>
                  <a:srgbClr val="94A3B8"/>
                </a:solidFill>
              </a:rPr>
              <a:t> 2026</a:t>
            </a:r>
            <a:endParaRPr lang="en-US" sz="1300" dirty="0"/>
          </a:p>
        </p:txBody>
      </p:sp>
      <p:sp>
        <p:nvSpPr>
          <p:cNvPr id="21" name="TextBox 20">
            <a:extLst>
              <a:ext uri="{FF2B5EF4-FFF2-40B4-BE49-F238E27FC236}">
                <a16:creationId xmlns:a16="http://schemas.microsoft.com/office/drawing/2014/main" id="{9502B278-97BD-CB71-12C6-F417AC35F840}"/>
              </a:ext>
            </a:extLst>
          </p:cNvPr>
          <p:cNvSpPr txBox="1"/>
          <p:nvPr/>
        </p:nvSpPr>
        <p:spPr>
          <a:xfrm>
            <a:off x="2540000" y="4238351"/>
            <a:ext cx="6307015" cy="923330"/>
          </a:xfrm>
          <a:prstGeom prst="rect">
            <a:avLst/>
          </a:prstGeom>
          <a:noFill/>
        </p:spPr>
        <p:txBody>
          <a:bodyPr wrap="square" rtlCol="0">
            <a:spAutoFit/>
          </a:bodyPr>
          <a:lstStyle/>
          <a:p>
            <a:r>
              <a:rPr lang="en-GB" dirty="0">
                <a:solidFill>
                  <a:schemeClr val="bg1"/>
                </a:solidFill>
              </a:rPr>
              <a:t>git clone https://</a:t>
            </a:r>
            <a:r>
              <a:rPr lang="en-GB" dirty="0" err="1">
                <a:solidFill>
                  <a:schemeClr val="bg1"/>
                </a:solidFill>
              </a:rPr>
              <a:t>github.com</a:t>
            </a:r>
            <a:r>
              <a:rPr lang="en-GB" dirty="0">
                <a:solidFill>
                  <a:schemeClr val="bg1"/>
                </a:solidFill>
              </a:rPr>
              <a:t>/AleksandraRancic1/</a:t>
            </a:r>
            <a:r>
              <a:rPr lang="en-GB" dirty="0" err="1">
                <a:solidFill>
                  <a:schemeClr val="bg1"/>
                </a:solidFill>
              </a:rPr>
              <a:t>EuroCC-UniLU.git</a:t>
            </a:r>
            <a:endParaRPr lang="en-GB" dirty="0">
              <a:solidFill>
                <a:schemeClr val="bg1"/>
              </a:solidFill>
            </a:endParaRPr>
          </a:p>
          <a:p>
            <a:r>
              <a:rPr lang="en-GB" dirty="0">
                <a:solidFill>
                  <a:schemeClr val="bg1"/>
                </a:solidFill>
              </a:rPr>
              <a:t>cd </a:t>
            </a:r>
            <a:r>
              <a:rPr lang="en-GB" dirty="0" err="1">
                <a:solidFill>
                  <a:schemeClr val="bg1"/>
                </a:solidFill>
              </a:rPr>
              <a:t>EuroCC-UniLU</a:t>
            </a:r>
            <a:r>
              <a:rPr lang="en-GB" dirty="0">
                <a:solidFill>
                  <a:schemeClr val="bg1"/>
                </a:solidFill>
              </a:rPr>
              <a:t>/</a:t>
            </a:r>
            <a:r>
              <a:rPr lang="en-GB" dirty="0" err="1">
                <a:solidFill>
                  <a:schemeClr val="bg1"/>
                </a:solidFill>
              </a:rPr>
              <a:t>SCynergy</a:t>
            </a:r>
            <a:endParaRPr lang="en-GB" dirty="0">
              <a:solidFill>
                <a:schemeClr val="bg1"/>
              </a:solidFill>
            </a:endParaRPr>
          </a:p>
          <a:p>
            <a:endParaRPr lang="en-L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LU"/>
          </a:p>
        </p:txBody>
      </p:sp>
      <p:sp>
        <p:nvSpPr>
          <p:cNvPr id="3" name="Text 1"/>
          <p:cNvSpPr/>
          <p:nvPr/>
        </p:nvSpPr>
        <p:spPr>
          <a:xfrm>
            <a:off x="365760" y="0"/>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Session Agenda</a:t>
            </a:r>
            <a:endParaRPr lang="en-US" sz="2200" dirty="0"/>
          </a:p>
        </p:txBody>
      </p:sp>
      <p:sp>
        <p:nvSpPr>
          <p:cNvPr id="4" name="Text 2"/>
          <p:cNvSpPr/>
          <p:nvPr/>
        </p:nvSpPr>
        <p:spPr>
          <a:xfrm>
            <a:off x="365760" y="566928"/>
            <a:ext cx="8412480" cy="393192"/>
          </a:xfrm>
          <a:prstGeom prst="rect">
            <a:avLst/>
          </a:prstGeom>
          <a:noFill/>
          <a:ln/>
        </p:spPr>
        <p:txBody>
          <a:bodyPr wrap="square" lIns="0" tIns="0" rIns="0" bIns="0" rtlCol="0" anchor="ctr"/>
          <a:lstStyle/>
          <a:p>
            <a:pPr marL="0" indent="0">
              <a:buNone/>
            </a:pPr>
            <a:r>
              <a:rPr lang="en-US" sz="1200" dirty="0">
                <a:solidFill>
                  <a:srgbClr val="14B8A6"/>
                </a:solidFill>
              </a:rPr>
              <a:t>From Pandas bottlenecks to scalable analytics on a single node</a:t>
            </a:r>
            <a:endParaRPr lang="en-US" sz="1200" dirty="0"/>
          </a:p>
        </p:txBody>
      </p:sp>
      <p:sp>
        <p:nvSpPr>
          <p:cNvPr id="5" name="Shape 3"/>
          <p:cNvSpPr/>
          <p:nvPr/>
        </p:nvSpPr>
        <p:spPr>
          <a:xfrm>
            <a:off x="320040" y="1364382"/>
            <a:ext cx="8503920" cy="548640"/>
          </a:xfrm>
          <a:prstGeom prst="rect">
            <a:avLst/>
          </a:prstGeom>
          <a:solidFill>
            <a:srgbClr val="FFFFFF"/>
          </a:solidFill>
          <a:ln w="6350">
            <a:solidFill>
              <a:srgbClr val="E2E8F0"/>
            </a:solidFill>
            <a:prstDash val="solid"/>
          </a:ln>
          <a:effectLst>
            <a:outerShdw blurRad="38100" dist="12700" dir="8100000" algn="bl" rotWithShape="0">
              <a:srgbClr val="000000">
                <a:alpha val="7000"/>
              </a:srgbClr>
            </a:outerShdw>
          </a:effectLst>
        </p:spPr>
        <p:txBody>
          <a:bodyPr/>
          <a:lstStyle/>
          <a:p>
            <a:endParaRPr lang="en-LU"/>
          </a:p>
        </p:txBody>
      </p:sp>
      <p:sp>
        <p:nvSpPr>
          <p:cNvPr id="6" name="Shape 4"/>
          <p:cNvSpPr/>
          <p:nvPr/>
        </p:nvSpPr>
        <p:spPr>
          <a:xfrm>
            <a:off x="320040" y="1364382"/>
            <a:ext cx="54864" cy="548640"/>
          </a:xfrm>
          <a:prstGeom prst="rect">
            <a:avLst/>
          </a:prstGeom>
          <a:solidFill>
            <a:srgbClr val="0D9488"/>
          </a:solidFill>
          <a:ln w="12700">
            <a:solidFill>
              <a:srgbClr val="0D9488"/>
            </a:solidFill>
            <a:prstDash val="solid"/>
          </a:ln>
        </p:spPr>
        <p:txBody>
          <a:bodyPr/>
          <a:lstStyle/>
          <a:p>
            <a:endParaRPr lang="en-LU"/>
          </a:p>
        </p:txBody>
      </p:sp>
      <p:sp>
        <p:nvSpPr>
          <p:cNvPr id="7" name="Shape 5"/>
          <p:cNvSpPr/>
          <p:nvPr/>
        </p:nvSpPr>
        <p:spPr>
          <a:xfrm>
            <a:off x="320040" y="1364382"/>
            <a:ext cx="1188720" cy="548640"/>
          </a:xfrm>
          <a:prstGeom prst="rect">
            <a:avLst/>
          </a:prstGeom>
          <a:solidFill>
            <a:srgbClr val="0D9488">
              <a:alpha val="12000"/>
            </a:srgbClr>
          </a:solidFill>
          <a:ln w="12700">
            <a:solidFill>
              <a:srgbClr val="0D9488"/>
            </a:solidFill>
            <a:prstDash val="solid"/>
          </a:ln>
        </p:spPr>
        <p:txBody>
          <a:bodyPr/>
          <a:lstStyle/>
          <a:p>
            <a:endParaRPr lang="en-LU"/>
          </a:p>
        </p:txBody>
      </p:sp>
      <p:sp>
        <p:nvSpPr>
          <p:cNvPr id="8" name="Text 6"/>
          <p:cNvSpPr/>
          <p:nvPr/>
        </p:nvSpPr>
        <p:spPr>
          <a:xfrm>
            <a:off x="384048" y="1364382"/>
            <a:ext cx="1115568" cy="548640"/>
          </a:xfrm>
          <a:prstGeom prst="rect">
            <a:avLst/>
          </a:prstGeom>
          <a:noFill/>
          <a:ln/>
        </p:spPr>
        <p:txBody>
          <a:bodyPr wrap="square" lIns="0" tIns="0" rIns="0" bIns="0" rtlCol="0" anchor="ctr"/>
          <a:lstStyle/>
          <a:p>
            <a:pPr marL="0" indent="0" algn="ctr">
              <a:buNone/>
            </a:pPr>
            <a:r>
              <a:rPr lang="en-US" sz="900" b="1" dirty="0">
                <a:solidFill>
                  <a:srgbClr val="0D9488"/>
                </a:solidFill>
              </a:rPr>
              <a:t>0–10 min</a:t>
            </a:r>
            <a:endParaRPr lang="en-US" sz="900" dirty="0"/>
          </a:p>
        </p:txBody>
      </p:sp>
      <p:sp>
        <p:nvSpPr>
          <p:cNvPr id="9" name="Text 7"/>
          <p:cNvSpPr/>
          <p:nvPr/>
        </p:nvSpPr>
        <p:spPr>
          <a:xfrm>
            <a:off x="1572768" y="1410102"/>
            <a:ext cx="3474720" cy="274320"/>
          </a:xfrm>
          <a:prstGeom prst="rect">
            <a:avLst/>
          </a:prstGeom>
          <a:noFill/>
          <a:ln/>
        </p:spPr>
        <p:txBody>
          <a:bodyPr wrap="square" lIns="0" tIns="0" rIns="0" bIns="0" rtlCol="0" anchor="ctr"/>
          <a:lstStyle/>
          <a:p>
            <a:pPr marL="0" indent="0">
              <a:buNone/>
            </a:pPr>
            <a:r>
              <a:rPr lang="en-US" sz="1300" b="1" dirty="0">
                <a:solidFill>
                  <a:srgbClr val="0D1B2A"/>
                </a:solidFill>
              </a:rPr>
              <a:t>Why Performance Matters </a:t>
            </a:r>
            <a:endParaRPr lang="en-US" sz="1300" dirty="0"/>
          </a:p>
        </p:txBody>
      </p:sp>
      <p:sp>
        <p:nvSpPr>
          <p:cNvPr id="10" name="Text 8"/>
          <p:cNvSpPr/>
          <p:nvPr/>
        </p:nvSpPr>
        <p:spPr>
          <a:xfrm>
            <a:off x="1572768" y="1638702"/>
            <a:ext cx="5029200" cy="228600"/>
          </a:xfrm>
          <a:prstGeom prst="rect">
            <a:avLst/>
          </a:prstGeom>
          <a:noFill/>
          <a:ln/>
        </p:spPr>
        <p:txBody>
          <a:bodyPr wrap="square" lIns="0" tIns="0" rIns="0" bIns="0" rtlCol="0" anchor="ctr"/>
          <a:lstStyle/>
          <a:p>
            <a:pPr marL="0" indent="0">
              <a:buNone/>
            </a:pPr>
            <a:r>
              <a:rPr lang="en-US" sz="1000" dirty="0">
                <a:solidFill>
                  <a:srgbClr val="94A3B8"/>
                </a:solidFill>
              </a:rPr>
              <a:t>scale, latency, cost</a:t>
            </a:r>
            <a:endParaRPr lang="en-US" sz="1000" dirty="0"/>
          </a:p>
        </p:txBody>
      </p:sp>
      <p:sp>
        <p:nvSpPr>
          <p:cNvPr id="13" name="Shape 11"/>
          <p:cNvSpPr/>
          <p:nvPr/>
        </p:nvSpPr>
        <p:spPr>
          <a:xfrm>
            <a:off x="320040" y="1995318"/>
            <a:ext cx="8503920" cy="548640"/>
          </a:xfrm>
          <a:prstGeom prst="rect">
            <a:avLst/>
          </a:prstGeom>
          <a:solidFill>
            <a:srgbClr val="FFFFFF"/>
          </a:solidFill>
          <a:ln w="6350">
            <a:solidFill>
              <a:srgbClr val="E2E8F0"/>
            </a:solidFill>
            <a:prstDash val="solid"/>
          </a:ln>
          <a:effectLst>
            <a:outerShdw blurRad="38100" dist="12700" dir="8100000" algn="bl" rotWithShape="0">
              <a:srgbClr val="000000">
                <a:alpha val="7000"/>
              </a:srgbClr>
            </a:outerShdw>
          </a:effectLst>
        </p:spPr>
        <p:txBody>
          <a:bodyPr/>
          <a:lstStyle/>
          <a:p>
            <a:endParaRPr lang="en-LU"/>
          </a:p>
        </p:txBody>
      </p:sp>
      <p:sp>
        <p:nvSpPr>
          <p:cNvPr id="14" name="Shape 12"/>
          <p:cNvSpPr/>
          <p:nvPr/>
        </p:nvSpPr>
        <p:spPr>
          <a:xfrm>
            <a:off x="320040" y="1995318"/>
            <a:ext cx="54864" cy="548640"/>
          </a:xfrm>
          <a:prstGeom prst="rect">
            <a:avLst/>
          </a:prstGeom>
          <a:solidFill>
            <a:srgbClr val="7C3AED"/>
          </a:solidFill>
          <a:ln w="12700">
            <a:solidFill>
              <a:srgbClr val="7C3AED"/>
            </a:solidFill>
            <a:prstDash val="solid"/>
          </a:ln>
        </p:spPr>
        <p:txBody>
          <a:bodyPr/>
          <a:lstStyle/>
          <a:p>
            <a:endParaRPr lang="en-LU"/>
          </a:p>
        </p:txBody>
      </p:sp>
      <p:sp>
        <p:nvSpPr>
          <p:cNvPr id="15" name="Shape 13"/>
          <p:cNvSpPr/>
          <p:nvPr/>
        </p:nvSpPr>
        <p:spPr>
          <a:xfrm>
            <a:off x="320040" y="1995318"/>
            <a:ext cx="1188720" cy="548640"/>
          </a:xfrm>
          <a:prstGeom prst="rect">
            <a:avLst/>
          </a:prstGeom>
          <a:solidFill>
            <a:srgbClr val="7C3AED">
              <a:alpha val="12000"/>
            </a:srgbClr>
          </a:solidFill>
          <a:ln w="12700">
            <a:solidFill>
              <a:srgbClr val="7C3AED"/>
            </a:solidFill>
            <a:prstDash val="solid"/>
          </a:ln>
        </p:spPr>
        <p:txBody>
          <a:bodyPr/>
          <a:lstStyle/>
          <a:p>
            <a:endParaRPr lang="en-LU"/>
          </a:p>
        </p:txBody>
      </p:sp>
      <p:sp>
        <p:nvSpPr>
          <p:cNvPr id="16" name="Text 14"/>
          <p:cNvSpPr/>
          <p:nvPr/>
        </p:nvSpPr>
        <p:spPr>
          <a:xfrm>
            <a:off x="384048" y="1995318"/>
            <a:ext cx="1115568" cy="548640"/>
          </a:xfrm>
          <a:prstGeom prst="rect">
            <a:avLst/>
          </a:prstGeom>
          <a:noFill/>
          <a:ln/>
        </p:spPr>
        <p:txBody>
          <a:bodyPr wrap="square" lIns="0" tIns="0" rIns="0" bIns="0" rtlCol="0" anchor="ctr"/>
          <a:lstStyle/>
          <a:p>
            <a:pPr marL="0" indent="0" algn="ctr">
              <a:buNone/>
            </a:pPr>
            <a:r>
              <a:rPr lang="en-US" sz="900" b="1" dirty="0">
                <a:solidFill>
                  <a:srgbClr val="7C3AED"/>
                </a:solidFill>
              </a:rPr>
              <a:t>10–40 min</a:t>
            </a:r>
            <a:endParaRPr lang="en-US" sz="900" dirty="0"/>
          </a:p>
        </p:txBody>
      </p:sp>
      <p:sp>
        <p:nvSpPr>
          <p:cNvPr id="17" name="Text 15"/>
          <p:cNvSpPr/>
          <p:nvPr/>
        </p:nvSpPr>
        <p:spPr>
          <a:xfrm>
            <a:off x="1572768" y="2041038"/>
            <a:ext cx="3474720" cy="274320"/>
          </a:xfrm>
          <a:prstGeom prst="rect">
            <a:avLst/>
          </a:prstGeom>
          <a:noFill/>
          <a:ln/>
        </p:spPr>
        <p:txBody>
          <a:bodyPr wrap="square" lIns="0" tIns="0" rIns="0" bIns="0" rtlCol="0" anchor="ctr"/>
          <a:lstStyle/>
          <a:p>
            <a:pPr marL="0" indent="0">
              <a:buNone/>
            </a:pPr>
            <a:r>
              <a:rPr lang="en-US" sz="1300" b="1" dirty="0">
                <a:solidFill>
                  <a:srgbClr val="0D1B2A"/>
                </a:solidFill>
              </a:rPr>
              <a:t>What is HPDA?</a:t>
            </a:r>
            <a:endParaRPr lang="en-US" sz="1300" dirty="0"/>
          </a:p>
        </p:txBody>
      </p:sp>
      <p:sp>
        <p:nvSpPr>
          <p:cNvPr id="18" name="Text 16"/>
          <p:cNvSpPr/>
          <p:nvPr/>
        </p:nvSpPr>
        <p:spPr>
          <a:xfrm>
            <a:off x="1572768" y="2269638"/>
            <a:ext cx="5029200" cy="228600"/>
          </a:xfrm>
          <a:prstGeom prst="rect">
            <a:avLst/>
          </a:prstGeom>
          <a:noFill/>
          <a:ln/>
        </p:spPr>
        <p:txBody>
          <a:bodyPr wrap="square" lIns="0" tIns="0" rIns="0" bIns="0" rtlCol="0" anchor="ctr"/>
          <a:lstStyle/>
          <a:p>
            <a:pPr marL="0" indent="0">
              <a:buNone/>
            </a:pPr>
            <a:r>
              <a:rPr lang="en-US" sz="1000" dirty="0">
                <a:solidFill>
                  <a:srgbClr val="94A3B8"/>
                </a:solidFill>
              </a:rPr>
              <a:t>Where Pandas breaks at scale? </a:t>
            </a:r>
            <a:r>
              <a:rPr lang="en-US" sz="1000" b="1" dirty="0">
                <a:solidFill>
                  <a:srgbClr val="94A3B8"/>
                </a:solidFill>
              </a:rPr>
              <a:t>Exercise 1: Baseline &amp; profiling</a:t>
            </a:r>
            <a:endParaRPr lang="en-US" sz="1000" b="1" dirty="0"/>
          </a:p>
        </p:txBody>
      </p:sp>
      <p:sp>
        <p:nvSpPr>
          <p:cNvPr id="21" name="Shape 19"/>
          <p:cNvSpPr/>
          <p:nvPr/>
        </p:nvSpPr>
        <p:spPr>
          <a:xfrm>
            <a:off x="320040" y="2626254"/>
            <a:ext cx="8503920" cy="548640"/>
          </a:xfrm>
          <a:prstGeom prst="rect">
            <a:avLst/>
          </a:prstGeom>
          <a:solidFill>
            <a:srgbClr val="FFFFFF"/>
          </a:solidFill>
          <a:ln w="6350">
            <a:solidFill>
              <a:srgbClr val="E2E8F0"/>
            </a:solidFill>
            <a:prstDash val="solid"/>
          </a:ln>
          <a:effectLst>
            <a:outerShdw blurRad="38100" dist="12700" dir="8100000" algn="bl" rotWithShape="0">
              <a:srgbClr val="000000">
                <a:alpha val="7000"/>
              </a:srgbClr>
            </a:outerShdw>
          </a:effectLst>
        </p:spPr>
        <p:txBody>
          <a:bodyPr/>
          <a:lstStyle/>
          <a:p>
            <a:endParaRPr lang="en-LU"/>
          </a:p>
        </p:txBody>
      </p:sp>
      <p:sp>
        <p:nvSpPr>
          <p:cNvPr id="22" name="Shape 20"/>
          <p:cNvSpPr/>
          <p:nvPr/>
        </p:nvSpPr>
        <p:spPr>
          <a:xfrm>
            <a:off x="320040" y="2626254"/>
            <a:ext cx="54864" cy="548640"/>
          </a:xfrm>
          <a:prstGeom prst="rect">
            <a:avLst/>
          </a:prstGeom>
          <a:solidFill>
            <a:srgbClr val="2563EB"/>
          </a:solidFill>
          <a:ln w="12700">
            <a:solidFill>
              <a:srgbClr val="2563EB"/>
            </a:solidFill>
            <a:prstDash val="solid"/>
          </a:ln>
        </p:spPr>
        <p:txBody>
          <a:bodyPr/>
          <a:lstStyle/>
          <a:p>
            <a:endParaRPr lang="en-LU"/>
          </a:p>
        </p:txBody>
      </p:sp>
      <p:sp>
        <p:nvSpPr>
          <p:cNvPr id="23" name="Shape 21"/>
          <p:cNvSpPr/>
          <p:nvPr/>
        </p:nvSpPr>
        <p:spPr>
          <a:xfrm>
            <a:off x="320040" y="2626254"/>
            <a:ext cx="1188720" cy="548640"/>
          </a:xfrm>
          <a:prstGeom prst="rect">
            <a:avLst/>
          </a:prstGeom>
          <a:solidFill>
            <a:srgbClr val="2563EB">
              <a:alpha val="12000"/>
            </a:srgbClr>
          </a:solidFill>
          <a:ln w="12700">
            <a:solidFill>
              <a:srgbClr val="2563EB"/>
            </a:solidFill>
            <a:prstDash val="solid"/>
          </a:ln>
        </p:spPr>
        <p:txBody>
          <a:bodyPr/>
          <a:lstStyle/>
          <a:p>
            <a:endParaRPr lang="en-LU"/>
          </a:p>
        </p:txBody>
      </p:sp>
      <p:sp>
        <p:nvSpPr>
          <p:cNvPr id="24" name="Text 22"/>
          <p:cNvSpPr/>
          <p:nvPr/>
        </p:nvSpPr>
        <p:spPr>
          <a:xfrm>
            <a:off x="384048" y="2626254"/>
            <a:ext cx="1115568" cy="548640"/>
          </a:xfrm>
          <a:prstGeom prst="rect">
            <a:avLst/>
          </a:prstGeom>
          <a:noFill/>
          <a:ln/>
        </p:spPr>
        <p:txBody>
          <a:bodyPr wrap="square" lIns="0" tIns="0" rIns="0" bIns="0" rtlCol="0" anchor="ctr"/>
          <a:lstStyle/>
          <a:p>
            <a:pPr marL="0" indent="0" algn="ctr">
              <a:buNone/>
            </a:pPr>
            <a:r>
              <a:rPr lang="en-US" sz="900" b="1" dirty="0">
                <a:solidFill>
                  <a:srgbClr val="2563EB"/>
                </a:solidFill>
              </a:rPr>
              <a:t>40–70 min</a:t>
            </a:r>
            <a:endParaRPr lang="en-US" sz="900" dirty="0"/>
          </a:p>
        </p:txBody>
      </p:sp>
      <p:sp>
        <p:nvSpPr>
          <p:cNvPr id="25" name="Text 23"/>
          <p:cNvSpPr/>
          <p:nvPr/>
        </p:nvSpPr>
        <p:spPr>
          <a:xfrm>
            <a:off x="1572768" y="2671974"/>
            <a:ext cx="3474720" cy="274320"/>
          </a:xfrm>
          <a:prstGeom prst="rect">
            <a:avLst/>
          </a:prstGeom>
          <a:noFill/>
          <a:ln/>
        </p:spPr>
        <p:txBody>
          <a:bodyPr wrap="square" lIns="0" tIns="0" rIns="0" bIns="0" rtlCol="0" anchor="ctr"/>
          <a:lstStyle/>
          <a:p>
            <a:pPr marL="0" indent="0">
              <a:buNone/>
            </a:pPr>
            <a:r>
              <a:rPr lang="en-US" sz="1300" b="1" dirty="0">
                <a:solidFill>
                  <a:srgbClr val="0D1B2A"/>
                </a:solidFill>
              </a:rPr>
              <a:t>Parallelism: When it helps?</a:t>
            </a:r>
            <a:endParaRPr lang="en-US" sz="1300" dirty="0"/>
          </a:p>
        </p:txBody>
      </p:sp>
      <p:sp>
        <p:nvSpPr>
          <p:cNvPr id="26" name="Text 24"/>
          <p:cNvSpPr/>
          <p:nvPr/>
        </p:nvSpPr>
        <p:spPr>
          <a:xfrm>
            <a:off x="1572768" y="2900574"/>
            <a:ext cx="5029200" cy="228600"/>
          </a:xfrm>
          <a:prstGeom prst="rect">
            <a:avLst/>
          </a:prstGeom>
          <a:noFill/>
          <a:ln/>
        </p:spPr>
        <p:txBody>
          <a:bodyPr wrap="square" lIns="0" tIns="0" rIns="0" bIns="0" rtlCol="0" anchor="ctr"/>
          <a:lstStyle/>
          <a:p>
            <a:pPr marL="0" indent="0">
              <a:buNone/>
            </a:pPr>
            <a:r>
              <a:rPr lang="en-US" sz="1000" dirty="0">
                <a:solidFill>
                  <a:srgbClr val="94A3B8"/>
                </a:solidFill>
              </a:rPr>
              <a:t>Data </a:t>
            </a:r>
            <a:r>
              <a:rPr lang="en-US" sz="1000" dirty="0">
                <a:solidFill>
                  <a:srgbClr val="94A3B8"/>
                </a:solidFill>
                <a:sym typeface="Wingdings" pitchFamily="2" charset="2"/>
              </a:rPr>
              <a:t> Compute  Parallel execution model. </a:t>
            </a:r>
            <a:r>
              <a:rPr lang="en-US" sz="1000" b="1" dirty="0">
                <a:solidFill>
                  <a:srgbClr val="94A3B8"/>
                </a:solidFill>
                <a:sym typeface="Wingdings" pitchFamily="2" charset="2"/>
              </a:rPr>
              <a:t>Exercise 2: Parallelism with </a:t>
            </a:r>
            <a:r>
              <a:rPr lang="en-US" sz="1000" b="1" dirty="0" err="1">
                <a:solidFill>
                  <a:srgbClr val="94A3B8"/>
                </a:solidFill>
                <a:sym typeface="Wingdings" pitchFamily="2" charset="2"/>
              </a:rPr>
              <a:t>Dask</a:t>
            </a:r>
            <a:endParaRPr lang="en-US" sz="1000" b="1" dirty="0">
              <a:solidFill>
                <a:srgbClr val="94A3B8"/>
              </a:solidFill>
              <a:sym typeface="Wingdings" pitchFamily="2" charset="2"/>
            </a:endParaRPr>
          </a:p>
        </p:txBody>
      </p:sp>
      <p:sp>
        <p:nvSpPr>
          <p:cNvPr id="29" name="Shape 27"/>
          <p:cNvSpPr/>
          <p:nvPr/>
        </p:nvSpPr>
        <p:spPr>
          <a:xfrm>
            <a:off x="320040" y="3257190"/>
            <a:ext cx="8503920" cy="548640"/>
          </a:xfrm>
          <a:prstGeom prst="rect">
            <a:avLst/>
          </a:prstGeom>
          <a:solidFill>
            <a:srgbClr val="FFFFFF"/>
          </a:solidFill>
          <a:ln w="6350">
            <a:solidFill>
              <a:srgbClr val="E2E8F0"/>
            </a:solidFill>
            <a:prstDash val="solid"/>
          </a:ln>
          <a:effectLst>
            <a:outerShdw blurRad="38100" dist="12700" dir="8100000" algn="bl" rotWithShape="0">
              <a:srgbClr val="000000">
                <a:alpha val="7000"/>
              </a:srgbClr>
            </a:outerShdw>
          </a:effectLst>
        </p:spPr>
        <p:txBody>
          <a:bodyPr/>
          <a:lstStyle/>
          <a:p>
            <a:endParaRPr lang="en-LU"/>
          </a:p>
        </p:txBody>
      </p:sp>
      <p:sp>
        <p:nvSpPr>
          <p:cNvPr id="30" name="Shape 28"/>
          <p:cNvSpPr/>
          <p:nvPr/>
        </p:nvSpPr>
        <p:spPr>
          <a:xfrm>
            <a:off x="320040" y="3257190"/>
            <a:ext cx="54864" cy="548640"/>
          </a:xfrm>
          <a:prstGeom prst="rect">
            <a:avLst/>
          </a:prstGeom>
          <a:solidFill>
            <a:srgbClr val="F59E0B"/>
          </a:solidFill>
          <a:ln w="12700">
            <a:solidFill>
              <a:srgbClr val="F59E0B"/>
            </a:solidFill>
            <a:prstDash val="solid"/>
          </a:ln>
        </p:spPr>
        <p:txBody>
          <a:bodyPr/>
          <a:lstStyle/>
          <a:p>
            <a:endParaRPr lang="en-LU"/>
          </a:p>
        </p:txBody>
      </p:sp>
      <p:sp>
        <p:nvSpPr>
          <p:cNvPr id="31" name="Shape 29"/>
          <p:cNvSpPr/>
          <p:nvPr/>
        </p:nvSpPr>
        <p:spPr>
          <a:xfrm>
            <a:off x="320040" y="3257190"/>
            <a:ext cx="1188720" cy="548640"/>
          </a:xfrm>
          <a:prstGeom prst="rect">
            <a:avLst/>
          </a:prstGeom>
          <a:solidFill>
            <a:srgbClr val="F59E0B">
              <a:alpha val="12000"/>
            </a:srgbClr>
          </a:solidFill>
          <a:ln w="12700">
            <a:solidFill>
              <a:srgbClr val="F59E0B"/>
            </a:solidFill>
            <a:prstDash val="solid"/>
          </a:ln>
        </p:spPr>
        <p:txBody>
          <a:bodyPr/>
          <a:lstStyle/>
          <a:p>
            <a:endParaRPr lang="en-LU"/>
          </a:p>
        </p:txBody>
      </p:sp>
      <p:sp>
        <p:nvSpPr>
          <p:cNvPr id="32" name="Text 30"/>
          <p:cNvSpPr/>
          <p:nvPr/>
        </p:nvSpPr>
        <p:spPr>
          <a:xfrm>
            <a:off x="384048" y="3257190"/>
            <a:ext cx="1115568" cy="548640"/>
          </a:xfrm>
          <a:prstGeom prst="rect">
            <a:avLst/>
          </a:prstGeom>
          <a:noFill/>
          <a:ln/>
        </p:spPr>
        <p:txBody>
          <a:bodyPr wrap="square" lIns="0" tIns="0" rIns="0" bIns="0" rtlCol="0" anchor="ctr"/>
          <a:lstStyle/>
          <a:p>
            <a:pPr marL="0" indent="0" algn="ctr">
              <a:buNone/>
            </a:pPr>
            <a:r>
              <a:rPr lang="en-US" sz="900" b="1" dirty="0">
                <a:solidFill>
                  <a:srgbClr val="F59E0B"/>
                </a:solidFill>
              </a:rPr>
              <a:t>70–80 min</a:t>
            </a:r>
            <a:endParaRPr lang="en-US" sz="900" dirty="0"/>
          </a:p>
        </p:txBody>
      </p:sp>
      <p:sp>
        <p:nvSpPr>
          <p:cNvPr id="33" name="Text 31"/>
          <p:cNvSpPr/>
          <p:nvPr/>
        </p:nvSpPr>
        <p:spPr>
          <a:xfrm>
            <a:off x="1572768" y="3302910"/>
            <a:ext cx="3474720" cy="274320"/>
          </a:xfrm>
          <a:prstGeom prst="rect">
            <a:avLst/>
          </a:prstGeom>
          <a:noFill/>
          <a:ln/>
        </p:spPr>
        <p:txBody>
          <a:bodyPr wrap="square" lIns="0" tIns="0" rIns="0" bIns="0" rtlCol="0" anchor="ctr"/>
          <a:lstStyle/>
          <a:p>
            <a:pPr marL="0" indent="0">
              <a:buNone/>
            </a:pPr>
            <a:r>
              <a:rPr lang="en-US" sz="1300" b="1" dirty="0">
                <a:solidFill>
                  <a:srgbClr val="0D1B2A"/>
                </a:solidFill>
              </a:rPr>
              <a:t>From results to decision</a:t>
            </a:r>
            <a:endParaRPr lang="en-US" sz="1300" dirty="0"/>
          </a:p>
        </p:txBody>
      </p:sp>
      <p:sp>
        <p:nvSpPr>
          <p:cNvPr id="34" name="Text 32"/>
          <p:cNvSpPr/>
          <p:nvPr/>
        </p:nvSpPr>
        <p:spPr>
          <a:xfrm>
            <a:off x="1572768" y="3531510"/>
            <a:ext cx="5029200" cy="228600"/>
          </a:xfrm>
          <a:prstGeom prst="rect">
            <a:avLst/>
          </a:prstGeom>
          <a:noFill/>
          <a:ln/>
        </p:spPr>
        <p:txBody>
          <a:bodyPr wrap="square" lIns="0" tIns="0" rIns="0" bIns="0" rtlCol="0" anchor="ctr"/>
          <a:lstStyle/>
          <a:p>
            <a:pPr marL="0" indent="0">
              <a:buNone/>
            </a:pPr>
            <a:r>
              <a:rPr lang="en-US" sz="1000" dirty="0">
                <a:solidFill>
                  <a:srgbClr val="94A3B8"/>
                </a:solidFill>
              </a:rPr>
              <a:t>When to use pandas vs </a:t>
            </a:r>
            <a:r>
              <a:rPr lang="en-US" sz="1000" dirty="0" err="1">
                <a:solidFill>
                  <a:srgbClr val="94A3B8"/>
                </a:solidFill>
              </a:rPr>
              <a:t>Dask</a:t>
            </a:r>
            <a:r>
              <a:rPr lang="en-US" sz="1000" dirty="0">
                <a:solidFill>
                  <a:srgbClr val="94A3B8"/>
                </a:solidFill>
              </a:rPr>
              <a:t>, partitioning intuition, bottleneck thinking</a:t>
            </a:r>
            <a:endParaRPr lang="en-US" sz="1000" dirty="0"/>
          </a:p>
        </p:txBody>
      </p:sp>
      <p:sp>
        <p:nvSpPr>
          <p:cNvPr id="37" name="Shape 35"/>
          <p:cNvSpPr/>
          <p:nvPr/>
        </p:nvSpPr>
        <p:spPr>
          <a:xfrm>
            <a:off x="320040" y="3888126"/>
            <a:ext cx="8503920" cy="548640"/>
          </a:xfrm>
          <a:prstGeom prst="rect">
            <a:avLst/>
          </a:prstGeom>
          <a:solidFill>
            <a:srgbClr val="FFFFFF"/>
          </a:solidFill>
          <a:ln w="6350">
            <a:solidFill>
              <a:srgbClr val="E2E8F0"/>
            </a:solidFill>
            <a:prstDash val="solid"/>
          </a:ln>
          <a:effectLst>
            <a:outerShdw blurRad="38100" dist="12700" dir="8100000" algn="bl" rotWithShape="0">
              <a:srgbClr val="000000">
                <a:alpha val="7000"/>
              </a:srgbClr>
            </a:outerShdw>
          </a:effectLst>
        </p:spPr>
        <p:txBody>
          <a:bodyPr/>
          <a:lstStyle/>
          <a:p>
            <a:endParaRPr lang="en-LU"/>
          </a:p>
        </p:txBody>
      </p:sp>
      <p:sp>
        <p:nvSpPr>
          <p:cNvPr id="41" name="Text 39"/>
          <p:cNvSpPr/>
          <p:nvPr/>
        </p:nvSpPr>
        <p:spPr>
          <a:xfrm>
            <a:off x="1572768" y="3993221"/>
            <a:ext cx="3474720" cy="274320"/>
          </a:xfrm>
          <a:prstGeom prst="rect">
            <a:avLst/>
          </a:prstGeom>
          <a:noFill/>
          <a:ln/>
        </p:spPr>
        <p:txBody>
          <a:bodyPr wrap="square" lIns="0" tIns="0" rIns="0" bIns="0" rtlCol="0" anchor="ctr"/>
          <a:lstStyle/>
          <a:p>
            <a:pPr marL="0" indent="0">
              <a:buNone/>
            </a:pPr>
            <a:r>
              <a:rPr lang="en-US" sz="1300" b="1" dirty="0">
                <a:solidFill>
                  <a:srgbClr val="0D1B2A"/>
                </a:solidFill>
              </a:rPr>
              <a:t>Key Takeaways &amp; Practical Rules</a:t>
            </a:r>
            <a:endParaRPr lang="en-US" sz="1300" dirty="0"/>
          </a:p>
        </p:txBody>
      </p:sp>
      <p:sp>
        <p:nvSpPr>
          <p:cNvPr id="46" name="Shape 44"/>
          <p:cNvSpPr/>
          <p:nvPr/>
        </p:nvSpPr>
        <p:spPr>
          <a:xfrm>
            <a:off x="320040" y="3887533"/>
            <a:ext cx="54864" cy="548640"/>
          </a:xfrm>
          <a:prstGeom prst="rect">
            <a:avLst/>
          </a:prstGeom>
          <a:solidFill>
            <a:srgbClr val="334155"/>
          </a:solidFill>
          <a:ln w="12700">
            <a:solidFill>
              <a:srgbClr val="334155"/>
            </a:solidFill>
            <a:prstDash val="solid"/>
          </a:ln>
        </p:spPr>
        <p:txBody>
          <a:bodyPr/>
          <a:lstStyle/>
          <a:p>
            <a:endParaRPr lang="en-LU"/>
          </a:p>
        </p:txBody>
      </p:sp>
      <p:sp>
        <p:nvSpPr>
          <p:cNvPr id="47" name="Shape 45"/>
          <p:cNvSpPr/>
          <p:nvPr/>
        </p:nvSpPr>
        <p:spPr>
          <a:xfrm>
            <a:off x="320040" y="3888126"/>
            <a:ext cx="1188720" cy="548640"/>
          </a:xfrm>
          <a:prstGeom prst="rect">
            <a:avLst/>
          </a:prstGeom>
          <a:solidFill>
            <a:srgbClr val="334155">
              <a:alpha val="12000"/>
            </a:srgbClr>
          </a:solidFill>
          <a:ln w="12700">
            <a:solidFill>
              <a:srgbClr val="334155"/>
            </a:solidFill>
            <a:prstDash val="solid"/>
          </a:ln>
        </p:spPr>
        <p:txBody>
          <a:bodyPr/>
          <a:lstStyle/>
          <a:p>
            <a:endParaRPr lang="en-LU"/>
          </a:p>
        </p:txBody>
      </p:sp>
      <p:sp>
        <p:nvSpPr>
          <p:cNvPr id="48" name="Text 46"/>
          <p:cNvSpPr/>
          <p:nvPr/>
        </p:nvSpPr>
        <p:spPr>
          <a:xfrm>
            <a:off x="384048" y="3888126"/>
            <a:ext cx="1115568" cy="548640"/>
          </a:xfrm>
          <a:prstGeom prst="rect">
            <a:avLst/>
          </a:prstGeom>
          <a:noFill/>
          <a:ln/>
        </p:spPr>
        <p:txBody>
          <a:bodyPr wrap="square" lIns="0" tIns="0" rIns="0" bIns="0" rtlCol="0" anchor="ctr"/>
          <a:lstStyle/>
          <a:p>
            <a:pPr marL="0" indent="0" algn="ctr">
              <a:buNone/>
            </a:pPr>
            <a:r>
              <a:rPr lang="en-US" sz="900" b="1" dirty="0">
                <a:solidFill>
                  <a:srgbClr val="334155"/>
                </a:solidFill>
              </a:rPr>
              <a:t>85–90 min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LU"/>
          </a:p>
        </p:txBody>
      </p:sp>
      <p:sp>
        <p:nvSpPr>
          <p:cNvPr id="3" name="Text 1"/>
          <p:cNvSpPr/>
          <p:nvPr/>
        </p:nvSpPr>
        <p:spPr>
          <a:xfrm>
            <a:off x="365760" y="0"/>
            <a:ext cx="8412480" cy="960120"/>
          </a:xfrm>
          <a:prstGeom prst="rect">
            <a:avLst/>
          </a:prstGeom>
          <a:noFill/>
          <a:ln/>
        </p:spPr>
        <p:txBody>
          <a:bodyPr wrap="square" lIns="0" tIns="0" rIns="0" bIns="0" rtlCol="0" anchor="ctr"/>
          <a:lstStyle/>
          <a:p>
            <a:pPr marL="0" indent="0">
              <a:buNone/>
            </a:pPr>
            <a:r>
              <a:rPr lang="en-US" sz="2200" b="1" dirty="0">
                <a:solidFill>
                  <a:srgbClr val="FFFFFF"/>
                </a:solidFill>
              </a:rPr>
              <a:t>What is High-Performance Data Analytics?</a:t>
            </a:r>
            <a:endParaRPr lang="en-US" sz="2200" dirty="0"/>
          </a:p>
        </p:txBody>
      </p:sp>
      <p:sp>
        <p:nvSpPr>
          <p:cNvPr id="16" name="Text 14"/>
          <p:cNvSpPr/>
          <p:nvPr/>
        </p:nvSpPr>
        <p:spPr>
          <a:xfrm>
            <a:off x="5852160" y="1097280"/>
            <a:ext cx="2926080" cy="274320"/>
          </a:xfrm>
          <a:prstGeom prst="rect">
            <a:avLst/>
          </a:prstGeom>
          <a:noFill/>
          <a:ln/>
        </p:spPr>
        <p:txBody>
          <a:bodyPr wrap="square" lIns="0" tIns="0" rIns="0" bIns="0" rtlCol="0" anchor="ctr"/>
          <a:lstStyle/>
          <a:p>
            <a:pPr marL="0" indent="0">
              <a:buNone/>
            </a:pPr>
            <a:r>
              <a:rPr lang="en-US" sz="1000" b="1" dirty="0">
                <a:solidFill>
                  <a:srgbClr val="334155"/>
                </a:solidFill>
              </a:rPr>
              <a:t>The analytics spectrum</a:t>
            </a:r>
            <a:endParaRPr lang="en-US" sz="1000" dirty="0"/>
          </a:p>
        </p:txBody>
      </p:sp>
      <p:sp>
        <p:nvSpPr>
          <p:cNvPr id="17" name="Shape 15"/>
          <p:cNvSpPr/>
          <p:nvPr/>
        </p:nvSpPr>
        <p:spPr>
          <a:xfrm>
            <a:off x="5852160" y="1417320"/>
            <a:ext cx="2926080" cy="713232"/>
          </a:xfrm>
          <a:prstGeom prst="rect">
            <a:avLst/>
          </a:prstGeom>
          <a:solidFill>
            <a:srgbClr val="E2E8F0"/>
          </a:solidFill>
          <a:ln w="6350">
            <a:solidFill>
              <a:srgbClr val="E2E8F0"/>
            </a:solidFill>
            <a:prstDash val="solid"/>
          </a:ln>
        </p:spPr>
        <p:txBody>
          <a:bodyPr/>
          <a:lstStyle/>
          <a:p>
            <a:endParaRPr lang="en-LU"/>
          </a:p>
        </p:txBody>
      </p:sp>
      <p:sp>
        <p:nvSpPr>
          <p:cNvPr id="18" name="Text 16"/>
          <p:cNvSpPr/>
          <p:nvPr/>
        </p:nvSpPr>
        <p:spPr>
          <a:xfrm>
            <a:off x="5989320" y="1481328"/>
            <a:ext cx="2651760" cy="274320"/>
          </a:xfrm>
          <a:prstGeom prst="rect">
            <a:avLst/>
          </a:prstGeom>
          <a:noFill/>
          <a:ln/>
        </p:spPr>
        <p:txBody>
          <a:bodyPr wrap="square" lIns="0" tIns="0" rIns="0" bIns="0" rtlCol="0" anchor="ctr"/>
          <a:lstStyle/>
          <a:p>
            <a:pPr marL="0" indent="0">
              <a:buNone/>
            </a:pPr>
            <a:r>
              <a:rPr lang="en-US" sz="1300" b="1" dirty="0">
                <a:solidFill>
                  <a:srgbClr val="334155"/>
                </a:solidFill>
              </a:rPr>
              <a:t>Spreadsheet</a:t>
            </a:r>
            <a:endParaRPr lang="en-US" sz="1300" dirty="0"/>
          </a:p>
        </p:txBody>
      </p:sp>
      <p:sp>
        <p:nvSpPr>
          <p:cNvPr id="19" name="Text 17"/>
          <p:cNvSpPr/>
          <p:nvPr/>
        </p:nvSpPr>
        <p:spPr>
          <a:xfrm>
            <a:off x="5989320" y="1719072"/>
            <a:ext cx="2651760" cy="274320"/>
          </a:xfrm>
          <a:prstGeom prst="rect">
            <a:avLst/>
          </a:prstGeom>
          <a:noFill/>
          <a:ln/>
        </p:spPr>
        <p:txBody>
          <a:bodyPr wrap="square" lIns="0" tIns="0" rIns="0" bIns="0" rtlCol="0" anchor="ctr"/>
          <a:lstStyle/>
          <a:p>
            <a:pPr marL="0" indent="0">
              <a:buNone/>
            </a:pPr>
            <a:r>
              <a:rPr lang="en-US" sz="1000" dirty="0">
                <a:solidFill>
                  <a:srgbClr val="334155"/>
                </a:solidFill>
              </a:rPr>
              <a:t>Fits in memory, manual analysis</a:t>
            </a:r>
            <a:endParaRPr lang="en-US" sz="1000" dirty="0"/>
          </a:p>
        </p:txBody>
      </p:sp>
      <p:sp>
        <p:nvSpPr>
          <p:cNvPr id="20" name="Shape 18"/>
          <p:cNvSpPr/>
          <p:nvPr/>
        </p:nvSpPr>
        <p:spPr>
          <a:xfrm>
            <a:off x="5852160" y="2286000"/>
            <a:ext cx="2926080" cy="713232"/>
          </a:xfrm>
          <a:prstGeom prst="rect">
            <a:avLst/>
          </a:prstGeom>
          <a:solidFill>
            <a:srgbClr val="DBEAFE"/>
          </a:solidFill>
          <a:ln w="6350">
            <a:solidFill>
              <a:srgbClr val="E2E8F0"/>
            </a:solidFill>
            <a:prstDash val="solid"/>
          </a:ln>
        </p:spPr>
        <p:txBody>
          <a:bodyPr/>
          <a:lstStyle/>
          <a:p>
            <a:endParaRPr lang="en-LU"/>
          </a:p>
        </p:txBody>
      </p:sp>
      <p:sp>
        <p:nvSpPr>
          <p:cNvPr id="21" name="Text 19"/>
          <p:cNvSpPr/>
          <p:nvPr/>
        </p:nvSpPr>
        <p:spPr>
          <a:xfrm>
            <a:off x="5989320" y="2350008"/>
            <a:ext cx="2651760" cy="274320"/>
          </a:xfrm>
          <a:prstGeom prst="rect">
            <a:avLst/>
          </a:prstGeom>
          <a:noFill/>
          <a:ln/>
        </p:spPr>
        <p:txBody>
          <a:bodyPr wrap="square" lIns="0" tIns="0" rIns="0" bIns="0" rtlCol="0" anchor="ctr"/>
          <a:lstStyle/>
          <a:p>
            <a:pPr marL="0" indent="0">
              <a:buNone/>
            </a:pPr>
            <a:r>
              <a:rPr lang="en-US" sz="1300" b="1" dirty="0">
                <a:solidFill>
                  <a:srgbClr val="1D4ED8"/>
                </a:solidFill>
              </a:rPr>
              <a:t>RDBMS / BI</a:t>
            </a:r>
            <a:endParaRPr lang="en-US" sz="1300" dirty="0"/>
          </a:p>
        </p:txBody>
      </p:sp>
      <p:sp>
        <p:nvSpPr>
          <p:cNvPr id="22" name="Text 20"/>
          <p:cNvSpPr/>
          <p:nvPr/>
        </p:nvSpPr>
        <p:spPr>
          <a:xfrm>
            <a:off x="5989320" y="2640004"/>
            <a:ext cx="2651760" cy="274320"/>
          </a:xfrm>
          <a:prstGeom prst="rect">
            <a:avLst/>
          </a:prstGeom>
          <a:noFill/>
          <a:ln/>
        </p:spPr>
        <p:txBody>
          <a:bodyPr wrap="square" lIns="0" tIns="0" rIns="0" bIns="0" rtlCol="0" anchor="ctr"/>
          <a:lstStyle/>
          <a:p>
            <a:pPr marL="0" indent="0">
              <a:buNone/>
            </a:pPr>
            <a:r>
              <a:rPr lang="en-US" sz="1000" dirty="0">
                <a:solidFill>
                  <a:srgbClr val="1D4ED8"/>
                </a:solidFill>
              </a:rPr>
              <a:t>Single-node SQL, performance handled by the database</a:t>
            </a:r>
            <a:endParaRPr lang="en-US" sz="1000" dirty="0"/>
          </a:p>
        </p:txBody>
      </p:sp>
      <p:sp>
        <p:nvSpPr>
          <p:cNvPr id="23" name="Shape 21"/>
          <p:cNvSpPr/>
          <p:nvPr/>
        </p:nvSpPr>
        <p:spPr>
          <a:xfrm>
            <a:off x="5852160" y="3154680"/>
            <a:ext cx="2926080" cy="713232"/>
          </a:xfrm>
          <a:prstGeom prst="rect">
            <a:avLst/>
          </a:prstGeom>
          <a:solidFill>
            <a:srgbClr val="0D9488"/>
          </a:solidFill>
          <a:ln w="6350">
            <a:solidFill>
              <a:srgbClr val="E2E8F0"/>
            </a:solidFill>
            <a:prstDash val="solid"/>
          </a:ln>
        </p:spPr>
        <p:txBody>
          <a:bodyPr/>
          <a:lstStyle/>
          <a:p>
            <a:endParaRPr lang="en-LU"/>
          </a:p>
        </p:txBody>
      </p:sp>
      <p:sp>
        <p:nvSpPr>
          <p:cNvPr id="24" name="Text 22"/>
          <p:cNvSpPr/>
          <p:nvPr/>
        </p:nvSpPr>
        <p:spPr>
          <a:xfrm>
            <a:off x="5989320" y="3218688"/>
            <a:ext cx="2651760" cy="274320"/>
          </a:xfrm>
          <a:prstGeom prst="rect">
            <a:avLst/>
          </a:prstGeom>
          <a:noFill/>
          <a:ln/>
        </p:spPr>
        <p:txBody>
          <a:bodyPr wrap="square" lIns="0" tIns="0" rIns="0" bIns="0" rtlCol="0" anchor="ctr"/>
          <a:lstStyle/>
          <a:p>
            <a:pPr marL="0" indent="0">
              <a:buNone/>
            </a:pPr>
            <a:r>
              <a:rPr lang="en-US" sz="1300" b="1" dirty="0">
                <a:solidFill>
                  <a:srgbClr val="FFFFFF"/>
                </a:solidFill>
              </a:rPr>
              <a:t>HPDA</a:t>
            </a:r>
            <a:endParaRPr lang="en-US" sz="1300" dirty="0"/>
          </a:p>
        </p:txBody>
      </p:sp>
      <p:sp>
        <p:nvSpPr>
          <p:cNvPr id="25" name="Text 23"/>
          <p:cNvSpPr/>
          <p:nvPr/>
        </p:nvSpPr>
        <p:spPr>
          <a:xfrm>
            <a:off x="5989320" y="3495621"/>
            <a:ext cx="2651760" cy="274320"/>
          </a:xfrm>
          <a:prstGeom prst="rect">
            <a:avLst/>
          </a:prstGeom>
          <a:noFill/>
          <a:ln/>
        </p:spPr>
        <p:txBody>
          <a:bodyPr wrap="square" lIns="0" tIns="0" rIns="0" bIns="0" rtlCol="0" anchor="ctr"/>
          <a:lstStyle/>
          <a:p>
            <a:pPr marL="0" indent="0">
              <a:buNone/>
            </a:pPr>
            <a:r>
              <a:rPr lang="en-US" sz="1000" dirty="0">
                <a:solidFill>
                  <a:srgbClr val="FFFFFF"/>
                </a:solidFill>
              </a:rPr>
              <a:t>Single-node limit reached </a:t>
            </a:r>
            <a:r>
              <a:rPr lang="en-US" sz="1000" dirty="0">
                <a:solidFill>
                  <a:srgbClr val="FFFFFF"/>
                </a:solidFill>
                <a:sym typeface="Wingdings" pitchFamily="2" charset="2"/>
              </a:rPr>
              <a:t> parallel execution required</a:t>
            </a:r>
            <a:endParaRPr lang="en-US" sz="1000" dirty="0"/>
          </a:p>
        </p:txBody>
      </p:sp>
      <p:grpSp>
        <p:nvGrpSpPr>
          <p:cNvPr id="37" name="Group 36">
            <a:extLst>
              <a:ext uri="{FF2B5EF4-FFF2-40B4-BE49-F238E27FC236}">
                <a16:creationId xmlns:a16="http://schemas.microsoft.com/office/drawing/2014/main" id="{50D500E5-B9C0-A09F-EDC0-03F3A95DA104}"/>
              </a:ext>
            </a:extLst>
          </p:cNvPr>
          <p:cNvGrpSpPr/>
          <p:nvPr/>
        </p:nvGrpSpPr>
        <p:grpSpPr>
          <a:xfrm>
            <a:off x="5852160" y="4023360"/>
            <a:ext cx="2926080" cy="713232"/>
            <a:chOff x="5852160" y="4023360"/>
            <a:chExt cx="2926080" cy="713232"/>
          </a:xfrm>
          <a:gradFill>
            <a:gsLst>
              <a:gs pos="33000">
                <a:srgbClr val="E1E4EC"/>
              </a:gs>
              <a:gs pos="33000">
                <a:schemeClr val="bg1">
                  <a:lumMod val="75000"/>
                  <a:alpha val="59844"/>
                </a:schemeClr>
              </a:gs>
              <a:gs pos="83000">
                <a:schemeClr val="bg1"/>
              </a:gs>
              <a:gs pos="100000">
                <a:schemeClr val="bg1">
                  <a:lumMod val="95000"/>
                </a:schemeClr>
              </a:gs>
            </a:gsLst>
            <a:lin ang="5400000" scaled="1"/>
          </a:gradFill>
        </p:grpSpPr>
        <p:sp>
          <p:nvSpPr>
            <p:cNvPr id="26" name="Shape 24"/>
            <p:cNvSpPr/>
            <p:nvPr/>
          </p:nvSpPr>
          <p:spPr>
            <a:xfrm>
              <a:off x="5852160" y="4023360"/>
              <a:ext cx="2926080" cy="713232"/>
            </a:xfrm>
            <a:prstGeom prst="rect">
              <a:avLst/>
            </a:prstGeom>
            <a:grpFill/>
            <a:ln w="6350">
              <a:solidFill>
                <a:srgbClr val="E2E8F0">
                  <a:alpha val="54865"/>
                </a:srgbClr>
              </a:solidFill>
              <a:prstDash val="solid"/>
            </a:ln>
          </p:spPr>
          <p:txBody>
            <a:bodyPr/>
            <a:lstStyle/>
            <a:p>
              <a:endParaRPr lang="en-LU">
                <a:solidFill>
                  <a:schemeClr val="tx1">
                    <a:lumMod val="65000"/>
                    <a:lumOff val="35000"/>
                    <a:alpha val="69000"/>
                  </a:schemeClr>
                </a:solidFill>
              </a:endParaRPr>
            </a:p>
          </p:txBody>
        </p:sp>
        <p:sp>
          <p:nvSpPr>
            <p:cNvPr id="27" name="Text 25"/>
            <p:cNvSpPr/>
            <p:nvPr/>
          </p:nvSpPr>
          <p:spPr>
            <a:xfrm>
              <a:off x="5989320" y="4087368"/>
              <a:ext cx="2651760" cy="274320"/>
            </a:xfrm>
            <a:prstGeom prst="rect">
              <a:avLst/>
            </a:prstGeom>
            <a:grpFill/>
            <a:ln/>
          </p:spPr>
          <p:txBody>
            <a:bodyPr wrap="square" lIns="0" tIns="0" rIns="0" bIns="0" rtlCol="0" anchor="ctr"/>
            <a:lstStyle/>
            <a:p>
              <a:pPr marL="0" indent="0">
                <a:buNone/>
              </a:pPr>
              <a:r>
                <a:rPr lang="en-US" sz="1300" b="1" dirty="0">
                  <a:solidFill>
                    <a:schemeClr val="tx1">
                      <a:lumMod val="65000"/>
                      <a:lumOff val="35000"/>
                      <a:alpha val="69000"/>
                    </a:schemeClr>
                  </a:solidFill>
                </a:rPr>
                <a:t>Real-time / AI</a:t>
              </a:r>
              <a:endParaRPr lang="en-US" sz="1300" dirty="0">
                <a:solidFill>
                  <a:schemeClr val="tx1">
                    <a:lumMod val="65000"/>
                    <a:lumOff val="35000"/>
                    <a:alpha val="69000"/>
                  </a:schemeClr>
                </a:solidFill>
              </a:endParaRPr>
            </a:p>
          </p:txBody>
        </p:sp>
        <p:sp>
          <p:nvSpPr>
            <p:cNvPr id="28" name="Text 26"/>
            <p:cNvSpPr/>
            <p:nvPr/>
          </p:nvSpPr>
          <p:spPr>
            <a:xfrm>
              <a:off x="5989320" y="4364301"/>
              <a:ext cx="2651760" cy="274320"/>
            </a:xfrm>
            <a:prstGeom prst="rect">
              <a:avLst/>
            </a:prstGeom>
            <a:grpFill/>
            <a:ln/>
          </p:spPr>
          <p:txBody>
            <a:bodyPr wrap="square" lIns="0" tIns="0" rIns="0" bIns="0" rtlCol="0" anchor="ctr"/>
            <a:lstStyle/>
            <a:p>
              <a:pPr marL="0" indent="0">
                <a:buNone/>
              </a:pPr>
              <a:r>
                <a:rPr lang="en-US" sz="1000" dirty="0">
                  <a:solidFill>
                    <a:schemeClr val="tx1">
                      <a:lumMod val="65000"/>
                      <a:lumOff val="35000"/>
                      <a:alpha val="69000"/>
                    </a:schemeClr>
                  </a:solidFill>
                </a:rPr>
                <a:t>Continuous processing, strict latency constraints</a:t>
              </a:r>
            </a:p>
            <a:p>
              <a:pPr marL="0" indent="0">
                <a:buNone/>
              </a:pPr>
              <a:r>
                <a:rPr lang="en-US" sz="1000" dirty="0">
                  <a:solidFill>
                    <a:schemeClr val="tx1">
                      <a:lumMod val="65000"/>
                      <a:lumOff val="35000"/>
                      <a:alpha val="69000"/>
                    </a:schemeClr>
                  </a:solidFill>
                </a:rPr>
                <a:t>(beyond this session)</a:t>
              </a:r>
            </a:p>
          </p:txBody>
        </p:sp>
      </p:grpSp>
      <p:sp>
        <p:nvSpPr>
          <p:cNvPr id="5" name="Text 3"/>
          <p:cNvSpPr/>
          <p:nvPr/>
        </p:nvSpPr>
        <p:spPr>
          <a:xfrm>
            <a:off x="365760" y="1084217"/>
            <a:ext cx="5212081" cy="338328"/>
          </a:xfrm>
          <a:prstGeom prst="rect">
            <a:avLst/>
          </a:prstGeom>
          <a:solidFill>
            <a:srgbClr val="0E8078"/>
          </a:solidFill>
          <a:ln>
            <a:solidFill>
              <a:srgbClr val="0E8078"/>
            </a:solidFill>
          </a:ln>
        </p:spPr>
        <p:txBody>
          <a:bodyPr wrap="square" lIns="0" tIns="0" rIns="0" bIns="0" rtlCol="0" anchor="ctr"/>
          <a:lstStyle/>
          <a:p>
            <a:pPr marL="0" indent="0" algn="ctr">
              <a:buNone/>
            </a:pPr>
            <a:r>
              <a:rPr lang="en-US" sz="1600" b="1" dirty="0">
                <a:solidFill>
                  <a:srgbClr val="FFFFFF"/>
                </a:solidFill>
              </a:rPr>
              <a:t>HPDA = Analytics under scale and performance constraints</a:t>
            </a:r>
            <a:endParaRPr lang="en-US" sz="1600" dirty="0"/>
          </a:p>
        </p:txBody>
      </p:sp>
      <p:sp>
        <p:nvSpPr>
          <p:cNvPr id="30" name="TextBox 29">
            <a:extLst>
              <a:ext uri="{FF2B5EF4-FFF2-40B4-BE49-F238E27FC236}">
                <a16:creationId xmlns:a16="http://schemas.microsoft.com/office/drawing/2014/main" id="{61863349-EFA5-57B1-7E10-A76EA484532C}"/>
              </a:ext>
            </a:extLst>
          </p:cNvPr>
          <p:cNvSpPr txBox="1"/>
          <p:nvPr/>
        </p:nvSpPr>
        <p:spPr>
          <a:xfrm>
            <a:off x="365761" y="1376446"/>
            <a:ext cx="5212080" cy="1674754"/>
          </a:xfrm>
          <a:prstGeom prst="rect">
            <a:avLst/>
          </a:prstGeom>
          <a:noFill/>
          <a:ln>
            <a:solidFill>
              <a:srgbClr val="0E8078"/>
            </a:solidFill>
          </a:ln>
        </p:spPr>
        <p:txBody>
          <a:bodyPr wrap="square" rtlCol="0">
            <a:spAutoFit/>
          </a:bodyPr>
          <a:lstStyle/>
          <a:p>
            <a:pPr marL="285750" indent="-285750">
              <a:lnSpc>
                <a:spcPct val="150000"/>
              </a:lnSpc>
              <a:buClr>
                <a:srgbClr val="108079"/>
              </a:buClr>
              <a:buFont typeface="Arial" panose="020B0604020202020204" pitchFamily="34" charset="0"/>
              <a:buChar char="•"/>
            </a:pPr>
            <a:r>
              <a:rPr lang="en-LU" sz="1400" b="1" dirty="0"/>
              <a:t>Large data </a:t>
            </a:r>
            <a:r>
              <a:rPr lang="en-LU" sz="1400" dirty="0"/>
              <a:t>that no longer fits in memory</a:t>
            </a:r>
          </a:p>
          <a:p>
            <a:pPr marL="285750" indent="-285750">
              <a:lnSpc>
                <a:spcPct val="150000"/>
              </a:lnSpc>
              <a:buClr>
                <a:srgbClr val="108079"/>
              </a:buClr>
              <a:buFont typeface="Arial" panose="020B0604020202020204" pitchFamily="34" charset="0"/>
              <a:buChar char="•"/>
            </a:pPr>
            <a:r>
              <a:rPr lang="en-LU" sz="1400" b="1" dirty="0"/>
              <a:t>Execution time </a:t>
            </a:r>
            <a:r>
              <a:rPr lang="en-LU" sz="1400" dirty="0"/>
              <a:t>must be reduced via </a:t>
            </a:r>
            <a:r>
              <a:rPr lang="en-LU" sz="1400" b="1" dirty="0"/>
              <a:t>parallelism</a:t>
            </a:r>
          </a:p>
          <a:p>
            <a:pPr marL="285750" indent="-285750">
              <a:lnSpc>
                <a:spcPct val="150000"/>
              </a:lnSpc>
              <a:buClr>
                <a:srgbClr val="108079"/>
              </a:buClr>
              <a:buFont typeface="Arial" panose="020B0604020202020204" pitchFamily="34" charset="0"/>
              <a:buChar char="•"/>
            </a:pPr>
            <a:r>
              <a:rPr lang="en-LU" sz="1400" b="1" dirty="0"/>
              <a:t>I/O</a:t>
            </a:r>
            <a:r>
              <a:rPr lang="en-LU" sz="1400" dirty="0"/>
              <a:t> and </a:t>
            </a:r>
            <a:r>
              <a:rPr lang="en-LU" sz="1400" b="1" dirty="0"/>
              <a:t>data movement </a:t>
            </a:r>
            <a:r>
              <a:rPr lang="en-LU" sz="1400" dirty="0"/>
              <a:t>dominate performance</a:t>
            </a:r>
          </a:p>
          <a:p>
            <a:pPr marL="285750" indent="-285750">
              <a:lnSpc>
                <a:spcPct val="150000"/>
              </a:lnSpc>
              <a:buClr>
                <a:srgbClr val="108079"/>
              </a:buClr>
              <a:buFont typeface="Arial" panose="020B0604020202020204" pitchFamily="34" charset="0"/>
              <a:buChar char="•"/>
            </a:pPr>
            <a:r>
              <a:rPr lang="en-LU" sz="1400" dirty="0"/>
              <a:t>Workloads must be </a:t>
            </a:r>
            <a:r>
              <a:rPr lang="en-LU" sz="1400" b="1" dirty="0"/>
              <a:t>explicitly optimized </a:t>
            </a:r>
            <a:r>
              <a:rPr lang="en-LU" sz="1400" dirty="0"/>
              <a:t>(format, partitioning, execution)</a:t>
            </a:r>
          </a:p>
        </p:txBody>
      </p:sp>
      <p:grpSp>
        <p:nvGrpSpPr>
          <p:cNvPr id="33" name="Group 32">
            <a:extLst>
              <a:ext uri="{FF2B5EF4-FFF2-40B4-BE49-F238E27FC236}">
                <a16:creationId xmlns:a16="http://schemas.microsoft.com/office/drawing/2014/main" id="{DF41D32B-A02C-5FE2-68DD-AB7AC9B3222C}"/>
              </a:ext>
            </a:extLst>
          </p:cNvPr>
          <p:cNvGrpSpPr/>
          <p:nvPr/>
        </p:nvGrpSpPr>
        <p:grpSpPr>
          <a:xfrm>
            <a:off x="365761" y="3249990"/>
            <a:ext cx="2560321" cy="1501475"/>
            <a:chOff x="293912" y="3392197"/>
            <a:chExt cx="2815046" cy="1283733"/>
          </a:xfrm>
        </p:grpSpPr>
        <p:sp>
          <p:nvSpPr>
            <p:cNvPr id="31" name="TextBox 30">
              <a:extLst>
                <a:ext uri="{FF2B5EF4-FFF2-40B4-BE49-F238E27FC236}">
                  <a16:creationId xmlns:a16="http://schemas.microsoft.com/office/drawing/2014/main" id="{BBBB56EC-83D5-78ED-8076-1785143B4EB2}"/>
                </a:ext>
              </a:extLst>
            </p:cNvPr>
            <p:cNvSpPr txBox="1"/>
            <p:nvPr/>
          </p:nvSpPr>
          <p:spPr>
            <a:xfrm>
              <a:off x="293912" y="3675601"/>
              <a:ext cx="2815046" cy="1000329"/>
            </a:xfrm>
            <a:prstGeom prst="rect">
              <a:avLst/>
            </a:prstGeom>
            <a:solidFill>
              <a:srgbClr val="F7F3F1"/>
            </a:solidFill>
            <a:ln>
              <a:solidFill>
                <a:schemeClr val="accent6"/>
              </a:solidFill>
            </a:ln>
          </p:spPr>
          <p:txBody>
            <a:bodyPr wrap="square" rtlCol="0">
              <a:spAutoFit/>
            </a:bodyPr>
            <a:lstStyle/>
            <a:p>
              <a:pPr marL="285750" indent="-285750">
                <a:buClr>
                  <a:srgbClr val="F3CA7F"/>
                </a:buClr>
                <a:buFont typeface="Arial" panose="020B0604020202020204" pitchFamily="34" charset="0"/>
                <a:buChar char="•"/>
              </a:pPr>
              <a:r>
                <a:rPr lang="en-LU" sz="1400" dirty="0"/>
                <a:t>Single machine</a:t>
              </a:r>
            </a:p>
            <a:p>
              <a:pPr marL="285750" indent="-285750">
                <a:buClr>
                  <a:srgbClr val="F3CA7F"/>
                </a:buClr>
                <a:buFont typeface="Arial" panose="020B0604020202020204" pitchFamily="34" charset="0"/>
                <a:buChar char="•"/>
              </a:pPr>
              <a:r>
                <a:rPr lang="en-GB" sz="1400" dirty="0"/>
                <a:t>D</a:t>
              </a:r>
              <a:r>
                <a:rPr lang="en-LU" sz="1400" dirty="0"/>
                <a:t>ata fits in memory</a:t>
              </a:r>
            </a:p>
            <a:p>
              <a:pPr marL="285750" indent="-285750">
                <a:buClr>
                  <a:srgbClr val="F3CA7F"/>
                </a:buClr>
                <a:buFont typeface="Arial" panose="020B0604020202020204" pitchFamily="34" charset="0"/>
                <a:buChar char="•"/>
              </a:pPr>
              <a:r>
                <a:rPr lang="en-GB" sz="1400" dirty="0"/>
                <a:t>P</a:t>
              </a:r>
              <a:r>
                <a:rPr lang="en-LU" sz="1400" dirty="0"/>
                <a:t>erformance is acceptable by default</a:t>
              </a:r>
            </a:p>
          </p:txBody>
        </p:sp>
        <p:sp>
          <p:nvSpPr>
            <p:cNvPr id="32" name="TextBox 31">
              <a:extLst>
                <a:ext uri="{FF2B5EF4-FFF2-40B4-BE49-F238E27FC236}">
                  <a16:creationId xmlns:a16="http://schemas.microsoft.com/office/drawing/2014/main" id="{A386DA98-55BF-B974-83FB-F0CBCAD913A1}"/>
                </a:ext>
              </a:extLst>
            </p:cNvPr>
            <p:cNvSpPr txBox="1"/>
            <p:nvPr/>
          </p:nvSpPr>
          <p:spPr>
            <a:xfrm>
              <a:off x="293913" y="3392197"/>
              <a:ext cx="2815045" cy="289326"/>
            </a:xfrm>
            <a:prstGeom prst="rect">
              <a:avLst/>
            </a:prstGeom>
            <a:solidFill>
              <a:srgbClr val="F3CA7F"/>
            </a:solidFill>
            <a:ln>
              <a:solidFill>
                <a:schemeClr val="accent6"/>
              </a:solidFill>
            </a:ln>
          </p:spPr>
          <p:txBody>
            <a:bodyPr wrap="square" rtlCol="0">
              <a:spAutoFit/>
            </a:bodyPr>
            <a:lstStyle/>
            <a:p>
              <a:r>
                <a:rPr lang="en-LU" sz="1600" dirty="0"/>
                <a:t>TRADITIONAL ANALYTICS</a:t>
              </a:r>
            </a:p>
          </p:txBody>
        </p:sp>
      </p:grpSp>
      <p:grpSp>
        <p:nvGrpSpPr>
          <p:cNvPr id="34" name="Group 33">
            <a:extLst>
              <a:ext uri="{FF2B5EF4-FFF2-40B4-BE49-F238E27FC236}">
                <a16:creationId xmlns:a16="http://schemas.microsoft.com/office/drawing/2014/main" id="{797E0687-F8BD-A46F-BB03-DBDC7683F491}"/>
              </a:ext>
            </a:extLst>
          </p:cNvPr>
          <p:cNvGrpSpPr/>
          <p:nvPr/>
        </p:nvGrpSpPr>
        <p:grpSpPr>
          <a:xfrm>
            <a:off x="3017520" y="3249993"/>
            <a:ext cx="2560321" cy="1501027"/>
            <a:chOff x="293912" y="3392197"/>
            <a:chExt cx="2815046" cy="1283349"/>
          </a:xfrm>
        </p:grpSpPr>
        <p:sp>
          <p:nvSpPr>
            <p:cNvPr id="35" name="TextBox 34">
              <a:extLst>
                <a:ext uri="{FF2B5EF4-FFF2-40B4-BE49-F238E27FC236}">
                  <a16:creationId xmlns:a16="http://schemas.microsoft.com/office/drawing/2014/main" id="{9998176A-7893-DD95-6497-D8962C5AEEB9}"/>
                </a:ext>
              </a:extLst>
            </p:cNvPr>
            <p:cNvSpPr txBox="1"/>
            <p:nvPr/>
          </p:nvSpPr>
          <p:spPr>
            <a:xfrm>
              <a:off x="293912" y="3675602"/>
              <a:ext cx="2815046" cy="999944"/>
            </a:xfrm>
            <a:prstGeom prst="rect">
              <a:avLst/>
            </a:prstGeom>
            <a:solidFill>
              <a:srgbClr val="DAF3F1"/>
            </a:solidFill>
            <a:ln>
              <a:solidFill>
                <a:srgbClr val="0E8078"/>
              </a:solidFill>
            </a:ln>
          </p:spPr>
          <p:txBody>
            <a:bodyPr wrap="square" rtlCol="0">
              <a:spAutoFit/>
            </a:bodyPr>
            <a:lstStyle/>
            <a:p>
              <a:pPr marL="285750" indent="-285750">
                <a:buClr>
                  <a:srgbClr val="0E8078"/>
                </a:buClr>
                <a:buFont typeface="Arial" panose="020B0604020202020204" pitchFamily="34" charset="0"/>
                <a:buChar char="•"/>
              </a:pPr>
              <a:r>
                <a:rPr lang="en-LU" sz="1400" dirty="0"/>
                <a:t>Multi-core / distributed execution</a:t>
              </a:r>
            </a:p>
            <a:p>
              <a:pPr marL="285750" indent="-285750">
                <a:buClr>
                  <a:srgbClr val="0E8078"/>
                </a:buClr>
                <a:buFont typeface="Arial" panose="020B0604020202020204" pitchFamily="34" charset="0"/>
                <a:buChar char="•"/>
              </a:pPr>
              <a:r>
                <a:rPr lang="en-GB" sz="1400" dirty="0"/>
                <a:t>D</a:t>
              </a:r>
              <a:r>
                <a:rPr lang="en-LU" sz="1400" dirty="0"/>
                <a:t>ata may exceed memory</a:t>
              </a:r>
            </a:p>
            <a:p>
              <a:pPr marL="285750" indent="-285750">
                <a:buClr>
                  <a:srgbClr val="0E8078"/>
                </a:buClr>
                <a:buFont typeface="Arial" panose="020B0604020202020204" pitchFamily="34" charset="0"/>
                <a:buChar char="•"/>
              </a:pPr>
              <a:r>
                <a:rPr lang="en-GB" sz="1400" dirty="0"/>
                <a:t>P</a:t>
              </a:r>
              <a:r>
                <a:rPr lang="en-LU" sz="1400" dirty="0"/>
                <a:t>erformance must be engineered</a:t>
              </a:r>
            </a:p>
          </p:txBody>
        </p:sp>
        <p:sp>
          <p:nvSpPr>
            <p:cNvPr id="36" name="TextBox 35">
              <a:extLst>
                <a:ext uri="{FF2B5EF4-FFF2-40B4-BE49-F238E27FC236}">
                  <a16:creationId xmlns:a16="http://schemas.microsoft.com/office/drawing/2014/main" id="{747C26D4-3060-47E3-16D8-A88FDBD9D3ED}"/>
                </a:ext>
              </a:extLst>
            </p:cNvPr>
            <p:cNvSpPr txBox="1"/>
            <p:nvPr/>
          </p:nvSpPr>
          <p:spPr>
            <a:xfrm>
              <a:off x="293913" y="3392197"/>
              <a:ext cx="2815045" cy="289457"/>
            </a:xfrm>
            <a:prstGeom prst="rect">
              <a:avLst/>
            </a:prstGeom>
            <a:solidFill>
              <a:srgbClr val="0E8078"/>
            </a:solidFill>
            <a:ln>
              <a:solidFill>
                <a:srgbClr val="0E8078"/>
              </a:solidFill>
            </a:ln>
          </p:spPr>
          <p:txBody>
            <a:bodyPr wrap="square" rtlCol="0">
              <a:spAutoFit/>
            </a:bodyPr>
            <a:lstStyle/>
            <a:p>
              <a:r>
                <a:rPr lang="en-LU" sz="1600" dirty="0">
                  <a:solidFill>
                    <a:schemeClr val="bg1"/>
                  </a:solidFill>
                </a:rPr>
                <a:t>HPDA</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18011" y="26123"/>
            <a:ext cx="8229600" cy="566928"/>
          </a:xfrm>
          <a:prstGeom prst="rect">
            <a:avLst/>
          </a:prstGeom>
          <a:noFill/>
          <a:ln/>
        </p:spPr>
        <p:txBody>
          <a:bodyPr wrap="square" lIns="0" tIns="0" rIns="0" bIns="0" rtlCol="0" anchor="ctr"/>
          <a:lstStyle/>
          <a:p>
            <a:pPr marL="0" indent="0">
              <a:buNone/>
            </a:pPr>
            <a:r>
              <a:rPr lang="en-US" sz="3000" b="1" dirty="0">
                <a:solidFill>
                  <a:srgbClr val="000000"/>
                </a:solidFill>
              </a:rPr>
              <a:t>The Limits of Traditional Analytics</a:t>
            </a:r>
            <a:endParaRPr lang="en-US" sz="3000" dirty="0">
              <a:solidFill>
                <a:srgbClr val="000000"/>
              </a:solidFill>
            </a:endParaRPr>
          </a:p>
        </p:txBody>
      </p:sp>
      <p:sp>
        <p:nvSpPr>
          <p:cNvPr id="3" name="Text 1"/>
          <p:cNvSpPr/>
          <p:nvPr/>
        </p:nvSpPr>
        <p:spPr>
          <a:xfrm>
            <a:off x="457200" y="574763"/>
            <a:ext cx="8229600" cy="320040"/>
          </a:xfrm>
          <a:prstGeom prst="rect">
            <a:avLst/>
          </a:prstGeom>
          <a:noFill/>
          <a:ln/>
        </p:spPr>
        <p:txBody>
          <a:bodyPr wrap="square" lIns="0" tIns="0" rIns="0" bIns="0" rtlCol="0" anchor="ctr"/>
          <a:lstStyle/>
          <a:p>
            <a:pPr marL="0" indent="0">
              <a:buNone/>
            </a:pPr>
            <a:r>
              <a:rPr lang="en-US" sz="1400" dirty="0">
                <a:solidFill>
                  <a:srgbClr val="2F7F7A"/>
                </a:solidFill>
              </a:rPr>
              <a:t>Scale and complexity as system constraints</a:t>
            </a:r>
          </a:p>
        </p:txBody>
      </p:sp>
      <p:sp>
        <p:nvSpPr>
          <p:cNvPr id="6" name="Text 4"/>
          <p:cNvSpPr/>
          <p:nvPr/>
        </p:nvSpPr>
        <p:spPr>
          <a:xfrm>
            <a:off x="329185" y="1105114"/>
            <a:ext cx="2606040" cy="502920"/>
          </a:xfrm>
          <a:prstGeom prst="rect">
            <a:avLst/>
          </a:prstGeom>
          <a:noFill/>
          <a:ln/>
        </p:spPr>
        <p:txBody>
          <a:bodyPr wrap="square" lIns="0" tIns="0" rIns="0" bIns="0" rtlCol="0" anchor="ctr"/>
          <a:lstStyle/>
          <a:p>
            <a:pPr marL="0" indent="0">
              <a:buNone/>
            </a:pPr>
            <a:r>
              <a:rPr lang="en-US" sz="1600" b="1" dirty="0">
                <a:solidFill>
                  <a:srgbClr val="2F7F7A"/>
                </a:solidFill>
              </a:rPr>
              <a:t> Volume (memory constraint)</a:t>
            </a:r>
            <a:endParaRPr lang="en-US" sz="1600" dirty="0">
              <a:solidFill>
                <a:srgbClr val="2F7F7A"/>
              </a:solidFill>
            </a:endParaRPr>
          </a:p>
        </p:txBody>
      </p:sp>
      <p:sp>
        <p:nvSpPr>
          <p:cNvPr id="7" name="Text 5"/>
          <p:cNvSpPr/>
          <p:nvPr/>
        </p:nvSpPr>
        <p:spPr>
          <a:xfrm>
            <a:off x="379475" y="1631871"/>
            <a:ext cx="2354580" cy="365760"/>
          </a:xfrm>
          <a:prstGeom prst="rect">
            <a:avLst/>
          </a:prstGeom>
          <a:noFill/>
          <a:ln/>
        </p:spPr>
        <p:txBody>
          <a:bodyPr wrap="square" lIns="0" tIns="0" rIns="0" bIns="0" rtlCol="0" anchor="ctr"/>
          <a:lstStyle/>
          <a:p>
            <a:pPr marL="0" indent="0">
              <a:lnSpc>
                <a:spcPct val="120000"/>
              </a:lnSpc>
              <a:buNone/>
            </a:pPr>
            <a:r>
              <a:rPr lang="en-US" sz="1400" b="1" dirty="0">
                <a:solidFill>
                  <a:srgbClr val="2F7F7A"/>
                </a:solidFill>
              </a:rPr>
              <a:t>More data than RAM can hold</a:t>
            </a:r>
            <a:endParaRPr lang="en-US" sz="1400" dirty="0">
              <a:solidFill>
                <a:srgbClr val="2F7F7A"/>
              </a:solidFill>
            </a:endParaRPr>
          </a:p>
        </p:txBody>
      </p:sp>
      <p:sp>
        <p:nvSpPr>
          <p:cNvPr id="9" name="Text 7"/>
          <p:cNvSpPr/>
          <p:nvPr/>
        </p:nvSpPr>
        <p:spPr>
          <a:xfrm>
            <a:off x="379475" y="2343476"/>
            <a:ext cx="2423160" cy="292608"/>
          </a:xfrm>
          <a:prstGeom prst="rect">
            <a:avLst/>
          </a:prstGeom>
          <a:noFill/>
          <a:ln/>
        </p:spPr>
        <p:txBody>
          <a:bodyPr wrap="square" lIns="0" tIns="0" rIns="0" bIns="0" rtlCol="0" anchor="ctr"/>
          <a:lstStyle/>
          <a:p>
            <a:pPr marL="0" indent="0">
              <a:buNone/>
            </a:pPr>
            <a:r>
              <a:rPr lang="en-US" sz="1400" dirty="0">
                <a:solidFill>
                  <a:schemeClr val="bg2">
                    <a:lumMod val="25000"/>
                  </a:schemeClr>
                </a:solidFill>
              </a:rPr>
              <a:t>→ A single day of trading: ~4 TB</a:t>
            </a:r>
          </a:p>
        </p:txBody>
      </p:sp>
      <p:sp>
        <p:nvSpPr>
          <p:cNvPr id="15" name="Text 13"/>
          <p:cNvSpPr/>
          <p:nvPr/>
        </p:nvSpPr>
        <p:spPr>
          <a:xfrm>
            <a:off x="457200" y="3155988"/>
            <a:ext cx="2377440" cy="228600"/>
          </a:xfrm>
          <a:prstGeom prst="rect">
            <a:avLst/>
          </a:prstGeom>
          <a:noFill/>
          <a:ln/>
        </p:spPr>
        <p:txBody>
          <a:bodyPr wrap="square" lIns="0" tIns="0" rIns="0" bIns="0" rtlCol="0" anchor="ctr"/>
          <a:lstStyle/>
          <a:p>
            <a:pPr marL="0" indent="0">
              <a:buNone/>
            </a:pPr>
            <a:r>
              <a:rPr lang="en-US" b="1" dirty="0">
                <a:solidFill>
                  <a:srgbClr val="0D9488"/>
                </a:solidFill>
              </a:rPr>
              <a:t>Impact:</a:t>
            </a:r>
            <a:endParaRPr lang="en-US" dirty="0"/>
          </a:p>
        </p:txBody>
      </p:sp>
      <p:sp>
        <p:nvSpPr>
          <p:cNvPr id="16" name="Text 14"/>
          <p:cNvSpPr/>
          <p:nvPr/>
        </p:nvSpPr>
        <p:spPr>
          <a:xfrm>
            <a:off x="598930" y="3391267"/>
            <a:ext cx="1984249" cy="941506"/>
          </a:xfrm>
          <a:prstGeom prst="rect">
            <a:avLst/>
          </a:prstGeom>
          <a:noFill/>
          <a:ln/>
        </p:spPr>
        <p:txBody>
          <a:bodyPr wrap="square" lIns="0" tIns="0" rIns="0" bIns="0" rtlCol="0" anchor="ctr"/>
          <a:lstStyle/>
          <a:p>
            <a:pPr marL="0" indent="0">
              <a:lnSpc>
                <a:spcPct val="135000"/>
              </a:lnSpc>
              <a:buNone/>
            </a:pPr>
            <a:r>
              <a:rPr lang="en-US" sz="1600" b="1" dirty="0">
                <a:solidFill>
                  <a:schemeClr val="tx1">
                    <a:lumMod val="65000"/>
                    <a:lumOff val="35000"/>
                  </a:schemeClr>
                </a:solidFill>
              </a:rPr>
              <a:t>Cannot fit in memory </a:t>
            </a:r>
            <a:r>
              <a:rPr lang="en-US" sz="1600" b="1" dirty="0">
                <a:solidFill>
                  <a:schemeClr val="tx1">
                    <a:lumMod val="65000"/>
                    <a:lumOff val="35000"/>
                  </a:schemeClr>
                </a:solidFill>
                <a:sym typeface="Wingdings" pitchFamily="2" charset="2"/>
              </a:rPr>
              <a:t> failure or swapping</a:t>
            </a:r>
            <a:endParaRPr lang="en-US" sz="1600" b="1" dirty="0">
              <a:solidFill>
                <a:schemeClr val="tx1">
                  <a:lumMod val="65000"/>
                  <a:lumOff val="35000"/>
                </a:schemeClr>
              </a:solidFill>
            </a:endParaRPr>
          </a:p>
        </p:txBody>
      </p:sp>
      <p:sp>
        <p:nvSpPr>
          <p:cNvPr id="19" name="Text 17"/>
          <p:cNvSpPr/>
          <p:nvPr/>
        </p:nvSpPr>
        <p:spPr>
          <a:xfrm>
            <a:off x="3278123" y="1104513"/>
            <a:ext cx="2606040" cy="502920"/>
          </a:xfrm>
          <a:prstGeom prst="rect">
            <a:avLst/>
          </a:prstGeom>
          <a:noFill/>
          <a:ln/>
        </p:spPr>
        <p:txBody>
          <a:bodyPr wrap="square" lIns="0" tIns="0" rIns="0" bIns="0" rtlCol="0" anchor="ctr"/>
          <a:lstStyle/>
          <a:p>
            <a:pPr marL="0" indent="0">
              <a:buNone/>
            </a:pPr>
            <a:r>
              <a:rPr lang="en-US" sz="1600" b="1" dirty="0">
                <a:solidFill>
                  <a:srgbClr val="D88A2B"/>
                </a:solidFill>
              </a:rPr>
              <a:t>Velocity (latency pressure)</a:t>
            </a:r>
            <a:endParaRPr lang="en-US" sz="1600" dirty="0">
              <a:solidFill>
                <a:srgbClr val="D88A2B"/>
              </a:solidFill>
            </a:endParaRPr>
          </a:p>
        </p:txBody>
      </p:sp>
      <p:sp>
        <p:nvSpPr>
          <p:cNvPr id="20" name="Text 18"/>
          <p:cNvSpPr/>
          <p:nvPr/>
        </p:nvSpPr>
        <p:spPr>
          <a:xfrm>
            <a:off x="3264407" y="1766100"/>
            <a:ext cx="2606040" cy="365760"/>
          </a:xfrm>
          <a:prstGeom prst="rect">
            <a:avLst/>
          </a:prstGeom>
          <a:noFill/>
          <a:ln/>
        </p:spPr>
        <p:txBody>
          <a:bodyPr wrap="square" lIns="0" tIns="0" rIns="0" bIns="0" rtlCol="0" anchor="ctr"/>
          <a:lstStyle/>
          <a:p>
            <a:pPr marL="0" indent="0">
              <a:lnSpc>
                <a:spcPct val="120000"/>
              </a:lnSpc>
              <a:buNone/>
            </a:pPr>
            <a:r>
              <a:rPr lang="en-US" sz="1400" b="1" dirty="0">
                <a:solidFill>
                  <a:srgbClr val="D88A2B"/>
                </a:solidFill>
              </a:rPr>
              <a:t>Data arriving faster than you can process</a:t>
            </a:r>
            <a:endParaRPr lang="en-US" sz="1400" dirty="0">
              <a:solidFill>
                <a:srgbClr val="D88A2B"/>
              </a:solidFill>
            </a:endParaRPr>
          </a:p>
        </p:txBody>
      </p:sp>
      <p:sp>
        <p:nvSpPr>
          <p:cNvPr id="22" name="Text 20"/>
          <p:cNvSpPr/>
          <p:nvPr/>
        </p:nvSpPr>
        <p:spPr>
          <a:xfrm>
            <a:off x="3328415" y="2345435"/>
            <a:ext cx="2423160" cy="292608"/>
          </a:xfrm>
          <a:prstGeom prst="rect">
            <a:avLst/>
          </a:prstGeom>
          <a:noFill/>
          <a:ln/>
        </p:spPr>
        <p:txBody>
          <a:bodyPr wrap="square" lIns="0" tIns="0" rIns="0" bIns="0" rtlCol="0" anchor="ctr"/>
          <a:lstStyle/>
          <a:p>
            <a:pPr marL="0" indent="0">
              <a:buNone/>
            </a:pPr>
            <a:r>
              <a:rPr lang="en-US" sz="1400" dirty="0">
                <a:solidFill>
                  <a:srgbClr val="3F3A2A"/>
                </a:solidFill>
              </a:rPr>
              <a:t>→ Fraud decision: &lt;300 ms</a:t>
            </a:r>
          </a:p>
        </p:txBody>
      </p:sp>
      <p:sp>
        <p:nvSpPr>
          <p:cNvPr id="28" name="Text 26"/>
          <p:cNvSpPr/>
          <p:nvPr/>
        </p:nvSpPr>
        <p:spPr>
          <a:xfrm>
            <a:off x="3271265" y="3155988"/>
            <a:ext cx="2377440" cy="228600"/>
          </a:xfrm>
          <a:prstGeom prst="rect">
            <a:avLst/>
          </a:prstGeom>
          <a:noFill/>
          <a:ln/>
        </p:spPr>
        <p:txBody>
          <a:bodyPr wrap="square" lIns="0" tIns="0" rIns="0" bIns="0" rtlCol="0" anchor="ctr"/>
          <a:lstStyle/>
          <a:p>
            <a:pPr marL="0" indent="0">
              <a:buNone/>
            </a:pPr>
            <a:r>
              <a:rPr lang="en-US" b="1" dirty="0">
                <a:solidFill>
                  <a:srgbClr val="F59E0B"/>
                </a:solidFill>
              </a:rPr>
              <a:t>Impact:</a:t>
            </a:r>
            <a:endParaRPr lang="en-US" dirty="0"/>
          </a:p>
        </p:txBody>
      </p:sp>
      <p:sp>
        <p:nvSpPr>
          <p:cNvPr id="29" name="Text 27"/>
          <p:cNvSpPr/>
          <p:nvPr/>
        </p:nvSpPr>
        <p:spPr>
          <a:xfrm>
            <a:off x="3401567" y="3345919"/>
            <a:ext cx="2377440" cy="1024128"/>
          </a:xfrm>
          <a:prstGeom prst="rect">
            <a:avLst/>
          </a:prstGeom>
          <a:noFill/>
          <a:ln/>
        </p:spPr>
        <p:txBody>
          <a:bodyPr wrap="square" lIns="0" tIns="0" rIns="0" bIns="0" rtlCol="0" anchor="ctr"/>
          <a:lstStyle/>
          <a:p>
            <a:pPr marL="0" indent="0">
              <a:lnSpc>
                <a:spcPct val="135000"/>
              </a:lnSpc>
              <a:buNone/>
            </a:pPr>
            <a:r>
              <a:rPr lang="en-US" sz="1600" b="1" dirty="0">
                <a:solidFill>
                  <a:schemeClr val="tx1">
                    <a:lumMod val="65000"/>
                    <a:lumOff val="35000"/>
                  </a:schemeClr>
                </a:solidFill>
              </a:rPr>
              <a:t>Batch processing becomes too slow.</a:t>
            </a:r>
          </a:p>
        </p:txBody>
      </p:sp>
      <p:sp>
        <p:nvSpPr>
          <p:cNvPr id="32" name="Text 30"/>
          <p:cNvSpPr/>
          <p:nvPr/>
        </p:nvSpPr>
        <p:spPr>
          <a:xfrm>
            <a:off x="6224451" y="1102632"/>
            <a:ext cx="2606040" cy="502920"/>
          </a:xfrm>
          <a:prstGeom prst="rect">
            <a:avLst/>
          </a:prstGeom>
          <a:noFill/>
          <a:ln/>
        </p:spPr>
        <p:txBody>
          <a:bodyPr wrap="square" lIns="0" tIns="0" rIns="0" bIns="0" rtlCol="0" anchor="ctr"/>
          <a:lstStyle/>
          <a:p>
            <a:pPr marL="0" indent="0">
              <a:buNone/>
            </a:pPr>
            <a:r>
              <a:rPr lang="en-US" sz="1600" b="1" dirty="0">
                <a:solidFill>
                  <a:srgbClr val="2E2B4A"/>
                </a:solidFill>
              </a:rPr>
              <a:t>Variety (data complexity)</a:t>
            </a:r>
            <a:endParaRPr lang="en-US" sz="1600" dirty="0">
              <a:solidFill>
                <a:srgbClr val="2E2B4A"/>
              </a:solidFill>
            </a:endParaRPr>
          </a:p>
        </p:txBody>
      </p:sp>
      <p:sp>
        <p:nvSpPr>
          <p:cNvPr id="33" name="Text 31"/>
          <p:cNvSpPr/>
          <p:nvPr/>
        </p:nvSpPr>
        <p:spPr>
          <a:xfrm>
            <a:off x="6206162" y="1646622"/>
            <a:ext cx="2606040" cy="365760"/>
          </a:xfrm>
          <a:prstGeom prst="rect">
            <a:avLst/>
          </a:prstGeom>
          <a:noFill/>
          <a:ln/>
        </p:spPr>
        <p:txBody>
          <a:bodyPr wrap="square" lIns="0" tIns="0" rIns="0" bIns="0" rtlCol="0" anchor="ctr"/>
          <a:lstStyle/>
          <a:p>
            <a:pPr marL="0" indent="0">
              <a:lnSpc>
                <a:spcPct val="120000"/>
              </a:lnSpc>
              <a:buNone/>
            </a:pPr>
            <a:r>
              <a:rPr lang="en-US" sz="1400" b="1" dirty="0">
                <a:solidFill>
                  <a:srgbClr val="2E2B4A"/>
                </a:solidFill>
              </a:rPr>
              <a:t>Data in multiple formats</a:t>
            </a:r>
            <a:endParaRPr lang="en-US" sz="1400" dirty="0">
              <a:solidFill>
                <a:srgbClr val="2E2B4A"/>
              </a:solidFill>
            </a:endParaRPr>
          </a:p>
        </p:txBody>
      </p:sp>
      <p:sp>
        <p:nvSpPr>
          <p:cNvPr id="35" name="Text 33"/>
          <p:cNvSpPr/>
          <p:nvPr/>
        </p:nvSpPr>
        <p:spPr>
          <a:xfrm>
            <a:off x="6224451" y="2343476"/>
            <a:ext cx="2423160" cy="292608"/>
          </a:xfrm>
          <a:prstGeom prst="rect">
            <a:avLst/>
          </a:prstGeom>
          <a:noFill/>
          <a:ln/>
        </p:spPr>
        <p:txBody>
          <a:bodyPr wrap="square" lIns="0" tIns="0" rIns="0" bIns="0" rtlCol="0" anchor="ctr"/>
          <a:lstStyle/>
          <a:p>
            <a:pPr marL="0" indent="0">
              <a:buNone/>
            </a:pPr>
            <a:r>
              <a:rPr lang="en-US" sz="1400" dirty="0">
                <a:solidFill>
                  <a:srgbClr val="3F3A2A"/>
                </a:solidFill>
              </a:rPr>
              <a:t>→ Tables + JSON + logs</a:t>
            </a:r>
          </a:p>
        </p:txBody>
      </p:sp>
      <p:sp>
        <p:nvSpPr>
          <p:cNvPr id="41" name="Text 39"/>
          <p:cNvSpPr/>
          <p:nvPr/>
        </p:nvSpPr>
        <p:spPr>
          <a:xfrm>
            <a:off x="6185915" y="3152063"/>
            <a:ext cx="2377440" cy="228600"/>
          </a:xfrm>
          <a:prstGeom prst="rect">
            <a:avLst/>
          </a:prstGeom>
          <a:noFill/>
          <a:ln/>
        </p:spPr>
        <p:txBody>
          <a:bodyPr wrap="square" lIns="0" tIns="0" rIns="0" bIns="0" rtlCol="0" anchor="ctr"/>
          <a:lstStyle/>
          <a:p>
            <a:pPr marL="0" indent="0">
              <a:buNone/>
            </a:pPr>
            <a:r>
              <a:rPr lang="en-US" b="1" dirty="0">
                <a:solidFill>
                  <a:srgbClr val="2E2B4A"/>
                </a:solidFill>
              </a:rPr>
              <a:t>Impact:</a:t>
            </a:r>
            <a:endParaRPr lang="en-US" dirty="0">
              <a:solidFill>
                <a:srgbClr val="2E2B4A"/>
              </a:solidFill>
            </a:endParaRPr>
          </a:p>
        </p:txBody>
      </p:sp>
      <p:sp>
        <p:nvSpPr>
          <p:cNvPr id="42" name="Text 40"/>
          <p:cNvSpPr/>
          <p:nvPr/>
        </p:nvSpPr>
        <p:spPr>
          <a:xfrm>
            <a:off x="6244697" y="3345919"/>
            <a:ext cx="2567506" cy="1024128"/>
          </a:xfrm>
          <a:prstGeom prst="rect">
            <a:avLst/>
          </a:prstGeom>
          <a:noFill/>
          <a:ln/>
        </p:spPr>
        <p:txBody>
          <a:bodyPr wrap="square" lIns="0" tIns="0" rIns="0" bIns="0" rtlCol="0" anchor="ctr"/>
          <a:lstStyle/>
          <a:p>
            <a:pPr marL="0" indent="0">
              <a:lnSpc>
                <a:spcPct val="135000"/>
              </a:lnSpc>
              <a:buNone/>
            </a:pPr>
            <a:r>
              <a:rPr lang="en-US" sz="1600" b="1" dirty="0">
                <a:solidFill>
                  <a:schemeClr val="tx1">
                    <a:lumMod val="65000"/>
                    <a:lumOff val="35000"/>
                  </a:schemeClr>
                </a:solidFill>
              </a:rPr>
              <a:t>Requires transformation before analysis</a:t>
            </a:r>
          </a:p>
        </p:txBody>
      </p:sp>
      <p:sp>
        <p:nvSpPr>
          <p:cNvPr id="44" name="Text 42"/>
          <p:cNvSpPr/>
          <p:nvPr/>
        </p:nvSpPr>
        <p:spPr>
          <a:xfrm>
            <a:off x="1247175" y="4728008"/>
            <a:ext cx="6741087" cy="358083"/>
          </a:xfrm>
          <a:prstGeom prst="rect">
            <a:avLst/>
          </a:prstGeom>
          <a:noFill/>
          <a:ln/>
        </p:spPr>
        <p:txBody>
          <a:bodyPr wrap="square" lIns="0" tIns="0" rIns="0" bIns="0" rtlCol="0" anchor="ctr"/>
          <a:lstStyle/>
          <a:p>
            <a:pPr marL="0" indent="0">
              <a:buNone/>
            </a:pPr>
            <a:r>
              <a:rPr lang="en-US" sz="1400" b="1" dirty="0">
                <a:solidFill>
                  <a:srgbClr val="2E8B78"/>
                </a:solidFill>
              </a:rPr>
              <a:t>HPDA addresses all three through parallelism, columnar storage, and optimized execution.</a:t>
            </a:r>
            <a:endParaRPr lang="en-US" sz="1400" dirty="0">
              <a:solidFill>
                <a:srgbClr val="2E8B78"/>
              </a:solidFill>
            </a:endParaRPr>
          </a:p>
        </p:txBody>
      </p:sp>
      <p:sp>
        <p:nvSpPr>
          <p:cNvPr id="46" name="Rectangle 45">
            <a:extLst>
              <a:ext uri="{FF2B5EF4-FFF2-40B4-BE49-F238E27FC236}">
                <a16:creationId xmlns:a16="http://schemas.microsoft.com/office/drawing/2014/main" id="{01B41EFE-A726-E536-80D8-04D614A2077A}"/>
              </a:ext>
            </a:extLst>
          </p:cNvPr>
          <p:cNvSpPr/>
          <p:nvPr/>
        </p:nvSpPr>
        <p:spPr>
          <a:xfrm>
            <a:off x="223047" y="1102632"/>
            <a:ext cx="2714461" cy="3466105"/>
          </a:xfrm>
          <a:prstGeom prst="rect">
            <a:avLst/>
          </a:prstGeom>
          <a:noFill/>
          <a:ln>
            <a:solidFill>
              <a:srgbClr val="2F7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U"/>
          </a:p>
        </p:txBody>
      </p:sp>
      <p:sp>
        <p:nvSpPr>
          <p:cNvPr id="47" name="Rectangle 46">
            <a:extLst>
              <a:ext uri="{FF2B5EF4-FFF2-40B4-BE49-F238E27FC236}">
                <a16:creationId xmlns:a16="http://schemas.microsoft.com/office/drawing/2014/main" id="{6A05A57C-AA94-96DD-DAA7-0611EC5F2EF7}"/>
              </a:ext>
            </a:extLst>
          </p:cNvPr>
          <p:cNvSpPr/>
          <p:nvPr/>
        </p:nvSpPr>
        <p:spPr>
          <a:xfrm>
            <a:off x="3064546" y="1102632"/>
            <a:ext cx="2714461" cy="3466105"/>
          </a:xfrm>
          <a:prstGeom prst="rect">
            <a:avLst/>
          </a:prstGeom>
          <a:noFill/>
          <a:ln>
            <a:solidFill>
              <a:srgbClr val="D88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U"/>
          </a:p>
        </p:txBody>
      </p:sp>
      <p:sp>
        <p:nvSpPr>
          <p:cNvPr id="48" name="Rectangle 47">
            <a:extLst>
              <a:ext uri="{FF2B5EF4-FFF2-40B4-BE49-F238E27FC236}">
                <a16:creationId xmlns:a16="http://schemas.microsoft.com/office/drawing/2014/main" id="{632F9DCD-3144-5F62-32D6-C318B232859B}"/>
              </a:ext>
            </a:extLst>
          </p:cNvPr>
          <p:cNvSpPr/>
          <p:nvPr/>
        </p:nvSpPr>
        <p:spPr>
          <a:xfrm>
            <a:off x="5972339" y="1102631"/>
            <a:ext cx="2714461" cy="3466105"/>
          </a:xfrm>
          <a:prstGeom prst="rect">
            <a:avLst/>
          </a:prstGeom>
          <a:noFill/>
          <a:ln>
            <a:solidFill>
              <a:srgbClr val="2E2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L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3200" b="1" dirty="0">
                <a:solidFill>
                  <a:srgbClr val="000000"/>
                </a:solidFill>
              </a:rPr>
              <a:t>Why Scale Became a Real Constraint?</a:t>
            </a:r>
            <a:endParaRPr lang="en-US" sz="3200" dirty="0">
              <a:solidFill>
                <a:srgbClr val="000000"/>
              </a:solidFill>
            </a:endParaRPr>
          </a:p>
        </p:txBody>
      </p:sp>
      <p:sp>
        <p:nvSpPr>
          <p:cNvPr id="3" name="Text 1"/>
          <p:cNvSpPr/>
          <p:nvPr/>
        </p:nvSpPr>
        <p:spPr>
          <a:xfrm>
            <a:off x="457200" y="804672"/>
            <a:ext cx="8229600" cy="320040"/>
          </a:xfrm>
          <a:prstGeom prst="rect">
            <a:avLst/>
          </a:prstGeom>
          <a:noFill/>
          <a:ln/>
        </p:spPr>
        <p:txBody>
          <a:bodyPr wrap="square" lIns="0" tIns="0" rIns="0" bIns="0" rtlCol="0" anchor="ctr"/>
          <a:lstStyle/>
          <a:p>
            <a:pPr marL="0" indent="0">
              <a:buNone/>
            </a:pPr>
            <a:r>
              <a:rPr lang="en-US" sz="1600" dirty="0">
                <a:solidFill>
                  <a:srgbClr val="2F7F7A"/>
                </a:solidFill>
              </a:rPr>
              <a:t>Data scale and complexity are unavoidable</a:t>
            </a:r>
          </a:p>
        </p:txBody>
      </p:sp>
      <p:sp>
        <p:nvSpPr>
          <p:cNvPr id="4" name="Shape 2"/>
          <p:cNvSpPr/>
          <p:nvPr/>
        </p:nvSpPr>
        <p:spPr>
          <a:xfrm>
            <a:off x="365760" y="1417320"/>
            <a:ext cx="4160520" cy="1508760"/>
          </a:xfrm>
          <a:prstGeom prst="rect">
            <a:avLst/>
          </a:prstGeom>
          <a:noFill/>
          <a:ln w="6350">
            <a:solidFill>
              <a:srgbClr val="0D9488"/>
            </a:solidFill>
            <a:prstDash val="solid"/>
          </a:ln>
        </p:spPr>
        <p:txBody>
          <a:bodyPr/>
          <a:lstStyle/>
          <a:p>
            <a:endParaRPr lang="en-LU"/>
          </a:p>
        </p:txBody>
      </p:sp>
      <p:sp>
        <p:nvSpPr>
          <p:cNvPr id="5" name="Text 3"/>
          <p:cNvSpPr/>
          <p:nvPr/>
        </p:nvSpPr>
        <p:spPr>
          <a:xfrm>
            <a:off x="530352" y="1545336"/>
            <a:ext cx="3840480" cy="320040"/>
          </a:xfrm>
          <a:prstGeom prst="rect">
            <a:avLst/>
          </a:prstGeom>
          <a:noFill/>
          <a:ln/>
        </p:spPr>
        <p:txBody>
          <a:bodyPr wrap="square" lIns="0" tIns="0" rIns="0" bIns="0" rtlCol="0" anchor="ctr"/>
          <a:lstStyle/>
          <a:p>
            <a:pPr marL="0" indent="0">
              <a:buNone/>
            </a:pPr>
            <a:r>
              <a:rPr lang="en-US" sz="2000" b="1" dirty="0">
                <a:solidFill>
                  <a:srgbClr val="0D9488"/>
                </a:solidFill>
              </a:rPr>
              <a:t>IoT &amp; connected devices</a:t>
            </a:r>
            <a:endParaRPr lang="en-US" sz="2000" dirty="0"/>
          </a:p>
        </p:txBody>
      </p:sp>
      <p:sp>
        <p:nvSpPr>
          <p:cNvPr id="6" name="Text 4"/>
          <p:cNvSpPr/>
          <p:nvPr/>
        </p:nvSpPr>
        <p:spPr>
          <a:xfrm>
            <a:off x="530352" y="1856232"/>
            <a:ext cx="3840480" cy="914400"/>
          </a:xfrm>
          <a:prstGeom prst="rect">
            <a:avLst/>
          </a:prstGeom>
          <a:noFill/>
          <a:ln/>
        </p:spPr>
        <p:txBody>
          <a:bodyPr wrap="square" lIns="0" tIns="0" rIns="0" bIns="0" rtlCol="0" anchor="ctr"/>
          <a:lstStyle/>
          <a:p>
            <a:pPr marL="0" indent="0">
              <a:lnSpc>
                <a:spcPct val="135000"/>
              </a:lnSpc>
              <a:buNone/>
            </a:pPr>
            <a:r>
              <a:rPr lang="en-US" dirty="0">
                <a:solidFill>
                  <a:schemeClr val="tx1">
                    <a:lumMod val="75000"/>
                    <a:lumOff val="25000"/>
                  </a:schemeClr>
                </a:solidFill>
              </a:rPr>
              <a:t>Continuous, high-frequency data streams</a:t>
            </a:r>
          </a:p>
          <a:p>
            <a:pPr marL="0" indent="0">
              <a:lnSpc>
                <a:spcPct val="135000"/>
              </a:lnSpc>
              <a:buNone/>
            </a:pPr>
            <a:r>
              <a:rPr lang="en-US" sz="1600" dirty="0">
                <a:solidFill>
                  <a:schemeClr val="tx1">
                    <a:lumMod val="75000"/>
                    <a:lumOff val="25000"/>
                  </a:schemeClr>
                </a:solidFill>
                <a:sym typeface="Wingdings" pitchFamily="2" charset="2"/>
              </a:rPr>
              <a:t> Billions of events per hour</a:t>
            </a:r>
            <a:endParaRPr lang="en-US" sz="1600" dirty="0">
              <a:solidFill>
                <a:schemeClr val="tx1">
                  <a:lumMod val="75000"/>
                  <a:lumOff val="25000"/>
                </a:schemeClr>
              </a:solidFill>
            </a:endParaRPr>
          </a:p>
        </p:txBody>
      </p:sp>
      <p:sp>
        <p:nvSpPr>
          <p:cNvPr id="7" name="Shape 5"/>
          <p:cNvSpPr/>
          <p:nvPr/>
        </p:nvSpPr>
        <p:spPr>
          <a:xfrm>
            <a:off x="4800600" y="1417320"/>
            <a:ext cx="4160520" cy="1508760"/>
          </a:xfrm>
          <a:prstGeom prst="rect">
            <a:avLst/>
          </a:prstGeom>
          <a:noFill/>
          <a:ln w="6350">
            <a:solidFill>
              <a:srgbClr val="0D9488"/>
            </a:solidFill>
            <a:prstDash val="solid"/>
          </a:ln>
        </p:spPr>
        <p:txBody>
          <a:bodyPr/>
          <a:lstStyle/>
          <a:p>
            <a:endParaRPr lang="en-LU"/>
          </a:p>
        </p:txBody>
      </p:sp>
      <p:sp>
        <p:nvSpPr>
          <p:cNvPr id="8" name="Text 6"/>
          <p:cNvSpPr/>
          <p:nvPr/>
        </p:nvSpPr>
        <p:spPr>
          <a:xfrm>
            <a:off x="4965192" y="1545336"/>
            <a:ext cx="3840480" cy="320040"/>
          </a:xfrm>
          <a:prstGeom prst="rect">
            <a:avLst/>
          </a:prstGeom>
          <a:noFill/>
          <a:ln/>
        </p:spPr>
        <p:txBody>
          <a:bodyPr wrap="square" lIns="0" tIns="0" rIns="0" bIns="0" rtlCol="0" anchor="ctr"/>
          <a:lstStyle/>
          <a:p>
            <a:pPr marL="0" indent="0">
              <a:buNone/>
            </a:pPr>
            <a:r>
              <a:rPr lang="en-US" sz="2000" b="1" dirty="0">
                <a:solidFill>
                  <a:srgbClr val="0D9488"/>
                </a:solidFill>
              </a:rPr>
              <a:t>Customer behavior data</a:t>
            </a:r>
            <a:endParaRPr lang="en-US" sz="2000" dirty="0"/>
          </a:p>
        </p:txBody>
      </p:sp>
      <p:sp>
        <p:nvSpPr>
          <p:cNvPr id="9" name="Text 7"/>
          <p:cNvSpPr/>
          <p:nvPr/>
        </p:nvSpPr>
        <p:spPr>
          <a:xfrm>
            <a:off x="4965192" y="1856232"/>
            <a:ext cx="3840480" cy="914400"/>
          </a:xfrm>
          <a:prstGeom prst="rect">
            <a:avLst/>
          </a:prstGeom>
          <a:noFill/>
          <a:ln/>
        </p:spPr>
        <p:txBody>
          <a:bodyPr wrap="square" lIns="0" tIns="0" rIns="0" bIns="0" rtlCol="0" anchor="ctr"/>
          <a:lstStyle/>
          <a:p>
            <a:pPr marL="0" indent="0">
              <a:lnSpc>
                <a:spcPct val="135000"/>
              </a:lnSpc>
              <a:buNone/>
            </a:pPr>
            <a:r>
              <a:rPr lang="en-US" dirty="0">
                <a:solidFill>
                  <a:schemeClr val="tx1">
                    <a:lumMod val="75000"/>
                    <a:lumOff val="25000"/>
                  </a:schemeClr>
                </a:solidFill>
              </a:rPr>
              <a:t>Every interaction generates data at scale</a:t>
            </a:r>
          </a:p>
          <a:p>
            <a:pPr marL="0" indent="0">
              <a:lnSpc>
                <a:spcPct val="135000"/>
              </a:lnSpc>
              <a:buNone/>
            </a:pPr>
            <a:r>
              <a:rPr lang="en-US" sz="1600" dirty="0">
                <a:solidFill>
                  <a:schemeClr val="tx1">
                    <a:lumMod val="75000"/>
                    <a:lumOff val="25000"/>
                  </a:schemeClr>
                </a:solidFill>
                <a:sym typeface="Wingdings" pitchFamily="2" charset="2"/>
              </a:rPr>
              <a:t> Terabytes per day</a:t>
            </a:r>
            <a:endParaRPr lang="en-US" sz="1600" dirty="0">
              <a:solidFill>
                <a:schemeClr val="tx1">
                  <a:lumMod val="75000"/>
                  <a:lumOff val="25000"/>
                </a:schemeClr>
              </a:solidFill>
            </a:endParaRPr>
          </a:p>
        </p:txBody>
      </p:sp>
      <p:sp>
        <p:nvSpPr>
          <p:cNvPr id="10" name="Shape 8"/>
          <p:cNvSpPr/>
          <p:nvPr/>
        </p:nvSpPr>
        <p:spPr>
          <a:xfrm>
            <a:off x="365760" y="3108960"/>
            <a:ext cx="4160520" cy="1508760"/>
          </a:xfrm>
          <a:prstGeom prst="rect">
            <a:avLst/>
          </a:prstGeom>
          <a:noFill/>
          <a:ln w="6350">
            <a:solidFill>
              <a:srgbClr val="0D9488"/>
            </a:solidFill>
            <a:prstDash val="solid"/>
          </a:ln>
        </p:spPr>
        <p:txBody>
          <a:bodyPr/>
          <a:lstStyle/>
          <a:p>
            <a:endParaRPr lang="en-LU"/>
          </a:p>
        </p:txBody>
      </p:sp>
      <p:sp>
        <p:nvSpPr>
          <p:cNvPr id="11" name="Text 9"/>
          <p:cNvSpPr/>
          <p:nvPr/>
        </p:nvSpPr>
        <p:spPr>
          <a:xfrm>
            <a:off x="530352" y="3236976"/>
            <a:ext cx="3840480" cy="320040"/>
          </a:xfrm>
          <a:prstGeom prst="rect">
            <a:avLst/>
          </a:prstGeom>
          <a:noFill/>
          <a:ln/>
        </p:spPr>
        <p:txBody>
          <a:bodyPr wrap="square" lIns="0" tIns="0" rIns="0" bIns="0" rtlCol="0" anchor="ctr"/>
          <a:lstStyle/>
          <a:p>
            <a:pPr marL="0" indent="0">
              <a:buNone/>
            </a:pPr>
            <a:r>
              <a:rPr lang="en-US" sz="2000" b="1" dirty="0">
                <a:solidFill>
                  <a:srgbClr val="0D9488"/>
                </a:solidFill>
              </a:rPr>
              <a:t>ML &amp; AI</a:t>
            </a:r>
            <a:endParaRPr lang="en-US" sz="2000" dirty="0"/>
          </a:p>
        </p:txBody>
      </p:sp>
      <p:sp>
        <p:nvSpPr>
          <p:cNvPr id="12" name="Text 10"/>
          <p:cNvSpPr/>
          <p:nvPr/>
        </p:nvSpPr>
        <p:spPr>
          <a:xfrm>
            <a:off x="530352" y="3547872"/>
            <a:ext cx="3840480" cy="914400"/>
          </a:xfrm>
          <a:prstGeom prst="rect">
            <a:avLst/>
          </a:prstGeom>
          <a:noFill/>
          <a:ln/>
        </p:spPr>
        <p:txBody>
          <a:bodyPr wrap="square" lIns="0" tIns="0" rIns="0" bIns="0" rtlCol="0" anchor="ctr"/>
          <a:lstStyle/>
          <a:p>
            <a:pPr marL="0" indent="0">
              <a:lnSpc>
                <a:spcPct val="135000"/>
              </a:lnSpc>
              <a:buNone/>
            </a:pPr>
            <a:r>
              <a:rPr lang="en-US" dirty="0">
                <a:solidFill>
                  <a:schemeClr val="tx1">
                    <a:lumMod val="75000"/>
                    <a:lumOff val="25000"/>
                  </a:schemeClr>
                </a:solidFill>
              </a:rPr>
              <a:t>Models require full-history data processing</a:t>
            </a:r>
          </a:p>
          <a:p>
            <a:pPr marL="0" indent="0">
              <a:lnSpc>
                <a:spcPct val="135000"/>
              </a:lnSpc>
              <a:buNone/>
            </a:pPr>
            <a:r>
              <a:rPr lang="en-US" sz="1600" dirty="0">
                <a:solidFill>
                  <a:schemeClr val="tx1">
                    <a:lumMod val="75000"/>
                    <a:lumOff val="25000"/>
                  </a:schemeClr>
                </a:solidFill>
                <a:sym typeface="Wingdings" pitchFamily="2" charset="2"/>
              </a:rPr>
              <a:t> Sub-second inference + repeated training</a:t>
            </a:r>
            <a:endParaRPr lang="en-US" sz="1600" dirty="0">
              <a:solidFill>
                <a:schemeClr val="tx1">
                  <a:lumMod val="75000"/>
                  <a:lumOff val="25000"/>
                </a:schemeClr>
              </a:solidFill>
            </a:endParaRPr>
          </a:p>
        </p:txBody>
      </p:sp>
      <p:sp>
        <p:nvSpPr>
          <p:cNvPr id="13" name="Shape 11"/>
          <p:cNvSpPr/>
          <p:nvPr/>
        </p:nvSpPr>
        <p:spPr>
          <a:xfrm>
            <a:off x="4800600" y="3108960"/>
            <a:ext cx="4160520" cy="1508760"/>
          </a:xfrm>
          <a:prstGeom prst="rect">
            <a:avLst/>
          </a:prstGeom>
          <a:noFill/>
          <a:ln w="6350">
            <a:solidFill>
              <a:srgbClr val="0D9488"/>
            </a:solidFill>
            <a:prstDash val="solid"/>
          </a:ln>
        </p:spPr>
        <p:txBody>
          <a:bodyPr/>
          <a:lstStyle/>
          <a:p>
            <a:endParaRPr lang="en-LU"/>
          </a:p>
        </p:txBody>
      </p:sp>
      <p:sp>
        <p:nvSpPr>
          <p:cNvPr id="14" name="Text 12"/>
          <p:cNvSpPr/>
          <p:nvPr/>
        </p:nvSpPr>
        <p:spPr>
          <a:xfrm>
            <a:off x="4965192" y="3236976"/>
            <a:ext cx="3840480" cy="320040"/>
          </a:xfrm>
          <a:prstGeom prst="rect">
            <a:avLst/>
          </a:prstGeom>
          <a:noFill/>
          <a:ln/>
        </p:spPr>
        <p:txBody>
          <a:bodyPr wrap="square" lIns="0" tIns="0" rIns="0" bIns="0" rtlCol="0" anchor="ctr"/>
          <a:lstStyle/>
          <a:p>
            <a:pPr marL="0" indent="0">
              <a:buNone/>
            </a:pPr>
            <a:r>
              <a:rPr lang="en-US" sz="2000" b="1" dirty="0">
                <a:solidFill>
                  <a:srgbClr val="0D9488"/>
                </a:solidFill>
              </a:rPr>
              <a:t>Regulation &amp; compliance</a:t>
            </a:r>
            <a:endParaRPr lang="en-US" sz="2000" dirty="0"/>
          </a:p>
        </p:txBody>
      </p:sp>
      <p:sp>
        <p:nvSpPr>
          <p:cNvPr id="15" name="Text 13"/>
          <p:cNvSpPr/>
          <p:nvPr/>
        </p:nvSpPr>
        <p:spPr>
          <a:xfrm>
            <a:off x="4965192" y="3547872"/>
            <a:ext cx="3840480" cy="914400"/>
          </a:xfrm>
          <a:prstGeom prst="rect">
            <a:avLst/>
          </a:prstGeom>
          <a:noFill/>
          <a:ln/>
        </p:spPr>
        <p:txBody>
          <a:bodyPr wrap="square" lIns="0" tIns="0" rIns="0" bIns="0" rtlCol="0" anchor="ctr"/>
          <a:lstStyle/>
          <a:p>
            <a:pPr marL="0" indent="0">
              <a:lnSpc>
                <a:spcPct val="135000"/>
              </a:lnSpc>
              <a:buNone/>
            </a:pPr>
            <a:r>
              <a:rPr lang="en-US" dirty="0">
                <a:solidFill>
                  <a:schemeClr val="tx1">
                    <a:lumMod val="75000"/>
                    <a:lumOff val="25000"/>
                  </a:schemeClr>
                </a:solidFill>
              </a:rPr>
              <a:t>Data must be traceable and real-time</a:t>
            </a:r>
          </a:p>
          <a:p>
            <a:pPr marL="0" indent="0">
              <a:lnSpc>
                <a:spcPct val="135000"/>
              </a:lnSpc>
              <a:buNone/>
            </a:pPr>
            <a:r>
              <a:rPr lang="en-US" sz="1600" dirty="0">
                <a:solidFill>
                  <a:schemeClr val="tx1">
                    <a:lumMod val="75000"/>
                    <a:lumOff val="25000"/>
                  </a:schemeClr>
                </a:solidFill>
                <a:sym typeface="Wingdings" pitchFamily="2" charset="2"/>
              </a:rPr>
              <a:t> Real-time reporting requirements</a:t>
            </a:r>
            <a:r>
              <a:rPr lang="en-US" sz="1600" dirty="0">
                <a:solidFill>
                  <a:schemeClr val="tx1">
                    <a:lumMod val="75000"/>
                    <a:lumOff val="25000"/>
                  </a:schemeClr>
                </a:solidFill>
              </a:rPr>
              <a:t>.</a:t>
            </a:r>
          </a:p>
        </p:txBody>
      </p:sp>
      <p:sp>
        <p:nvSpPr>
          <p:cNvPr id="16" name="TextBox 15">
            <a:extLst>
              <a:ext uri="{FF2B5EF4-FFF2-40B4-BE49-F238E27FC236}">
                <a16:creationId xmlns:a16="http://schemas.microsoft.com/office/drawing/2014/main" id="{38D946C6-9D47-806B-1BA0-D193F0F8BFC0}"/>
              </a:ext>
            </a:extLst>
          </p:cNvPr>
          <p:cNvSpPr txBox="1"/>
          <p:nvPr/>
        </p:nvSpPr>
        <p:spPr>
          <a:xfrm>
            <a:off x="1659888" y="4669766"/>
            <a:ext cx="5824223" cy="369332"/>
          </a:xfrm>
          <a:prstGeom prst="rect">
            <a:avLst/>
          </a:prstGeom>
          <a:noFill/>
        </p:spPr>
        <p:txBody>
          <a:bodyPr wrap="none" rtlCol="0">
            <a:spAutoFit/>
          </a:bodyPr>
          <a:lstStyle/>
          <a:p>
            <a:r>
              <a:rPr lang="en-LU" dirty="0">
                <a:solidFill>
                  <a:schemeClr val="tx1">
                    <a:lumMod val="75000"/>
                    <a:lumOff val="25000"/>
                  </a:schemeClr>
                </a:solidFill>
              </a:rPr>
              <a:t>All four increase pressure on memory, compute, and latency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C2D0672-62EC-43B2-C0D5-7150358FF218}"/>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LU"/>
          </a:p>
        </p:txBody>
      </p:sp>
      <p:sp>
        <p:nvSpPr>
          <p:cNvPr id="3" name="Text 1">
            <a:extLst>
              <a:ext uri="{FF2B5EF4-FFF2-40B4-BE49-F238E27FC236}">
                <a16:creationId xmlns:a16="http://schemas.microsoft.com/office/drawing/2014/main" id="{3E4EE35C-A858-B9C6-4AE7-D5FE9701CEA7}"/>
              </a:ext>
            </a:extLst>
          </p:cNvPr>
          <p:cNvSpPr/>
          <p:nvPr/>
        </p:nvSpPr>
        <p:spPr>
          <a:xfrm>
            <a:off x="365760" y="160640"/>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Exercise 1: Where is the bottleneck? </a:t>
            </a:r>
            <a:endParaRPr lang="en-US" sz="2200" dirty="0"/>
          </a:p>
        </p:txBody>
      </p:sp>
      <p:sp>
        <p:nvSpPr>
          <p:cNvPr id="4" name="TextBox 3">
            <a:extLst>
              <a:ext uri="{FF2B5EF4-FFF2-40B4-BE49-F238E27FC236}">
                <a16:creationId xmlns:a16="http://schemas.microsoft.com/office/drawing/2014/main" id="{2E374F5D-E114-2B61-F79A-28DDF4118587}"/>
              </a:ext>
            </a:extLst>
          </p:cNvPr>
          <p:cNvSpPr txBox="1"/>
          <p:nvPr/>
        </p:nvSpPr>
        <p:spPr>
          <a:xfrm>
            <a:off x="215900" y="1295400"/>
            <a:ext cx="5410200" cy="2585323"/>
          </a:xfrm>
          <a:prstGeom prst="rect">
            <a:avLst/>
          </a:prstGeom>
          <a:noFill/>
        </p:spPr>
        <p:txBody>
          <a:bodyPr wrap="square" rtlCol="0">
            <a:spAutoFit/>
          </a:bodyPr>
          <a:lstStyle/>
          <a:p>
            <a:pPr marL="285750" indent="-285750">
              <a:buFont typeface="Arial" panose="020B0604020202020204" pitchFamily="34" charset="0"/>
              <a:buChar char="•"/>
            </a:pPr>
            <a:r>
              <a:rPr lang="en-LU" dirty="0"/>
              <a:t>Large transactions dataset (~5M rows)</a:t>
            </a:r>
          </a:p>
          <a:p>
            <a:pPr marL="285750" indent="-285750">
              <a:buFont typeface="Arial" panose="020B0604020202020204" pitchFamily="34" charset="0"/>
              <a:buChar char="•"/>
            </a:pPr>
            <a:r>
              <a:rPr lang="en-LU" dirty="0"/>
              <a:t>Pandas pipeline becomes slow</a:t>
            </a:r>
          </a:p>
          <a:p>
            <a:pPr marL="285750" indent="-285750">
              <a:buFont typeface="Arial" panose="020B0604020202020204" pitchFamily="34" charset="0"/>
              <a:buChar char="•"/>
            </a:pPr>
            <a:endParaRPr lang="en-LU" dirty="0"/>
          </a:p>
          <a:p>
            <a:endParaRPr lang="en-LU" dirty="0"/>
          </a:p>
          <a:p>
            <a:r>
              <a:rPr lang="en-LU" b="1" dirty="0">
                <a:solidFill>
                  <a:srgbClr val="0D9488"/>
                </a:solidFill>
              </a:rPr>
              <a:t>Task:</a:t>
            </a:r>
          </a:p>
          <a:p>
            <a:endParaRPr lang="en-LU" b="1" dirty="0">
              <a:solidFill>
                <a:srgbClr val="0D9488"/>
              </a:solidFill>
            </a:endParaRPr>
          </a:p>
          <a:p>
            <a:pPr marL="285750" indent="-285750">
              <a:buFont typeface="Arial" panose="020B0604020202020204" pitchFamily="34" charset="0"/>
              <a:buChar char="•"/>
            </a:pPr>
            <a:r>
              <a:rPr lang="en-LU" dirty="0"/>
              <a:t>Identify </a:t>
            </a:r>
            <a:r>
              <a:rPr lang="en-LU" b="1" dirty="0"/>
              <a:t>where time is spent</a:t>
            </a:r>
          </a:p>
          <a:p>
            <a:pPr marL="285750" indent="-285750">
              <a:buFont typeface="Arial" panose="020B0604020202020204" pitchFamily="34" charset="0"/>
              <a:buChar char="•"/>
            </a:pPr>
            <a:r>
              <a:rPr lang="en-LU" dirty="0"/>
              <a:t>Identify </a:t>
            </a:r>
            <a:r>
              <a:rPr lang="en-LU" b="1" dirty="0"/>
              <a:t>what limits performance</a:t>
            </a:r>
          </a:p>
          <a:p>
            <a:pPr marL="285750" indent="-285750">
              <a:buFont typeface="Arial" panose="020B0604020202020204" pitchFamily="34" charset="0"/>
              <a:buChar char="•"/>
            </a:pPr>
            <a:r>
              <a:rPr lang="en-LU" dirty="0"/>
              <a:t>Estimate </a:t>
            </a:r>
            <a:r>
              <a:rPr lang="en-LU" b="1" dirty="0"/>
              <a:t>impact</a:t>
            </a:r>
          </a:p>
        </p:txBody>
      </p:sp>
      <p:sp>
        <p:nvSpPr>
          <p:cNvPr id="5" name="TextBox 4">
            <a:extLst>
              <a:ext uri="{FF2B5EF4-FFF2-40B4-BE49-F238E27FC236}">
                <a16:creationId xmlns:a16="http://schemas.microsoft.com/office/drawing/2014/main" id="{ED3030FD-B62C-9921-BFFC-E65244A5D96A}"/>
              </a:ext>
            </a:extLst>
          </p:cNvPr>
          <p:cNvSpPr txBox="1"/>
          <p:nvPr/>
        </p:nvSpPr>
        <p:spPr>
          <a:xfrm>
            <a:off x="5956300" y="1993900"/>
            <a:ext cx="3200400" cy="1754326"/>
          </a:xfrm>
          <a:prstGeom prst="rect">
            <a:avLst/>
          </a:prstGeom>
          <a:noFill/>
        </p:spPr>
        <p:txBody>
          <a:bodyPr wrap="square" rtlCol="0">
            <a:spAutoFit/>
          </a:bodyPr>
          <a:lstStyle/>
          <a:p>
            <a:r>
              <a:rPr lang="en-LU" b="1" dirty="0">
                <a:solidFill>
                  <a:srgbClr val="0D9488"/>
                </a:solidFill>
              </a:rPr>
              <a:t>Focus:</a:t>
            </a:r>
          </a:p>
          <a:p>
            <a:endParaRPr lang="en-LU" b="1" dirty="0">
              <a:solidFill>
                <a:srgbClr val="0D9488"/>
              </a:solidFill>
            </a:endParaRPr>
          </a:p>
          <a:p>
            <a:pPr marL="285750" indent="-285750">
              <a:buFont typeface="Arial" panose="020B0604020202020204" pitchFamily="34" charset="0"/>
              <a:buChar char="•"/>
            </a:pPr>
            <a:r>
              <a:rPr lang="en-LU" dirty="0"/>
              <a:t>Think in terms of:</a:t>
            </a:r>
          </a:p>
          <a:p>
            <a:pPr marL="742950" lvl="1" indent="-285750">
              <a:buFont typeface="Arial" panose="020B0604020202020204" pitchFamily="34" charset="0"/>
              <a:buChar char="•"/>
            </a:pPr>
            <a:r>
              <a:rPr lang="en-LU" dirty="0"/>
              <a:t>CPU</a:t>
            </a:r>
          </a:p>
          <a:p>
            <a:pPr marL="742950" lvl="1" indent="-285750">
              <a:buFont typeface="Arial" panose="020B0604020202020204" pitchFamily="34" charset="0"/>
              <a:buChar char="•"/>
            </a:pPr>
            <a:r>
              <a:rPr lang="en-LU" dirty="0"/>
              <a:t>Memory</a:t>
            </a:r>
          </a:p>
          <a:p>
            <a:pPr marL="742950" lvl="1" indent="-285750">
              <a:buFont typeface="Arial" panose="020B0604020202020204" pitchFamily="34" charset="0"/>
              <a:buChar char="•"/>
            </a:pPr>
            <a:r>
              <a:rPr lang="en-LU" dirty="0"/>
              <a:t>I/O</a:t>
            </a:r>
          </a:p>
        </p:txBody>
      </p:sp>
    </p:spTree>
    <p:extLst>
      <p:ext uri="{BB962C8B-B14F-4D97-AF65-F5344CB8AC3E}">
        <p14:creationId xmlns:p14="http://schemas.microsoft.com/office/powerpoint/2010/main" val="878317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LU"/>
          </a:p>
        </p:txBody>
      </p:sp>
      <p:sp>
        <p:nvSpPr>
          <p:cNvPr id="3" name="Text 1"/>
          <p:cNvSpPr/>
          <p:nvPr/>
        </p:nvSpPr>
        <p:spPr>
          <a:xfrm>
            <a:off x="365760" y="160640"/>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Why CSV &amp; Pandas Hit a Wall</a:t>
            </a:r>
            <a:endParaRPr lang="en-US" sz="2200" dirty="0"/>
          </a:p>
        </p:txBody>
      </p:sp>
      <p:sp>
        <p:nvSpPr>
          <p:cNvPr id="5" name="Shape 3"/>
          <p:cNvSpPr/>
          <p:nvPr/>
        </p:nvSpPr>
        <p:spPr>
          <a:xfrm>
            <a:off x="365760" y="1078992"/>
            <a:ext cx="1645920" cy="256032"/>
          </a:xfrm>
          <a:prstGeom prst="rect">
            <a:avLst/>
          </a:prstGeom>
          <a:solidFill>
            <a:srgbClr val="0D9488"/>
          </a:solidFill>
          <a:ln w="12700">
            <a:solidFill>
              <a:srgbClr val="0D9488"/>
            </a:solidFill>
            <a:prstDash val="solid"/>
          </a:ln>
        </p:spPr>
        <p:txBody>
          <a:bodyPr/>
          <a:lstStyle/>
          <a:p>
            <a:endParaRPr lang="en-LU"/>
          </a:p>
        </p:txBody>
      </p:sp>
      <p:sp>
        <p:nvSpPr>
          <p:cNvPr id="6" name="Text 4"/>
          <p:cNvSpPr/>
          <p:nvPr/>
        </p:nvSpPr>
        <p:spPr>
          <a:xfrm>
            <a:off x="365760" y="1078992"/>
            <a:ext cx="1645920" cy="256032"/>
          </a:xfrm>
          <a:prstGeom prst="rect">
            <a:avLst/>
          </a:prstGeom>
          <a:noFill/>
          <a:ln/>
        </p:spPr>
        <p:txBody>
          <a:bodyPr wrap="square" lIns="0" tIns="0" rIns="0" bIns="0" rtlCol="0" anchor="ctr"/>
          <a:lstStyle/>
          <a:p>
            <a:pPr marL="0" indent="0" algn="ctr">
              <a:buNone/>
            </a:pPr>
            <a:r>
              <a:rPr lang="en-US" sz="900" b="1" dirty="0">
                <a:solidFill>
                  <a:srgbClr val="FFFFFF"/>
                </a:solidFill>
              </a:rPr>
              <a:t>BLOCK 1 · BOTTLENECK</a:t>
            </a:r>
            <a:endParaRPr lang="en-US" sz="900" dirty="0"/>
          </a:p>
        </p:txBody>
      </p:sp>
      <p:sp>
        <p:nvSpPr>
          <p:cNvPr id="7" name="Shape 5"/>
          <p:cNvSpPr/>
          <p:nvPr/>
        </p:nvSpPr>
        <p:spPr>
          <a:xfrm>
            <a:off x="320040" y="1143000"/>
            <a:ext cx="5120640" cy="77724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LU"/>
          </a:p>
        </p:txBody>
      </p:sp>
      <p:sp>
        <p:nvSpPr>
          <p:cNvPr id="8" name="Shape 6"/>
          <p:cNvSpPr/>
          <p:nvPr/>
        </p:nvSpPr>
        <p:spPr>
          <a:xfrm>
            <a:off x="320040" y="1143000"/>
            <a:ext cx="54864" cy="777240"/>
          </a:xfrm>
          <a:prstGeom prst="rect">
            <a:avLst/>
          </a:prstGeom>
          <a:solidFill>
            <a:srgbClr val="0D9488"/>
          </a:solidFill>
          <a:ln w="12700">
            <a:solidFill>
              <a:srgbClr val="0D9488"/>
            </a:solidFill>
            <a:prstDash val="solid"/>
          </a:ln>
        </p:spPr>
        <p:txBody>
          <a:bodyPr/>
          <a:lstStyle/>
          <a:p>
            <a:endParaRPr lang="en-LU"/>
          </a:p>
        </p:txBody>
      </p:sp>
      <p:sp>
        <p:nvSpPr>
          <p:cNvPr id="9" name="Text 7"/>
          <p:cNvSpPr/>
          <p:nvPr/>
        </p:nvSpPr>
        <p:spPr>
          <a:xfrm>
            <a:off x="502920" y="1216152"/>
            <a:ext cx="4754880" cy="256032"/>
          </a:xfrm>
          <a:prstGeom prst="rect">
            <a:avLst/>
          </a:prstGeom>
          <a:noFill/>
          <a:ln/>
        </p:spPr>
        <p:txBody>
          <a:bodyPr wrap="square" lIns="0" tIns="0" rIns="0" bIns="0" rtlCol="0" anchor="ctr"/>
          <a:lstStyle/>
          <a:p>
            <a:pPr marL="0" indent="0">
              <a:buNone/>
            </a:pPr>
            <a:r>
              <a:rPr lang="en-US" b="1" dirty="0">
                <a:solidFill>
                  <a:srgbClr val="0D1B2A"/>
                </a:solidFill>
              </a:rPr>
              <a:t>Single-threaded parsing</a:t>
            </a:r>
            <a:endParaRPr lang="en-US" dirty="0"/>
          </a:p>
        </p:txBody>
      </p:sp>
      <p:sp>
        <p:nvSpPr>
          <p:cNvPr id="10" name="Text 8"/>
          <p:cNvSpPr/>
          <p:nvPr/>
        </p:nvSpPr>
        <p:spPr>
          <a:xfrm>
            <a:off x="502920" y="1472184"/>
            <a:ext cx="4754880" cy="384048"/>
          </a:xfrm>
          <a:prstGeom prst="rect">
            <a:avLst/>
          </a:prstGeom>
          <a:noFill/>
          <a:ln/>
        </p:spPr>
        <p:txBody>
          <a:bodyPr wrap="square" lIns="0" tIns="0" rIns="0" bIns="0" rtlCol="0" anchor="ctr"/>
          <a:lstStyle/>
          <a:p>
            <a:pPr marL="0" indent="0">
              <a:lnSpc>
                <a:spcPct val="130000"/>
              </a:lnSpc>
              <a:buNone/>
            </a:pPr>
            <a:r>
              <a:rPr lang="en-US" sz="1200" dirty="0">
                <a:solidFill>
                  <a:srgbClr val="334155"/>
                </a:solidFill>
              </a:rPr>
              <a:t>pd.read_csv reads character by character on ONE CPU core. On a 64-core node you waste 63/64 of your compute.</a:t>
            </a:r>
            <a:endParaRPr lang="en-US" sz="1200" dirty="0"/>
          </a:p>
        </p:txBody>
      </p:sp>
      <p:sp>
        <p:nvSpPr>
          <p:cNvPr id="11" name="Shape 9"/>
          <p:cNvSpPr/>
          <p:nvPr/>
        </p:nvSpPr>
        <p:spPr>
          <a:xfrm>
            <a:off x="320040" y="2057400"/>
            <a:ext cx="5120640" cy="77724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LU"/>
          </a:p>
        </p:txBody>
      </p:sp>
      <p:sp>
        <p:nvSpPr>
          <p:cNvPr id="12" name="Shape 10"/>
          <p:cNvSpPr/>
          <p:nvPr/>
        </p:nvSpPr>
        <p:spPr>
          <a:xfrm>
            <a:off x="320040" y="2057400"/>
            <a:ext cx="54864" cy="777240"/>
          </a:xfrm>
          <a:prstGeom prst="rect">
            <a:avLst/>
          </a:prstGeom>
          <a:solidFill>
            <a:srgbClr val="0D9488"/>
          </a:solidFill>
          <a:ln w="12700">
            <a:solidFill>
              <a:srgbClr val="0D9488"/>
            </a:solidFill>
            <a:prstDash val="solid"/>
          </a:ln>
        </p:spPr>
        <p:txBody>
          <a:bodyPr/>
          <a:lstStyle/>
          <a:p>
            <a:endParaRPr lang="en-LU"/>
          </a:p>
        </p:txBody>
      </p:sp>
      <p:sp>
        <p:nvSpPr>
          <p:cNvPr id="13" name="Text 11"/>
          <p:cNvSpPr/>
          <p:nvPr/>
        </p:nvSpPr>
        <p:spPr>
          <a:xfrm>
            <a:off x="502920" y="2130552"/>
            <a:ext cx="4754880" cy="256032"/>
          </a:xfrm>
          <a:prstGeom prst="rect">
            <a:avLst/>
          </a:prstGeom>
          <a:noFill/>
          <a:ln/>
        </p:spPr>
        <p:txBody>
          <a:bodyPr wrap="square" lIns="0" tIns="0" rIns="0" bIns="0" rtlCol="0" anchor="ctr"/>
          <a:lstStyle/>
          <a:p>
            <a:pPr marL="0" indent="0">
              <a:buNone/>
            </a:pPr>
            <a:r>
              <a:rPr lang="en-US" b="1" dirty="0">
                <a:solidFill>
                  <a:srgbClr val="0D1B2A"/>
                </a:solidFill>
              </a:rPr>
              <a:t>Row-based text format</a:t>
            </a:r>
            <a:endParaRPr lang="en-US" dirty="0"/>
          </a:p>
        </p:txBody>
      </p:sp>
      <p:sp>
        <p:nvSpPr>
          <p:cNvPr id="14" name="Text 12"/>
          <p:cNvSpPr/>
          <p:nvPr/>
        </p:nvSpPr>
        <p:spPr>
          <a:xfrm>
            <a:off x="502920" y="2386584"/>
            <a:ext cx="4754880" cy="384048"/>
          </a:xfrm>
          <a:prstGeom prst="rect">
            <a:avLst/>
          </a:prstGeom>
          <a:noFill/>
          <a:ln/>
        </p:spPr>
        <p:txBody>
          <a:bodyPr wrap="square" lIns="0" tIns="0" rIns="0" bIns="0" rtlCol="0" anchor="ctr"/>
          <a:lstStyle/>
          <a:p>
            <a:pPr marL="0" indent="0">
              <a:lnSpc>
                <a:spcPct val="130000"/>
              </a:lnSpc>
              <a:buNone/>
            </a:pPr>
            <a:r>
              <a:rPr lang="en-US" sz="1200" dirty="0">
                <a:solidFill>
                  <a:srgbClr val="334155"/>
                </a:solidFill>
              </a:rPr>
              <a:t>CSV stores every column of every row, even if your query only needs 2 of 50 columns. All bytes must be read.</a:t>
            </a:r>
            <a:endParaRPr lang="en-US" sz="1200" dirty="0"/>
          </a:p>
        </p:txBody>
      </p:sp>
      <p:sp>
        <p:nvSpPr>
          <p:cNvPr id="15" name="Shape 13"/>
          <p:cNvSpPr/>
          <p:nvPr/>
        </p:nvSpPr>
        <p:spPr>
          <a:xfrm>
            <a:off x="320040" y="2971800"/>
            <a:ext cx="5120640" cy="77724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LU"/>
          </a:p>
        </p:txBody>
      </p:sp>
      <p:sp>
        <p:nvSpPr>
          <p:cNvPr id="16" name="Shape 14"/>
          <p:cNvSpPr/>
          <p:nvPr/>
        </p:nvSpPr>
        <p:spPr>
          <a:xfrm>
            <a:off x="320040" y="2971800"/>
            <a:ext cx="54864" cy="777240"/>
          </a:xfrm>
          <a:prstGeom prst="rect">
            <a:avLst/>
          </a:prstGeom>
          <a:solidFill>
            <a:srgbClr val="0D9488"/>
          </a:solidFill>
          <a:ln w="12700">
            <a:solidFill>
              <a:srgbClr val="0D9488"/>
            </a:solidFill>
            <a:prstDash val="solid"/>
          </a:ln>
        </p:spPr>
        <p:txBody>
          <a:bodyPr/>
          <a:lstStyle/>
          <a:p>
            <a:endParaRPr lang="en-LU"/>
          </a:p>
        </p:txBody>
      </p:sp>
      <p:sp>
        <p:nvSpPr>
          <p:cNvPr id="17" name="Text 15"/>
          <p:cNvSpPr/>
          <p:nvPr/>
        </p:nvSpPr>
        <p:spPr>
          <a:xfrm>
            <a:off x="502920" y="3044952"/>
            <a:ext cx="4754880" cy="256032"/>
          </a:xfrm>
          <a:prstGeom prst="rect">
            <a:avLst/>
          </a:prstGeom>
          <a:noFill/>
          <a:ln/>
        </p:spPr>
        <p:txBody>
          <a:bodyPr wrap="square" lIns="0" tIns="0" rIns="0" bIns="0" rtlCol="0" anchor="ctr"/>
          <a:lstStyle/>
          <a:p>
            <a:pPr marL="0" indent="0">
              <a:buNone/>
            </a:pPr>
            <a:r>
              <a:rPr lang="en-US" b="1" dirty="0">
                <a:solidFill>
                  <a:srgbClr val="0D1B2A"/>
                </a:solidFill>
              </a:rPr>
              <a:t>No type information</a:t>
            </a:r>
            <a:endParaRPr lang="en-US" dirty="0"/>
          </a:p>
        </p:txBody>
      </p:sp>
      <p:sp>
        <p:nvSpPr>
          <p:cNvPr id="18" name="Text 16"/>
          <p:cNvSpPr/>
          <p:nvPr/>
        </p:nvSpPr>
        <p:spPr>
          <a:xfrm>
            <a:off x="502920" y="3300984"/>
            <a:ext cx="4754880" cy="384048"/>
          </a:xfrm>
          <a:prstGeom prst="rect">
            <a:avLst/>
          </a:prstGeom>
          <a:noFill/>
          <a:ln/>
        </p:spPr>
        <p:txBody>
          <a:bodyPr wrap="square" lIns="0" tIns="0" rIns="0" bIns="0" rtlCol="0" anchor="ctr"/>
          <a:lstStyle/>
          <a:p>
            <a:pPr marL="0" indent="0">
              <a:lnSpc>
                <a:spcPct val="130000"/>
              </a:lnSpc>
              <a:buNone/>
            </a:pPr>
            <a:r>
              <a:rPr lang="en-US" sz="1200" dirty="0">
                <a:solidFill>
                  <a:srgbClr val="334155"/>
                </a:solidFill>
              </a:rPr>
              <a:t>Every field is a string on disk. Pandas must infer or cast types, burning CPU on every read operation.</a:t>
            </a:r>
            <a:endParaRPr lang="en-US" sz="1200" dirty="0"/>
          </a:p>
        </p:txBody>
      </p:sp>
      <p:sp>
        <p:nvSpPr>
          <p:cNvPr id="19" name="Shape 17"/>
          <p:cNvSpPr/>
          <p:nvPr/>
        </p:nvSpPr>
        <p:spPr>
          <a:xfrm>
            <a:off x="320040" y="3886200"/>
            <a:ext cx="5120640" cy="77724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LU"/>
          </a:p>
        </p:txBody>
      </p:sp>
      <p:sp>
        <p:nvSpPr>
          <p:cNvPr id="20" name="Shape 18"/>
          <p:cNvSpPr/>
          <p:nvPr/>
        </p:nvSpPr>
        <p:spPr>
          <a:xfrm>
            <a:off x="320040" y="3886200"/>
            <a:ext cx="54864" cy="777240"/>
          </a:xfrm>
          <a:prstGeom prst="rect">
            <a:avLst/>
          </a:prstGeom>
          <a:solidFill>
            <a:srgbClr val="0D9488"/>
          </a:solidFill>
          <a:ln w="12700">
            <a:solidFill>
              <a:srgbClr val="0D9488"/>
            </a:solidFill>
            <a:prstDash val="solid"/>
          </a:ln>
        </p:spPr>
        <p:txBody>
          <a:bodyPr/>
          <a:lstStyle/>
          <a:p>
            <a:endParaRPr lang="en-LU"/>
          </a:p>
        </p:txBody>
      </p:sp>
      <p:sp>
        <p:nvSpPr>
          <p:cNvPr id="21" name="Text 19"/>
          <p:cNvSpPr/>
          <p:nvPr/>
        </p:nvSpPr>
        <p:spPr>
          <a:xfrm>
            <a:off x="502920" y="3959352"/>
            <a:ext cx="4754880" cy="256032"/>
          </a:xfrm>
          <a:prstGeom prst="rect">
            <a:avLst/>
          </a:prstGeom>
          <a:noFill/>
          <a:ln/>
        </p:spPr>
        <p:txBody>
          <a:bodyPr wrap="square" lIns="0" tIns="0" rIns="0" bIns="0" rtlCol="0" anchor="ctr"/>
          <a:lstStyle/>
          <a:p>
            <a:pPr marL="0" indent="0">
              <a:buNone/>
            </a:pPr>
            <a:r>
              <a:rPr lang="en-US" b="1" dirty="0">
                <a:solidFill>
                  <a:srgbClr val="0D1B2A"/>
                </a:solidFill>
              </a:rPr>
              <a:t>Full in-memory load</a:t>
            </a:r>
            <a:endParaRPr lang="en-US" dirty="0"/>
          </a:p>
        </p:txBody>
      </p:sp>
      <p:sp>
        <p:nvSpPr>
          <p:cNvPr id="22" name="Text 20"/>
          <p:cNvSpPr/>
          <p:nvPr/>
        </p:nvSpPr>
        <p:spPr>
          <a:xfrm>
            <a:off x="502920" y="4215384"/>
            <a:ext cx="4754880" cy="384048"/>
          </a:xfrm>
          <a:prstGeom prst="rect">
            <a:avLst/>
          </a:prstGeom>
          <a:noFill/>
          <a:ln/>
        </p:spPr>
        <p:txBody>
          <a:bodyPr wrap="square" lIns="0" tIns="0" rIns="0" bIns="0" rtlCol="0" anchor="ctr"/>
          <a:lstStyle/>
          <a:p>
            <a:pPr marL="0" indent="0">
              <a:lnSpc>
                <a:spcPct val="130000"/>
              </a:lnSpc>
              <a:buNone/>
            </a:pPr>
            <a:r>
              <a:rPr lang="en-US" sz="1200" dirty="0">
                <a:solidFill>
                  <a:srgbClr val="334155"/>
                </a:solidFill>
              </a:rPr>
              <a:t>The entire dataset must fit in RAM before any processing. A 5 GB CSV needs ~15 GB RAM after parse overhead.</a:t>
            </a:r>
            <a:endParaRPr lang="en-US" sz="1200" dirty="0"/>
          </a:p>
        </p:txBody>
      </p:sp>
      <p:sp>
        <p:nvSpPr>
          <p:cNvPr id="23" name="Shape 21"/>
          <p:cNvSpPr/>
          <p:nvPr/>
        </p:nvSpPr>
        <p:spPr>
          <a:xfrm>
            <a:off x="5669280" y="1143000"/>
            <a:ext cx="3200400" cy="3749040"/>
          </a:xfrm>
          <a:prstGeom prst="rect">
            <a:avLst/>
          </a:prstGeom>
          <a:solidFill>
            <a:srgbClr val="FFFFFF"/>
          </a:solidFill>
          <a:ln w="6350">
            <a:solidFill>
              <a:srgbClr val="E2E8F0"/>
            </a:solidFill>
            <a:prstDash val="solid"/>
          </a:ln>
          <a:effectLst>
            <a:outerShdw blurRad="63500" dist="25400" dir="8100000" algn="bl" rotWithShape="0">
              <a:srgbClr val="000000">
                <a:alpha val="8000"/>
              </a:srgbClr>
            </a:outerShdw>
          </a:effectLst>
        </p:spPr>
        <p:txBody>
          <a:bodyPr/>
          <a:lstStyle/>
          <a:p>
            <a:endParaRPr lang="en-LU" sz="2400"/>
          </a:p>
        </p:txBody>
      </p:sp>
      <p:sp>
        <p:nvSpPr>
          <p:cNvPr id="24" name="Text 22"/>
          <p:cNvSpPr/>
          <p:nvPr/>
        </p:nvSpPr>
        <p:spPr>
          <a:xfrm>
            <a:off x="5806440" y="1280160"/>
            <a:ext cx="2926080" cy="320040"/>
          </a:xfrm>
          <a:prstGeom prst="rect">
            <a:avLst/>
          </a:prstGeom>
          <a:noFill/>
          <a:ln/>
        </p:spPr>
        <p:txBody>
          <a:bodyPr wrap="square" lIns="0" tIns="0" rIns="0" bIns="0" rtlCol="0" anchor="ctr"/>
          <a:lstStyle/>
          <a:p>
            <a:pPr marL="0" indent="0">
              <a:buNone/>
            </a:pPr>
            <a:r>
              <a:rPr lang="en-US" sz="1400" b="1" dirty="0">
                <a:solidFill>
                  <a:srgbClr val="0D9488"/>
                </a:solidFill>
              </a:rPr>
              <a:t>Single-threaded system at scale</a:t>
            </a:r>
            <a:endParaRPr lang="en-US" sz="1400" dirty="0"/>
          </a:p>
        </p:txBody>
      </p:sp>
      <p:sp>
        <p:nvSpPr>
          <p:cNvPr id="25" name="Text 23"/>
          <p:cNvSpPr/>
          <p:nvPr/>
        </p:nvSpPr>
        <p:spPr>
          <a:xfrm>
            <a:off x="5806440" y="1737360"/>
            <a:ext cx="2926080" cy="594360"/>
          </a:xfrm>
          <a:prstGeom prst="rect">
            <a:avLst/>
          </a:prstGeom>
          <a:noFill/>
          <a:ln/>
        </p:spPr>
        <p:txBody>
          <a:bodyPr wrap="square" lIns="0" tIns="0" rIns="0" bIns="0" rtlCol="0" anchor="ctr"/>
          <a:lstStyle/>
          <a:p>
            <a:pPr marL="0" indent="0">
              <a:lnSpc>
                <a:spcPct val="130000"/>
              </a:lnSpc>
              <a:buNone/>
            </a:pPr>
            <a:r>
              <a:rPr lang="en-US" sz="1400" dirty="0">
                <a:solidFill>
                  <a:schemeClr val="tx1">
                    <a:lumMod val="75000"/>
                    <a:lumOff val="25000"/>
                  </a:schemeClr>
                </a:solidFill>
              </a:rPr>
              <a:t>One worker for millions of tasks</a:t>
            </a:r>
          </a:p>
        </p:txBody>
      </p:sp>
      <p:sp>
        <p:nvSpPr>
          <p:cNvPr id="26" name="Text 24"/>
          <p:cNvSpPr/>
          <p:nvPr/>
        </p:nvSpPr>
        <p:spPr>
          <a:xfrm>
            <a:off x="5806440" y="2408332"/>
            <a:ext cx="2926080" cy="594360"/>
          </a:xfrm>
          <a:prstGeom prst="rect">
            <a:avLst/>
          </a:prstGeom>
          <a:noFill/>
          <a:ln/>
        </p:spPr>
        <p:txBody>
          <a:bodyPr wrap="square" lIns="0" tIns="0" rIns="0" bIns="0" rtlCol="0" anchor="ctr"/>
          <a:lstStyle/>
          <a:p>
            <a:pPr marL="0" indent="0">
              <a:lnSpc>
                <a:spcPct val="130000"/>
              </a:lnSpc>
              <a:buNone/>
            </a:pPr>
            <a:r>
              <a:rPr lang="en-US" sz="1400" dirty="0">
                <a:solidFill>
                  <a:schemeClr val="tx1">
                    <a:lumMod val="75000"/>
                    <a:lumOff val="25000"/>
                  </a:schemeClr>
                </a:solidFill>
              </a:rPr>
              <a:t>Reads everything, not what is needed</a:t>
            </a:r>
          </a:p>
        </p:txBody>
      </p:sp>
      <p:sp>
        <p:nvSpPr>
          <p:cNvPr id="27" name="Text 25"/>
          <p:cNvSpPr/>
          <p:nvPr/>
        </p:nvSpPr>
        <p:spPr>
          <a:xfrm>
            <a:off x="5806440" y="3131820"/>
            <a:ext cx="2926080" cy="594360"/>
          </a:xfrm>
          <a:prstGeom prst="rect">
            <a:avLst/>
          </a:prstGeom>
          <a:noFill/>
          <a:ln/>
        </p:spPr>
        <p:txBody>
          <a:bodyPr wrap="square" lIns="0" tIns="0" rIns="0" bIns="0" rtlCol="0" anchor="ctr"/>
          <a:lstStyle/>
          <a:p>
            <a:pPr marL="0" indent="0">
              <a:lnSpc>
                <a:spcPct val="130000"/>
              </a:lnSpc>
              <a:buNone/>
            </a:pPr>
            <a:r>
              <a:rPr lang="en-US" sz="1400" dirty="0">
                <a:solidFill>
                  <a:schemeClr val="tx1">
                    <a:lumMod val="75000"/>
                    <a:lumOff val="25000"/>
                  </a:schemeClr>
                </a:solidFill>
              </a:rPr>
              <a:t>Recomputes types every time</a:t>
            </a:r>
          </a:p>
        </p:txBody>
      </p:sp>
      <p:sp>
        <p:nvSpPr>
          <p:cNvPr id="28" name="Text 26"/>
          <p:cNvSpPr/>
          <p:nvPr/>
        </p:nvSpPr>
        <p:spPr>
          <a:xfrm>
            <a:off x="5806440" y="3749040"/>
            <a:ext cx="2926080" cy="594360"/>
          </a:xfrm>
          <a:prstGeom prst="rect">
            <a:avLst/>
          </a:prstGeom>
          <a:noFill/>
          <a:ln/>
        </p:spPr>
        <p:txBody>
          <a:bodyPr wrap="square" lIns="0" tIns="0" rIns="0" bIns="0" rtlCol="0" anchor="ctr"/>
          <a:lstStyle/>
          <a:p>
            <a:pPr marL="0" indent="0">
              <a:lnSpc>
                <a:spcPct val="130000"/>
              </a:lnSpc>
              <a:buNone/>
            </a:pPr>
            <a:r>
              <a:rPr lang="en-US" sz="1400" dirty="0">
                <a:solidFill>
                  <a:schemeClr val="tx1">
                    <a:lumMod val="75000"/>
                    <a:lumOff val="25000"/>
                  </a:schemeClr>
                </a:solidFill>
              </a:rPr>
              <a:t>Requires full dataset in memory</a:t>
            </a:r>
          </a:p>
        </p:txBody>
      </p:sp>
      <p:sp>
        <p:nvSpPr>
          <p:cNvPr id="30" name="Text 28"/>
          <p:cNvSpPr/>
          <p:nvPr/>
        </p:nvSpPr>
        <p:spPr>
          <a:xfrm>
            <a:off x="5715000" y="4434840"/>
            <a:ext cx="3108960" cy="457200"/>
          </a:xfrm>
          <a:prstGeom prst="rect">
            <a:avLst/>
          </a:prstGeom>
          <a:noFill/>
          <a:ln/>
        </p:spPr>
        <p:txBody>
          <a:bodyPr wrap="square" lIns="0" tIns="0" rIns="0" bIns="0" rtlCol="0" anchor="ctr"/>
          <a:lstStyle/>
          <a:p>
            <a:pPr marL="0" indent="0">
              <a:buNone/>
            </a:pPr>
            <a:r>
              <a:rPr lang="en-US" sz="1400" b="1" dirty="0">
                <a:solidFill>
                  <a:srgbClr val="0D9488"/>
                </a:solidFill>
              </a:rPr>
              <a:t>HPDA: parallel execution, columnar reads, typed schema, out-of-core processing</a:t>
            </a:r>
            <a:endParaRPr lang="en-US" sz="1400" dirty="0">
              <a:solidFill>
                <a:srgbClr val="0D9488"/>
              </a:solidFill>
            </a:endParaRPr>
          </a:p>
        </p:txBody>
      </p:sp>
      <p:cxnSp>
        <p:nvCxnSpPr>
          <p:cNvPr id="32" name="Straight Connector 31">
            <a:extLst>
              <a:ext uri="{FF2B5EF4-FFF2-40B4-BE49-F238E27FC236}">
                <a16:creationId xmlns:a16="http://schemas.microsoft.com/office/drawing/2014/main" id="{430F862E-3656-AE4B-227D-296B19EA0E0B}"/>
              </a:ext>
            </a:extLst>
          </p:cNvPr>
          <p:cNvCxnSpPr/>
          <p:nvPr/>
        </p:nvCxnSpPr>
        <p:spPr>
          <a:xfrm>
            <a:off x="5669280" y="4343400"/>
            <a:ext cx="3200400" cy="0"/>
          </a:xfrm>
          <a:prstGeom prst="line">
            <a:avLst/>
          </a:prstGeom>
        </p:spPr>
        <p:style>
          <a:lnRef idx="2">
            <a:schemeClr val="accent5"/>
          </a:lnRef>
          <a:fillRef idx="0">
            <a:schemeClr val="accent5"/>
          </a:fillRef>
          <a:effectRef idx="1">
            <a:schemeClr val="accent5"/>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LU"/>
          </a:p>
        </p:txBody>
      </p:sp>
      <p:sp>
        <p:nvSpPr>
          <p:cNvPr id="3" name="Text 1"/>
          <p:cNvSpPr/>
          <p:nvPr/>
        </p:nvSpPr>
        <p:spPr>
          <a:xfrm>
            <a:off x="365760" y="0"/>
            <a:ext cx="8412480" cy="960120"/>
          </a:xfrm>
          <a:prstGeom prst="rect">
            <a:avLst/>
          </a:prstGeom>
          <a:noFill/>
          <a:ln/>
        </p:spPr>
        <p:txBody>
          <a:bodyPr wrap="square" lIns="0" tIns="0" rIns="0" bIns="0" rtlCol="0" anchor="ctr"/>
          <a:lstStyle/>
          <a:p>
            <a:pPr marL="0" indent="0">
              <a:buNone/>
            </a:pPr>
            <a:r>
              <a:rPr lang="en-US" sz="2200" b="1" dirty="0">
                <a:solidFill>
                  <a:srgbClr val="FFFFFF"/>
                </a:solidFill>
              </a:rPr>
              <a:t>Measuring Performance: CPU, Memory &amp; I/O Profiling</a:t>
            </a:r>
            <a:endParaRPr lang="en-US" sz="2200" dirty="0"/>
          </a:p>
        </p:txBody>
      </p:sp>
      <p:grpSp>
        <p:nvGrpSpPr>
          <p:cNvPr id="24" name="Group 23">
            <a:extLst>
              <a:ext uri="{FF2B5EF4-FFF2-40B4-BE49-F238E27FC236}">
                <a16:creationId xmlns:a16="http://schemas.microsoft.com/office/drawing/2014/main" id="{39D361F0-2703-539F-84B6-5D0C18B2AA23}"/>
              </a:ext>
            </a:extLst>
          </p:cNvPr>
          <p:cNvGrpSpPr/>
          <p:nvPr/>
        </p:nvGrpSpPr>
        <p:grpSpPr>
          <a:xfrm>
            <a:off x="320040" y="976884"/>
            <a:ext cx="1645920" cy="256032"/>
            <a:chOff x="365760" y="1078992"/>
            <a:chExt cx="1645920" cy="256032"/>
          </a:xfrm>
        </p:grpSpPr>
        <p:sp>
          <p:nvSpPr>
            <p:cNvPr id="4" name="Shape 2"/>
            <p:cNvSpPr/>
            <p:nvPr/>
          </p:nvSpPr>
          <p:spPr>
            <a:xfrm>
              <a:off x="365760" y="1078992"/>
              <a:ext cx="1645920" cy="256032"/>
            </a:xfrm>
            <a:prstGeom prst="rect">
              <a:avLst/>
            </a:prstGeom>
            <a:solidFill>
              <a:srgbClr val="0D9488"/>
            </a:solidFill>
            <a:ln w="12700">
              <a:solidFill>
                <a:srgbClr val="0D9488"/>
              </a:solidFill>
              <a:prstDash val="solid"/>
            </a:ln>
          </p:spPr>
          <p:txBody>
            <a:bodyPr/>
            <a:lstStyle/>
            <a:p>
              <a:endParaRPr lang="en-LU"/>
            </a:p>
          </p:txBody>
        </p:sp>
        <p:sp>
          <p:nvSpPr>
            <p:cNvPr id="5" name="Text 3"/>
            <p:cNvSpPr/>
            <p:nvPr/>
          </p:nvSpPr>
          <p:spPr>
            <a:xfrm>
              <a:off x="365760" y="1092073"/>
              <a:ext cx="1645920" cy="221234"/>
            </a:xfrm>
            <a:prstGeom prst="rect">
              <a:avLst/>
            </a:prstGeom>
            <a:noFill/>
            <a:ln/>
          </p:spPr>
          <p:txBody>
            <a:bodyPr wrap="square" lIns="0" tIns="0" rIns="0" bIns="0" rtlCol="0" anchor="ctr"/>
            <a:lstStyle/>
            <a:p>
              <a:pPr marL="0" indent="0" algn="ctr">
                <a:buNone/>
              </a:pPr>
              <a:r>
                <a:rPr lang="en-US" sz="1400" b="1" dirty="0">
                  <a:solidFill>
                    <a:srgbClr val="FFFFFF"/>
                  </a:solidFill>
                </a:rPr>
                <a:t>PROFILING</a:t>
              </a:r>
              <a:endParaRPr lang="en-US" sz="1400" dirty="0"/>
            </a:p>
          </p:txBody>
        </p:sp>
      </p:grpSp>
      <p:sp>
        <p:nvSpPr>
          <p:cNvPr id="6" name="Text 4"/>
          <p:cNvSpPr/>
          <p:nvPr/>
        </p:nvSpPr>
        <p:spPr>
          <a:xfrm>
            <a:off x="320040" y="1229360"/>
            <a:ext cx="8412480" cy="320040"/>
          </a:xfrm>
          <a:prstGeom prst="rect">
            <a:avLst/>
          </a:prstGeom>
          <a:noFill/>
          <a:ln/>
        </p:spPr>
        <p:txBody>
          <a:bodyPr wrap="square" lIns="0" tIns="0" rIns="0" bIns="0" rtlCol="0" anchor="ctr"/>
          <a:lstStyle/>
          <a:p>
            <a:pPr marL="0" indent="0">
              <a:buNone/>
            </a:pPr>
            <a:r>
              <a:rPr lang="en-US" sz="1200" dirty="0">
                <a:solidFill>
                  <a:srgbClr val="334155"/>
                </a:solidFill>
              </a:rPr>
              <a:t>You cannot optimize what you cannot measure. Three dimensions matter:</a:t>
            </a:r>
            <a:endParaRPr lang="en-US" sz="1200" dirty="0"/>
          </a:p>
        </p:txBody>
      </p:sp>
      <p:sp>
        <p:nvSpPr>
          <p:cNvPr id="7" name="Shape 5"/>
          <p:cNvSpPr/>
          <p:nvPr/>
        </p:nvSpPr>
        <p:spPr>
          <a:xfrm>
            <a:off x="320040" y="1561592"/>
            <a:ext cx="8503920" cy="1005840"/>
          </a:xfrm>
          <a:prstGeom prst="rect">
            <a:avLst/>
          </a:prstGeom>
          <a:solidFill>
            <a:srgbClr val="EDE9FE"/>
          </a:solidFill>
          <a:ln w="6350">
            <a:solidFill>
              <a:srgbClr val="7C3AED"/>
            </a:solidFill>
            <a:prstDash val="solid"/>
          </a:ln>
        </p:spPr>
        <p:txBody>
          <a:bodyPr/>
          <a:lstStyle/>
          <a:p>
            <a:endParaRPr lang="en-LU" sz="2000"/>
          </a:p>
        </p:txBody>
      </p:sp>
      <p:sp>
        <p:nvSpPr>
          <p:cNvPr id="8" name="Shape 6"/>
          <p:cNvSpPr/>
          <p:nvPr/>
        </p:nvSpPr>
        <p:spPr>
          <a:xfrm>
            <a:off x="320040" y="1561592"/>
            <a:ext cx="1005840" cy="1005840"/>
          </a:xfrm>
          <a:prstGeom prst="rect">
            <a:avLst/>
          </a:prstGeom>
          <a:solidFill>
            <a:srgbClr val="7C3AED"/>
          </a:solidFill>
          <a:ln w="12700">
            <a:solidFill>
              <a:srgbClr val="7C3AED"/>
            </a:solidFill>
            <a:prstDash val="solid"/>
          </a:ln>
        </p:spPr>
        <p:txBody>
          <a:bodyPr/>
          <a:lstStyle/>
          <a:p>
            <a:endParaRPr lang="en-LU"/>
          </a:p>
        </p:txBody>
      </p:sp>
      <p:sp>
        <p:nvSpPr>
          <p:cNvPr id="9" name="Text 7"/>
          <p:cNvSpPr/>
          <p:nvPr/>
        </p:nvSpPr>
        <p:spPr>
          <a:xfrm>
            <a:off x="320040" y="1536192"/>
            <a:ext cx="1005840" cy="1005840"/>
          </a:xfrm>
          <a:prstGeom prst="rect">
            <a:avLst/>
          </a:prstGeom>
          <a:noFill/>
          <a:ln/>
        </p:spPr>
        <p:txBody>
          <a:bodyPr wrap="square" lIns="0" tIns="0" rIns="0" bIns="0" rtlCol="0" anchor="ctr"/>
          <a:lstStyle/>
          <a:p>
            <a:pPr marL="0" indent="0" algn="ctr">
              <a:buNone/>
            </a:pPr>
            <a:r>
              <a:rPr lang="en-US" b="1" dirty="0">
                <a:solidFill>
                  <a:srgbClr val="FFFFFF"/>
                </a:solidFill>
              </a:rPr>
              <a:t>CPU</a:t>
            </a:r>
            <a:endParaRPr lang="en-US" dirty="0"/>
          </a:p>
        </p:txBody>
      </p:sp>
      <p:sp>
        <p:nvSpPr>
          <p:cNvPr id="10" name="Text 8"/>
          <p:cNvSpPr/>
          <p:nvPr/>
        </p:nvSpPr>
        <p:spPr>
          <a:xfrm>
            <a:off x="1376680" y="2296160"/>
            <a:ext cx="2286000" cy="320040"/>
          </a:xfrm>
          <a:prstGeom prst="rect">
            <a:avLst/>
          </a:prstGeom>
          <a:noFill/>
          <a:ln/>
        </p:spPr>
        <p:txBody>
          <a:bodyPr wrap="square" lIns="0" tIns="0" rIns="0" bIns="0" rtlCol="0" anchor="ctr"/>
          <a:lstStyle/>
          <a:p>
            <a:pPr marL="0" indent="0">
              <a:buNone/>
            </a:pPr>
            <a:r>
              <a:rPr lang="en-US" sz="1400" b="1" dirty="0">
                <a:solidFill>
                  <a:srgbClr val="7C3AED"/>
                </a:solidFill>
              </a:rPr>
              <a:t>Tools: </a:t>
            </a:r>
            <a:r>
              <a:rPr lang="en-US" sz="1400" b="1" dirty="0" err="1">
                <a:solidFill>
                  <a:srgbClr val="7C3AED"/>
                </a:solidFill>
              </a:rPr>
              <a:t>cProfile</a:t>
            </a:r>
            <a:r>
              <a:rPr lang="en-US" sz="1400" b="1" dirty="0">
                <a:solidFill>
                  <a:srgbClr val="7C3AED"/>
                </a:solidFill>
              </a:rPr>
              <a:t> / py-spy</a:t>
            </a:r>
            <a:endParaRPr lang="en-US" sz="1400" dirty="0"/>
          </a:p>
        </p:txBody>
      </p:sp>
      <p:sp>
        <p:nvSpPr>
          <p:cNvPr id="11" name="Text 9"/>
          <p:cNvSpPr/>
          <p:nvPr/>
        </p:nvSpPr>
        <p:spPr>
          <a:xfrm>
            <a:off x="1371600" y="1573784"/>
            <a:ext cx="7132320" cy="735584"/>
          </a:xfrm>
          <a:prstGeom prst="rect">
            <a:avLst/>
          </a:prstGeom>
          <a:noFill/>
          <a:ln/>
        </p:spPr>
        <p:txBody>
          <a:bodyPr wrap="square" lIns="0" tIns="0" rIns="0" bIns="0" rtlCol="0" anchor="ctr"/>
          <a:lstStyle/>
          <a:p>
            <a:pPr marL="0" indent="0">
              <a:lnSpc>
                <a:spcPct val="130000"/>
              </a:lnSpc>
              <a:buNone/>
            </a:pPr>
            <a:r>
              <a:rPr lang="en-US" sz="1400" b="1" dirty="0">
                <a:solidFill>
                  <a:srgbClr val="334155"/>
                </a:solidFill>
              </a:rPr>
              <a:t>Where is time spent? </a:t>
            </a:r>
          </a:p>
          <a:p>
            <a:pPr marL="0" indent="0">
              <a:lnSpc>
                <a:spcPct val="130000"/>
              </a:lnSpc>
              <a:buNone/>
            </a:pPr>
            <a:r>
              <a:rPr lang="en-US" sz="1400" dirty="0">
                <a:solidFill>
                  <a:srgbClr val="334155"/>
                </a:solidFill>
              </a:rPr>
              <a:t>Reveals which pandas function dominates. Caveat: cannot see inside C-extension calls (numpy internals).</a:t>
            </a:r>
            <a:endParaRPr lang="en-US" sz="1400" dirty="0"/>
          </a:p>
        </p:txBody>
      </p:sp>
      <p:sp>
        <p:nvSpPr>
          <p:cNvPr id="12" name="Shape 10"/>
          <p:cNvSpPr/>
          <p:nvPr/>
        </p:nvSpPr>
        <p:spPr>
          <a:xfrm>
            <a:off x="320040" y="2670048"/>
            <a:ext cx="8503920" cy="1005840"/>
          </a:xfrm>
          <a:prstGeom prst="rect">
            <a:avLst/>
          </a:prstGeom>
          <a:solidFill>
            <a:srgbClr val="DBEAFE"/>
          </a:solidFill>
          <a:ln w="6350">
            <a:solidFill>
              <a:srgbClr val="2563EB"/>
            </a:solidFill>
            <a:prstDash val="solid"/>
          </a:ln>
        </p:spPr>
        <p:txBody>
          <a:bodyPr/>
          <a:lstStyle/>
          <a:p>
            <a:endParaRPr lang="en-LU"/>
          </a:p>
        </p:txBody>
      </p:sp>
      <p:sp>
        <p:nvSpPr>
          <p:cNvPr id="13" name="Shape 11"/>
          <p:cNvSpPr/>
          <p:nvPr/>
        </p:nvSpPr>
        <p:spPr>
          <a:xfrm>
            <a:off x="320040" y="2670048"/>
            <a:ext cx="1005840" cy="1005840"/>
          </a:xfrm>
          <a:prstGeom prst="rect">
            <a:avLst/>
          </a:prstGeom>
          <a:solidFill>
            <a:srgbClr val="2563EB"/>
          </a:solidFill>
          <a:ln w="12700">
            <a:solidFill>
              <a:srgbClr val="2563EB"/>
            </a:solidFill>
            <a:prstDash val="solid"/>
          </a:ln>
        </p:spPr>
        <p:txBody>
          <a:bodyPr/>
          <a:lstStyle/>
          <a:p>
            <a:endParaRPr lang="en-LU"/>
          </a:p>
        </p:txBody>
      </p:sp>
      <p:sp>
        <p:nvSpPr>
          <p:cNvPr id="14" name="Text 12"/>
          <p:cNvSpPr/>
          <p:nvPr/>
        </p:nvSpPr>
        <p:spPr>
          <a:xfrm>
            <a:off x="320040" y="2670048"/>
            <a:ext cx="1005840" cy="1005840"/>
          </a:xfrm>
          <a:prstGeom prst="rect">
            <a:avLst/>
          </a:prstGeom>
          <a:noFill/>
          <a:ln/>
        </p:spPr>
        <p:txBody>
          <a:bodyPr wrap="square" lIns="0" tIns="0" rIns="0" bIns="0" rtlCol="0" anchor="ctr"/>
          <a:lstStyle/>
          <a:p>
            <a:pPr marL="0" indent="0" algn="ctr">
              <a:buNone/>
            </a:pPr>
            <a:r>
              <a:rPr lang="en-US" b="1" dirty="0">
                <a:solidFill>
                  <a:srgbClr val="FFFFFF"/>
                </a:solidFill>
              </a:rPr>
              <a:t>Memory</a:t>
            </a:r>
            <a:endParaRPr lang="en-US" dirty="0"/>
          </a:p>
        </p:txBody>
      </p:sp>
      <p:sp>
        <p:nvSpPr>
          <p:cNvPr id="15" name="Text 13"/>
          <p:cNvSpPr/>
          <p:nvPr/>
        </p:nvSpPr>
        <p:spPr>
          <a:xfrm>
            <a:off x="1371600" y="3414522"/>
            <a:ext cx="2286000" cy="320040"/>
          </a:xfrm>
          <a:prstGeom prst="rect">
            <a:avLst/>
          </a:prstGeom>
          <a:noFill/>
          <a:ln/>
        </p:spPr>
        <p:txBody>
          <a:bodyPr wrap="square" lIns="0" tIns="0" rIns="0" bIns="0" rtlCol="0" anchor="ctr"/>
          <a:lstStyle/>
          <a:p>
            <a:pPr marL="0" indent="0">
              <a:buNone/>
            </a:pPr>
            <a:r>
              <a:rPr lang="en-US" sz="1400" b="1" dirty="0">
                <a:solidFill>
                  <a:srgbClr val="2563EB"/>
                </a:solidFill>
              </a:rPr>
              <a:t>Tools: </a:t>
            </a:r>
            <a:r>
              <a:rPr lang="en-US" sz="1400" b="1" dirty="0" err="1">
                <a:solidFill>
                  <a:srgbClr val="2563EB"/>
                </a:solidFill>
              </a:rPr>
              <a:t>tracemalloc</a:t>
            </a:r>
            <a:endParaRPr lang="en-US" sz="1400" dirty="0"/>
          </a:p>
        </p:txBody>
      </p:sp>
      <p:sp>
        <p:nvSpPr>
          <p:cNvPr id="16" name="Text 14"/>
          <p:cNvSpPr/>
          <p:nvPr/>
        </p:nvSpPr>
        <p:spPr>
          <a:xfrm>
            <a:off x="1371600" y="2792730"/>
            <a:ext cx="7132320" cy="530352"/>
          </a:xfrm>
          <a:prstGeom prst="rect">
            <a:avLst/>
          </a:prstGeom>
          <a:noFill/>
          <a:ln/>
        </p:spPr>
        <p:txBody>
          <a:bodyPr wrap="square" lIns="0" tIns="0" rIns="0" bIns="0" rtlCol="0" anchor="ctr"/>
          <a:lstStyle/>
          <a:p>
            <a:pPr marL="0" indent="0">
              <a:lnSpc>
                <a:spcPct val="130000"/>
              </a:lnSpc>
              <a:buNone/>
            </a:pPr>
            <a:r>
              <a:rPr lang="en-US" sz="1400" b="1" dirty="0">
                <a:solidFill>
                  <a:srgbClr val="334155"/>
                </a:solidFill>
              </a:rPr>
              <a:t>How much memory is used?</a:t>
            </a:r>
          </a:p>
          <a:p>
            <a:pPr marL="0" indent="0">
              <a:lnSpc>
                <a:spcPct val="130000"/>
              </a:lnSpc>
              <a:buNone/>
            </a:pPr>
            <a:r>
              <a:rPr lang="en-US" sz="1400" dirty="0">
                <a:solidFill>
                  <a:srgbClr val="334155"/>
                </a:solidFill>
              </a:rPr>
              <a:t>Peak memory during each pipeline step. A merge can spike 3–5× the file size. Critical on shared HPC nodes.</a:t>
            </a:r>
            <a:endParaRPr lang="en-US" sz="1400" dirty="0"/>
          </a:p>
        </p:txBody>
      </p:sp>
      <p:sp>
        <p:nvSpPr>
          <p:cNvPr id="17" name="Shape 15"/>
          <p:cNvSpPr/>
          <p:nvPr/>
        </p:nvSpPr>
        <p:spPr>
          <a:xfrm>
            <a:off x="320040" y="3765804"/>
            <a:ext cx="8503920" cy="1005840"/>
          </a:xfrm>
          <a:prstGeom prst="rect">
            <a:avLst/>
          </a:prstGeom>
          <a:solidFill>
            <a:srgbClr val="CCFBF1"/>
          </a:solidFill>
          <a:ln w="6350">
            <a:solidFill>
              <a:srgbClr val="0D9488"/>
            </a:solidFill>
            <a:prstDash val="solid"/>
          </a:ln>
        </p:spPr>
        <p:txBody>
          <a:bodyPr/>
          <a:lstStyle/>
          <a:p>
            <a:endParaRPr lang="en-LU"/>
          </a:p>
        </p:txBody>
      </p:sp>
      <p:sp>
        <p:nvSpPr>
          <p:cNvPr id="18" name="Shape 16"/>
          <p:cNvSpPr/>
          <p:nvPr/>
        </p:nvSpPr>
        <p:spPr>
          <a:xfrm>
            <a:off x="320040" y="3765804"/>
            <a:ext cx="1005840" cy="1005840"/>
          </a:xfrm>
          <a:prstGeom prst="rect">
            <a:avLst/>
          </a:prstGeom>
          <a:solidFill>
            <a:srgbClr val="0D9488"/>
          </a:solidFill>
          <a:ln w="12700">
            <a:solidFill>
              <a:srgbClr val="0D9488"/>
            </a:solidFill>
            <a:prstDash val="solid"/>
          </a:ln>
        </p:spPr>
        <p:txBody>
          <a:bodyPr/>
          <a:lstStyle/>
          <a:p>
            <a:endParaRPr lang="en-LU"/>
          </a:p>
        </p:txBody>
      </p:sp>
      <p:sp>
        <p:nvSpPr>
          <p:cNvPr id="19" name="Text 17"/>
          <p:cNvSpPr/>
          <p:nvPr/>
        </p:nvSpPr>
        <p:spPr>
          <a:xfrm>
            <a:off x="320040" y="3803904"/>
            <a:ext cx="1005840" cy="1005840"/>
          </a:xfrm>
          <a:prstGeom prst="rect">
            <a:avLst/>
          </a:prstGeom>
          <a:noFill/>
          <a:ln/>
        </p:spPr>
        <p:txBody>
          <a:bodyPr wrap="square" lIns="0" tIns="0" rIns="0" bIns="0" rtlCol="0" anchor="ctr"/>
          <a:lstStyle/>
          <a:p>
            <a:pPr marL="0" indent="0" algn="ctr">
              <a:buNone/>
            </a:pPr>
            <a:r>
              <a:rPr lang="en-US" b="1" dirty="0">
                <a:solidFill>
                  <a:srgbClr val="FFFFFF"/>
                </a:solidFill>
              </a:rPr>
              <a:t>I/O</a:t>
            </a:r>
            <a:endParaRPr lang="en-US" dirty="0"/>
          </a:p>
        </p:txBody>
      </p:sp>
      <p:sp>
        <p:nvSpPr>
          <p:cNvPr id="20" name="Text 18"/>
          <p:cNvSpPr/>
          <p:nvPr/>
        </p:nvSpPr>
        <p:spPr>
          <a:xfrm>
            <a:off x="1371600" y="3767328"/>
            <a:ext cx="2613660" cy="320040"/>
          </a:xfrm>
          <a:prstGeom prst="rect">
            <a:avLst/>
          </a:prstGeom>
          <a:noFill/>
          <a:ln/>
        </p:spPr>
        <p:txBody>
          <a:bodyPr wrap="square" lIns="0" tIns="0" rIns="0" bIns="0" rtlCol="0" anchor="ctr"/>
          <a:lstStyle/>
          <a:p>
            <a:pPr marL="0" indent="0">
              <a:buNone/>
            </a:pPr>
            <a:r>
              <a:rPr lang="en-US" sz="1400" b="1" dirty="0">
                <a:solidFill>
                  <a:srgbClr val="334154"/>
                </a:solidFill>
              </a:rPr>
              <a:t>How much data is read/written?</a:t>
            </a:r>
            <a:endParaRPr lang="en-US" sz="1400" dirty="0">
              <a:solidFill>
                <a:srgbClr val="334154"/>
              </a:solidFill>
            </a:endParaRPr>
          </a:p>
        </p:txBody>
      </p:sp>
      <p:sp>
        <p:nvSpPr>
          <p:cNvPr id="21" name="Text 19"/>
          <p:cNvSpPr/>
          <p:nvPr/>
        </p:nvSpPr>
        <p:spPr>
          <a:xfrm>
            <a:off x="1371600" y="4041648"/>
            <a:ext cx="7132320" cy="530352"/>
          </a:xfrm>
          <a:prstGeom prst="rect">
            <a:avLst/>
          </a:prstGeom>
          <a:noFill/>
          <a:ln/>
        </p:spPr>
        <p:txBody>
          <a:bodyPr wrap="square" lIns="0" tIns="0" rIns="0" bIns="0" rtlCol="0" anchor="ctr"/>
          <a:lstStyle/>
          <a:p>
            <a:pPr marL="0" indent="0">
              <a:lnSpc>
                <a:spcPct val="130000"/>
              </a:lnSpc>
              <a:buNone/>
            </a:pPr>
            <a:r>
              <a:rPr lang="en-US" sz="1400" dirty="0">
                <a:solidFill>
                  <a:srgbClr val="334155"/>
                </a:solidFill>
              </a:rPr>
              <a:t>Bandwidth consumed reading from disk. Single biggest bottleneck — often not visible in CPU profilers.</a:t>
            </a:r>
            <a:endParaRPr lang="en-US" sz="1400" dirty="0"/>
          </a:p>
        </p:txBody>
      </p:sp>
      <p:sp>
        <p:nvSpPr>
          <p:cNvPr id="22" name="Shape 20"/>
          <p:cNvSpPr/>
          <p:nvPr/>
        </p:nvSpPr>
        <p:spPr>
          <a:xfrm>
            <a:off x="320040" y="4819650"/>
            <a:ext cx="8503920" cy="308356"/>
          </a:xfrm>
          <a:prstGeom prst="rect">
            <a:avLst/>
          </a:prstGeom>
          <a:solidFill>
            <a:srgbClr val="0D1B2A"/>
          </a:solidFill>
          <a:ln w="12700">
            <a:solidFill>
              <a:srgbClr val="0D1B2A"/>
            </a:solidFill>
            <a:prstDash val="solid"/>
          </a:ln>
        </p:spPr>
        <p:txBody>
          <a:bodyPr/>
          <a:lstStyle/>
          <a:p>
            <a:endParaRPr lang="en-LU"/>
          </a:p>
        </p:txBody>
      </p:sp>
      <p:sp>
        <p:nvSpPr>
          <p:cNvPr id="23" name="Text 21"/>
          <p:cNvSpPr/>
          <p:nvPr/>
        </p:nvSpPr>
        <p:spPr>
          <a:xfrm>
            <a:off x="914400" y="4774438"/>
            <a:ext cx="8229600" cy="411480"/>
          </a:xfrm>
          <a:prstGeom prst="rect">
            <a:avLst/>
          </a:prstGeom>
          <a:noFill/>
          <a:ln/>
        </p:spPr>
        <p:txBody>
          <a:bodyPr wrap="square" lIns="0" tIns="0" rIns="0" bIns="0" rtlCol="0" anchor="ctr"/>
          <a:lstStyle/>
          <a:p>
            <a:pPr marL="0" indent="0">
              <a:buNone/>
            </a:pPr>
            <a:r>
              <a:rPr lang="en-US" sz="1400" b="1" dirty="0">
                <a:solidFill>
                  <a:srgbClr val="F59E0B"/>
                </a:solidFill>
              </a:rPr>
              <a:t>Key insight: the single biggest bottleneck is almost always I/O — not CPU. Fix storage format first.</a:t>
            </a:r>
            <a:endParaRPr lang="en-US" sz="1400" dirty="0"/>
          </a:p>
        </p:txBody>
      </p:sp>
      <p:sp>
        <p:nvSpPr>
          <p:cNvPr id="25" name="Text 13">
            <a:extLst>
              <a:ext uri="{FF2B5EF4-FFF2-40B4-BE49-F238E27FC236}">
                <a16:creationId xmlns:a16="http://schemas.microsoft.com/office/drawing/2014/main" id="{164B0DC9-2E70-B9A7-4AB2-DF39F2A916E4}"/>
              </a:ext>
            </a:extLst>
          </p:cNvPr>
          <p:cNvSpPr/>
          <p:nvPr/>
        </p:nvSpPr>
        <p:spPr>
          <a:xfrm>
            <a:off x="1371600" y="4495546"/>
            <a:ext cx="2286000" cy="320040"/>
          </a:xfrm>
          <a:prstGeom prst="rect">
            <a:avLst/>
          </a:prstGeom>
          <a:noFill/>
          <a:ln/>
        </p:spPr>
        <p:txBody>
          <a:bodyPr wrap="square" lIns="0" tIns="0" rIns="0" bIns="0" rtlCol="0" anchor="ctr"/>
          <a:lstStyle/>
          <a:p>
            <a:pPr marL="0" indent="0">
              <a:buNone/>
            </a:pPr>
            <a:r>
              <a:rPr lang="en-US" sz="1400" b="1" dirty="0">
                <a:solidFill>
                  <a:srgbClr val="0D9488"/>
                </a:solidFill>
              </a:rPr>
              <a:t>Measure: time + file size</a:t>
            </a:r>
            <a:endParaRPr lang="en-US" sz="1400" dirty="0">
              <a:solidFill>
                <a:srgbClr val="0D9488"/>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LU"/>
          </a:p>
        </p:txBody>
      </p:sp>
      <p:sp>
        <p:nvSpPr>
          <p:cNvPr id="3" name="Text 1"/>
          <p:cNvSpPr/>
          <p:nvPr/>
        </p:nvSpPr>
        <p:spPr>
          <a:xfrm>
            <a:off x="365760" y="0"/>
            <a:ext cx="8412480" cy="960120"/>
          </a:xfrm>
          <a:prstGeom prst="rect">
            <a:avLst/>
          </a:prstGeom>
          <a:noFill/>
          <a:ln/>
        </p:spPr>
        <p:txBody>
          <a:bodyPr wrap="square" lIns="0" tIns="0" rIns="0" bIns="0" rtlCol="0" anchor="ctr"/>
          <a:lstStyle/>
          <a:p>
            <a:pPr marL="0" indent="0">
              <a:buNone/>
            </a:pPr>
            <a:r>
              <a:rPr lang="en-US" sz="2200" b="1" dirty="0">
                <a:solidFill>
                  <a:srgbClr val="FFFFFF"/>
                </a:solidFill>
              </a:rPr>
              <a:t>Columnar Storage: What Parquet Changes &amp; Why</a:t>
            </a:r>
            <a:endParaRPr lang="en-US" sz="2200" dirty="0"/>
          </a:p>
        </p:txBody>
      </p:sp>
      <p:sp>
        <p:nvSpPr>
          <p:cNvPr id="5" name="Text 3"/>
          <p:cNvSpPr/>
          <p:nvPr/>
        </p:nvSpPr>
        <p:spPr>
          <a:xfrm>
            <a:off x="365760" y="1078992"/>
            <a:ext cx="1645920" cy="256032"/>
          </a:xfrm>
          <a:prstGeom prst="rect">
            <a:avLst/>
          </a:prstGeom>
          <a:noFill/>
          <a:ln/>
        </p:spPr>
        <p:txBody>
          <a:bodyPr wrap="square" lIns="0" tIns="0" rIns="0" bIns="0" rtlCol="0" anchor="ctr"/>
          <a:lstStyle/>
          <a:p>
            <a:pPr marL="0" indent="0" algn="ctr">
              <a:buNone/>
            </a:pPr>
            <a:r>
              <a:rPr lang="en-US" sz="900" b="1" dirty="0">
                <a:solidFill>
                  <a:srgbClr val="FFFFFF"/>
                </a:solidFill>
              </a:rPr>
              <a:t>BLOCK 1 · PARQUET</a:t>
            </a:r>
            <a:endParaRPr lang="en-US" sz="900" dirty="0"/>
          </a:p>
        </p:txBody>
      </p:sp>
      <p:sp>
        <p:nvSpPr>
          <p:cNvPr id="6" name="Text 4"/>
          <p:cNvSpPr/>
          <p:nvPr/>
        </p:nvSpPr>
        <p:spPr>
          <a:xfrm>
            <a:off x="320040" y="1088136"/>
            <a:ext cx="3840480" cy="274320"/>
          </a:xfrm>
          <a:prstGeom prst="rect">
            <a:avLst/>
          </a:prstGeom>
          <a:noFill/>
          <a:ln/>
        </p:spPr>
        <p:txBody>
          <a:bodyPr wrap="square" lIns="0" tIns="0" rIns="0" bIns="0" rtlCol="0" anchor="ctr"/>
          <a:lstStyle/>
          <a:p>
            <a:pPr marL="0" indent="0">
              <a:buNone/>
            </a:pPr>
            <a:r>
              <a:rPr lang="en-US" sz="1200" b="1" dirty="0">
                <a:solidFill>
                  <a:srgbClr val="EF4444"/>
                </a:solidFill>
              </a:rPr>
              <a:t>Row-based (CSV)</a:t>
            </a:r>
            <a:endParaRPr lang="en-US" sz="1200" dirty="0"/>
          </a:p>
        </p:txBody>
      </p:sp>
      <p:sp>
        <p:nvSpPr>
          <p:cNvPr id="7" name="Text 5"/>
          <p:cNvSpPr/>
          <p:nvPr/>
        </p:nvSpPr>
        <p:spPr>
          <a:xfrm>
            <a:off x="4892040" y="1088136"/>
            <a:ext cx="3840480" cy="274320"/>
          </a:xfrm>
          <a:prstGeom prst="rect">
            <a:avLst/>
          </a:prstGeom>
          <a:noFill/>
          <a:ln/>
        </p:spPr>
        <p:txBody>
          <a:bodyPr wrap="square" lIns="0" tIns="0" rIns="0" bIns="0" rtlCol="0" anchor="ctr"/>
          <a:lstStyle/>
          <a:p>
            <a:pPr marL="0" indent="0">
              <a:buNone/>
            </a:pPr>
            <a:r>
              <a:rPr lang="en-US" sz="1200" b="1" dirty="0">
                <a:solidFill>
                  <a:srgbClr val="0D9488"/>
                </a:solidFill>
              </a:rPr>
              <a:t>Columnar (Parquet)</a:t>
            </a:r>
            <a:endParaRPr lang="en-US" sz="1200" dirty="0"/>
          </a:p>
        </p:txBody>
      </p:sp>
      <p:sp>
        <p:nvSpPr>
          <p:cNvPr id="8" name="Shape 6"/>
          <p:cNvSpPr/>
          <p:nvPr/>
        </p:nvSpPr>
        <p:spPr>
          <a:xfrm>
            <a:off x="320040" y="1444752"/>
            <a:ext cx="914400" cy="347472"/>
          </a:xfrm>
          <a:prstGeom prst="rect">
            <a:avLst/>
          </a:prstGeom>
          <a:solidFill>
            <a:srgbClr val="FEE2E2"/>
          </a:solidFill>
          <a:ln w="6350">
            <a:solidFill>
              <a:srgbClr val="FCA5A5"/>
            </a:solidFill>
            <a:prstDash val="solid"/>
          </a:ln>
        </p:spPr>
        <p:txBody>
          <a:bodyPr/>
          <a:lstStyle/>
          <a:p>
            <a:endParaRPr lang="en-LU"/>
          </a:p>
        </p:txBody>
      </p:sp>
      <p:sp>
        <p:nvSpPr>
          <p:cNvPr id="9" name="Text 7"/>
          <p:cNvSpPr/>
          <p:nvPr/>
        </p:nvSpPr>
        <p:spPr>
          <a:xfrm>
            <a:off x="320040" y="1444752"/>
            <a:ext cx="914400" cy="347472"/>
          </a:xfrm>
          <a:prstGeom prst="rect">
            <a:avLst/>
          </a:prstGeom>
          <a:noFill/>
          <a:ln/>
        </p:spPr>
        <p:txBody>
          <a:bodyPr wrap="square" lIns="0" tIns="0" rIns="0" bIns="0" rtlCol="0" anchor="ctr"/>
          <a:lstStyle/>
          <a:p>
            <a:pPr marL="0" indent="0" algn="ctr">
              <a:buNone/>
            </a:pPr>
            <a:r>
              <a:rPr lang="en-US" sz="900" dirty="0">
                <a:solidFill>
                  <a:srgbClr val="991B1B"/>
                </a:solidFill>
              </a:rPr>
              <a:t>1</a:t>
            </a:r>
            <a:endParaRPr lang="en-US" sz="900" dirty="0"/>
          </a:p>
        </p:txBody>
      </p:sp>
      <p:sp>
        <p:nvSpPr>
          <p:cNvPr id="10" name="Shape 8"/>
          <p:cNvSpPr/>
          <p:nvPr/>
        </p:nvSpPr>
        <p:spPr>
          <a:xfrm>
            <a:off x="1280160" y="1444752"/>
            <a:ext cx="914400" cy="347472"/>
          </a:xfrm>
          <a:prstGeom prst="rect">
            <a:avLst/>
          </a:prstGeom>
          <a:solidFill>
            <a:srgbClr val="FEE2E2"/>
          </a:solidFill>
          <a:ln w="6350">
            <a:solidFill>
              <a:srgbClr val="FCA5A5"/>
            </a:solidFill>
            <a:prstDash val="solid"/>
          </a:ln>
        </p:spPr>
        <p:txBody>
          <a:bodyPr/>
          <a:lstStyle/>
          <a:p>
            <a:endParaRPr lang="en-LU"/>
          </a:p>
        </p:txBody>
      </p:sp>
      <p:sp>
        <p:nvSpPr>
          <p:cNvPr id="11" name="Text 9"/>
          <p:cNvSpPr/>
          <p:nvPr/>
        </p:nvSpPr>
        <p:spPr>
          <a:xfrm>
            <a:off x="1280160" y="1444752"/>
            <a:ext cx="914400" cy="347472"/>
          </a:xfrm>
          <a:prstGeom prst="rect">
            <a:avLst/>
          </a:prstGeom>
          <a:noFill/>
          <a:ln/>
        </p:spPr>
        <p:txBody>
          <a:bodyPr wrap="square" lIns="0" tIns="0" rIns="0" bIns="0" rtlCol="0" anchor="ctr"/>
          <a:lstStyle/>
          <a:p>
            <a:pPr marL="0" indent="0" algn="ctr">
              <a:buNone/>
            </a:pPr>
            <a:r>
              <a:rPr lang="en-US" sz="900" dirty="0">
                <a:solidFill>
                  <a:srgbClr val="991B1B"/>
                </a:solidFill>
              </a:rPr>
              <a:t>North</a:t>
            </a:r>
            <a:endParaRPr lang="en-US" sz="900" dirty="0"/>
          </a:p>
        </p:txBody>
      </p:sp>
      <p:sp>
        <p:nvSpPr>
          <p:cNvPr id="12" name="Shape 10"/>
          <p:cNvSpPr/>
          <p:nvPr/>
        </p:nvSpPr>
        <p:spPr>
          <a:xfrm>
            <a:off x="2240280" y="1444752"/>
            <a:ext cx="914400" cy="347472"/>
          </a:xfrm>
          <a:prstGeom prst="rect">
            <a:avLst/>
          </a:prstGeom>
          <a:solidFill>
            <a:srgbClr val="FEE2E2"/>
          </a:solidFill>
          <a:ln w="6350">
            <a:solidFill>
              <a:srgbClr val="FCA5A5"/>
            </a:solidFill>
            <a:prstDash val="solid"/>
          </a:ln>
        </p:spPr>
        <p:txBody>
          <a:bodyPr/>
          <a:lstStyle/>
          <a:p>
            <a:endParaRPr lang="en-LU"/>
          </a:p>
        </p:txBody>
      </p:sp>
      <p:sp>
        <p:nvSpPr>
          <p:cNvPr id="13" name="Text 11"/>
          <p:cNvSpPr/>
          <p:nvPr/>
        </p:nvSpPr>
        <p:spPr>
          <a:xfrm>
            <a:off x="2240280" y="1444752"/>
            <a:ext cx="914400" cy="347472"/>
          </a:xfrm>
          <a:prstGeom prst="rect">
            <a:avLst/>
          </a:prstGeom>
          <a:noFill/>
          <a:ln/>
        </p:spPr>
        <p:txBody>
          <a:bodyPr wrap="square" lIns="0" tIns="0" rIns="0" bIns="0" rtlCol="0" anchor="ctr"/>
          <a:lstStyle/>
          <a:p>
            <a:pPr marL="0" indent="0" algn="ctr">
              <a:buNone/>
            </a:pPr>
            <a:r>
              <a:rPr lang="en-US" sz="900" dirty="0">
                <a:solidFill>
                  <a:srgbClr val="991B1B"/>
                </a:solidFill>
              </a:rPr>
              <a:t>54.2</a:t>
            </a:r>
            <a:endParaRPr lang="en-US" sz="900" dirty="0"/>
          </a:p>
        </p:txBody>
      </p:sp>
      <p:sp>
        <p:nvSpPr>
          <p:cNvPr id="14" name="Shape 12"/>
          <p:cNvSpPr/>
          <p:nvPr/>
        </p:nvSpPr>
        <p:spPr>
          <a:xfrm>
            <a:off x="3200400" y="1444752"/>
            <a:ext cx="914400" cy="347472"/>
          </a:xfrm>
          <a:prstGeom prst="rect">
            <a:avLst/>
          </a:prstGeom>
          <a:solidFill>
            <a:srgbClr val="FEE2E2"/>
          </a:solidFill>
          <a:ln w="6350">
            <a:solidFill>
              <a:srgbClr val="FCA5A5"/>
            </a:solidFill>
            <a:prstDash val="solid"/>
          </a:ln>
        </p:spPr>
        <p:txBody>
          <a:bodyPr/>
          <a:lstStyle/>
          <a:p>
            <a:endParaRPr lang="en-LU"/>
          </a:p>
        </p:txBody>
      </p:sp>
      <p:sp>
        <p:nvSpPr>
          <p:cNvPr id="15" name="Text 13"/>
          <p:cNvSpPr/>
          <p:nvPr/>
        </p:nvSpPr>
        <p:spPr>
          <a:xfrm>
            <a:off x="3200400" y="1444752"/>
            <a:ext cx="914400" cy="347472"/>
          </a:xfrm>
          <a:prstGeom prst="rect">
            <a:avLst/>
          </a:prstGeom>
          <a:noFill/>
          <a:ln/>
        </p:spPr>
        <p:txBody>
          <a:bodyPr wrap="square" lIns="0" tIns="0" rIns="0" bIns="0" rtlCol="0" anchor="ctr"/>
          <a:lstStyle/>
          <a:p>
            <a:pPr marL="0" indent="0" algn="ctr">
              <a:buNone/>
            </a:pPr>
            <a:r>
              <a:rPr lang="en-US" sz="900" dirty="0">
                <a:solidFill>
                  <a:srgbClr val="991B1B"/>
                </a:solidFill>
              </a:rPr>
              <a:t>3</a:t>
            </a:r>
            <a:endParaRPr lang="en-US" sz="900" dirty="0"/>
          </a:p>
        </p:txBody>
      </p:sp>
      <p:sp>
        <p:nvSpPr>
          <p:cNvPr id="16" name="Shape 14"/>
          <p:cNvSpPr/>
          <p:nvPr/>
        </p:nvSpPr>
        <p:spPr>
          <a:xfrm>
            <a:off x="320040" y="1810512"/>
            <a:ext cx="914400" cy="347472"/>
          </a:xfrm>
          <a:prstGeom prst="rect">
            <a:avLst/>
          </a:prstGeom>
          <a:solidFill>
            <a:srgbClr val="FEE2E2"/>
          </a:solidFill>
          <a:ln w="6350">
            <a:solidFill>
              <a:srgbClr val="FCA5A5"/>
            </a:solidFill>
            <a:prstDash val="solid"/>
          </a:ln>
        </p:spPr>
        <p:txBody>
          <a:bodyPr/>
          <a:lstStyle/>
          <a:p>
            <a:endParaRPr lang="en-LU"/>
          </a:p>
        </p:txBody>
      </p:sp>
      <p:sp>
        <p:nvSpPr>
          <p:cNvPr id="17" name="Text 15"/>
          <p:cNvSpPr/>
          <p:nvPr/>
        </p:nvSpPr>
        <p:spPr>
          <a:xfrm>
            <a:off x="320040" y="1810512"/>
            <a:ext cx="914400" cy="347472"/>
          </a:xfrm>
          <a:prstGeom prst="rect">
            <a:avLst/>
          </a:prstGeom>
          <a:noFill/>
          <a:ln/>
        </p:spPr>
        <p:txBody>
          <a:bodyPr wrap="square" lIns="0" tIns="0" rIns="0" bIns="0" rtlCol="0" anchor="ctr"/>
          <a:lstStyle/>
          <a:p>
            <a:pPr marL="0" indent="0" algn="ctr">
              <a:buNone/>
            </a:pPr>
            <a:r>
              <a:rPr lang="en-US" sz="900" dirty="0">
                <a:solidFill>
                  <a:srgbClr val="991B1B"/>
                </a:solidFill>
              </a:rPr>
              <a:t>2</a:t>
            </a:r>
            <a:endParaRPr lang="en-US" sz="900" dirty="0"/>
          </a:p>
        </p:txBody>
      </p:sp>
      <p:sp>
        <p:nvSpPr>
          <p:cNvPr id="18" name="Shape 16"/>
          <p:cNvSpPr/>
          <p:nvPr/>
        </p:nvSpPr>
        <p:spPr>
          <a:xfrm>
            <a:off x="1280160" y="1810512"/>
            <a:ext cx="914400" cy="347472"/>
          </a:xfrm>
          <a:prstGeom prst="rect">
            <a:avLst/>
          </a:prstGeom>
          <a:solidFill>
            <a:srgbClr val="FEE2E2"/>
          </a:solidFill>
          <a:ln w="6350">
            <a:solidFill>
              <a:srgbClr val="FCA5A5"/>
            </a:solidFill>
            <a:prstDash val="solid"/>
          </a:ln>
        </p:spPr>
        <p:txBody>
          <a:bodyPr/>
          <a:lstStyle/>
          <a:p>
            <a:endParaRPr lang="en-LU"/>
          </a:p>
        </p:txBody>
      </p:sp>
      <p:sp>
        <p:nvSpPr>
          <p:cNvPr id="19" name="Text 17"/>
          <p:cNvSpPr/>
          <p:nvPr/>
        </p:nvSpPr>
        <p:spPr>
          <a:xfrm>
            <a:off x="1280160" y="1810512"/>
            <a:ext cx="914400" cy="347472"/>
          </a:xfrm>
          <a:prstGeom prst="rect">
            <a:avLst/>
          </a:prstGeom>
          <a:noFill/>
          <a:ln/>
        </p:spPr>
        <p:txBody>
          <a:bodyPr wrap="square" lIns="0" tIns="0" rIns="0" bIns="0" rtlCol="0" anchor="ctr"/>
          <a:lstStyle/>
          <a:p>
            <a:pPr marL="0" indent="0" algn="ctr">
              <a:buNone/>
            </a:pPr>
            <a:r>
              <a:rPr lang="en-US" sz="900" dirty="0">
                <a:solidFill>
                  <a:srgbClr val="991B1B"/>
                </a:solidFill>
              </a:rPr>
              <a:t>South</a:t>
            </a:r>
            <a:endParaRPr lang="en-US" sz="900" dirty="0"/>
          </a:p>
        </p:txBody>
      </p:sp>
      <p:sp>
        <p:nvSpPr>
          <p:cNvPr id="20" name="Shape 18"/>
          <p:cNvSpPr/>
          <p:nvPr/>
        </p:nvSpPr>
        <p:spPr>
          <a:xfrm>
            <a:off x="2240280" y="1810512"/>
            <a:ext cx="914400" cy="347472"/>
          </a:xfrm>
          <a:prstGeom prst="rect">
            <a:avLst/>
          </a:prstGeom>
          <a:solidFill>
            <a:srgbClr val="FEE2E2"/>
          </a:solidFill>
          <a:ln w="6350">
            <a:solidFill>
              <a:srgbClr val="FCA5A5"/>
            </a:solidFill>
            <a:prstDash val="solid"/>
          </a:ln>
        </p:spPr>
        <p:txBody>
          <a:bodyPr/>
          <a:lstStyle/>
          <a:p>
            <a:endParaRPr lang="en-LU"/>
          </a:p>
        </p:txBody>
      </p:sp>
      <p:sp>
        <p:nvSpPr>
          <p:cNvPr id="21" name="Text 19"/>
          <p:cNvSpPr/>
          <p:nvPr/>
        </p:nvSpPr>
        <p:spPr>
          <a:xfrm>
            <a:off x="2240280" y="1810512"/>
            <a:ext cx="914400" cy="347472"/>
          </a:xfrm>
          <a:prstGeom prst="rect">
            <a:avLst/>
          </a:prstGeom>
          <a:noFill/>
          <a:ln/>
        </p:spPr>
        <p:txBody>
          <a:bodyPr wrap="square" lIns="0" tIns="0" rIns="0" bIns="0" rtlCol="0" anchor="ctr"/>
          <a:lstStyle/>
          <a:p>
            <a:pPr marL="0" indent="0" algn="ctr">
              <a:buNone/>
            </a:pPr>
            <a:r>
              <a:rPr lang="en-US" sz="900" dirty="0">
                <a:solidFill>
                  <a:srgbClr val="991B1B"/>
                </a:solidFill>
              </a:rPr>
              <a:t>12.8</a:t>
            </a:r>
            <a:endParaRPr lang="en-US" sz="900" dirty="0"/>
          </a:p>
        </p:txBody>
      </p:sp>
      <p:sp>
        <p:nvSpPr>
          <p:cNvPr id="22" name="Shape 20"/>
          <p:cNvSpPr/>
          <p:nvPr/>
        </p:nvSpPr>
        <p:spPr>
          <a:xfrm>
            <a:off x="3200400" y="1810512"/>
            <a:ext cx="914400" cy="347472"/>
          </a:xfrm>
          <a:prstGeom prst="rect">
            <a:avLst/>
          </a:prstGeom>
          <a:solidFill>
            <a:srgbClr val="FEE2E2"/>
          </a:solidFill>
          <a:ln w="6350">
            <a:solidFill>
              <a:srgbClr val="FCA5A5"/>
            </a:solidFill>
            <a:prstDash val="solid"/>
          </a:ln>
        </p:spPr>
        <p:txBody>
          <a:bodyPr/>
          <a:lstStyle/>
          <a:p>
            <a:endParaRPr lang="en-LU"/>
          </a:p>
        </p:txBody>
      </p:sp>
      <p:sp>
        <p:nvSpPr>
          <p:cNvPr id="23" name="Text 21"/>
          <p:cNvSpPr/>
          <p:nvPr/>
        </p:nvSpPr>
        <p:spPr>
          <a:xfrm>
            <a:off x="3200400" y="1810512"/>
            <a:ext cx="914400" cy="347472"/>
          </a:xfrm>
          <a:prstGeom prst="rect">
            <a:avLst/>
          </a:prstGeom>
          <a:noFill/>
          <a:ln/>
        </p:spPr>
        <p:txBody>
          <a:bodyPr wrap="square" lIns="0" tIns="0" rIns="0" bIns="0" rtlCol="0" anchor="ctr"/>
          <a:lstStyle/>
          <a:p>
            <a:pPr marL="0" indent="0" algn="ctr">
              <a:buNone/>
            </a:pPr>
            <a:r>
              <a:rPr lang="en-US" sz="900" dirty="0">
                <a:solidFill>
                  <a:srgbClr val="991B1B"/>
                </a:solidFill>
              </a:rPr>
              <a:t>1</a:t>
            </a:r>
            <a:endParaRPr lang="en-US" sz="900" dirty="0"/>
          </a:p>
        </p:txBody>
      </p:sp>
      <p:sp>
        <p:nvSpPr>
          <p:cNvPr id="24" name="Shape 22"/>
          <p:cNvSpPr/>
          <p:nvPr/>
        </p:nvSpPr>
        <p:spPr>
          <a:xfrm>
            <a:off x="320040" y="2176272"/>
            <a:ext cx="914400" cy="347472"/>
          </a:xfrm>
          <a:prstGeom prst="rect">
            <a:avLst/>
          </a:prstGeom>
          <a:solidFill>
            <a:srgbClr val="FEE2E2"/>
          </a:solidFill>
          <a:ln w="6350">
            <a:solidFill>
              <a:srgbClr val="FCA5A5"/>
            </a:solidFill>
            <a:prstDash val="solid"/>
          </a:ln>
        </p:spPr>
        <p:txBody>
          <a:bodyPr/>
          <a:lstStyle/>
          <a:p>
            <a:endParaRPr lang="en-LU"/>
          </a:p>
        </p:txBody>
      </p:sp>
      <p:sp>
        <p:nvSpPr>
          <p:cNvPr id="25" name="Text 23"/>
          <p:cNvSpPr/>
          <p:nvPr/>
        </p:nvSpPr>
        <p:spPr>
          <a:xfrm>
            <a:off x="320040" y="2176272"/>
            <a:ext cx="914400" cy="347472"/>
          </a:xfrm>
          <a:prstGeom prst="rect">
            <a:avLst/>
          </a:prstGeom>
          <a:noFill/>
          <a:ln/>
        </p:spPr>
        <p:txBody>
          <a:bodyPr wrap="square" lIns="0" tIns="0" rIns="0" bIns="0" rtlCol="0" anchor="ctr"/>
          <a:lstStyle/>
          <a:p>
            <a:pPr marL="0" indent="0" algn="ctr">
              <a:buNone/>
            </a:pPr>
            <a:r>
              <a:rPr lang="en-US" sz="900" dirty="0">
                <a:solidFill>
                  <a:srgbClr val="991B1B"/>
                </a:solidFill>
              </a:rPr>
              <a:t>3</a:t>
            </a:r>
            <a:endParaRPr lang="en-US" sz="900" dirty="0"/>
          </a:p>
        </p:txBody>
      </p:sp>
      <p:sp>
        <p:nvSpPr>
          <p:cNvPr id="26" name="Shape 24"/>
          <p:cNvSpPr/>
          <p:nvPr/>
        </p:nvSpPr>
        <p:spPr>
          <a:xfrm>
            <a:off x="1280160" y="2176272"/>
            <a:ext cx="914400" cy="347472"/>
          </a:xfrm>
          <a:prstGeom prst="rect">
            <a:avLst/>
          </a:prstGeom>
          <a:solidFill>
            <a:srgbClr val="FEE2E2"/>
          </a:solidFill>
          <a:ln w="6350">
            <a:solidFill>
              <a:srgbClr val="FCA5A5"/>
            </a:solidFill>
            <a:prstDash val="solid"/>
          </a:ln>
        </p:spPr>
        <p:txBody>
          <a:bodyPr/>
          <a:lstStyle/>
          <a:p>
            <a:endParaRPr lang="en-LU"/>
          </a:p>
        </p:txBody>
      </p:sp>
      <p:sp>
        <p:nvSpPr>
          <p:cNvPr id="27" name="Text 25"/>
          <p:cNvSpPr/>
          <p:nvPr/>
        </p:nvSpPr>
        <p:spPr>
          <a:xfrm>
            <a:off x="1280160" y="2176272"/>
            <a:ext cx="914400" cy="347472"/>
          </a:xfrm>
          <a:prstGeom prst="rect">
            <a:avLst/>
          </a:prstGeom>
          <a:noFill/>
          <a:ln/>
        </p:spPr>
        <p:txBody>
          <a:bodyPr wrap="square" lIns="0" tIns="0" rIns="0" bIns="0" rtlCol="0" anchor="ctr"/>
          <a:lstStyle/>
          <a:p>
            <a:pPr marL="0" indent="0" algn="ctr">
              <a:buNone/>
            </a:pPr>
            <a:r>
              <a:rPr lang="en-US" sz="900" dirty="0">
                <a:solidFill>
                  <a:srgbClr val="991B1B"/>
                </a:solidFill>
              </a:rPr>
              <a:t>East</a:t>
            </a:r>
            <a:endParaRPr lang="en-US" sz="900" dirty="0"/>
          </a:p>
        </p:txBody>
      </p:sp>
      <p:sp>
        <p:nvSpPr>
          <p:cNvPr id="28" name="Shape 26"/>
          <p:cNvSpPr/>
          <p:nvPr/>
        </p:nvSpPr>
        <p:spPr>
          <a:xfrm>
            <a:off x="2240280" y="2176272"/>
            <a:ext cx="914400" cy="347472"/>
          </a:xfrm>
          <a:prstGeom prst="rect">
            <a:avLst/>
          </a:prstGeom>
          <a:solidFill>
            <a:srgbClr val="FEE2E2"/>
          </a:solidFill>
          <a:ln w="6350">
            <a:solidFill>
              <a:srgbClr val="FCA5A5"/>
            </a:solidFill>
            <a:prstDash val="solid"/>
          </a:ln>
        </p:spPr>
        <p:txBody>
          <a:bodyPr/>
          <a:lstStyle/>
          <a:p>
            <a:endParaRPr lang="en-LU"/>
          </a:p>
        </p:txBody>
      </p:sp>
      <p:sp>
        <p:nvSpPr>
          <p:cNvPr id="29" name="Text 27"/>
          <p:cNvSpPr/>
          <p:nvPr/>
        </p:nvSpPr>
        <p:spPr>
          <a:xfrm>
            <a:off x="2240280" y="2176272"/>
            <a:ext cx="914400" cy="347472"/>
          </a:xfrm>
          <a:prstGeom prst="rect">
            <a:avLst/>
          </a:prstGeom>
          <a:noFill/>
          <a:ln/>
        </p:spPr>
        <p:txBody>
          <a:bodyPr wrap="square" lIns="0" tIns="0" rIns="0" bIns="0" rtlCol="0" anchor="ctr"/>
          <a:lstStyle/>
          <a:p>
            <a:pPr marL="0" indent="0" algn="ctr">
              <a:buNone/>
            </a:pPr>
            <a:r>
              <a:rPr lang="en-US" sz="900" dirty="0">
                <a:solidFill>
                  <a:srgbClr val="991B1B"/>
                </a:solidFill>
              </a:rPr>
              <a:t>99.0</a:t>
            </a:r>
            <a:endParaRPr lang="en-US" sz="900" dirty="0"/>
          </a:p>
        </p:txBody>
      </p:sp>
      <p:sp>
        <p:nvSpPr>
          <p:cNvPr id="30" name="Shape 28"/>
          <p:cNvSpPr/>
          <p:nvPr/>
        </p:nvSpPr>
        <p:spPr>
          <a:xfrm>
            <a:off x="3200400" y="2176272"/>
            <a:ext cx="914400" cy="347472"/>
          </a:xfrm>
          <a:prstGeom prst="rect">
            <a:avLst/>
          </a:prstGeom>
          <a:solidFill>
            <a:srgbClr val="FEE2E2"/>
          </a:solidFill>
          <a:ln w="6350">
            <a:solidFill>
              <a:srgbClr val="FCA5A5"/>
            </a:solidFill>
            <a:prstDash val="solid"/>
          </a:ln>
        </p:spPr>
        <p:txBody>
          <a:bodyPr/>
          <a:lstStyle/>
          <a:p>
            <a:endParaRPr lang="en-LU"/>
          </a:p>
        </p:txBody>
      </p:sp>
      <p:sp>
        <p:nvSpPr>
          <p:cNvPr id="31" name="Text 29"/>
          <p:cNvSpPr/>
          <p:nvPr/>
        </p:nvSpPr>
        <p:spPr>
          <a:xfrm>
            <a:off x="3200400" y="2176272"/>
            <a:ext cx="914400" cy="347472"/>
          </a:xfrm>
          <a:prstGeom prst="rect">
            <a:avLst/>
          </a:prstGeom>
          <a:noFill/>
          <a:ln/>
        </p:spPr>
        <p:txBody>
          <a:bodyPr wrap="square" lIns="0" tIns="0" rIns="0" bIns="0" rtlCol="0" anchor="ctr"/>
          <a:lstStyle/>
          <a:p>
            <a:pPr marL="0" indent="0" algn="ctr">
              <a:buNone/>
            </a:pPr>
            <a:r>
              <a:rPr lang="en-US" sz="900" dirty="0">
                <a:solidFill>
                  <a:srgbClr val="991B1B"/>
                </a:solidFill>
              </a:rPr>
              <a:t>7</a:t>
            </a:r>
            <a:endParaRPr lang="en-US" sz="900" dirty="0"/>
          </a:p>
        </p:txBody>
      </p:sp>
      <p:sp>
        <p:nvSpPr>
          <p:cNvPr id="32" name="Text 30"/>
          <p:cNvSpPr/>
          <p:nvPr/>
        </p:nvSpPr>
        <p:spPr>
          <a:xfrm>
            <a:off x="320040" y="2606040"/>
            <a:ext cx="4114800" cy="320040"/>
          </a:xfrm>
          <a:prstGeom prst="rect">
            <a:avLst/>
          </a:prstGeom>
          <a:noFill/>
          <a:ln/>
        </p:spPr>
        <p:txBody>
          <a:bodyPr wrap="square" lIns="0" tIns="0" rIns="0" bIns="0" rtlCol="0" anchor="ctr"/>
          <a:lstStyle/>
          <a:p>
            <a:pPr marL="0" indent="0">
              <a:buNone/>
            </a:pPr>
            <a:r>
              <a:rPr lang="en-US" sz="900" i="1" dirty="0">
                <a:solidFill>
                  <a:srgbClr val="EF4444"/>
                </a:solidFill>
              </a:rPr>
              <a:t>→ To get 'amount': read ALL columns of ALL rows</a:t>
            </a:r>
            <a:endParaRPr lang="en-US" sz="900" dirty="0"/>
          </a:p>
        </p:txBody>
      </p:sp>
      <p:sp>
        <p:nvSpPr>
          <p:cNvPr id="33" name="Shape 31"/>
          <p:cNvSpPr/>
          <p:nvPr/>
        </p:nvSpPr>
        <p:spPr>
          <a:xfrm>
            <a:off x="4892040" y="1444752"/>
            <a:ext cx="914400" cy="1097280"/>
          </a:xfrm>
          <a:prstGeom prst="rect">
            <a:avLst/>
          </a:prstGeom>
          <a:solidFill>
            <a:srgbClr val="CCFBF1"/>
          </a:solidFill>
          <a:ln w="6350">
            <a:solidFill>
              <a:srgbClr val="0D9488"/>
            </a:solidFill>
            <a:prstDash val="solid"/>
          </a:ln>
        </p:spPr>
        <p:txBody>
          <a:bodyPr/>
          <a:lstStyle/>
          <a:p>
            <a:endParaRPr lang="en-LU"/>
          </a:p>
        </p:txBody>
      </p:sp>
      <p:sp>
        <p:nvSpPr>
          <p:cNvPr id="34" name="Text 32"/>
          <p:cNvSpPr/>
          <p:nvPr/>
        </p:nvSpPr>
        <p:spPr>
          <a:xfrm>
            <a:off x="4892040" y="1444752"/>
            <a:ext cx="914400" cy="274320"/>
          </a:xfrm>
          <a:prstGeom prst="rect">
            <a:avLst/>
          </a:prstGeom>
          <a:noFill/>
          <a:ln/>
        </p:spPr>
        <p:txBody>
          <a:bodyPr wrap="square" lIns="0" tIns="0" rIns="0" bIns="0" rtlCol="0" anchor="ctr"/>
          <a:lstStyle/>
          <a:p>
            <a:pPr marL="0" indent="0" algn="ctr">
              <a:buNone/>
            </a:pPr>
            <a:r>
              <a:rPr lang="en-US" sz="900" b="1" dirty="0">
                <a:solidFill>
                  <a:srgbClr val="334155"/>
                </a:solidFill>
              </a:rPr>
              <a:t>id</a:t>
            </a:r>
            <a:endParaRPr lang="en-US" sz="900" dirty="0"/>
          </a:p>
        </p:txBody>
      </p:sp>
      <p:sp>
        <p:nvSpPr>
          <p:cNvPr id="35" name="Text 33"/>
          <p:cNvSpPr/>
          <p:nvPr/>
        </p:nvSpPr>
        <p:spPr>
          <a:xfrm>
            <a:off x="4892040" y="1719072"/>
            <a:ext cx="914400" cy="274320"/>
          </a:xfrm>
          <a:prstGeom prst="rect">
            <a:avLst/>
          </a:prstGeom>
          <a:noFill/>
          <a:ln/>
        </p:spPr>
        <p:txBody>
          <a:bodyPr wrap="square" lIns="0" tIns="0" rIns="0" bIns="0" rtlCol="0" anchor="ctr"/>
          <a:lstStyle/>
          <a:p>
            <a:pPr marL="0" indent="0" algn="ctr">
              <a:buNone/>
            </a:pPr>
            <a:r>
              <a:rPr lang="en-US" sz="900" dirty="0">
                <a:solidFill>
                  <a:srgbClr val="334155"/>
                </a:solidFill>
              </a:rPr>
              <a:t>1</a:t>
            </a:r>
            <a:endParaRPr lang="en-US" sz="900" dirty="0"/>
          </a:p>
        </p:txBody>
      </p:sp>
      <p:sp>
        <p:nvSpPr>
          <p:cNvPr id="36" name="Text 34"/>
          <p:cNvSpPr/>
          <p:nvPr/>
        </p:nvSpPr>
        <p:spPr>
          <a:xfrm>
            <a:off x="4892040" y="1993392"/>
            <a:ext cx="914400" cy="274320"/>
          </a:xfrm>
          <a:prstGeom prst="rect">
            <a:avLst/>
          </a:prstGeom>
          <a:noFill/>
          <a:ln/>
        </p:spPr>
        <p:txBody>
          <a:bodyPr wrap="square" lIns="0" tIns="0" rIns="0" bIns="0" rtlCol="0" anchor="ctr"/>
          <a:lstStyle/>
          <a:p>
            <a:pPr marL="0" indent="0" algn="ctr">
              <a:buNone/>
            </a:pPr>
            <a:r>
              <a:rPr lang="en-US" sz="900" dirty="0">
                <a:solidFill>
                  <a:srgbClr val="334155"/>
                </a:solidFill>
              </a:rPr>
              <a:t>2</a:t>
            </a:r>
            <a:endParaRPr lang="en-US" sz="900" dirty="0"/>
          </a:p>
        </p:txBody>
      </p:sp>
      <p:sp>
        <p:nvSpPr>
          <p:cNvPr id="37" name="Text 35"/>
          <p:cNvSpPr/>
          <p:nvPr/>
        </p:nvSpPr>
        <p:spPr>
          <a:xfrm>
            <a:off x="4892040" y="2267712"/>
            <a:ext cx="914400" cy="274320"/>
          </a:xfrm>
          <a:prstGeom prst="rect">
            <a:avLst/>
          </a:prstGeom>
          <a:noFill/>
          <a:ln/>
        </p:spPr>
        <p:txBody>
          <a:bodyPr wrap="square" lIns="0" tIns="0" rIns="0" bIns="0" rtlCol="0" anchor="ctr"/>
          <a:lstStyle/>
          <a:p>
            <a:pPr marL="0" indent="0" algn="ctr">
              <a:buNone/>
            </a:pPr>
            <a:r>
              <a:rPr lang="en-US" sz="900" dirty="0">
                <a:solidFill>
                  <a:srgbClr val="334155"/>
                </a:solidFill>
              </a:rPr>
              <a:t>3</a:t>
            </a:r>
            <a:endParaRPr lang="en-US" sz="900" dirty="0"/>
          </a:p>
        </p:txBody>
      </p:sp>
      <p:sp>
        <p:nvSpPr>
          <p:cNvPr id="38" name="Shape 36"/>
          <p:cNvSpPr/>
          <p:nvPr/>
        </p:nvSpPr>
        <p:spPr>
          <a:xfrm>
            <a:off x="5852160" y="1444752"/>
            <a:ext cx="914400" cy="1097280"/>
          </a:xfrm>
          <a:prstGeom prst="rect">
            <a:avLst/>
          </a:prstGeom>
          <a:solidFill>
            <a:srgbClr val="99F6E4"/>
          </a:solidFill>
          <a:ln w="6350">
            <a:solidFill>
              <a:srgbClr val="0D9488"/>
            </a:solidFill>
            <a:prstDash val="solid"/>
          </a:ln>
        </p:spPr>
        <p:txBody>
          <a:bodyPr/>
          <a:lstStyle/>
          <a:p>
            <a:endParaRPr lang="en-LU"/>
          </a:p>
        </p:txBody>
      </p:sp>
      <p:sp>
        <p:nvSpPr>
          <p:cNvPr id="39" name="Text 37"/>
          <p:cNvSpPr/>
          <p:nvPr/>
        </p:nvSpPr>
        <p:spPr>
          <a:xfrm>
            <a:off x="5852160" y="1444752"/>
            <a:ext cx="914400" cy="274320"/>
          </a:xfrm>
          <a:prstGeom prst="rect">
            <a:avLst/>
          </a:prstGeom>
          <a:noFill/>
          <a:ln/>
        </p:spPr>
        <p:txBody>
          <a:bodyPr wrap="square" lIns="0" tIns="0" rIns="0" bIns="0" rtlCol="0" anchor="ctr"/>
          <a:lstStyle/>
          <a:p>
            <a:pPr marL="0" indent="0" algn="ctr">
              <a:buNone/>
            </a:pPr>
            <a:r>
              <a:rPr lang="en-US" sz="900" b="1" dirty="0">
                <a:solidFill>
                  <a:srgbClr val="334155"/>
                </a:solidFill>
              </a:rPr>
              <a:t>region</a:t>
            </a:r>
            <a:endParaRPr lang="en-US" sz="900" dirty="0"/>
          </a:p>
        </p:txBody>
      </p:sp>
      <p:sp>
        <p:nvSpPr>
          <p:cNvPr id="40" name="Text 38"/>
          <p:cNvSpPr/>
          <p:nvPr/>
        </p:nvSpPr>
        <p:spPr>
          <a:xfrm>
            <a:off x="5852160" y="1719072"/>
            <a:ext cx="914400" cy="274320"/>
          </a:xfrm>
          <a:prstGeom prst="rect">
            <a:avLst/>
          </a:prstGeom>
          <a:noFill/>
          <a:ln/>
        </p:spPr>
        <p:txBody>
          <a:bodyPr wrap="square" lIns="0" tIns="0" rIns="0" bIns="0" rtlCol="0" anchor="ctr"/>
          <a:lstStyle/>
          <a:p>
            <a:pPr marL="0" indent="0" algn="ctr">
              <a:buNone/>
            </a:pPr>
            <a:r>
              <a:rPr lang="en-US" sz="900" dirty="0">
                <a:solidFill>
                  <a:srgbClr val="334155"/>
                </a:solidFill>
              </a:rPr>
              <a:t>North</a:t>
            </a:r>
            <a:endParaRPr lang="en-US" sz="900" dirty="0"/>
          </a:p>
        </p:txBody>
      </p:sp>
      <p:sp>
        <p:nvSpPr>
          <p:cNvPr id="41" name="Text 39"/>
          <p:cNvSpPr/>
          <p:nvPr/>
        </p:nvSpPr>
        <p:spPr>
          <a:xfrm>
            <a:off x="5852160" y="1993392"/>
            <a:ext cx="914400" cy="274320"/>
          </a:xfrm>
          <a:prstGeom prst="rect">
            <a:avLst/>
          </a:prstGeom>
          <a:noFill/>
          <a:ln/>
        </p:spPr>
        <p:txBody>
          <a:bodyPr wrap="square" lIns="0" tIns="0" rIns="0" bIns="0" rtlCol="0" anchor="ctr"/>
          <a:lstStyle/>
          <a:p>
            <a:pPr marL="0" indent="0" algn="ctr">
              <a:buNone/>
            </a:pPr>
            <a:r>
              <a:rPr lang="en-US" sz="900" dirty="0">
                <a:solidFill>
                  <a:srgbClr val="334155"/>
                </a:solidFill>
              </a:rPr>
              <a:t>South</a:t>
            </a:r>
            <a:endParaRPr lang="en-US" sz="900" dirty="0"/>
          </a:p>
        </p:txBody>
      </p:sp>
      <p:sp>
        <p:nvSpPr>
          <p:cNvPr id="42" name="Text 40"/>
          <p:cNvSpPr/>
          <p:nvPr/>
        </p:nvSpPr>
        <p:spPr>
          <a:xfrm>
            <a:off x="5852160" y="2267712"/>
            <a:ext cx="914400" cy="274320"/>
          </a:xfrm>
          <a:prstGeom prst="rect">
            <a:avLst/>
          </a:prstGeom>
          <a:noFill/>
          <a:ln/>
        </p:spPr>
        <p:txBody>
          <a:bodyPr wrap="square" lIns="0" tIns="0" rIns="0" bIns="0" rtlCol="0" anchor="ctr"/>
          <a:lstStyle/>
          <a:p>
            <a:pPr marL="0" indent="0" algn="ctr">
              <a:buNone/>
            </a:pPr>
            <a:r>
              <a:rPr lang="en-US" sz="900" dirty="0">
                <a:solidFill>
                  <a:srgbClr val="334155"/>
                </a:solidFill>
              </a:rPr>
              <a:t>East</a:t>
            </a:r>
            <a:endParaRPr lang="en-US" sz="900" dirty="0"/>
          </a:p>
        </p:txBody>
      </p:sp>
      <p:sp>
        <p:nvSpPr>
          <p:cNvPr id="43" name="Shape 41"/>
          <p:cNvSpPr/>
          <p:nvPr/>
        </p:nvSpPr>
        <p:spPr>
          <a:xfrm>
            <a:off x="6812280" y="1444752"/>
            <a:ext cx="914400" cy="1097280"/>
          </a:xfrm>
          <a:prstGeom prst="rect">
            <a:avLst/>
          </a:prstGeom>
          <a:solidFill>
            <a:srgbClr val="0D9488"/>
          </a:solidFill>
          <a:ln w="6350">
            <a:solidFill>
              <a:srgbClr val="0D9488"/>
            </a:solidFill>
            <a:prstDash val="solid"/>
          </a:ln>
        </p:spPr>
        <p:txBody>
          <a:bodyPr/>
          <a:lstStyle/>
          <a:p>
            <a:endParaRPr lang="en-LU"/>
          </a:p>
        </p:txBody>
      </p:sp>
      <p:sp>
        <p:nvSpPr>
          <p:cNvPr id="44" name="Text 42"/>
          <p:cNvSpPr/>
          <p:nvPr/>
        </p:nvSpPr>
        <p:spPr>
          <a:xfrm>
            <a:off x="6812280" y="1444752"/>
            <a:ext cx="914400" cy="274320"/>
          </a:xfrm>
          <a:prstGeom prst="rect">
            <a:avLst/>
          </a:prstGeom>
          <a:noFill/>
          <a:ln/>
        </p:spPr>
        <p:txBody>
          <a:bodyPr wrap="square" lIns="0" tIns="0" rIns="0" bIns="0" rtlCol="0" anchor="ctr"/>
          <a:lstStyle/>
          <a:p>
            <a:pPr marL="0" indent="0" algn="ctr">
              <a:buNone/>
            </a:pPr>
            <a:r>
              <a:rPr lang="en-US" sz="900" b="1" dirty="0">
                <a:solidFill>
                  <a:srgbClr val="FFFFFF"/>
                </a:solidFill>
              </a:rPr>
              <a:t>amount</a:t>
            </a:r>
            <a:endParaRPr lang="en-US" sz="900" dirty="0"/>
          </a:p>
        </p:txBody>
      </p:sp>
      <p:sp>
        <p:nvSpPr>
          <p:cNvPr id="45" name="Text 43"/>
          <p:cNvSpPr/>
          <p:nvPr/>
        </p:nvSpPr>
        <p:spPr>
          <a:xfrm>
            <a:off x="6812280" y="1719072"/>
            <a:ext cx="914400" cy="274320"/>
          </a:xfrm>
          <a:prstGeom prst="rect">
            <a:avLst/>
          </a:prstGeom>
          <a:noFill/>
          <a:ln/>
        </p:spPr>
        <p:txBody>
          <a:bodyPr wrap="square" lIns="0" tIns="0" rIns="0" bIns="0" rtlCol="0" anchor="ctr"/>
          <a:lstStyle/>
          <a:p>
            <a:pPr marL="0" indent="0" algn="ctr">
              <a:buNone/>
            </a:pPr>
            <a:r>
              <a:rPr lang="en-US" sz="900" dirty="0">
                <a:solidFill>
                  <a:srgbClr val="FFFFFF"/>
                </a:solidFill>
              </a:rPr>
              <a:t>54.2</a:t>
            </a:r>
            <a:endParaRPr lang="en-US" sz="900" dirty="0"/>
          </a:p>
        </p:txBody>
      </p:sp>
      <p:sp>
        <p:nvSpPr>
          <p:cNvPr id="46" name="Text 44"/>
          <p:cNvSpPr/>
          <p:nvPr/>
        </p:nvSpPr>
        <p:spPr>
          <a:xfrm>
            <a:off x="6812280" y="1993392"/>
            <a:ext cx="914400" cy="274320"/>
          </a:xfrm>
          <a:prstGeom prst="rect">
            <a:avLst/>
          </a:prstGeom>
          <a:noFill/>
          <a:ln/>
        </p:spPr>
        <p:txBody>
          <a:bodyPr wrap="square" lIns="0" tIns="0" rIns="0" bIns="0" rtlCol="0" anchor="ctr"/>
          <a:lstStyle/>
          <a:p>
            <a:pPr marL="0" indent="0" algn="ctr">
              <a:buNone/>
            </a:pPr>
            <a:r>
              <a:rPr lang="en-US" sz="900" dirty="0">
                <a:solidFill>
                  <a:srgbClr val="FFFFFF"/>
                </a:solidFill>
              </a:rPr>
              <a:t>12.8</a:t>
            </a:r>
            <a:endParaRPr lang="en-US" sz="900" dirty="0"/>
          </a:p>
        </p:txBody>
      </p:sp>
      <p:sp>
        <p:nvSpPr>
          <p:cNvPr id="47" name="Text 45"/>
          <p:cNvSpPr/>
          <p:nvPr/>
        </p:nvSpPr>
        <p:spPr>
          <a:xfrm>
            <a:off x="6812280" y="2267712"/>
            <a:ext cx="914400" cy="274320"/>
          </a:xfrm>
          <a:prstGeom prst="rect">
            <a:avLst/>
          </a:prstGeom>
          <a:noFill/>
          <a:ln/>
        </p:spPr>
        <p:txBody>
          <a:bodyPr wrap="square" lIns="0" tIns="0" rIns="0" bIns="0" rtlCol="0" anchor="ctr"/>
          <a:lstStyle/>
          <a:p>
            <a:pPr marL="0" indent="0" algn="ctr">
              <a:buNone/>
            </a:pPr>
            <a:r>
              <a:rPr lang="en-US" sz="900" dirty="0">
                <a:solidFill>
                  <a:srgbClr val="FFFFFF"/>
                </a:solidFill>
              </a:rPr>
              <a:t>99.0</a:t>
            </a:r>
            <a:endParaRPr lang="en-US" sz="900" dirty="0"/>
          </a:p>
        </p:txBody>
      </p:sp>
      <p:sp>
        <p:nvSpPr>
          <p:cNvPr id="48" name="Shape 46"/>
          <p:cNvSpPr/>
          <p:nvPr/>
        </p:nvSpPr>
        <p:spPr>
          <a:xfrm>
            <a:off x="7772400" y="1444752"/>
            <a:ext cx="914400" cy="1097280"/>
          </a:xfrm>
          <a:prstGeom prst="rect">
            <a:avLst/>
          </a:prstGeom>
          <a:solidFill>
            <a:srgbClr val="5EEAD4"/>
          </a:solidFill>
          <a:ln w="6350">
            <a:solidFill>
              <a:srgbClr val="0D9488"/>
            </a:solidFill>
            <a:prstDash val="solid"/>
          </a:ln>
        </p:spPr>
        <p:txBody>
          <a:bodyPr/>
          <a:lstStyle/>
          <a:p>
            <a:endParaRPr lang="en-LU"/>
          </a:p>
        </p:txBody>
      </p:sp>
      <p:sp>
        <p:nvSpPr>
          <p:cNvPr id="49" name="Text 47"/>
          <p:cNvSpPr/>
          <p:nvPr/>
        </p:nvSpPr>
        <p:spPr>
          <a:xfrm>
            <a:off x="7772400" y="1444752"/>
            <a:ext cx="914400" cy="274320"/>
          </a:xfrm>
          <a:prstGeom prst="rect">
            <a:avLst/>
          </a:prstGeom>
          <a:noFill/>
          <a:ln/>
        </p:spPr>
        <p:txBody>
          <a:bodyPr wrap="square" lIns="0" tIns="0" rIns="0" bIns="0" rtlCol="0" anchor="ctr"/>
          <a:lstStyle/>
          <a:p>
            <a:pPr marL="0" indent="0" algn="ctr">
              <a:buNone/>
            </a:pPr>
            <a:r>
              <a:rPr lang="en-US" sz="900" b="1" dirty="0">
                <a:solidFill>
                  <a:srgbClr val="334155"/>
                </a:solidFill>
              </a:rPr>
              <a:t>qty</a:t>
            </a:r>
            <a:endParaRPr lang="en-US" sz="900" dirty="0"/>
          </a:p>
        </p:txBody>
      </p:sp>
      <p:sp>
        <p:nvSpPr>
          <p:cNvPr id="50" name="Text 48"/>
          <p:cNvSpPr/>
          <p:nvPr/>
        </p:nvSpPr>
        <p:spPr>
          <a:xfrm>
            <a:off x="7772400" y="1719072"/>
            <a:ext cx="914400" cy="274320"/>
          </a:xfrm>
          <a:prstGeom prst="rect">
            <a:avLst/>
          </a:prstGeom>
          <a:noFill/>
          <a:ln/>
        </p:spPr>
        <p:txBody>
          <a:bodyPr wrap="square" lIns="0" tIns="0" rIns="0" bIns="0" rtlCol="0" anchor="ctr"/>
          <a:lstStyle/>
          <a:p>
            <a:pPr marL="0" indent="0" algn="ctr">
              <a:buNone/>
            </a:pPr>
            <a:r>
              <a:rPr lang="en-US" sz="900" dirty="0">
                <a:solidFill>
                  <a:srgbClr val="334155"/>
                </a:solidFill>
              </a:rPr>
              <a:t>3</a:t>
            </a:r>
            <a:endParaRPr lang="en-US" sz="900" dirty="0"/>
          </a:p>
        </p:txBody>
      </p:sp>
      <p:sp>
        <p:nvSpPr>
          <p:cNvPr id="51" name="Text 49"/>
          <p:cNvSpPr/>
          <p:nvPr/>
        </p:nvSpPr>
        <p:spPr>
          <a:xfrm>
            <a:off x="7772400" y="1993392"/>
            <a:ext cx="914400" cy="274320"/>
          </a:xfrm>
          <a:prstGeom prst="rect">
            <a:avLst/>
          </a:prstGeom>
          <a:noFill/>
          <a:ln/>
        </p:spPr>
        <p:txBody>
          <a:bodyPr wrap="square" lIns="0" tIns="0" rIns="0" bIns="0" rtlCol="0" anchor="ctr"/>
          <a:lstStyle/>
          <a:p>
            <a:pPr marL="0" indent="0" algn="ctr">
              <a:buNone/>
            </a:pPr>
            <a:r>
              <a:rPr lang="en-US" sz="900" dirty="0">
                <a:solidFill>
                  <a:srgbClr val="334155"/>
                </a:solidFill>
              </a:rPr>
              <a:t>1</a:t>
            </a:r>
            <a:endParaRPr lang="en-US" sz="900" dirty="0"/>
          </a:p>
        </p:txBody>
      </p:sp>
      <p:sp>
        <p:nvSpPr>
          <p:cNvPr id="52" name="Text 50"/>
          <p:cNvSpPr/>
          <p:nvPr/>
        </p:nvSpPr>
        <p:spPr>
          <a:xfrm>
            <a:off x="7772400" y="2267712"/>
            <a:ext cx="914400" cy="274320"/>
          </a:xfrm>
          <a:prstGeom prst="rect">
            <a:avLst/>
          </a:prstGeom>
          <a:noFill/>
          <a:ln/>
        </p:spPr>
        <p:txBody>
          <a:bodyPr wrap="square" lIns="0" tIns="0" rIns="0" bIns="0" rtlCol="0" anchor="ctr"/>
          <a:lstStyle/>
          <a:p>
            <a:pPr marL="0" indent="0" algn="ctr">
              <a:buNone/>
            </a:pPr>
            <a:r>
              <a:rPr lang="en-US" sz="900" dirty="0">
                <a:solidFill>
                  <a:srgbClr val="334155"/>
                </a:solidFill>
              </a:rPr>
              <a:t>7</a:t>
            </a:r>
            <a:endParaRPr lang="en-US" sz="900" dirty="0"/>
          </a:p>
        </p:txBody>
      </p:sp>
      <p:sp>
        <p:nvSpPr>
          <p:cNvPr id="53" name="Text 51"/>
          <p:cNvSpPr/>
          <p:nvPr/>
        </p:nvSpPr>
        <p:spPr>
          <a:xfrm>
            <a:off x="4892040" y="2606040"/>
            <a:ext cx="3931920" cy="320040"/>
          </a:xfrm>
          <a:prstGeom prst="rect">
            <a:avLst/>
          </a:prstGeom>
          <a:noFill/>
          <a:ln/>
        </p:spPr>
        <p:txBody>
          <a:bodyPr wrap="square" lIns="0" tIns="0" rIns="0" bIns="0" rtlCol="0" anchor="ctr"/>
          <a:lstStyle/>
          <a:p>
            <a:pPr marL="0" indent="0">
              <a:buNone/>
            </a:pPr>
            <a:r>
              <a:rPr lang="en-US" sz="900" i="1" dirty="0">
                <a:solidFill>
                  <a:srgbClr val="0D9488"/>
                </a:solidFill>
              </a:rPr>
              <a:t>→ 'amount' query reads ONLY the amount column</a:t>
            </a:r>
            <a:endParaRPr lang="en-US" sz="900" dirty="0"/>
          </a:p>
        </p:txBody>
      </p:sp>
      <p:sp>
        <p:nvSpPr>
          <p:cNvPr id="54" name="Shape 52"/>
          <p:cNvSpPr/>
          <p:nvPr/>
        </p:nvSpPr>
        <p:spPr>
          <a:xfrm>
            <a:off x="320040" y="3035808"/>
            <a:ext cx="4160520" cy="804672"/>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LU"/>
          </a:p>
        </p:txBody>
      </p:sp>
      <p:sp>
        <p:nvSpPr>
          <p:cNvPr id="55" name="Shape 53"/>
          <p:cNvSpPr/>
          <p:nvPr/>
        </p:nvSpPr>
        <p:spPr>
          <a:xfrm>
            <a:off x="320040" y="3035808"/>
            <a:ext cx="54864" cy="804672"/>
          </a:xfrm>
          <a:prstGeom prst="rect">
            <a:avLst/>
          </a:prstGeom>
          <a:solidFill>
            <a:srgbClr val="0D9488"/>
          </a:solidFill>
          <a:ln w="12700">
            <a:solidFill>
              <a:srgbClr val="0D9488"/>
            </a:solidFill>
            <a:prstDash val="solid"/>
          </a:ln>
        </p:spPr>
        <p:txBody>
          <a:bodyPr/>
          <a:lstStyle/>
          <a:p>
            <a:endParaRPr lang="en-LU"/>
          </a:p>
        </p:txBody>
      </p:sp>
      <p:sp>
        <p:nvSpPr>
          <p:cNvPr id="56" name="Text 54"/>
          <p:cNvSpPr/>
          <p:nvPr/>
        </p:nvSpPr>
        <p:spPr>
          <a:xfrm>
            <a:off x="484632" y="3108960"/>
            <a:ext cx="3840480" cy="256032"/>
          </a:xfrm>
          <a:prstGeom prst="rect">
            <a:avLst/>
          </a:prstGeom>
          <a:noFill/>
          <a:ln/>
        </p:spPr>
        <p:txBody>
          <a:bodyPr wrap="square" lIns="0" tIns="0" rIns="0" bIns="0" rtlCol="0" anchor="ctr"/>
          <a:lstStyle/>
          <a:p>
            <a:pPr marL="0" indent="0">
              <a:buNone/>
            </a:pPr>
            <a:r>
              <a:rPr lang="en-US" sz="1100" b="1" dirty="0">
                <a:solidFill>
                  <a:srgbClr val="0D1B2A"/>
                </a:solidFill>
              </a:rPr>
              <a:t>Projection pushdown</a:t>
            </a:r>
            <a:endParaRPr lang="en-US" sz="1100" dirty="0"/>
          </a:p>
        </p:txBody>
      </p:sp>
      <p:sp>
        <p:nvSpPr>
          <p:cNvPr id="57" name="Text 55"/>
          <p:cNvSpPr/>
          <p:nvPr/>
        </p:nvSpPr>
        <p:spPr>
          <a:xfrm>
            <a:off x="484632" y="3383280"/>
            <a:ext cx="3840480" cy="384048"/>
          </a:xfrm>
          <a:prstGeom prst="rect">
            <a:avLst/>
          </a:prstGeom>
          <a:noFill/>
          <a:ln/>
        </p:spPr>
        <p:txBody>
          <a:bodyPr wrap="square" lIns="0" tIns="0" rIns="0" bIns="0" rtlCol="0" anchor="ctr"/>
          <a:lstStyle/>
          <a:p>
            <a:pPr marL="0" indent="0">
              <a:lnSpc>
                <a:spcPct val="130000"/>
              </a:lnSpc>
              <a:buNone/>
            </a:pPr>
            <a:r>
              <a:rPr lang="en-US" sz="950" dirty="0">
                <a:solidFill>
                  <a:srgbClr val="334155"/>
                </a:solidFill>
              </a:rPr>
              <a:t>Only columns needed by the query are read from disk. A 50-column table with a 3-column query reads 94% less data.</a:t>
            </a:r>
            <a:endParaRPr lang="en-US" sz="950" dirty="0"/>
          </a:p>
        </p:txBody>
      </p:sp>
      <p:sp>
        <p:nvSpPr>
          <p:cNvPr id="58" name="Shape 56"/>
          <p:cNvSpPr/>
          <p:nvPr/>
        </p:nvSpPr>
        <p:spPr>
          <a:xfrm>
            <a:off x="4754880" y="3035808"/>
            <a:ext cx="4160520" cy="804672"/>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LU"/>
          </a:p>
        </p:txBody>
      </p:sp>
      <p:sp>
        <p:nvSpPr>
          <p:cNvPr id="59" name="Shape 57"/>
          <p:cNvSpPr/>
          <p:nvPr/>
        </p:nvSpPr>
        <p:spPr>
          <a:xfrm>
            <a:off x="4754880" y="3035808"/>
            <a:ext cx="54864" cy="804672"/>
          </a:xfrm>
          <a:prstGeom prst="rect">
            <a:avLst/>
          </a:prstGeom>
          <a:solidFill>
            <a:srgbClr val="0D9488"/>
          </a:solidFill>
          <a:ln w="12700">
            <a:solidFill>
              <a:srgbClr val="0D9488"/>
            </a:solidFill>
            <a:prstDash val="solid"/>
          </a:ln>
        </p:spPr>
        <p:txBody>
          <a:bodyPr/>
          <a:lstStyle/>
          <a:p>
            <a:endParaRPr lang="en-LU"/>
          </a:p>
        </p:txBody>
      </p:sp>
      <p:sp>
        <p:nvSpPr>
          <p:cNvPr id="60" name="Text 58"/>
          <p:cNvSpPr/>
          <p:nvPr/>
        </p:nvSpPr>
        <p:spPr>
          <a:xfrm>
            <a:off x="4919472" y="3108960"/>
            <a:ext cx="3840480" cy="256032"/>
          </a:xfrm>
          <a:prstGeom prst="rect">
            <a:avLst/>
          </a:prstGeom>
          <a:noFill/>
          <a:ln/>
        </p:spPr>
        <p:txBody>
          <a:bodyPr wrap="square" lIns="0" tIns="0" rIns="0" bIns="0" rtlCol="0" anchor="ctr"/>
          <a:lstStyle/>
          <a:p>
            <a:pPr marL="0" indent="0">
              <a:buNone/>
            </a:pPr>
            <a:r>
              <a:rPr lang="en-US" sz="1100" b="1" dirty="0">
                <a:solidFill>
                  <a:srgbClr val="0D1B2A"/>
                </a:solidFill>
              </a:rPr>
              <a:t>Predicate pushdown</a:t>
            </a:r>
            <a:endParaRPr lang="en-US" sz="1100" dirty="0"/>
          </a:p>
        </p:txBody>
      </p:sp>
      <p:sp>
        <p:nvSpPr>
          <p:cNvPr id="61" name="Text 59"/>
          <p:cNvSpPr/>
          <p:nvPr/>
        </p:nvSpPr>
        <p:spPr>
          <a:xfrm>
            <a:off x="4919472" y="3383280"/>
            <a:ext cx="3840480" cy="384048"/>
          </a:xfrm>
          <a:prstGeom prst="rect">
            <a:avLst/>
          </a:prstGeom>
          <a:noFill/>
          <a:ln/>
        </p:spPr>
        <p:txBody>
          <a:bodyPr wrap="square" lIns="0" tIns="0" rIns="0" bIns="0" rtlCol="0" anchor="ctr"/>
          <a:lstStyle/>
          <a:p>
            <a:pPr marL="0" indent="0">
              <a:lnSpc>
                <a:spcPct val="130000"/>
              </a:lnSpc>
              <a:buNone/>
            </a:pPr>
            <a:r>
              <a:rPr lang="en-US" sz="950" dirty="0">
                <a:solidFill>
                  <a:srgbClr val="334155"/>
                </a:solidFill>
              </a:rPr>
              <a:t>Row-group statistics (min/max) let the reader skip entire blocks. A WHERE clause can skip 80%+ of the file.</a:t>
            </a:r>
            <a:endParaRPr lang="en-US" sz="950" dirty="0"/>
          </a:p>
        </p:txBody>
      </p:sp>
      <p:sp>
        <p:nvSpPr>
          <p:cNvPr id="62" name="Shape 60"/>
          <p:cNvSpPr/>
          <p:nvPr/>
        </p:nvSpPr>
        <p:spPr>
          <a:xfrm>
            <a:off x="320040" y="3968496"/>
            <a:ext cx="4160520" cy="804672"/>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LU"/>
          </a:p>
        </p:txBody>
      </p:sp>
      <p:sp>
        <p:nvSpPr>
          <p:cNvPr id="63" name="Shape 61"/>
          <p:cNvSpPr/>
          <p:nvPr/>
        </p:nvSpPr>
        <p:spPr>
          <a:xfrm>
            <a:off x="320040" y="3968496"/>
            <a:ext cx="54864" cy="804672"/>
          </a:xfrm>
          <a:prstGeom prst="rect">
            <a:avLst/>
          </a:prstGeom>
          <a:solidFill>
            <a:srgbClr val="0D9488"/>
          </a:solidFill>
          <a:ln w="12700">
            <a:solidFill>
              <a:srgbClr val="0D9488"/>
            </a:solidFill>
            <a:prstDash val="solid"/>
          </a:ln>
        </p:spPr>
        <p:txBody>
          <a:bodyPr/>
          <a:lstStyle/>
          <a:p>
            <a:endParaRPr lang="en-LU"/>
          </a:p>
        </p:txBody>
      </p:sp>
      <p:sp>
        <p:nvSpPr>
          <p:cNvPr id="64" name="Text 62"/>
          <p:cNvSpPr/>
          <p:nvPr/>
        </p:nvSpPr>
        <p:spPr>
          <a:xfrm>
            <a:off x="484632" y="4041648"/>
            <a:ext cx="3840480" cy="256032"/>
          </a:xfrm>
          <a:prstGeom prst="rect">
            <a:avLst/>
          </a:prstGeom>
          <a:noFill/>
          <a:ln/>
        </p:spPr>
        <p:txBody>
          <a:bodyPr wrap="square" lIns="0" tIns="0" rIns="0" bIns="0" rtlCol="0" anchor="ctr"/>
          <a:lstStyle/>
          <a:p>
            <a:pPr marL="0" indent="0">
              <a:buNone/>
            </a:pPr>
            <a:r>
              <a:rPr lang="en-US" sz="1100" b="1" dirty="0">
                <a:solidFill>
                  <a:srgbClr val="0D1B2A"/>
                </a:solidFill>
              </a:rPr>
              <a:t>Snappy/ZSTD compression</a:t>
            </a:r>
            <a:endParaRPr lang="en-US" sz="1100" dirty="0"/>
          </a:p>
        </p:txBody>
      </p:sp>
      <p:sp>
        <p:nvSpPr>
          <p:cNvPr id="65" name="Text 63"/>
          <p:cNvSpPr/>
          <p:nvPr/>
        </p:nvSpPr>
        <p:spPr>
          <a:xfrm>
            <a:off x="484632" y="4315968"/>
            <a:ext cx="3840480" cy="384048"/>
          </a:xfrm>
          <a:prstGeom prst="rect">
            <a:avLst/>
          </a:prstGeom>
          <a:noFill/>
          <a:ln/>
        </p:spPr>
        <p:txBody>
          <a:bodyPr wrap="square" lIns="0" tIns="0" rIns="0" bIns="0" rtlCol="0" anchor="ctr"/>
          <a:lstStyle/>
          <a:p>
            <a:pPr marL="0" indent="0">
              <a:lnSpc>
                <a:spcPct val="130000"/>
              </a:lnSpc>
              <a:buNone/>
            </a:pPr>
            <a:r>
              <a:rPr lang="en-US" sz="950" dirty="0">
                <a:solidFill>
                  <a:srgbClr val="334155"/>
                </a:solidFill>
              </a:rPr>
              <a:t>Columnar data compresses 5–10× better than CSV because values in the same column have similar patterns.</a:t>
            </a:r>
            <a:endParaRPr lang="en-US" sz="950" dirty="0"/>
          </a:p>
        </p:txBody>
      </p:sp>
      <p:sp>
        <p:nvSpPr>
          <p:cNvPr id="66" name="Shape 64"/>
          <p:cNvSpPr/>
          <p:nvPr/>
        </p:nvSpPr>
        <p:spPr>
          <a:xfrm>
            <a:off x="4754880" y="3968496"/>
            <a:ext cx="4160520" cy="804672"/>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LU"/>
          </a:p>
        </p:txBody>
      </p:sp>
      <p:sp>
        <p:nvSpPr>
          <p:cNvPr id="67" name="Shape 65"/>
          <p:cNvSpPr/>
          <p:nvPr/>
        </p:nvSpPr>
        <p:spPr>
          <a:xfrm>
            <a:off x="4754880" y="3968496"/>
            <a:ext cx="54864" cy="804672"/>
          </a:xfrm>
          <a:prstGeom prst="rect">
            <a:avLst/>
          </a:prstGeom>
          <a:solidFill>
            <a:srgbClr val="0D9488"/>
          </a:solidFill>
          <a:ln w="12700">
            <a:solidFill>
              <a:srgbClr val="0D9488"/>
            </a:solidFill>
            <a:prstDash val="solid"/>
          </a:ln>
        </p:spPr>
        <p:txBody>
          <a:bodyPr/>
          <a:lstStyle/>
          <a:p>
            <a:endParaRPr lang="en-LU"/>
          </a:p>
        </p:txBody>
      </p:sp>
      <p:sp>
        <p:nvSpPr>
          <p:cNvPr id="68" name="Text 66"/>
          <p:cNvSpPr/>
          <p:nvPr/>
        </p:nvSpPr>
        <p:spPr>
          <a:xfrm>
            <a:off x="4919472" y="4041648"/>
            <a:ext cx="3840480" cy="256032"/>
          </a:xfrm>
          <a:prstGeom prst="rect">
            <a:avLst/>
          </a:prstGeom>
          <a:noFill/>
          <a:ln/>
        </p:spPr>
        <p:txBody>
          <a:bodyPr wrap="square" lIns="0" tIns="0" rIns="0" bIns="0" rtlCol="0" anchor="ctr"/>
          <a:lstStyle/>
          <a:p>
            <a:pPr marL="0" indent="0">
              <a:buNone/>
            </a:pPr>
            <a:r>
              <a:rPr lang="en-US" sz="1100" b="1" dirty="0">
                <a:solidFill>
                  <a:srgbClr val="0D1B2A"/>
                </a:solidFill>
              </a:rPr>
              <a:t>Typed schema</a:t>
            </a:r>
            <a:endParaRPr lang="en-US" sz="1100" dirty="0"/>
          </a:p>
        </p:txBody>
      </p:sp>
      <p:sp>
        <p:nvSpPr>
          <p:cNvPr id="69" name="Text 67"/>
          <p:cNvSpPr/>
          <p:nvPr/>
        </p:nvSpPr>
        <p:spPr>
          <a:xfrm>
            <a:off x="4919472" y="4315968"/>
            <a:ext cx="3840480" cy="384048"/>
          </a:xfrm>
          <a:prstGeom prst="rect">
            <a:avLst/>
          </a:prstGeom>
          <a:noFill/>
          <a:ln/>
        </p:spPr>
        <p:txBody>
          <a:bodyPr wrap="square" lIns="0" tIns="0" rIns="0" bIns="0" rtlCol="0" anchor="ctr"/>
          <a:lstStyle/>
          <a:p>
            <a:pPr marL="0" indent="0">
              <a:lnSpc>
                <a:spcPct val="130000"/>
              </a:lnSpc>
              <a:buNone/>
            </a:pPr>
            <a:r>
              <a:rPr lang="en-US" sz="950" dirty="0">
                <a:solidFill>
                  <a:srgbClr val="334155"/>
                </a:solidFill>
              </a:rPr>
              <a:t>int32 is stored as int32. No character-by-character parsing overhead on read. Types are guaranteed.</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0">
            <a:extLst>
              <a:ext uri="{FF2B5EF4-FFF2-40B4-BE49-F238E27FC236}">
                <a16:creationId xmlns:a16="http://schemas.microsoft.com/office/drawing/2014/main" id="{1491049A-589C-CBE3-D1AC-A75A2642940C}"/>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LU"/>
          </a:p>
        </p:txBody>
      </p:sp>
      <p:sp>
        <p:nvSpPr>
          <p:cNvPr id="5" name="Text 1">
            <a:extLst>
              <a:ext uri="{FF2B5EF4-FFF2-40B4-BE49-F238E27FC236}">
                <a16:creationId xmlns:a16="http://schemas.microsoft.com/office/drawing/2014/main" id="{65A3B389-AFB0-A77E-5552-8E52B77EA92D}"/>
              </a:ext>
            </a:extLst>
          </p:cNvPr>
          <p:cNvSpPr/>
          <p:nvPr/>
        </p:nvSpPr>
        <p:spPr>
          <a:xfrm>
            <a:off x="365760" y="0"/>
            <a:ext cx="8412480" cy="960120"/>
          </a:xfrm>
          <a:prstGeom prst="rect">
            <a:avLst/>
          </a:prstGeom>
          <a:noFill/>
          <a:ln/>
        </p:spPr>
        <p:txBody>
          <a:bodyPr wrap="square" lIns="0" tIns="0" rIns="0" bIns="0" rtlCol="0" anchor="ctr"/>
          <a:lstStyle/>
          <a:p>
            <a:pPr marL="0" indent="0">
              <a:buNone/>
            </a:pPr>
            <a:r>
              <a:rPr lang="en-US" sz="2200" b="1" dirty="0">
                <a:solidFill>
                  <a:srgbClr val="FFFFFF"/>
                </a:solidFill>
              </a:rPr>
              <a:t>Exercise 1 Results — CSV vs Parquet Benchmark</a:t>
            </a:r>
            <a:endParaRPr lang="en-US" sz="2200" dirty="0"/>
          </a:p>
        </p:txBody>
      </p:sp>
      <p:graphicFrame>
        <p:nvGraphicFramePr>
          <p:cNvPr id="6" name="Chart 5">
            <a:extLst>
              <a:ext uri="{FF2B5EF4-FFF2-40B4-BE49-F238E27FC236}">
                <a16:creationId xmlns:a16="http://schemas.microsoft.com/office/drawing/2014/main" id="{400C07D9-1B5B-E70D-9BC3-52A263E270F8}"/>
              </a:ext>
            </a:extLst>
          </p:cNvPr>
          <p:cNvGraphicFramePr/>
          <p:nvPr>
            <p:extLst>
              <p:ext uri="{D42A27DB-BD31-4B8C-83A1-F6EECF244321}">
                <p14:modId xmlns:p14="http://schemas.microsoft.com/office/powerpoint/2010/main" val="987276821"/>
              </p:ext>
            </p:extLst>
          </p:nvPr>
        </p:nvGraphicFramePr>
        <p:xfrm>
          <a:off x="182880" y="960120"/>
          <a:ext cx="5925820" cy="352298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D415CFAE-0A87-E569-8281-44A57F308A97}"/>
              </a:ext>
            </a:extLst>
          </p:cNvPr>
          <p:cNvSpPr txBox="1"/>
          <p:nvPr/>
        </p:nvSpPr>
        <p:spPr>
          <a:xfrm>
            <a:off x="274320" y="4562856"/>
            <a:ext cx="6045200" cy="338554"/>
          </a:xfrm>
          <a:prstGeom prst="rect">
            <a:avLst/>
          </a:prstGeom>
          <a:noFill/>
        </p:spPr>
        <p:txBody>
          <a:bodyPr wrap="square">
            <a:spAutoFit/>
          </a:bodyPr>
          <a:lstStyle/>
          <a:p>
            <a:pPr>
              <a:buNone/>
            </a:pPr>
            <a:r>
              <a:rPr lang="en-GB" sz="1600" dirty="0">
                <a:solidFill>
                  <a:srgbClr val="0E0E0E"/>
                </a:solidFill>
                <a:effectLst/>
                <a:latin typeface=".AppleSystemUIFont"/>
              </a:rPr>
              <a:t>This is not a compute problem. This is a storage format problem.</a:t>
            </a:r>
          </a:p>
        </p:txBody>
      </p:sp>
      <p:sp>
        <p:nvSpPr>
          <p:cNvPr id="9" name="Shape 43">
            <a:extLst>
              <a:ext uri="{FF2B5EF4-FFF2-40B4-BE49-F238E27FC236}">
                <a16:creationId xmlns:a16="http://schemas.microsoft.com/office/drawing/2014/main" id="{0BD92C4C-6F94-3BCC-0BB7-E47B0270ABD4}"/>
              </a:ext>
            </a:extLst>
          </p:cNvPr>
          <p:cNvSpPr/>
          <p:nvPr/>
        </p:nvSpPr>
        <p:spPr>
          <a:xfrm>
            <a:off x="5852160" y="1115568"/>
            <a:ext cx="3017520" cy="96012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LU"/>
          </a:p>
        </p:txBody>
      </p:sp>
      <p:sp>
        <p:nvSpPr>
          <p:cNvPr id="10" name="Shape 44">
            <a:extLst>
              <a:ext uri="{FF2B5EF4-FFF2-40B4-BE49-F238E27FC236}">
                <a16:creationId xmlns:a16="http://schemas.microsoft.com/office/drawing/2014/main" id="{27A2500C-6BBD-72B6-51E9-3B34849A48E0}"/>
              </a:ext>
            </a:extLst>
          </p:cNvPr>
          <p:cNvSpPr/>
          <p:nvPr/>
        </p:nvSpPr>
        <p:spPr>
          <a:xfrm>
            <a:off x="5852160" y="1115568"/>
            <a:ext cx="54864" cy="960120"/>
          </a:xfrm>
          <a:prstGeom prst="rect">
            <a:avLst/>
          </a:prstGeom>
          <a:solidFill>
            <a:srgbClr val="0D9488"/>
          </a:solidFill>
          <a:ln w="12700">
            <a:solidFill>
              <a:srgbClr val="0D9488"/>
            </a:solidFill>
            <a:prstDash val="solid"/>
          </a:ln>
        </p:spPr>
        <p:txBody>
          <a:bodyPr/>
          <a:lstStyle/>
          <a:p>
            <a:endParaRPr lang="en-LU"/>
          </a:p>
        </p:txBody>
      </p:sp>
      <p:sp>
        <p:nvSpPr>
          <p:cNvPr id="11" name="Text 45">
            <a:extLst>
              <a:ext uri="{FF2B5EF4-FFF2-40B4-BE49-F238E27FC236}">
                <a16:creationId xmlns:a16="http://schemas.microsoft.com/office/drawing/2014/main" id="{AE6F1EF8-725B-3ACB-52C5-015B59787ECC}"/>
              </a:ext>
            </a:extLst>
          </p:cNvPr>
          <p:cNvSpPr/>
          <p:nvPr/>
        </p:nvSpPr>
        <p:spPr>
          <a:xfrm>
            <a:off x="5989320" y="1161288"/>
            <a:ext cx="2743200" cy="475488"/>
          </a:xfrm>
          <a:prstGeom prst="rect">
            <a:avLst/>
          </a:prstGeom>
          <a:noFill/>
          <a:ln/>
        </p:spPr>
        <p:txBody>
          <a:bodyPr wrap="square" lIns="0" tIns="0" rIns="0" bIns="0" rtlCol="0" anchor="ctr"/>
          <a:lstStyle/>
          <a:p>
            <a:pPr marL="0" indent="0">
              <a:buNone/>
            </a:pPr>
            <a:r>
              <a:rPr lang="en-US" sz="2800" b="1" dirty="0">
                <a:solidFill>
                  <a:srgbClr val="0D9488"/>
                </a:solidFill>
              </a:rPr>
              <a:t>1.9×</a:t>
            </a:r>
            <a:endParaRPr lang="en-US" sz="2800" dirty="0"/>
          </a:p>
        </p:txBody>
      </p:sp>
      <p:sp>
        <p:nvSpPr>
          <p:cNvPr id="12" name="Text 46">
            <a:extLst>
              <a:ext uri="{FF2B5EF4-FFF2-40B4-BE49-F238E27FC236}">
                <a16:creationId xmlns:a16="http://schemas.microsoft.com/office/drawing/2014/main" id="{8DDC1413-1CD4-6D72-B8BE-B3A935DEB6AC}"/>
              </a:ext>
            </a:extLst>
          </p:cNvPr>
          <p:cNvSpPr/>
          <p:nvPr/>
        </p:nvSpPr>
        <p:spPr>
          <a:xfrm>
            <a:off x="5989320" y="1591056"/>
            <a:ext cx="2743200" cy="347472"/>
          </a:xfrm>
          <a:prstGeom prst="rect">
            <a:avLst/>
          </a:prstGeom>
          <a:noFill/>
          <a:ln/>
        </p:spPr>
        <p:txBody>
          <a:bodyPr wrap="square" lIns="0" tIns="0" rIns="0" bIns="0" rtlCol="0" anchor="ctr"/>
          <a:lstStyle/>
          <a:p>
            <a:pPr marL="0" indent="0">
              <a:buNone/>
            </a:pPr>
            <a:r>
              <a:rPr lang="en-US" sz="1100" dirty="0">
                <a:solidFill>
                  <a:srgbClr val="334155"/>
                </a:solidFill>
              </a:rPr>
              <a:t>smaller file (Parquet vs CSV)</a:t>
            </a:r>
            <a:endParaRPr lang="en-US" sz="1100" dirty="0"/>
          </a:p>
        </p:txBody>
      </p:sp>
      <p:sp>
        <p:nvSpPr>
          <p:cNvPr id="13" name="Shape 47">
            <a:extLst>
              <a:ext uri="{FF2B5EF4-FFF2-40B4-BE49-F238E27FC236}">
                <a16:creationId xmlns:a16="http://schemas.microsoft.com/office/drawing/2014/main" id="{03B58502-A8C5-2C4F-5B65-74F19CF54194}"/>
              </a:ext>
            </a:extLst>
          </p:cNvPr>
          <p:cNvSpPr/>
          <p:nvPr/>
        </p:nvSpPr>
        <p:spPr>
          <a:xfrm>
            <a:off x="5852160" y="2212848"/>
            <a:ext cx="3017520" cy="96012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LU"/>
          </a:p>
        </p:txBody>
      </p:sp>
      <p:sp>
        <p:nvSpPr>
          <p:cNvPr id="14" name="Shape 48">
            <a:extLst>
              <a:ext uri="{FF2B5EF4-FFF2-40B4-BE49-F238E27FC236}">
                <a16:creationId xmlns:a16="http://schemas.microsoft.com/office/drawing/2014/main" id="{1A4DAFD1-074F-D70F-3500-F88B19EEFFBB}"/>
              </a:ext>
            </a:extLst>
          </p:cNvPr>
          <p:cNvSpPr/>
          <p:nvPr/>
        </p:nvSpPr>
        <p:spPr>
          <a:xfrm>
            <a:off x="5852160" y="2212848"/>
            <a:ext cx="54864" cy="960120"/>
          </a:xfrm>
          <a:prstGeom prst="rect">
            <a:avLst/>
          </a:prstGeom>
          <a:solidFill>
            <a:srgbClr val="7C3AED"/>
          </a:solidFill>
          <a:ln w="12700">
            <a:solidFill>
              <a:srgbClr val="7C3AED"/>
            </a:solidFill>
            <a:prstDash val="solid"/>
          </a:ln>
        </p:spPr>
        <p:txBody>
          <a:bodyPr/>
          <a:lstStyle/>
          <a:p>
            <a:endParaRPr lang="en-LU"/>
          </a:p>
        </p:txBody>
      </p:sp>
      <p:sp>
        <p:nvSpPr>
          <p:cNvPr id="15" name="Text 49">
            <a:extLst>
              <a:ext uri="{FF2B5EF4-FFF2-40B4-BE49-F238E27FC236}">
                <a16:creationId xmlns:a16="http://schemas.microsoft.com/office/drawing/2014/main" id="{6E13186B-F66E-7AB9-924C-151BA06C5206}"/>
              </a:ext>
            </a:extLst>
          </p:cNvPr>
          <p:cNvSpPr/>
          <p:nvPr/>
        </p:nvSpPr>
        <p:spPr>
          <a:xfrm>
            <a:off x="5989320" y="2258568"/>
            <a:ext cx="2743200" cy="475488"/>
          </a:xfrm>
          <a:prstGeom prst="rect">
            <a:avLst/>
          </a:prstGeom>
          <a:noFill/>
          <a:ln/>
        </p:spPr>
        <p:txBody>
          <a:bodyPr wrap="square" lIns="0" tIns="0" rIns="0" bIns="0" rtlCol="0" anchor="ctr"/>
          <a:lstStyle/>
          <a:p>
            <a:pPr marL="0" indent="0">
              <a:buNone/>
            </a:pPr>
            <a:r>
              <a:rPr lang="en-US" sz="2800" b="1" dirty="0">
                <a:solidFill>
                  <a:srgbClr val="7C3AED"/>
                </a:solidFill>
              </a:rPr>
              <a:t>60×</a:t>
            </a:r>
            <a:endParaRPr lang="en-US" sz="2800" dirty="0"/>
          </a:p>
        </p:txBody>
      </p:sp>
      <p:sp>
        <p:nvSpPr>
          <p:cNvPr id="16" name="Text 50">
            <a:extLst>
              <a:ext uri="{FF2B5EF4-FFF2-40B4-BE49-F238E27FC236}">
                <a16:creationId xmlns:a16="http://schemas.microsoft.com/office/drawing/2014/main" id="{65FD4FC4-AA8B-720B-564E-6AEF19422C91}"/>
              </a:ext>
            </a:extLst>
          </p:cNvPr>
          <p:cNvSpPr/>
          <p:nvPr/>
        </p:nvSpPr>
        <p:spPr>
          <a:xfrm>
            <a:off x="5989320" y="2688336"/>
            <a:ext cx="2743200" cy="347472"/>
          </a:xfrm>
          <a:prstGeom prst="rect">
            <a:avLst/>
          </a:prstGeom>
          <a:noFill/>
          <a:ln/>
        </p:spPr>
        <p:txBody>
          <a:bodyPr wrap="square" lIns="0" tIns="0" rIns="0" bIns="0" rtlCol="0" anchor="ctr"/>
          <a:lstStyle/>
          <a:p>
            <a:pPr marL="0" indent="0">
              <a:buNone/>
            </a:pPr>
            <a:r>
              <a:rPr lang="en-US" sz="1100" dirty="0">
                <a:solidFill>
                  <a:srgbClr val="334155"/>
                </a:solidFill>
              </a:rPr>
              <a:t>faster total pipeline</a:t>
            </a:r>
            <a:endParaRPr lang="en-US" sz="1100" dirty="0"/>
          </a:p>
        </p:txBody>
      </p:sp>
      <p:sp>
        <p:nvSpPr>
          <p:cNvPr id="17" name="Shape 51">
            <a:extLst>
              <a:ext uri="{FF2B5EF4-FFF2-40B4-BE49-F238E27FC236}">
                <a16:creationId xmlns:a16="http://schemas.microsoft.com/office/drawing/2014/main" id="{D68B4EBD-B3CA-B12E-6955-120A503956F2}"/>
              </a:ext>
            </a:extLst>
          </p:cNvPr>
          <p:cNvSpPr/>
          <p:nvPr/>
        </p:nvSpPr>
        <p:spPr>
          <a:xfrm>
            <a:off x="5852160" y="3310128"/>
            <a:ext cx="3017520" cy="96012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LU"/>
          </a:p>
        </p:txBody>
      </p:sp>
      <p:sp>
        <p:nvSpPr>
          <p:cNvPr id="18" name="Shape 52">
            <a:extLst>
              <a:ext uri="{FF2B5EF4-FFF2-40B4-BE49-F238E27FC236}">
                <a16:creationId xmlns:a16="http://schemas.microsoft.com/office/drawing/2014/main" id="{971E3779-1BE7-E56C-F450-5A9E61E7B497}"/>
              </a:ext>
            </a:extLst>
          </p:cNvPr>
          <p:cNvSpPr/>
          <p:nvPr/>
        </p:nvSpPr>
        <p:spPr>
          <a:xfrm>
            <a:off x="5852160" y="3310128"/>
            <a:ext cx="54864" cy="960120"/>
          </a:xfrm>
          <a:prstGeom prst="rect">
            <a:avLst/>
          </a:prstGeom>
          <a:solidFill>
            <a:srgbClr val="F59E0B"/>
          </a:solidFill>
          <a:ln w="12700">
            <a:solidFill>
              <a:srgbClr val="F59E0B"/>
            </a:solidFill>
            <a:prstDash val="solid"/>
          </a:ln>
        </p:spPr>
        <p:txBody>
          <a:bodyPr/>
          <a:lstStyle/>
          <a:p>
            <a:endParaRPr lang="en-LU"/>
          </a:p>
        </p:txBody>
      </p:sp>
      <p:sp>
        <p:nvSpPr>
          <p:cNvPr id="19" name="Text 53">
            <a:extLst>
              <a:ext uri="{FF2B5EF4-FFF2-40B4-BE49-F238E27FC236}">
                <a16:creationId xmlns:a16="http://schemas.microsoft.com/office/drawing/2014/main" id="{82488016-6B21-EA0D-4E4E-B0059D77FE8E}"/>
              </a:ext>
            </a:extLst>
          </p:cNvPr>
          <p:cNvSpPr/>
          <p:nvPr/>
        </p:nvSpPr>
        <p:spPr>
          <a:xfrm>
            <a:off x="5989320" y="3355848"/>
            <a:ext cx="2743200" cy="475488"/>
          </a:xfrm>
          <a:prstGeom prst="rect">
            <a:avLst/>
          </a:prstGeom>
          <a:noFill/>
          <a:ln/>
        </p:spPr>
        <p:txBody>
          <a:bodyPr wrap="square" lIns="0" tIns="0" rIns="0" bIns="0" rtlCol="0" anchor="ctr"/>
          <a:lstStyle/>
          <a:p>
            <a:pPr marL="0" indent="0">
              <a:buNone/>
            </a:pPr>
            <a:r>
              <a:rPr lang="en-US" sz="2800" b="1" dirty="0">
                <a:solidFill>
                  <a:srgbClr val="F59E0B"/>
                </a:solidFill>
              </a:rPr>
              <a:t>0 LOC</a:t>
            </a:r>
            <a:endParaRPr lang="en-US" sz="2800" dirty="0"/>
          </a:p>
        </p:txBody>
      </p:sp>
      <p:sp>
        <p:nvSpPr>
          <p:cNvPr id="20" name="Text 54">
            <a:extLst>
              <a:ext uri="{FF2B5EF4-FFF2-40B4-BE49-F238E27FC236}">
                <a16:creationId xmlns:a16="http://schemas.microsoft.com/office/drawing/2014/main" id="{1F7AE373-9CB7-DB3A-ED92-9749E1B70EBE}"/>
              </a:ext>
            </a:extLst>
          </p:cNvPr>
          <p:cNvSpPr/>
          <p:nvPr/>
        </p:nvSpPr>
        <p:spPr>
          <a:xfrm>
            <a:off x="5989320" y="3785616"/>
            <a:ext cx="2743200" cy="347472"/>
          </a:xfrm>
          <a:prstGeom prst="rect">
            <a:avLst/>
          </a:prstGeom>
          <a:noFill/>
          <a:ln/>
        </p:spPr>
        <p:txBody>
          <a:bodyPr wrap="square" lIns="0" tIns="0" rIns="0" bIns="0" rtlCol="0" anchor="ctr"/>
          <a:lstStyle/>
          <a:p>
            <a:pPr marL="0" indent="0">
              <a:buNone/>
            </a:pPr>
            <a:r>
              <a:rPr lang="en-US" sz="1100" dirty="0">
                <a:solidFill>
                  <a:srgbClr val="334155"/>
                </a:solidFill>
              </a:rPr>
              <a:t>code changes required</a:t>
            </a:r>
            <a:endParaRPr lang="en-US" sz="1100" dirty="0"/>
          </a:p>
        </p:txBody>
      </p:sp>
      <p:sp>
        <p:nvSpPr>
          <p:cNvPr id="21" name="Shape 55">
            <a:extLst>
              <a:ext uri="{FF2B5EF4-FFF2-40B4-BE49-F238E27FC236}">
                <a16:creationId xmlns:a16="http://schemas.microsoft.com/office/drawing/2014/main" id="{93E65FB2-B983-D656-281F-55FFF7CA8574}"/>
              </a:ext>
            </a:extLst>
          </p:cNvPr>
          <p:cNvSpPr/>
          <p:nvPr/>
        </p:nvSpPr>
        <p:spPr>
          <a:xfrm>
            <a:off x="5852160" y="4407408"/>
            <a:ext cx="3017520" cy="512064"/>
          </a:xfrm>
          <a:prstGeom prst="rect">
            <a:avLst/>
          </a:prstGeom>
          <a:solidFill>
            <a:srgbClr val="0D1B2A"/>
          </a:solidFill>
          <a:ln w="12700">
            <a:solidFill>
              <a:srgbClr val="0D1B2A"/>
            </a:solidFill>
            <a:prstDash val="solid"/>
          </a:ln>
        </p:spPr>
        <p:txBody>
          <a:bodyPr/>
          <a:lstStyle/>
          <a:p>
            <a:endParaRPr lang="en-LU"/>
          </a:p>
        </p:txBody>
      </p:sp>
      <p:sp>
        <p:nvSpPr>
          <p:cNvPr id="22" name="Text 56">
            <a:extLst>
              <a:ext uri="{FF2B5EF4-FFF2-40B4-BE49-F238E27FC236}">
                <a16:creationId xmlns:a16="http://schemas.microsoft.com/office/drawing/2014/main" id="{6A2AB919-1351-D868-8382-187E33557442}"/>
              </a:ext>
            </a:extLst>
          </p:cNvPr>
          <p:cNvSpPr/>
          <p:nvPr/>
        </p:nvSpPr>
        <p:spPr>
          <a:xfrm>
            <a:off x="5943600" y="4407408"/>
            <a:ext cx="2834640" cy="512064"/>
          </a:xfrm>
          <a:prstGeom prst="rect">
            <a:avLst/>
          </a:prstGeom>
          <a:noFill/>
          <a:ln/>
        </p:spPr>
        <p:txBody>
          <a:bodyPr wrap="square" lIns="0" tIns="0" rIns="0" bIns="0" rtlCol="0" anchor="ctr"/>
          <a:lstStyle/>
          <a:p>
            <a:pPr marL="0" indent="0">
              <a:buNone/>
            </a:pPr>
            <a:r>
              <a:rPr lang="en-US" sz="1000" dirty="0">
                <a:solidFill>
                  <a:srgbClr val="F59E0B"/>
                </a:solidFill>
              </a:rPr>
              <a:t>Switching to Parquet is the cheapest performance win available.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LU"/>
          </a:p>
        </p:txBody>
      </p:sp>
      <p:sp>
        <p:nvSpPr>
          <p:cNvPr id="3" name="Text 1"/>
          <p:cNvSpPr/>
          <p:nvPr/>
        </p:nvSpPr>
        <p:spPr>
          <a:xfrm>
            <a:off x="365760" y="0"/>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The HPDA Stack — Four Layers</a:t>
            </a:r>
            <a:endParaRPr lang="en-US" sz="2200" dirty="0"/>
          </a:p>
        </p:txBody>
      </p:sp>
      <p:sp>
        <p:nvSpPr>
          <p:cNvPr id="4" name="Text 2"/>
          <p:cNvSpPr/>
          <p:nvPr/>
        </p:nvSpPr>
        <p:spPr>
          <a:xfrm>
            <a:off x="365760" y="566928"/>
            <a:ext cx="8412480" cy="393192"/>
          </a:xfrm>
          <a:prstGeom prst="rect">
            <a:avLst/>
          </a:prstGeom>
          <a:noFill/>
          <a:ln/>
        </p:spPr>
        <p:txBody>
          <a:bodyPr wrap="square" lIns="0" tIns="0" rIns="0" bIns="0" rtlCol="0" anchor="ctr"/>
          <a:lstStyle/>
          <a:p>
            <a:pPr marL="0" indent="0">
              <a:buNone/>
            </a:pPr>
            <a:r>
              <a:rPr lang="en-US" sz="1200" dirty="0">
                <a:solidFill>
                  <a:srgbClr val="14B8A6"/>
                </a:solidFill>
              </a:rPr>
              <a:t>Every HPDA system, regardless of technology, has this structure</a:t>
            </a:r>
            <a:endParaRPr lang="en-US" sz="1200" dirty="0"/>
          </a:p>
        </p:txBody>
      </p:sp>
      <p:sp>
        <p:nvSpPr>
          <p:cNvPr id="7" name="Shape 5"/>
          <p:cNvSpPr/>
          <p:nvPr/>
        </p:nvSpPr>
        <p:spPr>
          <a:xfrm>
            <a:off x="320040" y="1180010"/>
            <a:ext cx="8503920" cy="768096"/>
          </a:xfrm>
          <a:prstGeom prst="rect">
            <a:avLst/>
          </a:prstGeom>
          <a:solidFill>
            <a:srgbClr val="FEF3C7"/>
          </a:solidFill>
          <a:ln w="10160">
            <a:solidFill>
              <a:srgbClr val="F59E0B"/>
            </a:solidFill>
            <a:prstDash val="solid"/>
          </a:ln>
        </p:spPr>
        <p:txBody>
          <a:bodyPr/>
          <a:lstStyle/>
          <a:p>
            <a:endParaRPr lang="en-LU"/>
          </a:p>
        </p:txBody>
      </p:sp>
      <p:sp>
        <p:nvSpPr>
          <p:cNvPr id="8" name="Shape 6"/>
          <p:cNvSpPr/>
          <p:nvPr/>
        </p:nvSpPr>
        <p:spPr>
          <a:xfrm>
            <a:off x="320040" y="1188719"/>
            <a:ext cx="475488" cy="768096"/>
          </a:xfrm>
          <a:prstGeom prst="rect">
            <a:avLst/>
          </a:prstGeom>
          <a:solidFill>
            <a:srgbClr val="F59E0B"/>
          </a:solidFill>
          <a:ln w="12700">
            <a:solidFill>
              <a:srgbClr val="F59E0B"/>
            </a:solidFill>
            <a:prstDash val="solid"/>
          </a:ln>
        </p:spPr>
        <p:txBody>
          <a:bodyPr/>
          <a:lstStyle/>
          <a:p>
            <a:endParaRPr lang="en-LU"/>
          </a:p>
        </p:txBody>
      </p:sp>
      <p:sp>
        <p:nvSpPr>
          <p:cNvPr id="9" name="Text 7"/>
          <p:cNvSpPr/>
          <p:nvPr/>
        </p:nvSpPr>
        <p:spPr>
          <a:xfrm>
            <a:off x="320040" y="1188719"/>
            <a:ext cx="475488" cy="768096"/>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10" name="Text 8"/>
          <p:cNvSpPr/>
          <p:nvPr/>
        </p:nvSpPr>
        <p:spPr>
          <a:xfrm>
            <a:off x="914400" y="1243583"/>
            <a:ext cx="2743200" cy="274320"/>
          </a:xfrm>
          <a:prstGeom prst="rect">
            <a:avLst/>
          </a:prstGeom>
          <a:noFill/>
          <a:ln/>
        </p:spPr>
        <p:txBody>
          <a:bodyPr wrap="square" lIns="0" tIns="0" rIns="0" bIns="0" rtlCol="0" anchor="ctr"/>
          <a:lstStyle/>
          <a:p>
            <a:pPr marL="0" indent="0">
              <a:buNone/>
            </a:pPr>
            <a:r>
              <a:rPr lang="en-US" sz="1300" b="1" dirty="0">
                <a:solidFill>
                  <a:srgbClr val="F59E0B"/>
                </a:solidFill>
              </a:rPr>
              <a:t>Consumption layer</a:t>
            </a:r>
            <a:endParaRPr lang="en-US" sz="1300" dirty="0"/>
          </a:p>
        </p:txBody>
      </p:sp>
      <p:sp>
        <p:nvSpPr>
          <p:cNvPr id="11" name="Text 9"/>
          <p:cNvSpPr/>
          <p:nvPr/>
        </p:nvSpPr>
        <p:spPr>
          <a:xfrm>
            <a:off x="914400" y="1508759"/>
            <a:ext cx="2560320" cy="201168"/>
          </a:xfrm>
          <a:prstGeom prst="rect">
            <a:avLst/>
          </a:prstGeom>
          <a:noFill/>
          <a:ln/>
        </p:spPr>
        <p:txBody>
          <a:bodyPr wrap="square" lIns="0" tIns="0" rIns="0" bIns="0" rtlCol="0" anchor="ctr"/>
          <a:lstStyle/>
          <a:p>
            <a:pPr marL="0" indent="0">
              <a:buNone/>
            </a:pPr>
            <a:r>
              <a:rPr lang="en-US" sz="900" dirty="0">
                <a:solidFill>
                  <a:srgbClr val="334155"/>
                </a:solidFill>
              </a:rPr>
              <a:t>Business users &amp; systems</a:t>
            </a:r>
            <a:endParaRPr lang="en-US" sz="900" dirty="0"/>
          </a:p>
        </p:txBody>
      </p:sp>
      <p:sp>
        <p:nvSpPr>
          <p:cNvPr id="12" name="Shape 10"/>
          <p:cNvSpPr/>
          <p:nvPr/>
        </p:nvSpPr>
        <p:spPr>
          <a:xfrm>
            <a:off x="5789022" y="1271015"/>
            <a:ext cx="2834640" cy="566928"/>
          </a:xfrm>
          <a:prstGeom prst="rect">
            <a:avLst/>
          </a:prstGeom>
          <a:solidFill>
            <a:srgbClr val="FFFFFF">
              <a:alpha val="50000"/>
            </a:srgbClr>
          </a:solidFill>
          <a:ln w="3810">
            <a:solidFill>
              <a:srgbClr val="F59E0B"/>
            </a:solidFill>
            <a:prstDash val="solid"/>
          </a:ln>
        </p:spPr>
        <p:txBody>
          <a:bodyPr/>
          <a:lstStyle/>
          <a:p>
            <a:endParaRPr lang="en-LU"/>
          </a:p>
        </p:txBody>
      </p:sp>
      <p:sp>
        <p:nvSpPr>
          <p:cNvPr id="13" name="Text 11"/>
          <p:cNvSpPr/>
          <p:nvPr/>
        </p:nvSpPr>
        <p:spPr>
          <a:xfrm>
            <a:off x="5912031" y="1308463"/>
            <a:ext cx="2651760" cy="502920"/>
          </a:xfrm>
          <a:prstGeom prst="rect">
            <a:avLst/>
          </a:prstGeom>
          <a:noFill/>
          <a:ln/>
        </p:spPr>
        <p:txBody>
          <a:bodyPr wrap="square" lIns="0" tIns="0" rIns="0" bIns="0" rtlCol="0" anchor="ctr"/>
          <a:lstStyle/>
          <a:p>
            <a:pPr marL="0" indent="0">
              <a:lnSpc>
                <a:spcPct val="130000"/>
              </a:lnSpc>
              <a:buNone/>
            </a:pPr>
            <a:r>
              <a:rPr lang="en-US" sz="850" dirty="0">
                <a:solidFill>
                  <a:srgbClr val="334155"/>
                </a:solidFill>
              </a:rPr>
              <a:t>Dashboards · BI tools · ML models · REST APIs · Notebooks</a:t>
            </a:r>
            <a:endParaRPr lang="en-US" sz="850" dirty="0"/>
          </a:p>
        </p:txBody>
      </p:sp>
      <p:sp>
        <p:nvSpPr>
          <p:cNvPr id="15" name="Shape 13"/>
          <p:cNvSpPr/>
          <p:nvPr/>
        </p:nvSpPr>
        <p:spPr>
          <a:xfrm>
            <a:off x="502920" y="1956815"/>
            <a:ext cx="109728" cy="91440"/>
          </a:xfrm>
          <a:prstGeom prst="rect">
            <a:avLst/>
          </a:prstGeom>
          <a:solidFill>
            <a:srgbClr val="F59E0B">
              <a:alpha val="60000"/>
            </a:srgbClr>
          </a:solidFill>
          <a:ln w="12700">
            <a:solidFill>
              <a:srgbClr val="F59E0B"/>
            </a:solidFill>
            <a:prstDash val="solid"/>
          </a:ln>
        </p:spPr>
        <p:txBody>
          <a:bodyPr/>
          <a:lstStyle/>
          <a:p>
            <a:endParaRPr lang="en-LU"/>
          </a:p>
        </p:txBody>
      </p:sp>
      <p:sp>
        <p:nvSpPr>
          <p:cNvPr id="16" name="Shape 14"/>
          <p:cNvSpPr/>
          <p:nvPr/>
        </p:nvSpPr>
        <p:spPr>
          <a:xfrm>
            <a:off x="320040" y="2048255"/>
            <a:ext cx="8503920" cy="768096"/>
          </a:xfrm>
          <a:prstGeom prst="rect">
            <a:avLst/>
          </a:prstGeom>
          <a:solidFill>
            <a:srgbClr val="EDE9FE"/>
          </a:solidFill>
          <a:ln w="10160">
            <a:solidFill>
              <a:srgbClr val="7C3AED"/>
            </a:solidFill>
            <a:prstDash val="solid"/>
          </a:ln>
        </p:spPr>
        <p:txBody>
          <a:bodyPr/>
          <a:lstStyle/>
          <a:p>
            <a:endParaRPr lang="en-LU"/>
          </a:p>
        </p:txBody>
      </p:sp>
      <p:sp>
        <p:nvSpPr>
          <p:cNvPr id="17" name="Shape 15"/>
          <p:cNvSpPr/>
          <p:nvPr/>
        </p:nvSpPr>
        <p:spPr>
          <a:xfrm>
            <a:off x="320040" y="2048255"/>
            <a:ext cx="475488" cy="768096"/>
          </a:xfrm>
          <a:prstGeom prst="rect">
            <a:avLst/>
          </a:prstGeom>
          <a:solidFill>
            <a:srgbClr val="7C3AED"/>
          </a:solidFill>
          <a:ln w="12700">
            <a:solidFill>
              <a:srgbClr val="7C3AED"/>
            </a:solidFill>
            <a:prstDash val="solid"/>
          </a:ln>
        </p:spPr>
        <p:txBody>
          <a:bodyPr/>
          <a:lstStyle/>
          <a:p>
            <a:endParaRPr lang="en-LU"/>
          </a:p>
        </p:txBody>
      </p:sp>
      <p:sp>
        <p:nvSpPr>
          <p:cNvPr id="18" name="Text 16"/>
          <p:cNvSpPr/>
          <p:nvPr/>
        </p:nvSpPr>
        <p:spPr>
          <a:xfrm>
            <a:off x="320040" y="2048255"/>
            <a:ext cx="475488" cy="768096"/>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9" name="Text 17"/>
          <p:cNvSpPr/>
          <p:nvPr/>
        </p:nvSpPr>
        <p:spPr>
          <a:xfrm>
            <a:off x="914400" y="2103119"/>
            <a:ext cx="2743200" cy="274320"/>
          </a:xfrm>
          <a:prstGeom prst="rect">
            <a:avLst/>
          </a:prstGeom>
          <a:noFill/>
          <a:ln/>
        </p:spPr>
        <p:txBody>
          <a:bodyPr wrap="square" lIns="0" tIns="0" rIns="0" bIns="0" rtlCol="0" anchor="ctr"/>
          <a:lstStyle/>
          <a:p>
            <a:pPr marL="0" indent="0">
              <a:buNone/>
            </a:pPr>
            <a:r>
              <a:rPr lang="en-US" sz="1300" b="1" dirty="0">
                <a:solidFill>
                  <a:srgbClr val="7C3AED"/>
                </a:solidFill>
              </a:rPr>
              <a:t>Compute layer</a:t>
            </a:r>
            <a:endParaRPr lang="en-US" sz="1300" dirty="0"/>
          </a:p>
        </p:txBody>
      </p:sp>
      <p:sp>
        <p:nvSpPr>
          <p:cNvPr id="20" name="Text 18"/>
          <p:cNvSpPr/>
          <p:nvPr/>
        </p:nvSpPr>
        <p:spPr>
          <a:xfrm>
            <a:off x="914400" y="2368295"/>
            <a:ext cx="2560320" cy="201168"/>
          </a:xfrm>
          <a:prstGeom prst="rect">
            <a:avLst/>
          </a:prstGeom>
          <a:noFill/>
          <a:ln/>
        </p:spPr>
        <p:txBody>
          <a:bodyPr wrap="square" lIns="0" tIns="0" rIns="0" bIns="0" rtlCol="0" anchor="ctr"/>
          <a:lstStyle/>
          <a:p>
            <a:pPr marL="0" indent="0">
              <a:buNone/>
            </a:pPr>
            <a:r>
              <a:rPr lang="en-US" sz="900" dirty="0">
                <a:solidFill>
                  <a:srgbClr val="334155"/>
                </a:solidFill>
              </a:rPr>
              <a:t>Distributed processing</a:t>
            </a:r>
            <a:endParaRPr lang="en-US" sz="900" dirty="0"/>
          </a:p>
        </p:txBody>
      </p:sp>
      <p:sp>
        <p:nvSpPr>
          <p:cNvPr id="21" name="Shape 19"/>
          <p:cNvSpPr/>
          <p:nvPr/>
        </p:nvSpPr>
        <p:spPr>
          <a:xfrm>
            <a:off x="5789022" y="2157983"/>
            <a:ext cx="2834640" cy="566928"/>
          </a:xfrm>
          <a:prstGeom prst="rect">
            <a:avLst/>
          </a:prstGeom>
          <a:solidFill>
            <a:srgbClr val="FFFFFF">
              <a:alpha val="50000"/>
            </a:srgbClr>
          </a:solidFill>
          <a:ln w="3810">
            <a:solidFill>
              <a:srgbClr val="7C3AED"/>
            </a:solidFill>
            <a:prstDash val="solid"/>
          </a:ln>
        </p:spPr>
        <p:txBody>
          <a:bodyPr/>
          <a:lstStyle/>
          <a:p>
            <a:endParaRPr lang="en-LU"/>
          </a:p>
        </p:txBody>
      </p:sp>
      <p:sp>
        <p:nvSpPr>
          <p:cNvPr id="22" name="Text 20"/>
          <p:cNvSpPr/>
          <p:nvPr/>
        </p:nvSpPr>
        <p:spPr>
          <a:xfrm>
            <a:off x="5880462" y="2194559"/>
            <a:ext cx="2651760" cy="502920"/>
          </a:xfrm>
          <a:prstGeom prst="rect">
            <a:avLst/>
          </a:prstGeom>
          <a:noFill/>
          <a:ln/>
        </p:spPr>
        <p:txBody>
          <a:bodyPr wrap="square" lIns="0" tIns="0" rIns="0" bIns="0" rtlCol="0" anchor="ctr"/>
          <a:lstStyle/>
          <a:p>
            <a:pPr marL="0" indent="0">
              <a:lnSpc>
                <a:spcPct val="130000"/>
              </a:lnSpc>
              <a:buNone/>
            </a:pPr>
            <a:r>
              <a:rPr lang="en-US" sz="850" dirty="0">
                <a:solidFill>
                  <a:srgbClr val="334155"/>
                </a:solidFill>
              </a:rPr>
              <a:t>Dask · Apache Spark · Flink · Ray · SQL engines</a:t>
            </a:r>
            <a:endParaRPr lang="en-US" sz="850" dirty="0"/>
          </a:p>
        </p:txBody>
      </p:sp>
      <p:sp>
        <p:nvSpPr>
          <p:cNvPr id="24" name="Shape 22"/>
          <p:cNvSpPr/>
          <p:nvPr/>
        </p:nvSpPr>
        <p:spPr>
          <a:xfrm>
            <a:off x="502920" y="2816351"/>
            <a:ext cx="109728" cy="91440"/>
          </a:xfrm>
          <a:prstGeom prst="rect">
            <a:avLst/>
          </a:prstGeom>
          <a:solidFill>
            <a:srgbClr val="7C3AED">
              <a:alpha val="60000"/>
            </a:srgbClr>
          </a:solidFill>
          <a:ln w="12700">
            <a:solidFill>
              <a:srgbClr val="7C3AED"/>
            </a:solidFill>
            <a:prstDash val="solid"/>
          </a:ln>
        </p:spPr>
        <p:txBody>
          <a:bodyPr/>
          <a:lstStyle/>
          <a:p>
            <a:endParaRPr lang="en-LU"/>
          </a:p>
        </p:txBody>
      </p:sp>
      <p:sp>
        <p:nvSpPr>
          <p:cNvPr id="25" name="Shape 23"/>
          <p:cNvSpPr/>
          <p:nvPr/>
        </p:nvSpPr>
        <p:spPr>
          <a:xfrm>
            <a:off x="320040" y="2907791"/>
            <a:ext cx="8503920" cy="768096"/>
          </a:xfrm>
          <a:prstGeom prst="rect">
            <a:avLst/>
          </a:prstGeom>
          <a:solidFill>
            <a:srgbClr val="DBEAFE"/>
          </a:solidFill>
          <a:ln w="10160">
            <a:solidFill>
              <a:srgbClr val="2563EB"/>
            </a:solidFill>
            <a:prstDash val="solid"/>
          </a:ln>
        </p:spPr>
        <p:txBody>
          <a:bodyPr/>
          <a:lstStyle/>
          <a:p>
            <a:endParaRPr lang="en-LU"/>
          </a:p>
        </p:txBody>
      </p:sp>
      <p:sp>
        <p:nvSpPr>
          <p:cNvPr id="26" name="Shape 24"/>
          <p:cNvSpPr/>
          <p:nvPr/>
        </p:nvSpPr>
        <p:spPr>
          <a:xfrm>
            <a:off x="320040" y="2907791"/>
            <a:ext cx="475488" cy="768096"/>
          </a:xfrm>
          <a:prstGeom prst="rect">
            <a:avLst/>
          </a:prstGeom>
          <a:solidFill>
            <a:srgbClr val="2563EB"/>
          </a:solidFill>
          <a:ln w="12700">
            <a:solidFill>
              <a:srgbClr val="2563EB"/>
            </a:solidFill>
            <a:prstDash val="solid"/>
          </a:ln>
        </p:spPr>
        <p:txBody>
          <a:bodyPr/>
          <a:lstStyle/>
          <a:p>
            <a:endParaRPr lang="en-LU"/>
          </a:p>
        </p:txBody>
      </p:sp>
      <p:sp>
        <p:nvSpPr>
          <p:cNvPr id="27" name="Text 25"/>
          <p:cNvSpPr/>
          <p:nvPr/>
        </p:nvSpPr>
        <p:spPr>
          <a:xfrm>
            <a:off x="320040" y="2907791"/>
            <a:ext cx="475488" cy="768096"/>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28" name="Text 26"/>
          <p:cNvSpPr/>
          <p:nvPr/>
        </p:nvSpPr>
        <p:spPr>
          <a:xfrm>
            <a:off x="914400" y="2962655"/>
            <a:ext cx="2743200" cy="274320"/>
          </a:xfrm>
          <a:prstGeom prst="rect">
            <a:avLst/>
          </a:prstGeom>
          <a:noFill/>
          <a:ln/>
        </p:spPr>
        <p:txBody>
          <a:bodyPr wrap="square" lIns="0" tIns="0" rIns="0" bIns="0" rtlCol="0" anchor="ctr"/>
          <a:lstStyle/>
          <a:p>
            <a:pPr marL="0" indent="0">
              <a:buNone/>
            </a:pPr>
            <a:r>
              <a:rPr lang="en-US" sz="1300" b="1" dirty="0">
                <a:solidFill>
                  <a:srgbClr val="2563EB"/>
                </a:solidFill>
              </a:rPr>
              <a:t>Storage layer</a:t>
            </a:r>
            <a:endParaRPr lang="en-US" sz="1300" dirty="0"/>
          </a:p>
        </p:txBody>
      </p:sp>
      <p:sp>
        <p:nvSpPr>
          <p:cNvPr id="29" name="Text 27"/>
          <p:cNvSpPr/>
          <p:nvPr/>
        </p:nvSpPr>
        <p:spPr>
          <a:xfrm>
            <a:off x="914400" y="3227831"/>
            <a:ext cx="2560320" cy="201168"/>
          </a:xfrm>
          <a:prstGeom prst="rect">
            <a:avLst/>
          </a:prstGeom>
          <a:noFill/>
          <a:ln/>
        </p:spPr>
        <p:txBody>
          <a:bodyPr wrap="square" lIns="0" tIns="0" rIns="0" bIns="0" rtlCol="0" anchor="ctr"/>
          <a:lstStyle/>
          <a:p>
            <a:pPr marL="0" indent="0">
              <a:buNone/>
            </a:pPr>
            <a:r>
              <a:rPr lang="en-US" sz="900" dirty="0">
                <a:solidFill>
                  <a:srgbClr val="334155"/>
                </a:solidFill>
              </a:rPr>
              <a:t>Data lake / warehouse / lakehouse</a:t>
            </a:r>
            <a:endParaRPr lang="en-US" sz="900" dirty="0"/>
          </a:p>
        </p:txBody>
      </p:sp>
      <p:sp>
        <p:nvSpPr>
          <p:cNvPr id="30" name="Shape 28"/>
          <p:cNvSpPr/>
          <p:nvPr/>
        </p:nvSpPr>
        <p:spPr>
          <a:xfrm>
            <a:off x="5786845" y="2993570"/>
            <a:ext cx="2834640" cy="566928"/>
          </a:xfrm>
          <a:prstGeom prst="rect">
            <a:avLst/>
          </a:prstGeom>
          <a:solidFill>
            <a:srgbClr val="FFFFFF">
              <a:alpha val="50000"/>
            </a:srgbClr>
          </a:solidFill>
          <a:ln w="3810">
            <a:solidFill>
              <a:srgbClr val="2563EB"/>
            </a:solidFill>
            <a:prstDash val="solid"/>
          </a:ln>
        </p:spPr>
        <p:txBody>
          <a:bodyPr/>
          <a:lstStyle/>
          <a:p>
            <a:endParaRPr lang="en-LU"/>
          </a:p>
        </p:txBody>
      </p:sp>
      <p:sp>
        <p:nvSpPr>
          <p:cNvPr id="31" name="Text 29"/>
          <p:cNvSpPr/>
          <p:nvPr/>
        </p:nvSpPr>
        <p:spPr>
          <a:xfrm>
            <a:off x="5878285" y="3030146"/>
            <a:ext cx="2651760" cy="502920"/>
          </a:xfrm>
          <a:prstGeom prst="rect">
            <a:avLst/>
          </a:prstGeom>
          <a:noFill/>
          <a:ln/>
        </p:spPr>
        <p:txBody>
          <a:bodyPr wrap="square" lIns="0" tIns="0" rIns="0" bIns="0" rtlCol="0" anchor="ctr"/>
          <a:lstStyle/>
          <a:p>
            <a:pPr marL="0" indent="0">
              <a:lnSpc>
                <a:spcPct val="130000"/>
              </a:lnSpc>
              <a:buNone/>
            </a:pPr>
            <a:r>
              <a:rPr lang="en-US" sz="850" dirty="0">
                <a:solidFill>
                  <a:srgbClr val="334155"/>
                </a:solidFill>
              </a:rPr>
              <a:t>Parquet files · Delta Lake · Apache Iceberg · Object stores (S3, MinIO) · Lustre FS</a:t>
            </a:r>
            <a:endParaRPr lang="en-US" sz="850" dirty="0"/>
          </a:p>
        </p:txBody>
      </p:sp>
      <p:sp>
        <p:nvSpPr>
          <p:cNvPr id="33" name="Shape 31"/>
          <p:cNvSpPr/>
          <p:nvPr/>
        </p:nvSpPr>
        <p:spPr>
          <a:xfrm>
            <a:off x="502920" y="3675887"/>
            <a:ext cx="109728" cy="91440"/>
          </a:xfrm>
          <a:prstGeom prst="rect">
            <a:avLst/>
          </a:prstGeom>
          <a:solidFill>
            <a:srgbClr val="2563EB">
              <a:alpha val="60000"/>
            </a:srgbClr>
          </a:solidFill>
          <a:ln w="12700">
            <a:solidFill>
              <a:srgbClr val="2563EB"/>
            </a:solidFill>
            <a:prstDash val="solid"/>
          </a:ln>
        </p:spPr>
        <p:txBody>
          <a:bodyPr/>
          <a:lstStyle/>
          <a:p>
            <a:endParaRPr lang="en-LU"/>
          </a:p>
        </p:txBody>
      </p:sp>
      <p:sp>
        <p:nvSpPr>
          <p:cNvPr id="34" name="Shape 32"/>
          <p:cNvSpPr/>
          <p:nvPr/>
        </p:nvSpPr>
        <p:spPr>
          <a:xfrm>
            <a:off x="320040" y="3767327"/>
            <a:ext cx="8503920" cy="768096"/>
          </a:xfrm>
          <a:prstGeom prst="rect">
            <a:avLst/>
          </a:prstGeom>
          <a:solidFill>
            <a:srgbClr val="CCFBF1"/>
          </a:solidFill>
          <a:ln w="10160">
            <a:solidFill>
              <a:srgbClr val="0D9488"/>
            </a:solidFill>
            <a:prstDash val="solid"/>
          </a:ln>
        </p:spPr>
        <p:txBody>
          <a:bodyPr/>
          <a:lstStyle/>
          <a:p>
            <a:endParaRPr lang="en-LU"/>
          </a:p>
        </p:txBody>
      </p:sp>
      <p:sp>
        <p:nvSpPr>
          <p:cNvPr id="35" name="Shape 33"/>
          <p:cNvSpPr/>
          <p:nvPr/>
        </p:nvSpPr>
        <p:spPr>
          <a:xfrm>
            <a:off x="320040" y="3767327"/>
            <a:ext cx="475488" cy="768096"/>
          </a:xfrm>
          <a:prstGeom prst="rect">
            <a:avLst/>
          </a:prstGeom>
          <a:solidFill>
            <a:srgbClr val="0D9488"/>
          </a:solidFill>
          <a:ln w="12700">
            <a:solidFill>
              <a:srgbClr val="0D9488"/>
            </a:solidFill>
            <a:prstDash val="solid"/>
          </a:ln>
        </p:spPr>
        <p:txBody>
          <a:bodyPr/>
          <a:lstStyle/>
          <a:p>
            <a:endParaRPr lang="en-LU"/>
          </a:p>
        </p:txBody>
      </p:sp>
      <p:sp>
        <p:nvSpPr>
          <p:cNvPr id="36" name="Text 34"/>
          <p:cNvSpPr/>
          <p:nvPr/>
        </p:nvSpPr>
        <p:spPr>
          <a:xfrm>
            <a:off x="320040" y="3767327"/>
            <a:ext cx="475488" cy="768096"/>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37" name="Text 35"/>
          <p:cNvSpPr/>
          <p:nvPr/>
        </p:nvSpPr>
        <p:spPr>
          <a:xfrm>
            <a:off x="914400" y="3822191"/>
            <a:ext cx="2743200" cy="274320"/>
          </a:xfrm>
          <a:prstGeom prst="rect">
            <a:avLst/>
          </a:prstGeom>
          <a:noFill/>
          <a:ln/>
        </p:spPr>
        <p:txBody>
          <a:bodyPr wrap="square" lIns="0" tIns="0" rIns="0" bIns="0" rtlCol="0" anchor="ctr"/>
          <a:lstStyle/>
          <a:p>
            <a:pPr marL="0" indent="0">
              <a:buNone/>
            </a:pPr>
            <a:r>
              <a:rPr lang="en-US" sz="1300" b="1" dirty="0">
                <a:solidFill>
                  <a:srgbClr val="0D9488"/>
                </a:solidFill>
              </a:rPr>
              <a:t>Ingestion layer</a:t>
            </a:r>
            <a:endParaRPr lang="en-US" sz="1300" dirty="0"/>
          </a:p>
        </p:txBody>
      </p:sp>
      <p:sp>
        <p:nvSpPr>
          <p:cNvPr id="38" name="Text 36"/>
          <p:cNvSpPr/>
          <p:nvPr/>
        </p:nvSpPr>
        <p:spPr>
          <a:xfrm>
            <a:off x="914400" y="4087367"/>
            <a:ext cx="2560320" cy="201168"/>
          </a:xfrm>
          <a:prstGeom prst="rect">
            <a:avLst/>
          </a:prstGeom>
          <a:noFill/>
          <a:ln/>
        </p:spPr>
        <p:txBody>
          <a:bodyPr wrap="square" lIns="0" tIns="0" rIns="0" bIns="0" rtlCol="0" anchor="ctr"/>
          <a:lstStyle/>
          <a:p>
            <a:pPr marL="0" indent="0">
              <a:buNone/>
            </a:pPr>
            <a:r>
              <a:rPr lang="en-US" sz="900" dirty="0">
                <a:solidFill>
                  <a:srgbClr val="334155"/>
                </a:solidFill>
              </a:rPr>
              <a:t>How data enters the system</a:t>
            </a:r>
            <a:endParaRPr lang="en-US" sz="900" dirty="0"/>
          </a:p>
        </p:txBody>
      </p:sp>
      <p:sp>
        <p:nvSpPr>
          <p:cNvPr id="39" name="Shape 37"/>
          <p:cNvSpPr/>
          <p:nvPr/>
        </p:nvSpPr>
        <p:spPr>
          <a:xfrm>
            <a:off x="5786845" y="3893601"/>
            <a:ext cx="2834640" cy="566928"/>
          </a:xfrm>
          <a:prstGeom prst="rect">
            <a:avLst/>
          </a:prstGeom>
          <a:solidFill>
            <a:srgbClr val="FFFFFF">
              <a:alpha val="50000"/>
            </a:srgbClr>
          </a:solidFill>
          <a:ln w="3810">
            <a:solidFill>
              <a:srgbClr val="0D9488"/>
            </a:solidFill>
            <a:prstDash val="solid"/>
          </a:ln>
        </p:spPr>
        <p:txBody>
          <a:bodyPr/>
          <a:lstStyle/>
          <a:p>
            <a:endParaRPr lang="en-LU"/>
          </a:p>
        </p:txBody>
      </p:sp>
      <p:sp>
        <p:nvSpPr>
          <p:cNvPr id="40" name="Text 38"/>
          <p:cNvSpPr/>
          <p:nvPr/>
        </p:nvSpPr>
        <p:spPr>
          <a:xfrm>
            <a:off x="5878285" y="3930177"/>
            <a:ext cx="2651760" cy="502920"/>
          </a:xfrm>
          <a:prstGeom prst="rect">
            <a:avLst/>
          </a:prstGeom>
          <a:noFill/>
          <a:ln/>
        </p:spPr>
        <p:txBody>
          <a:bodyPr wrap="square" lIns="0" tIns="0" rIns="0" bIns="0" rtlCol="0" anchor="ctr"/>
          <a:lstStyle/>
          <a:p>
            <a:pPr marL="0" indent="0">
              <a:lnSpc>
                <a:spcPct val="130000"/>
              </a:lnSpc>
              <a:buNone/>
            </a:pPr>
            <a:r>
              <a:rPr lang="en-US" sz="850" dirty="0">
                <a:solidFill>
                  <a:srgbClr val="334155"/>
                </a:solidFill>
              </a:rPr>
              <a:t>Kafka · Flink CDC · Airbyte · Batch loaders · APIs · Event streams</a:t>
            </a:r>
            <a:endParaRPr lang="en-US" sz="850" dirty="0"/>
          </a:p>
        </p:txBody>
      </p:sp>
      <p:sp>
        <p:nvSpPr>
          <p:cNvPr id="45" name="Shape 43"/>
          <p:cNvSpPr/>
          <p:nvPr/>
        </p:nvSpPr>
        <p:spPr>
          <a:xfrm>
            <a:off x="320040" y="4571999"/>
            <a:ext cx="8503920" cy="347472"/>
          </a:xfrm>
          <a:prstGeom prst="rect">
            <a:avLst/>
          </a:prstGeom>
          <a:solidFill>
            <a:srgbClr val="0D1B2A"/>
          </a:solidFill>
          <a:ln w="12700">
            <a:solidFill>
              <a:srgbClr val="0D1B2A"/>
            </a:solidFill>
            <a:prstDash val="solid"/>
          </a:ln>
        </p:spPr>
        <p:txBody>
          <a:bodyPr/>
          <a:lstStyle/>
          <a:p>
            <a:endParaRPr lang="en-LU"/>
          </a:p>
        </p:txBody>
      </p:sp>
      <p:sp>
        <p:nvSpPr>
          <p:cNvPr id="46" name="Text 44"/>
          <p:cNvSpPr/>
          <p:nvPr/>
        </p:nvSpPr>
        <p:spPr>
          <a:xfrm>
            <a:off x="457200" y="4571999"/>
            <a:ext cx="8229600" cy="347472"/>
          </a:xfrm>
          <a:prstGeom prst="rect">
            <a:avLst/>
          </a:prstGeom>
          <a:noFill/>
          <a:ln/>
        </p:spPr>
        <p:txBody>
          <a:bodyPr wrap="square" lIns="0" tIns="0" rIns="0" bIns="0" rtlCol="0" anchor="ctr"/>
          <a:lstStyle/>
          <a:p>
            <a:pPr marL="0" indent="0">
              <a:buNone/>
            </a:pPr>
            <a:r>
              <a:rPr lang="en-US" sz="1000" b="1" dirty="0">
                <a:solidFill>
                  <a:srgbClr val="F0B34F"/>
                </a:solidFill>
              </a:rPr>
              <a:t>Data flows bottom to top: </a:t>
            </a:r>
            <a:r>
              <a:rPr lang="en-US" sz="1000" b="1" dirty="0">
                <a:solidFill>
                  <a:srgbClr val="72A8A1"/>
                </a:solidFill>
              </a:rPr>
              <a:t>ingested → stored → processed → consumed.</a:t>
            </a:r>
            <a:r>
              <a:rPr lang="en-US" sz="1000" b="1" dirty="0">
                <a:solidFill>
                  <a:srgbClr val="F59E0B"/>
                </a:solidFill>
              </a:rPr>
              <a:t> </a:t>
            </a:r>
            <a:r>
              <a:rPr lang="en-US" sz="1000" b="1" dirty="0">
                <a:solidFill>
                  <a:srgbClr val="F0B34F"/>
                </a:solidFill>
              </a:rPr>
              <a:t>Bottlenecks cascade downward.</a:t>
            </a:r>
            <a:endParaRPr lang="en-US" sz="1000" dirty="0">
              <a:solidFill>
                <a:srgbClr val="F0B34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LU"/>
          </a:p>
        </p:txBody>
      </p:sp>
      <p:sp>
        <p:nvSpPr>
          <p:cNvPr id="3" name="Text 1"/>
          <p:cNvSpPr/>
          <p:nvPr/>
        </p:nvSpPr>
        <p:spPr>
          <a:xfrm>
            <a:off x="365760" y="0"/>
            <a:ext cx="8412480" cy="960120"/>
          </a:xfrm>
          <a:prstGeom prst="rect">
            <a:avLst/>
          </a:prstGeom>
          <a:noFill/>
          <a:ln/>
        </p:spPr>
        <p:txBody>
          <a:bodyPr wrap="square" lIns="0" tIns="0" rIns="0" bIns="0" rtlCol="0" anchor="ctr"/>
          <a:lstStyle/>
          <a:p>
            <a:pPr marL="0" indent="0">
              <a:buNone/>
            </a:pPr>
            <a:r>
              <a:rPr lang="en-US" sz="2200" b="1" dirty="0">
                <a:solidFill>
                  <a:srgbClr val="FFFFFF"/>
                </a:solidFill>
              </a:rPr>
              <a:t>From 1 Core to N Cores: </a:t>
            </a:r>
            <a:r>
              <a:rPr lang="en-US" sz="2200" b="1" dirty="0" err="1">
                <a:solidFill>
                  <a:srgbClr val="FFFFFF"/>
                </a:solidFill>
              </a:rPr>
              <a:t>Dask</a:t>
            </a:r>
            <a:r>
              <a:rPr lang="en-US" sz="2200" b="1" dirty="0">
                <a:solidFill>
                  <a:srgbClr val="FFFFFF"/>
                </a:solidFill>
              </a:rPr>
              <a:t> Execution Model</a:t>
            </a:r>
            <a:endParaRPr lang="en-US" sz="2200" dirty="0"/>
          </a:p>
        </p:txBody>
      </p:sp>
      <p:sp>
        <p:nvSpPr>
          <p:cNvPr id="5" name="Text 3"/>
          <p:cNvSpPr/>
          <p:nvPr/>
        </p:nvSpPr>
        <p:spPr>
          <a:xfrm>
            <a:off x="365760" y="1078992"/>
            <a:ext cx="1645920" cy="256032"/>
          </a:xfrm>
          <a:prstGeom prst="rect">
            <a:avLst/>
          </a:prstGeom>
          <a:noFill/>
          <a:ln/>
        </p:spPr>
        <p:txBody>
          <a:bodyPr wrap="square" lIns="0" tIns="0" rIns="0" bIns="0" rtlCol="0" anchor="ctr"/>
          <a:lstStyle/>
          <a:p>
            <a:pPr marL="0" indent="0" algn="ctr">
              <a:buNone/>
            </a:pPr>
            <a:r>
              <a:rPr lang="en-US" sz="900" b="1" dirty="0">
                <a:solidFill>
                  <a:srgbClr val="FFFFFF"/>
                </a:solidFill>
              </a:rPr>
              <a:t>BLOCK 2 · DASK</a:t>
            </a:r>
            <a:endParaRPr lang="en-US" sz="900" dirty="0"/>
          </a:p>
        </p:txBody>
      </p:sp>
      <p:sp>
        <p:nvSpPr>
          <p:cNvPr id="6" name="Text 4"/>
          <p:cNvSpPr/>
          <p:nvPr/>
        </p:nvSpPr>
        <p:spPr>
          <a:xfrm>
            <a:off x="320040" y="1060704"/>
            <a:ext cx="8412480" cy="365760"/>
          </a:xfrm>
          <a:prstGeom prst="rect">
            <a:avLst/>
          </a:prstGeom>
          <a:noFill/>
          <a:ln/>
        </p:spPr>
        <p:txBody>
          <a:bodyPr wrap="square" lIns="0" tIns="0" rIns="0" bIns="0" rtlCol="0" anchor="ctr"/>
          <a:lstStyle/>
          <a:p>
            <a:pPr marL="0" indent="0">
              <a:buNone/>
            </a:pPr>
            <a:r>
              <a:rPr lang="en-US" sz="1200" b="1" dirty="0">
                <a:solidFill>
                  <a:srgbClr val="0D1B2A"/>
                </a:solidFill>
              </a:rPr>
              <a:t>Pandas uses 1 core </a:t>
            </a:r>
            <a:r>
              <a:rPr lang="en-US" sz="1200" b="1" dirty="0">
                <a:solidFill>
                  <a:srgbClr val="0D1B2A"/>
                </a:solidFill>
                <a:sym typeface="Wingdings" pitchFamily="2" charset="2"/>
              </a:rPr>
              <a:t> </a:t>
            </a:r>
            <a:r>
              <a:rPr lang="en-US" sz="1200" b="1" dirty="0" err="1">
                <a:solidFill>
                  <a:srgbClr val="0D1B2A"/>
                </a:solidFill>
                <a:sym typeface="Wingdings" pitchFamily="2" charset="2"/>
              </a:rPr>
              <a:t>Dask</a:t>
            </a:r>
            <a:r>
              <a:rPr lang="en-US" sz="1200" b="1" dirty="0">
                <a:solidFill>
                  <a:srgbClr val="0D1B2A"/>
                </a:solidFill>
                <a:sym typeface="Wingdings" pitchFamily="2" charset="2"/>
              </a:rPr>
              <a:t> uses all cores available</a:t>
            </a:r>
          </a:p>
          <a:p>
            <a:pPr marL="0" indent="0">
              <a:buNone/>
            </a:pPr>
            <a:r>
              <a:rPr lang="en-US" sz="1200" b="1" dirty="0">
                <a:solidFill>
                  <a:srgbClr val="0D1B2A"/>
                </a:solidFill>
                <a:sym typeface="Wingdings" pitchFamily="2" charset="2"/>
              </a:rPr>
              <a:t>Same pandas code  parallel execution  faster runtime</a:t>
            </a:r>
            <a:endParaRPr lang="en-US" sz="1200" b="1" dirty="0"/>
          </a:p>
        </p:txBody>
      </p:sp>
      <p:sp>
        <p:nvSpPr>
          <p:cNvPr id="7" name="Shape 5"/>
          <p:cNvSpPr/>
          <p:nvPr/>
        </p:nvSpPr>
        <p:spPr>
          <a:xfrm>
            <a:off x="320040" y="1600200"/>
            <a:ext cx="4160520" cy="1417320"/>
          </a:xfrm>
          <a:prstGeom prst="rect">
            <a:avLst/>
          </a:prstGeom>
          <a:solidFill>
            <a:srgbClr val="FFFFFF"/>
          </a:solidFill>
          <a:ln w="6350">
            <a:solidFill>
              <a:srgbClr val="E2E8F0"/>
            </a:solidFill>
            <a:prstDash val="solid"/>
          </a:ln>
          <a:effectLst>
            <a:outerShdw blurRad="50800" dist="25400" dir="8100000" algn="bl" rotWithShape="0">
              <a:srgbClr val="000000">
                <a:alpha val="7000"/>
              </a:srgbClr>
            </a:outerShdw>
          </a:effectLst>
        </p:spPr>
        <p:txBody>
          <a:bodyPr/>
          <a:lstStyle/>
          <a:p>
            <a:endParaRPr lang="en-LU"/>
          </a:p>
        </p:txBody>
      </p:sp>
      <p:sp>
        <p:nvSpPr>
          <p:cNvPr id="8" name="Shape 6"/>
          <p:cNvSpPr/>
          <p:nvPr/>
        </p:nvSpPr>
        <p:spPr>
          <a:xfrm>
            <a:off x="320040" y="1600200"/>
            <a:ext cx="54864" cy="1417320"/>
          </a:xfrm>
          <a:prstGeom prst="rect">
            <a:avLst/>
          </a:prstGeom>
          <a:solidFill>
            <a:srgbClr val="0D9488"/>
          </a:solidFill>
          <a:ln w="12700">
            <a:solidFill>
              <a:srgbClr val="0D9488"/>
            </a:solidFill>
            <a:prstDash val="solid"/>
          </a:ln>
        </p:spPr>
        <p:txBody>
          <a:bodyPr/>
          <a:lstStyle/>
          <a:p>
            <a:endParaRPr lang="en-LU"/>
          </a:p>
        </p:txBody>
      </p:sp>
      <p:sp>
        <p:nvSpPr>
          <p:cNvPr id="9" name="Text 7"/>
          <p:cNvSpPr/>
          <p:nvPr/>
        </p:nvSpPr>
        <p:spPr>
          <a:xfrm>
            <a:off x="484632" y="1709928"/>
            <a:ext cx="3840480" cy="347472"/>
          </a:xfrm>
          <a:prstGeom prst="rect">
            <a:avLst/>
          </a:prstGeom>
          <a:noFill/>
          <a:ln/>
        </p:spPr>
        <p:txBody>
          <a:bodyPr wrap="square" lIns="0" tIns="0" rIns="0" bIns="0" rtlCol="0" anchor="ctr"/>
          <a:lstStyle/>
          <a:p>
            <a:pPr marL="0" indent="0">
              <a:buNone/>
            </a:pPr>
            <a:r>
              <a:rPr lang="en-US" sz="1300" b="1" dirty="0">
                <a:solidFill>
                  <a:srgbClr val="0D1B2A"/>
                </a:solidFill>
              </a:rPr>
              <a:t> Partitions</a:t>
            </a:r>
            <a:endParaRPr lang="en-US" sz="1300" dirty="0"/>
          </a:p>
        </p:txBody>
      </p:sp>
      <p:sp>
        <p:nvSpPr>
          <p:cNvPr id="10" name="Text 8"/>
          <p:cNvSpPr/>
          <p:nvPr/>
        </p:nvSpPr>
        <p:spPr>
          <a:xfrm>
            <a:off x="484632" y="2057400"/>
            <a:ext cx="3840480" cy="896112"/>
          </a:xfrm>
          <a:prstGeom prst="rect">
            <a:avLst/>
          </a:prstGeom>
          <a:noFill/>
          <a:ln/>
        </p:spPr>
        <p:txBody>
          <a:bodyPr wrap="square" lIns="0" tIns="0" rIns="0" bIns="0" rtlCol="0" anchor="ctr"/>
          <a:lstStyle/>
          <a:p>
            <a:pPr marL="0" indent="0">
              <a:lnSpc>
                <a:spcPct val="135000"/>
              </a:lnSpc>
              <a:buNone/>
            </a:pPr>
            <a:r>
              <a:rPr lang="en-US" sz="1050" dirty="0">
                <a:solidFill>
                  <a:srgbClr val="334155"/>
                </a:solidFill>
              </a:rPr>
              <a:t>Dask splits your DataFrame into N chunks. Each chunk is a regular pandas DataFrame processed independently.</a:t>
            </a:r>
            <a:endParaRPr lang="en-US" sz="1050" dirty="0"/>
          </a:p>
        </p:txBody>
      </p:sp>
      <p:sp>
        <p:nvSpPr>
          <p:cNvPr id="11" name="Shape 9"/>
          <p:cNvSpPr/>
          <p:nvPr/>
        </p:nvSpPr>
        <p:spPr>
          <a:xfrm>
            <a:off x="4754880" y="1600200"/>
            <a:ext cx="4160520" cy="1417320"/>
          </a:xfrm>
          <a:prstGeom prst="rect">
            <a:avLst/>
          </a:prstGeom>
          <a:solidFill>
            <a:srgbClr val="FFFFFF"/>
          </a:solidFill>
          <a:ln w="6350">
            <a:solidFill>
              <a:srgbClr val="E2E8F0"/>
            </a:solidFill>
            <a:prstDash val="solid"/>
          </a:ln>
          <a:effectLst>
            <a:outerShdw blurRad="50800" dist="25400" dir="8100000" algn="bl" rotWithShape="0">
              <a:srgbClr val="000000">
                <a:alpha val="7000"/>
              </a:srgbClr>
            </a:outerShdw>
          </a:effectLst>
        </p:spPr>
        <p:txBody>
          <a:bodyPr/>
          <a:lstStyle/>
          <a:p>
            <a:endParaRPr lang="en-LU"/>
          </a:p>
        </p:txBody>
      </p:sp>
      <p:sp>
        <p:nvSpPr>
          <p:cNvPr id="12" name="Shape 10"/>
          <p:cNvSpPr/>
          <p:nvPr/>
        </p:nvSpPr>
        <p:spPr>
          <a:xfrm>
            <a:off x="4754880" y="1600200"/>
            <a:ext cx="54864" cy="1417320"/>
          </a:xfrm>
          <a:prstGeom prst="rect">
            <a:avLst/>
          </a:prstGeom>
          <a:solidFill>
            <a:srgbClr val="0D9488"/>
          </a:solidFill>
          <a:ln w="12700">
            <a:solidFill>
              <a:srgbClr val="0D9488"/>
            </a:solidFill>
            <a:prstDash val="solid"/>
          </a:ln>
        </p:spPr>
        <p:txBody>
          <a:bodyPr/>
          <a:lstStyle/>
          <a:p>
            <a:endParaRPr lang="en-LU"/>
          </a:p>
        </p:txBody>
      </p:sp>
      <p:sp>
        <p:nvSpPr>
          <p:cNvPr id="13" name="Text 11"/>
          <p:cNvSpPr/>
          <p:nvPr/>
        </p:nvSpPr>
        <p:spPr>
          <a:xfrm>
            <a:off x="4919472" y="1709928"/>
            <a:ext cx="3840480" cy="347472"/>
          </a:xfrm>
          <a:prstGeom prst="rect">
            <a:avLst/>
          </a:prstGeom>
          <a:noFill/>
          <a:ln/>
        </p:spPr>
        <p:txBody>
          <a:bodyPr wrap="square" lIns="0" tIns="0" rIns="0" bIns="0" rtlCol="0" anchor="ctr"/>
          <a:lstStyle/>
          <a:p>
            <a:pPr marL="0" indent="0">
              <a:buNone/>
            </a:pPr>
            <a:r>
              <a:rPr lang="en-US" sz="1300" b="1" dirty="0">
                <a:solidFill>
                  <a:srgbClr val="0D1B2A"/>
                </a:solidFill>
              </a:rPr>
              <a:t>Thinking ahead (Lazy evaluation)</a:t>
            </a:r>
            <a:endParaRPr lang="en-US" sz="1300" dirty="0"/>
          </a:p>
        </p:txBody>
      </p:sp>
      <p:sp>
        <p:nvSpPr>
          <p:cNvPr id="14" name="Text 12"/>
          <p:cNvSpPr/>
          <p:nvPr/>
        </p:nvSpPr>
        <p:spPr>
          <a:xfrm>
            <a:off x="4919472" y="2057400"/>
            <a:ext cx="3840480" cy="896112"/>
          </a:xfrm>
          <a:prstGeom prst="rect">
            <a:avLst/>
          </a:prstGeom>
          <a:noFill/>
          <a:ln/>
        </p:spPr>
        <p:txBody>
          <a:bodyPr wrap="square" lIns="0" tIns="0" rIns="0" bIns="0" rtlCol="0" anchor="ctr"/>
          <a:lstStyle/>
          <a:p>
            <a:pPr marL="0" indent="0">
              <a:lnSpc>
                <a:spcPct val="135000"/>
              </a:lnSpc>
              <a:buNone/>
            </a:pPr>
            <a:r>
              <a:rPr lang="en-US" sz="1050" dirty="0">
                <a:solidFill>
                  <a:srgbClr val="334155"/>
                </a:solidFill>
              </a:rPr>
              <a:t>Dask builds a task graph but executes NOTHING until .compute() is called. This enables optimization before execution.</a:t>
            </a:r>
            <a:endParaRPr lang="en-US" sz="1050" dirty="0"/>
          </a:p>
        </p:txBody>
      </p:sp>
      <p:sp>
        <p:nvSpPr>
          <p:cNvPr id="15" name="Shape 13"/>
          <p:cNvSpPr/>
          <p:nvPr/>
        </p:nvSpPr>
        <p:spPr>
          <a:xfrm>
            <a:off x="320040" y="3172968"/>
            <a:ext cx="4160520" cy="1417320"/>
          </a:xfrm>
          <a:prstGeom prst="rect">
            <a:avLst/>
          </a:prstGeom>
          <a:solidFill>
            <a:srgbClr val="FFFFFF"/>
          </a:solidFill>
          <a:ln w="6350">
            <a:solidFill>
              <a:srgbClr val="E2E8F0"/>
            </a:solidFill>
            <a:prstDash val="solid"/>
          </a:ln>
          <a:effectLst>
            <a:outerShdw blurRad="50800" dist="25400" dir="8100000" algn="bl" rotWithShape="0">
              <a:srgbClr val="000000">
                <a:alpha val="7000"/>
              </a:srgbClr>
            </a:outerShdw>
          </a:effectLst>
        </p:spPr>
        <p:txBody>
          <a:bodyPr/>
          <a:lstStyle/>
          <a:p>
            <a:endParaRPr lang="en-LU"/>
          </a:p>
        </p:txBody>
      </p:sp>
      <p:sp>
        <p:nvSpPr>
          <p:cNvPr id="16" name="Shape 14"/>
          <p:cNvSpPr/>
          <p:nvPr/>
        </p:nvSpPr>
        <p:spPr>
          <a:xfrm>
            <a:off x="320040" y="3172968"/>
            <a:ext cx="54864" cy="1417320"/>
          </a:xfrm>
          <a:prstGeom prst="rect">
            <a:avLst/>
          </a:prstGeom>
          <a:solidFill>
            <a:srgbClr val="0D9488"/>
          </a:solidFill>
          <a:ln w="12700">
            <a:solidFill>
              <a:srgbClr val="0D9488"/>
            </a:solidFill>
            <a:prstDash val="solid"/>
          </a:ln>
        </p:spPr>
        <p:txBody>
          <a:bodyPr/>
          <a:lstStyle/>
          <a:p>
            <a:endParaRPr lang="en-LU"/>
          </a:p>
        </p:txBody>
      </p:sp>
      <p:sp>
        <p:nvSpPr>
          <p:cNvPr id="17" name="Text 15"/>
          <p:cNvSpPr/>
          <p:nvPr/>
        </p:nvSpPr>
        <p:spPr>
          <a:xfrm>
            <a:off x="484632" y="3282696"/>
            <a:ext cx="3840480" cy="347472"/>
          </a:xfrm>
          <a:prstGeom prst="rect">
            <a:avLst/>
          </a:prstGeom>
          <a:noFill/>
          <a:ln/>
        </p:spPr>
        <p:txBody>
          <a:bodyPr wrap="square" lIns="0" tIns="0" rIns="0" bIns="0" rtlCol="0" anchor="ctr"/>
          <a:lstStyle/>
          <a:p>
            <a:pPr marL="0" indent="0">
              <a:buNone/>
            </a:pPr>
            <a:r>
              <a:rPr lang="en-US" sz="1300" b="1" dirty="0">
                <a:solidFill>
                  <a:srgbClr val="0D1B2A"/>
                </a:solidFill>
              </a:rPr>
              <a:t>Task graph (DAG)</a:t>
            </a:r>
            <a:endParaRPr lang="en-US" sz="1300" dirty="0"/>
          </a:p>
        </p:txBody>
      </p:sp>
      <p:sp>
        <p:nvSpPr>
          <p:cNvPr id="18" name="Text 16"/>
          <p:cNvSpPr/>
          <p:nvPr/>
        </p:nvSpPr>
        <p:spPr>
          <a:xfrm>
            <a:off x="484632" y="3630168"/>
            <a:ext cx="3840480" cy="896112"/>
          </a:xfrm>
          <a:prstGeom prst="rect">
            <a:avLst/>
          </a:prstGeom>
          <a:noFill/>
          <a:ln/>
        </p:spPr>
        <p:txBody>
          <a:bodyPr wrap="square" lIns="0" tIns="0" rIns="0" bIns="0" rtlCol="0" anchor="ctr"/>
          <a:lstStyle/>
          <a:p>
            <a:pPr marL="0" indent="0">
              <a:lnSpc>
                <a:spcPct val="135000"/>
              </a:lnSpc>
              <a:buNone/>
            </a:pPr>
            <a:r>
              <a:rPr lang="en-US" sz="1050" dirty="0">
                <a:solidFill>
                  <a:srgbClr val="334155"/>
                </a:solidFill>
              </a:rPr>
              <a:t>A directed acyclic graph describing every operation. Dask can fuse, reorder, and parallelize tasks automatically.</a:t>
            </a:r>
            <a:endParaRPr lang="en-US" sz="1050" dirty="0"/>
          </a:p>
        </p:txBody>
      </p:sp>
      <p:sp>
        <p:nvSpPr>
          <p:cNvPr id="19" name="Shape 17"/>
          <p:cNvSpPr/>
          <p:nvPr/>
        </p:nvSpPr>
        <p:spPr>
          <a:xfrm>
            <a:off x="4754880" y="3172968"/>
            <a:ext cx="4160520" cy="1417320"/>
          </a:xfrm>
          <a:prstGeom prst="rect">
            <a:avLst/>
          </a:prstGeom>
          <a:solidFill>
            <a:srgbClr val="FFFFFF"/>
          </a:solidFill>
          <a:ln w="6350">
            <a:solidFill>
              <a:srgbClr val="E2E8F0"/>
            </a:solidFill>
            <a:prstDash val="solid"/>
          </a:ln>
          <a:effectLst>
            <a:outerShdw blurRad="50800" dist="25400" dir="8100000" algn="bl" rotWithShape="0">
              <a:srgbClr val="000000">
                <a:alpha val="7000"/>
              </a:srgbClr>
            </a:outerShdw>
          </a:effectLst>
        </p:spPr>
        <p:txBody>
          <a:bodyPr/>
          <a:lstStyle/>
          <a:p>
            <a:endParaRPr lang="en-LU"/>
          </a:p>
        </p:txBody>
      </p:sp>
      <p:sp>
        <p:nvSpPr>
          <p:cNvPr id="20" name="Shape 18"/>
          <p:cNvSpPr/>
          <p:nvPr/>
        </p:nvSpPr>
        <p:spPr>
          <a:xfrm>
            <a:off x="4754880" y="3172968"/>
            <a:ext cx="54864" cy="1417320"/>
          </a:xfrm>
          <a:prstGeom prst="rect">
            <a:avLst/>
          </a:prstGeom>
          <a:solidFill>
            <a:srgbClr val="0D9488"/>
          </a:solidFill>
          <a:ln w="12700">
            <a:solidFill>
              <a:srgbClr val="0D9488"/>
            </a:solidFill>
            <a:prstDash val="solid"/>
          </a:ln>
        </p:spPr>
        <p:txBody>
          <a:bodyPr/>
          <a:lstStyle/>
          <a:p>
            <a:endParaRPr lang="en-LU"/>
          </a:p>
        </p:txBody>
      </p:sp>
      <p:sp>
        <p:nvSpPr>
          <p:cNvPr id="21" name="Text 19"/>
          <p:cNvSpPr/>
          <p:nvPr/>
        </p:nvSpPr>
        <p:spPr>
          <a:xfrm>
            <a:off x="4919472" y="3282696"/>
            <a:ext cx="3840480" cy="347472"/>
          </a:xfrm>
          <a:prstGeom prst="rect">
            <a:avLst/>
          </a:prstGeom>
          <a:noFill/>
          <a:ln/>
        </p:spPr>
        <p:txBody>
          <a:bodyPr wrap="square" lIns="0" tIns="0" rIns="0" bIns="0" rtlCol="0" anchor="ctr"/>
          <a:lstStyle/>
          <a:p>
            <a:pPr marL="0" indent="0">
              <a:buNone/>
            </a:pPr>
            <a:r>
              <a:rPr lang="en-US" sz="1300" b="1" dirty="0">
                <a:solidFill>
                  <a:srgbClr val="0D1B2A"/>
                </a:solidFill>
              </a:rPr>
              <a:t>Scheduler</a:t>
            </a:r>
            <a:endParaRPr lang="en-US" sz="1300" dirty="0"/>
          </a:p>
        </p:txBody>
      </p:sp>
      <p:sp>
        <p:nvSpPr>
          <p:cNvPr id="22" name="Text 20"/>
          <p:cNvSpPr/>
          <p:nvPr/>
        </p:nvSpPr>
        <p:spPr>
          <a:xfrm>
            <a:off x="4919472" y="3630168"/>
            <a:ext cx="3840480" cy="896112"/>
          </a:xfrm>
          <a:prstGeom prst="rect">
            <a:avLst/>
          </a:prstGeom>
          <a:noFill/>
          <a:ln/>
        </p:spPr>
        <p:txBody>
          <a:bodyPr wrap="square" lIns="0" tIns="0" rIns="0" bIns="0" rtlCol="0" anchor="ctr"/>
          <a:lstStyle/>
          <a:p>
            <a:pPr marL="0" indent="0">
              <a:lnSpc>
                <a:spcPct val="135000"/>
              </a:lnSpc>
              <a:buNone/>
            </a:pPr>
            <a:r>
              <a:rPr lang="en-US" sz="1050" dirty="0">
                <a:solidFill>
                  <a:srgbClr val="334155"/>
                </a:solidFill>
              </a:rPr>
              <a:t>The engine that executes the graph. Choice of scheduler (threads/processes/distributed) is critical for performance.</a:t>
            </a:r>
            <a:endParaRPr lang="en-US" sz="1050" dirty="0"/>
          </a:p>
        </p:txBody>
      </p:sp>
      <p:sp>
        <p:nvSpPr>
          <p:cNvPr id="23" name="Shape 21"/>
          <p:cNvSpPr/>
          <p:nvPr/>
        </p:nvSpPr>
        <p:spPr>
          <a:xfrm>
            <a:off x="320040" y="4645152"/>
            <a:ext cx="8503920" cy="365760"/>
          </a:xfrm>
          <a:prstGeom prst="rect">
            <a:avLst/>
          </a:prstGeom>
          <a:solidFill>
            <a:srgbClr val="CCFBF1"/>
          </a:solidFill>
          <a:ln w="6350">
            <a:solidFill>
              <a:srgbClr val="0D9488"/>
            </a:solidFill>
            <a:prstDash val="solid"/>
          </a:ln>
        </p:spPr>
        <p:txBody>
          <a:bodyPr/>
          <a:lstStyle/>
          <a:p>
            <a:endParaRPr lang="en-LU"/>
          </a:p>
        </p:txBody>
      </p:sp>
      <p:sp>
        <p:nvSpPr>
          <p:cNvPr id="24" name="Text 22"/>
          <p:cNvSpPr/>
          <p:nvPr/>
        </p:nvSpPr>
        <p:spPr>
          <a:xfrm>
            <a:off x="457200" y="4645152"/>
            <a:ext cx="8321040" cy="365760"/>
          </a:xfrm>
          <a:prstGeom prst="rect">
            <a:avLst/>
          </a:prstGeom>
          <a:noFill/>
          <a:ln/>
        </p:spPr>
        <p:txBody>
          <a:bodyPr wrap="square" lIns="0" tIns="0" rIns="0" bIns="0" rtlCol="0" anchor="ctr"/>
          <a:lstStyle/>
          <a:p>
            <a:pPr marL="0" indent="0">
              <a:buNone/>
            </a:pPr>
            <a:r>
              <a:rPr lang="en-US" sz="1000" dirty="0">
                <a:solidFill>
                  <a:srgbClr val="334155"/>
                </a:solidFill>
                <a:latin typeface="Consolas" pitchFamily="34" charset="0"/>
                <a:ea typeface="Consolas" pitchFamily="34" charset="-122"/>
                <a:cs typeface="Consolas" pitchFamily="34" charset="-120"/>
              </a:rPr>
              <a:t>API stays almost identical to pandas — migration cost is low. import dask.dataframe as dd replaces import pandas as pd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E6444E7-A90D-D403-EC28-48E7F3A3E8FC}"/>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LU"/>
          </a:p>
        </p:txBody>
      </p:sp>
      <p:sp>
        <p:nvSpPr>
          <p:cNvPr id="3" name="Text 1">
            <a:extLst>
              <a:ext uri="{FF2B5EF4-FFF2-40B4-BE49-F238E27FC236}">
                <a16:creationId xmlns:a16="http://schemas.microsoft.com/office/drawing/2014/main" id="{06F87BC2-14BB-F8A9-CEAA-AE9AC8995B6C}"/>
              </a:ext>
            </a:extLst>
          </p:cNvPr>
          <p:cNvSpPr/>
          <p:nvPr/>
        </p:nvSpPr>
        <p:spPr>
          <a:xfrm>
            <a:off x="365760" y="0"/>
            <a:ext cx="8412480" cy="960120"/>
          </a:xfrm>
          <a:prstGeom prst="rect">
            <a:avLst/>
          </a:prstGeom>
          <a:noFill/>
          <a:ln/>
        </p:spPr>
        <p:txBody>
          <a:bodyPr wrap="square" lIns="0" tIns="0" rIns="0" bIns="0" rtlCol="0" anchor="ctr"/>
          <a:lstStyle/>
          <a:p>
            <a:pPr marL="0" indent="0">
              <a:buNone/>
            </a:pPr>
            <a:r>
              <a:rPr lang="en-US" sz="2200" b="1" dirty="0">
                <a:solidFill>
                  <a:srgbClr val="FFFFFF"/>
                </a:solidFill>
              </a:rPr>
              <a:t>Exercise 2: Parallelizing with </a:t>
            </a:r>
            <a:r>
              <a:rPr lang="en-US" sz="2200" b="1" dirty="0" err="1">
                <a:solidFill>
                  <a:srgbClr val="FFFFFF"/>
                </a:solidFill>
              </a:rPr>
              <a:t>Dask</a:t>
            </a:r>
            <a:endParaRPr lang="en-US" sz="2200" dirty="0"/>
          </a:p>
        </p:txBody>
      </p:sp>
      <p:sp>
        <p:nvSpPr>
          <p:cNvPr id="4" name="TextBox 3">
            <a:extLst>
              <a:ext uri="{FF2B5EF4-FFF2-40B4-BE49-F238E27FC236}">
                <a16:creationId xmlns:a16="http://schemas.microsoft.com/office/drawing/2014/main" id="{C66B04C2-C184-F433-4D95-390EFDA466E1}"/>
              </a:ext>
            </a:extLst>
          </p:cNvPr>
          <p:cNvSpPr txBox="1"/>
          <p:nvPr/>
        </p:nvSpPr>
        <p:spPr>
          <a:xfrm>
            <a:off x="365760" y="1349828"/>
            <a:ext cx="5495109" cy="3139321"/>
          </a:xfrm>
          <a:prstGeom prst="rect">
            <a:avLst/>
          </a:prstGeom>
          <a:noFill/>
        </p:spPr>
        <p:txBody>
          <a:bodyPr wrap="square" rtlCol="0">
            <a:spAutoFit/>
          </a:bodyPr>
          <a:lstStyle/>
          <a:p>
            <a:r>
              <a:rPr lang="en-LU" b="1" dirty="0">
                <a:solidFill>
                  <a:srgbClr val="117F88"/>
                </a:solidFill>
              </a:rPr>
              <a:t>Goal:</a:t>
            </a:r>
          </a:p>
          <a:p>
            <a:pPr marL="285750" indent="-285750">
              <a:buFont typeface="Arial" panose="020B0604020202020204" pitchFamily="34" charset="0"/>
              <a:buChar char="•"/>
            </a:pPr>
            <a:r>
              <a:rPr lang="en-LU" dirty="0"/>
              <a:t>Use all CPU cores instead of 1</a:t>
            </a:r>
          </a:p>
          <a:p>
            <a:endParaRPr lang="en-LU" dirty="0"/>
          </a:p>
          <a:p>
            <a:r>
              <a:rPr lang="en-LU" b="1" dirty="0">
                <a:solidFill>
                  <a:srgbClr val="117F88"/>
                </a:solidFill>
              </a:rPr>
              <a:t>Starting point:</a:t>
            </a:r>
          </a:p>
          <a:p>
            <a:pPr marL="285750" indent="-285750">
              <a:buFont typeface="Arial" panose="020B0604020202020204" pitchFamily="34" charset="0"/>
              <a:buChar char="•"/>
            </a:pPr>
            <a:r>
              <a:rPr lang="en-GB" dirty="0"/>
              <a:t>S</a:t>
            </a:r>
            <a:r>
              <a:rPr lang="en-LU" dirty="0"/>
              <a:t>ame dataset (parquet from Exercise 1)</a:t>
            </a:r>
          </a:p>
          <a:p>
            <a:pPr marL="285750" indent="-285750">
              <a:buFont typeface="Arial" panose="020B0604020202020204" pitchFamily="34" charset="0"/>
              <a:buChar char="•"/>
            </a:pPr>
            <a:r>
              <a:rPr lang="en-GB" dirty="0"/>
              <a:t>S</a:t>
            </a:r>
            <a:r>
              <a:rPr lang="en-LU" dirty="0"/>
              <a:t>ame pipeline</a:t>
            </a:r>
          </a:p>
          <a:p>
            <a:pPr marL="285750" indent="-285750">
              <a:buFont typeface="Arial" panose="020B0604020202020204" pitchFamily="34" charset="0"/>
              <a:buChar char="•"/>
            </a:pPr>
            <a:endParaRPr lang="en-LU" b="1" dirty="0"/>
          </a:p>
          <a:p>
            <a:r>
              <a:rPr lang="en-LU" b="1" dirty="0">
                <a:solidFill>
                  <a:srgbClr val="117F88"/>
                </a:solidFill>
              </a:rPr>
              <a:t>What changes:</a:t>
            </a:r>
          </a:p>
          <a:p>
            <a:pPr marL="285750" indent="-285750">
              <a:buFont typeface="Arial" panose="020B0604020202020204" pitchFamily="34" charset="0"/>
              <a:buChar char="•"/>
            </a:pPr>
            <a:r>
              <a:rPr lang="en-GB" dirty="0"/>
              <a:t>P</a:t>
            </a:r>
            <a:r>
              <a:rPr lang="en-LU" dirty="0"/>
              <a:t>andas </a:t>
            </a:r>
            <a:r>
              <a:rPr lang="en-LU" dirty="0">
                <a:sym typeface="Wingdings" pitchFamily="2" charset="2"/>
              </a:rPr>
              <a:t> Dask</a:t>
            </a:r>
          </a:p>
          <a:p>
            <a:pPr marL="285750" indent="-285750">
              <a:buFont typeface="Arial" panose="020B0604020202020204" pitchFamily="34" charset="0"/>
              <a:buChar char="•"/>
            </a:pPr>
            <a:r>
              <a:rPr lang="en-LU" dirty="0">
                <a:sym typeface="Wingdings" pitchFamily="2" charset="2"/>
              </a:rPr>
              <a:t>Sequential  parallel execution</a:t>
            </a:r>
          </a:p>
          <a:p>
            <a:endParaRPr lang="en-LU" dirty="0">
              <a:sym typeface="Wingdings" pitchFamily="2" charset="2"/>
            </a:endParaRPr>
          </a:p>
        </p:txBody>
      </p:sp>
      <p:sp>
        <p:nvSpPr>
          <p:cNvPr id="5" name="TextBox 4">
            <a:extLst>
              <a:ext uri="{FF2B5EF4-FFF2-40B4-BE49-F238E27FC236}">
                <a16:creationId xmlns:a16="http://schemas.microsoft.com/office/drawing/2014/main" id="{7F0C14A4-233D-E3FA-D32E-B6CF5FBB76BB}"/>
              </a:ext>
            </a:extLst>
          </p:cNvPr>
          <p:cNvSpPr txBox="1"/>
          <p:nvPr/>
        </p:nvSpPr>
        <p:spPr>
          <a:xfrm>
            <a:off x="5791200" y="2180824"/>
            <a:ext cx="2821577" cy="1477328"/>
          </a:xfrm>
          <a:prstGeom prst="rect">
            <a:avLst/>
          </a:prstGeom>
          <a:noFill/>
        </p:spPr>
        <p:txBody>
          <a:bodyPr wrap="square" rtlCol="0">
            <a:spAutoFit/>
          </a:bodyPr>
          <a:lstStyle/>
          <a:p>
            <a:r>
              <a:rPr lang="en-LU" b="1" dirty="0">
                <a:solidFill>
                  <a:srgbClr val="117F88"/>
                </a:solidFill>
              </a:rPr>
              <a:t>Workload:</a:t>
            </a:r>
          </a:p>
          <a:p>
            <a:pPr marL="285750" indent="-285750">
              <a:buFont typeface="Arial" panose="020B0604020202020204" pitchFamily="34" charset="0"/>
              <a:buChar char="•"/>
            </a:pPr>
            <a:r>
              <a:rPr lang="en-LU" dirty="0"/>
              <a:t>Read Parquet</a:t>
            </a:r>
          </a:p>
          <a:p>
            <a:pPr marL="285750" indent="-285750">
              <a:buFont typeface="Arial" panose="020B0604020202020204" pitchFamily="34" charset="0"/>
              <a:buChar char="•"/>
            </a:pPr>
            <a:r>
              <a:rPr lang="en-LU" dirty="0"/>
              <a:t>Compute new column (“Revenue”)</a:t>
            </a:r>
          </a:p>
          <a:p>
            <a:pPr marL="285750" indent="-285750">
              <a:buFont typeface="Arial" panose="020B0604020202020204" pitchFamily="34" charset="0"/>
              <a:buChar char="•"/>
            </a:pPr>
            <a:r>
              <a:rPr lang="en-LU" dirty="0"/>
              <a:t>GroupBy aggregation </a:t>
            </a:r>
          </a:p>
        </p:txBody>
      </p:sp>
    </p:spTree>
    <p:extLst>
      <p:ext uri="{BB962C8B-B14F-4D97-AF65-F5344CB8AC3E}">
        <p14:creationId xmlns:p14="http://schemas.microsoft.com/office/powerpoint/2010/main" val="966834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EF985CB-84E0-EDF1-A68F-9C850167A9F9}"/>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LU"/>
          </a:p>
        </p:txBody>
      </p:sp>
      <p:sp>
        <p:nvSpPr>
          <p:cNvPr id="3" name="Text 1">
            <a:extLst>
              <a:ext uri="{FF2B5EF4-FFF2-40B4-BE49-F238E27FC236}">
                <a16:creationId xmlns:a16="http://schemas.microsoft.com/office/drawing/2014/main" id="{23FE411C-DCBD-0E37-B58D-E695225C65E7}"/>
              </a:ext>
            </a:extLst>
          </p:cNvPr>
          <p:cNvSpPr/>
          <p:nvPr/>
        </p:nvSpPr>
        <p:spPr>
          <a:xfrm>
            <a:off x="365760" y="0"/>
            <a:ext cx="8412480" cy="960120"/>
          </a:xfrm>
          <a:prstGeom prst="rect">
            <a:avLst/>
          </a:prstGeom>
          <a:noFill/>
          <a:ln/>
        </p:spPr>
        <p:txBody>
          <a:bodyPr wrap="square" lIns="0" tIns="0" rIns="0" bIns="0" rtlCol="0" anchor="ctr"/>
          <a:lstStyle/>
          <a:p>
            <a:pPr marL="0" indent="0">
              <a:buNone/>
            </a:pPr>
            <a:r>
              <a:rPr lang="en-US" sz="2200" b="1" dirty="0">
                <a:solidFill>
                  <a:srgbClr val="FFFFFF"/>
                </a:solidFill>
              </a:rPr>
              <a:t>Exercise 2 Results – parallelism helps but only when data is large enough</a:t>
            </a:r>
          </a:p>
        </p:txBody>
      </p:sp>
      <p:graphicFrame>
        <p:nvGraphicFramePr>
          <p:cNvPr id="4" name="Chart 3">
            <a:extLst>
              <a:ext uri="{FF2B5EF4-FFF2-40B4-BE49-F238E27FC236}">
                <a16:creationId xmlns:a16="http://schemas.microsoft.com/office/drawing/2014/main" id="{C4F2A800-9BB3-94A4-489A-C27C4EF7F745}"/>
              </a:ext>
            </a:extLst>
          </p:cNvPr>
          <p:cNvGraphicFramePr/>
          <p:nvPr>
            <p:extLst>
              <p:ext uri="{D42A27DB-BD31-4B8C-83A1-F6EECF244321}">
                <p14:modId xmlns:p14="http://schemas.microsoft.com/office/powerpoint/2010/main" val="1438697194"/>
              </p:ext>
            </p:extLst>
          </p:nvPr>
        </p:nvGraphicFramePr>
        <p:xfrm>
          <a:off x="287383" y="1404256"/>
          <a:ext cx="4772298" cy="3498669"/>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D2D14954-CF5E-892A-896A-05EED5EB67A4}"/>
              </a:ext>
            </a:extLst>
          </p:cNvPr>
          <p:cNvSpPr txBox="1"/>
          <p:nvPr/>
        </p:nvSpPr>
        <p:spPr>
          <a:xfrm>
            <a:off x="5425440" y="2553425"/>
            <a:ext cx="3718560" cy="1200329"/>
          </a:xfrm>
          <a:prstGeom prst="rect">
            <a:avLst/>
          </a:prstGeom>
          <a:noFill/>
        </p:spPr>
        <p:txBody>
          <a:bodyPr wrap="square" rtlCol="0">
            <a:spAutoFit/>
          </a:bodyPr>
          <a:lstStyle/>
          <a:p>
            <a:r>
              <a:rPr lang="en-LU" dirty="0"/>
              <a:t>Small data </a:t>
            </a:r>
            <a:r>
              <a:rPr lang="en-LU" dirty="0">
                <a:sym typeface="Wingdings" pitchFamily="2" charset="2"/>
              </a:rPr>
              <a:t> overhead dominates (Dask slower)</a:t>
            </a:r>
          </a:p>
          <a:p>
            <a:endParaRPr lang="en-LU" dirty="0">
              <a:sym typeface="Wingdings" pitchFamily="2" charset="2"/>
            </a:endParaRPr>
          </a:p>
          <a:p>
            <a:r>
              <a:rPr lang="en-LU" dirty="0">
                <a:sym typeface="Wingdings" pitchFamily="2" charset="2"/>
              </a:rPr>
              <a:t>Large data  parallelism matters</a:t>
            </a:r>
            <a:endParaRPr lang="en-LU" dirty="0"/>
          </a:p>
        </p:txBody>
      </p:sp>
    </p:spTree>
    <p:extLst>
      <p:ext uri="{BB962C8B-B14F-4D97-AF65-F5344CB8AC3E}">
        <p14:creationId xmlns:p14="http://schemas.microsoft.com/office/powerpoint/2010/main" val="2783194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LU"/>
          </a:p>
        </p:txBody>
      </p:sp>
      <p:sp>
        <p:nvSpPr>
          <p:cNvPr id="3" name="Text 1"/>
          <p:cNvSpPr/>
          <p:nvPr/>
        </p:nvSpPr>
        <p:spPr>
          <a:xfrm>
            <a:off x="365760" y="122138"/>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Choosing the Right Scheduler</a:t>
            </a:r>
            <a:endParaRPr lang="en-US" sz="2200" dirty="0"/>
          </a:p>
        </p:txBody>
      </p:sp>
      <p:sp>
        <p:nvSpPr>
          <p:cNvPr id="7" name="Shape 5"/>
          <p:cNvSpPr/>
          <p:nvPr/>
        </p:nvSpPr>
        <p:spPr>
          <a:xfrm>
            <a:off x="320040" y="1298448"/>
            <a:ext cx="4160520" cy="1664208"/>
          </a:xfrm>
          <a:prstGeom prst="rect">
            <a:avLst/>
          </a:prstGeom>
          <a:solidFill>
            <a:srgbClr val="FFFFFF"/>
          </a:solidFill>
          <a:ln w="10160">
            <a:solidFill>
              <a:srgbClr val="94A3B8"/>
            </a:solidFill>
            <a:prstDash val="solid"/>
          </a:ln>
        </p:spPr>
        <p:txBody>
          <a:bodyPr/>
          <a:lstStyle/>
          <a:p>
            <a:endParaRPr lang="en-LU"/>
          </a:p>
        </p:txBody>
      </p:sp>
      <p:sp>
        <p:nvSpPr>
          <p:cNvPr id="8" name="Shape 6"/>
          <p:cNvSpPr/>
          <p:nvPr/>
        </p:nvSpPr>
        <p:spPr>
          <a:xfrm>
            <a:off x="320040" y="1298448"/>
            <a:ext cx="4160520" cy="384048"/>
          </a:xfrm>
          <a:prstGeom prst="rect">
            <a:avLst/>
          </a:prstGeom>
          <a:solidFill>
            <a:srgbClr val="94A3B8"/>
          </a:solidFill>
          <a:ln w="12700">
            <a:solidFill>
              <a:srgbClr val="94A3B8"/>
            </a:solidFill>
            <a:prstDash val="solid"/>
          </a:ln>
        </p:spPr>
        <p:txBody>
          <a:bodyPr/>
          <a:lstStyle/>
          <a:p>
            <a:endParaRPr lang="en-LU"/>
          </a:p>
        </p:txBody>
      </p:sp>
      <p:sp>
        <p:nvSpPr>
          <p:cNvPr id="9" name="Text 7"/>
          <p:cNvSpPr/>
          <p:nvPr/>
        </p:nvSpPr>
        <p:spPr>
          <a:xfrm>
            <a:off x="429768" y="1298448"/>
            <a:ext cx="2286000" cy="384048"/>
          </a:xfrm>
          <a:prstGeom prst="rect">
            <a:avLst/>
          </a:prstGeom>
          <a:noFill/>
          <a:ln/>
        </p:spPr>
        <p:txBody>
          <a:bodyPr wrap="square" lIns="0" tIns="0" rIns="0" bIns="0" rtlCol="0" anchor="ctr"/>
          <a:lstStyle/>
          <a:p>
            <a:pPr marL="0" indent="0">
              <a:buNone/>
            </a:pPr>
            <a:r>
              <a:rPr lang="en-US" sz="1300" b="1" dirty="0">
                <a:solidFill>
                  <a:srgbClr val="FFFFFF"/>
                </a:solidFill>
                <a:latin typeface="Consolas" pitchFamily="34" charset="0"/>
                <a:ea typeface="Consolas" pitchFamily="34" charset="-122"/>
                <a:cs typeface="Consolas" pitchFamily="34" charset="-120"/>
              </a:rPr>
              <a:t>synchronous</a:t>
            </a:r>
            <a:endParaRPr lang="en-US" sz="1300" dirty="0"/>
          </a:p>
        </p:txBody>
      </p:sp>
      <p:sp>
        <p:nvSpPr>
          <p:cNvPr id="10" name="Text 8"/>
          <p:cNvSpPr/>
          <p:nvPr/>
        </p:nvSpPr>
        <p:spPr>
          <a:xfrm>
            <a:off x="429768" y="1737360"/>
            <a:ext cx="3840480" cy="256032"/>
          </a:xfrm>
          <a:prstGeom prst="rect">
            <a:avLst/>
          </a:prstGeom>
          <a:noFill/>
          <a:ln/>
        </p:spPr>
        <p:txBody>
          <a:bodyPr wrap="square" lIns="0" tIns="0" rIns="0" bIns="0" rtlCol="0" anchor="ctr"/>
          <a:lstStyle/>
          <a:p>
            <a:pPr marL="0" indent="0">
              <a:buNone/>
            </a:pPr>
            <a:r>
              <a:rPr lang="en-US" sz="1000" b="1" dirty="0">
                <a:solidFill>
                  <a:srgbClr val="94A3B8"/>
                </a:solidFill>
              </a:rPr>
              <a:t>Best for: Debugging only</a:t>
            </a:r>
            <a:endParaRPr lang="en-US" sz="1000" dirty="0"/>
          </a:p>
        </p:txBody>
      </p:sp>
      <p:sp>
        <p:nvSpPr>
          <p:cNvPr id="11" name="Text 9"/>
          <p:cNvSpPr/>
          <p:nvPr/>
        </p:nvSpPr>
        <p:spPr>
          <a:xfrm>
            <a:off x="457200" y="1984248"/>
            <a:ext cx="1920240" cy="256032"/>
          </a:xfrm>
          <a:prstGeom prst="rect">
            <a:avLst/>
          </a:prstGeom>
          <a:noFill/>
          <a:ln/>
        </p:spPr>
        <p:txBody>
          <a:bodyPr wrap="square" lIns="0" tIns="0" rIns="0" bIns="0" rtlCol="0" anchor="ctr"/>
          <a:lstStyle/>
          <a:p>
            <a:pPr marL="0" indent="0">
              <a:buNone/>
            </a:pPr>
            <a:r>
              <a:rPr lang="en-US" sz="900" dirty="0">
                <a:solidFill>
                  <a:srgbClr val="166534"/>
                </a:solidFill>
              </a:rPr>
              <a:t>✓ No parallelism overhead</a:t>
            </a:r>
            <a:endParaRPr lang="en-US" sz="900" dirty="0"/>
          </a:p>
        </p:txBody>
      </p:sp>
      <p:sp>
        <p:nvSpPr>
          <p:cNvPr id="12" name="Text 10"/>
          <p:cNvSpPr/>
          <p:nvPr/>
        </p:nvSpPr>
        <p:spPr>
          <a:xfrm>
            <a:off x="457200" y="2240280"/>
            <a:ext cx="1920240" cy="256032"/>
          </a:xfrm>
          <a:prstGeom prst="rect">
            <a:avLst/>
          </a:prstGeom>
          <a:noFill/>
          <a:ln/>
        </p:spPr>
        <p:txBody>
          <a:bodyPr wrap="square" lIns="0" tIns="0" rIns="0" bIns="0" rtlCol="0" anchor="ctr"/>
          <a:lstStyle/>
          <a:p>
            <a:pPr marL="0" indent="0">
              <a:buNone/>
            </a:pPr>
            <a:r>
              <a:rPr lang="en-US" sz="900" dirty="0">
                <a:solidFill>
                  <a:srgbClr val="166534"/>
                </a:solidFill>
              </a:rPr>
              <a:t>✓ Easy to debug errors</a:t>
            </a:r>
            <a:endParaRPr lang="en-US" sz="900" dirty="0"/>
          </a:p>
        </p:txBody>
      </p:sp>
      <p:sp>
        <p:nvSpPr>
          <p:cNvPr id="13" name="Text 11"/>
          <p:cNvSpPr/>
          <p:nvPr/>
        </p:nvSpPr>
        <p:spPr>
          <a:xfrm>
            <a:off x="2377440" y="1984248"/>
            <a:ext cx="2011680" cy="256032"/>
          </a:xfrm>
          <a:prstGeom prst="rect">
            <a:avLst/>
          </a:prstGeom>
          <a:noFill/>
          <a:ln/>
        </p:spPr>
        <p:txBody>
          <a:bodyPr wrap="square" lIns="0" tIns="0" rIns="0" bIns="0" rtlCol="0" anchor="ctr"/>
          <a:lstStyle/>
          <a:p>
            <a:pPr marL="0" indent="0">
              <a:buNone/>
            </a:pPr>
            <a:r>
              <a:rPr lang="en-US" sz="900" dirty="0">
                <a:solidFill>
                  <a:srgbClr val="991B1B"/>
                </a:solidFill>
              </a:rPr>
              <a:t>✗ Zero performance gain</a:t>
            </a:r>
            <a:endParaRPr lang="en-US" sz="900" dirty="0"/>
          </a:p>
        </p:txBody>
      </p:sp>
      <p:sp>
        <p:nvSpPr>
          <p:cNvPr id="14" name="Text 12"/>
          <p:cNvSpPr/>
          <p:nvPr/>
        </p:nvSpPr>
        <p:spPr>
          <a:xfrm>
            <a:off x="2377440" y="2240280"/>
            <a:ext cx="2011680" cy="256032"/>
          </a:xfrm>
          <a:prstGeom prst="rect">
            <a:avLst/>
          </a:prstGeom>
          <a:noFill/>
          <a:ln/>
        </p:spPr>
        <p:txBody>
          <a:bodyPr wrap="square" lIns="0" tIns="0" rIns="0" bIns="0" rtlCol="0" anchor="ctr"/>
          <a:lstStyle/>
          <a:p>
            <a:pPr marL="0" indent="0">
              <a:buNone/>
            </a:pPr>
            <a:r>
              <a:rPr lang="en-US" sz="900" dirty="0">
                <a:solidFill>
                  <a:srgbClr val="991B1B"/>
                </a:solidFill>
              </a:rPr>
              <a:t>✗ Never use in production</a:t>
            </a:r>
            <a:endParaRPr lang="en-US" sz="900" dirty="0"/>
          </a:p>
        </p:txBody>
      </p:sp>
      <p:sp>
        <p:nvSpPr>
          <p:cNvPr id="15" name="Shape 13"/>
          <p:cNvSpPr/>
          <p:nvPr/>
        </p:nvSpPr>
        <p:spPr>
          <a:xfrm>
            <a:off x="4754880" y="1298448"/>
            <a:ext cx="4160520" cy="1664208"/>
          </a:xfrm>
          <a:prstGeom prst="rect">
            <a:avLst/>
          </a:prstGeom>
          <a:solidFill>
            <a:srgbClr val="FFFFFF"/>
          </a:solidFill>
          <a:ln w="10160">
            <a:solidFill>
              <a:srgbClr val="0D9488"/>
            </a:solidFill>
            <a:prstDash val="solid"/>
          </a:ln>
        </p:spPr>
        <p:txBody>
          <a:bodyPr/>
          <a:lstStyle/>
          <a:p>
            <a:endParaRPr lang="en-LU"/>
          </a:p>
        </p:txBody>
      </p:sp>
      <p:sp>
        <p:nvSpPr>
          <p:cNvPr id="16" name="Shape 14"/>
          <p:cNvSpPr/>
          <p:nvPr/>
        </p:nvSpPr>
        <p:spPr>
          <a:xfrm>
            <a:off x="4754880" y="1298448"/>
            <a:ext cx="4160520" cy="384048"/>
          </a:xfrm>
          <a:prstGeom prst="rect">
            <a:avLst/>
          </a:prstGeom>
          <a:solidFill>
            <a:srgbClr val="0D9488"/>
          </a:solidFill>
          <a:ln w="12700">
            <a:solidFill>
              <a:srgbClr val="0D9488"/>
            </a:solidFill>
            <a:prstDash val="solid"/>
          </a:ln>
        </p:spPr>
        <p:txBody>
          <a:bodyPr/>
          <a:lstStyle/>
          <a:p>
            <a:endParaRPr lang="en-LU"/>
          </a:p>
        </p:txBody>
      </p:sp>
      <p:sp>
        <p:nvSpPr>
          <p:cNvPr id="17" name="Text 15"/>
          <p:cNvSpPr/>
          <p:nvPr/>
        </p:nvSpPr>
        <p:spPr>
          <a:xfrm>
            <a:off x="4864608" y="1298448"/>
            <a:ext cx="2286000" cy="384048"/>
          </a:xfrm>
          <a:prstGeom prst="rect">
            <a:avLst/>
          </a:prstGeom>
          <a:noFill/>
          <a:ln/>
        </p:spPr>
        <p:txBody>
          <a:bodyPr wrap="square" lIns="0" tIns="0" rIns="0" bIns="0" rtlCol="0" anchor="ctr"/>
          <a:lstStyle/>
          <a:p>
            <a:pPr marL="0" indent="0">
              <a:buNone/>
            </a:pPr>
            <a:r>
              <a:rPr lang="en-US" sz="1300" b="1" dirty="0">
                <a:solidFill>
                  <a:srgbClr val="FFFFFF"/>
                </a:solidFill>
                <a:latin typeface="Consolas" pitchFamily="34" charset="0"/>
                <a:ea typeface="Consolas" pitchFamily="34" charset="-122"/>
                <a:cs typeface="Consolas" pitchFamily="34" charset="-120"/>
              </a:rPr>
              <a:t>threads</a:t>
            </a:r>
            <a:endParaRPr lang="en-US" sz="1300" dirty="0"/>
          </a:p>
        </p:txBody>
      </p:sp>
      <p:sp>
        <p:nvSpPr>
          <p:cNvPr id="18" name="Text 16"/>
          <p:cNvSpPr/>
          <p:nvPr/>
        </p:nvSpPr>
        <p:spPr>
          <a:xfrm>
            <a:off x="4864608" y="1737360"/>
            <a:ext cx="3840480" cy="256032"/>
          </a:xfrm>
          <a:prstGeom prst="rect">
            <a:avLst/>
          </a:prstGeom>
          <a:noFill/>
          <a:ln/>
        </p:spPr>
        <p:txBody>
          <a:bodyPr wrap="square" lIns="0" tIns="0" rIns="0" bIns="0" rtlCol="0" anchor="ctr"/>
          <a:lstStyle/>
          <a:p>
            <a:pPr marL="0" indent="0">
              <a:buNone/>
            </a:pPr>
            <a:r>
              <a:rPr lang="en-US" sz="1000" b="1" dirty="0">
                <a:solidFill>
                  <a:srgbClr val="0D9488"/>
                </a:solidFill>
              </a:rPr>
              <a:t>Best for: pandas / numpy workloads ✓</a:t>
            </a:r>
            <a:endParaRPr lang="en-US" sz="1000" dirty="0"/>
          </a:p>
        </p:txBody>
      </p:sp>
      <p:sp>
        <p:nvSpPr>
          <p:cNvPr id="19" name="Text 17"/>
          <p:cNvSpPr/>
          <p:nvPr/>
        </p:nvSpPr>
        <p:spPr>
          <a:xfrm>
            <a:off x="4892040" y="1984248"/>
            <a:ext cx="1920240" cy="256032"/>
          </a:xfrm>
          <a:prstGeom prst="rect">
            <a:avLst/>
          </a:prstGeom>
          <a:noFill/>
          <a:ln/>
        </p:spPr>
        <p:txBody>
          <a:bodyPr wrap="square" lIns="0" tIns="0" rIns="0" bIns="0" rtlCol="0" anchor="ctr"/>
          <a:lstStyle/>
          <a:p>
            <a:pPr marL="0" indent="0">
              <a:buNone/>
            </a:pPr>
            <a:r>
              <a:rPr lang="en-US" sz="900" dirty="0">
                <a:solidFill>
                  <a:srgbClr val="166534"/>
                </a:solidFill>
              </a:rPr>
              <a:t>✓ Shared memory → zero copy</a:t>
            </a:r>
            <a:endParaRPr lang="en-US" sz="900" dirty="0"/>
          </a:p>
        </p:txBody>
      </p:sp>
      <p:sp>
        <p:nvSpPr>
          <p:cNvPr id="20" name="Text 18"/>
          <p:cNvSpPr/>
          <p:nvPr/>
        </p:nvSpPr>
        <p:spPr>
          <a:xfrm>
            <a:off x="4892040" y="2240280"/>
            <a:ext cx="1920240" cy="256032"/>
          </a:xfrm>
          <a:prstGeom prst="rect">
            <a:avLst/>
          </a:prstGeom>
          <a:noFill/>
          <a:ln/>
        </p:spPr>
        <p:txBody>
          <a:bodyPr wrap="square" lIns="0" tIns="0" rIns="0" bIns="0" rtlCol="0" anchor="ctr"/>
          <a:lstStyle/>
          <a:p>
            <a:pPr marL="0" indent="0">
              <a:buNone/>
            </a:pPr>
            <a:r>
              <a:rPr lang="en-US" sz="900" dirty="0">
                <a:solidFill>
                  <a:srgbClr val="166534"/>
                </a:solidFill>
              </a:rPr>
              <a:t>✓ numpy releases the GIL</a:t>
            </a:r>
            <a:endParaRPr lang="en-US" sz="900" dirty="0"/>
          </a:p>
        </p:txBody>
      </p:sp>
      <p:sp>
        <p:nvSpPr>
          <p:cNvPr id="21" name="Text 19"/>
          <p:cNvSpPr/>
          <p:nvPr/>
        </p:nvSpPr>
        <p:spPr>
          <a:xfrm>
            <a:off x="4892040" y="2496312"/>
            <a:ext cx="1920240" cy="256032"/>
          </a:xfrm>
          <a:prstGeom prst="rect">
            <a:avLst/>
          </a:prstGeom>
          <a:noFill/>
          <a:ln/>
        </p:spPr>
        <p:txBody>
          <a:bodyPr wrap="square" lIns="0" tIns="0" rIns="0" bIns="0" rtlCol="0" anchor="ctr"/>
          <a:lstStyle/>
          <a:p>
            <a:pPr marL="0" indent="0">
              <a:buNone/>
            </a:pPr>
            <a:r>
              <a:rPr lang="en-US" sz="900" dirty="0">
                <a:solidFill>
                  <a:srgbClr val="166534"/>
                </a:solidFill>
              </a:rPr>
              <a:t>✓ Low overhead</a:t>
            </a:r>
            <a:endParaRPr lang="en-US" sz="900" dirty="0"/>
          </a:p>
        </p:txBody>
      </p:sp>
      <p:sp>
        <p:nvSpPr>
          <p:cNvPr id="22" name="Text 20"/>
          <p:cNvSpPr/>
          <p:nvPr/>
        </p:nvSpPr>
        <p:spPr>
          <a:xfrm>
            <a:off x="6812280" y="1984248"/>
            <a:ext cx="2011680" cy="256032"/>
          </a:xfrm>
          <a:prstGeom prst="rect">
            <a:avLst/>
          </a:prstGeom>
          <a:noFill/>
          <a:ln/>
        </p:spPr>
        <p:txBody>
          <a:bodyPr wrap="square" lIns="0" tIns="0" rIns="0" bIns="0" rtlCol="0" anchor="ctr"/>
          <a:lstStyle/>
          <a:p>
            <a:pPr marL="0" indent="0">
              <a:buNone/>
            </a:pPr>
            <a:r>
              <a:rPr lang="en-US" sz="900" dirty="0">
                <a:solidFill>
                  <a:srgbClr val="991B1B"/>
                </a:solidFill>
              </a:rPr>
              <a:t>✗ Pure-Python code still GIL-bound</a:t>
            </a:r>
            <a:endParaRPr lang="en-US" sz="900" dirty="0"/>
          </a:p>
        </p:txBody>
      </p:sp>
      <p:sp>
        <p:nvSpPr>
          <p:cNvPr id="23" name="Text 21"/>
          <p:cNvSpPr/>
          <p:nvPr/>
        </p:nvSpPr>
        <p:spPr>
          <a:xfrm>
            <a:off x="6812280" y="2240280"/>
            <a:ext cx="2011680" cy="256032"/>
          </a:xfrm>
          <a:prstGeom prst="rect">
            <a:avLst/>
          </a:prstGeom>
          <a:noFill/>
          <a:ln/>
        </p:spPr>
        <p:txBody>
          <a:bodyPr wrap="square" lIns="0" tIns="0" rIns="0" bIns="0" rtlCol="0" anchor="ctr"/>
          <a:lstStyle/>
          <a:p>
            <a:pPr marL="0" indent="0">
              <a:buNone/>
            </a:pPr>
            <a:r>
              <a:rPr lang="en-US" sz="900" dirty="0">
                <a:solidFill>
                  <a:srgbClr val="991B1B"/>
                </a:solidFill>
              </a:rPr>
              <a:t>✗ Not for CPU-bound Python loops</a:t>
            </a:r>
            <a:endParaRPr lang="en-US" sz="900" dirty="0"/>
          </a:p>
        </p:txBody>
      </p:sp>
      <p:sp>
        <p:nvSpPr>
          <p:cNvPr id="24" name="Shape 22"/>
          <p:cNvSpPr/>
          <p:nvPr/>
        </p:nvSpPr>
        <p:spPr>
          <a:xfrm>
            <a:off x="320040" y="3127248"/>
            <a:ext cx="4160520" cy="1664208"/>
          </a:xfrm>
          <a:prstGeom prst="rect">
            <a:avLst/>
          </a:prstGeom>
          <a:solidFill>
            <a:srgbClr val="FFFFFF"/>
          </a:solidFill>
          <a:ln w="10160">
            <a:solidFill>
              <a:srgbClr val="7C3AED"/>
            </a:solidFill>
            <a:prstDash val="solid"/>
          </a:ln>
        </p:spPr>
        <p:txBody>
          <a:bodyPr/>
          <a:lstStyle/>
          <a:p>
            <a:endParaRPr lang="en-LU"/>
          </a:p>
        </p:txBody>
      </p:sp>
      <p:sp>
        <p:nvSpPr>
          <p:cNvPr id="25" name="Shape 23"/>
          <p:cNvSpPr/>
          <p:nvPr/>
        </p:nvSpPr>
        <p:spPr>
          <a:xfrm>
            <a:off x="320040" y="3127248"/>
            <a:ext cx="4160520" cy="384048"/>
          </a:xfrm>
          <a:prstGeom prst="rect">
            <a:avLst/>
          </a:prstGeom>
          <a:solidFill>
            <a:srgbClr val="7C3AED"/>
          </a:solidFill>
          <a:ln w="12700">
            <a:solidFill>
              <a:srgbClr val="7C3AED"/>
            </a:solidFill>
            <a:prstDash val="solid"/>
          </a:ln>
        </p:spPr>
        <p:txBody>
          <a:bodyPr/>
          <a:lstStyle/>
          <a:p>
            <a:endParaRPr lang="en-LU"/>
          </a:p>
        </p:txBody>
      </p:sp>
      <p:sp>
        <p:nvSpPr>
          <p:cNvPr id="26" name="Text 24"/>
          <p:cNvSpPr/>
          <p:nvPr/>
        </p:nvSpPr>
        <p:spPr>
          <a:xfrm>
            <a:off x="429768" y="3127248"/>
            <a:ext cx="2286000" cy="384048"/>
          </a:xfrm>
          <a:prstGeom prst="rect">
            <a:avLst/>
          </a:prstGeom>
          <a:noFill/>
          <a:ln/>
        </p:spPr>
        <p:txBody>
          <a:bodyPr wrap="square" lIns="0" tIns="0" rIns="0" bIns="0" rtlCol="0" anchor="ctr"/>
          <a:lstStyle/>
          <a:p>
            <a:pPr marL="0" indent="0">
              <a:buNone/>
            </a:pPr>
            <a:r>
              <a:rPr lang="en-US" sz="1300" b="1" dirty="0">
                <a:solidFill>
                  <a:srgbClr val="FFFFFF"/>
                </a:solidFill>
                <a:latin typeface="Consolas" pitchFamily="34" charset="0"/>
                <a:ea typeface="Consolas" pitchFamily="34" charset="-122"/>
                <a:cs typeface="Consolas" pitchFamily="34" charset="-120"/>
              </a:rPr>
              <a:t>processes</a:t>
            </a:r>
            <a:endParaRPr lang="en-US" sz="1300" dirty="0"/>
          </a:p>
        </p:txBody>
      </p:sp>
      <p:sp>
        <p:nvSpPr>
          <p:cNvPr id="27" name="Text 25"/>
          <p:cNvSpPr/>
          <p:nvPr/>
        </p:nvSpPr>
        <p:spPr>
          <a:xfrm>
            <a:off x="429768" y="3566160"/>
            <a:ext cx="3840480" cy="256032"/>
          </a:xfrm>
          <a:prstGeom prst="rect">
            <a:avLst/>
          </a:prstGeom>
          <a:noFill/>
          <a:ln/>
        </p:spPr>
        <p:txBody>
          <a:bodyPr wrap="square" lIns="0" tIns="0" rIns="0" bIns="0" rtlCol="0" anchor="ctr"/>
          <a:lstStyle/>
          <a:p>
            <a:pPr marL="0" indent="0">
              <a:buNone/>
            </a:pPr>
            <a:r>
              <a:rPr lang="en-US" sz="1000" b="1" dirty="0">
                <a:solidFill>
                  <a:srgbClr val="7C3AED"/>
                </a:solidFill>
              </a:rPr>
              <a:t>Best for: Pure-Python CPU-bound code</a:t>
            </a:r>
            <a:endParaRPr lang="en-US" sz="1000" dirty="0"/>
          </a:p>
        </p:txBody>
      </p:sp>
      <p:sp>
        <p:nvSpPr>
          <p:cNvPr id="28" name="Text 26"/>
          <p:cNvSpPr/>
          <p:nvPr/>
        </p:nvSpPr>
        <p:spPr>
          <a:xfrm>
            <a:off x="457200" y="3813048"/>
            <a:ext cx="1920240" cy="256032"/>
          </a:xfrm>
          <a:prstGeom prst="rect">
            <a:avLst/>
          </a:prstGeom>
          <a:noFill/>
          <a:ln/>
        </p:spPr>
        <p:txBody>
          <a:bodyPr wrap="square" lIns="0" tIns="0" rIns="0" bIns="0" rtlCol="0" anchor="ctr"/>
          <a:lstStyle/>
          <a:p>
            <a:pPr marL="0" indent="0">
              <a:buNone/>
            </a:pPr>
            <a:r>
              <a:rPr lang="en-US" sz="900" dirty="0">
                <a:solidFill>
                  <a:srgbClr val="166534"/>
                </a:solidFill>
              </a:rPr>
              <a:t>✓ True CPU isolation</a:t>
            </a:r>
            <a:endParaRPr lang="en-US" sz="900" dirty="0"/>
          </a:p>
        </p:txBody>
      </p:sp>
      <p:sp>
        <p:nvSpPr>
          <p:cNvPr id="29" name="Text 27"/>
          <p:cNvSpPr/>
          <p:nvPr/>
        </p:nvSpPr>
        <p:spPr>
          <a:xfrm>
            <a:off x="457200" y="4069080"/>
            <a:ext cx="1920240" cy="256032"/>
          </a:xfrm>
          <a:prstGeom prst="rect">
            <a:avLst/>
          </a:prstGeom>
          <a:noFill/>
          <a:ln/>
        </p:spPr>
        <p:txBody>
          <a:bodyPr wrap="square" lIns="0" tIns="0" rIns="0" bIns="0" rtlCol="0" anchor="ctr"/>
          <a:lstStyle/>
          <a:p>
            <a:pPr marL="0" indent="0">
              <a:buNone/>
            </a:pPr>
            <a:r>
              <a:rPr lang="en-US" sz="900" dirty="0">
                <a:solidFill>
                  <a:srgbClr val="166534"/>
                </a:solidFill>
              </a:rPr>
              <a:t>✓ No GIL limitation</a:t>
            </a:r>
            <a:endParaRPr lang="en-US" sz="900" dirty="0"/>
          </a:p>
        </p:txBody>
      </p:sp>
      <p:sp>
        <p:nvSpPr>
          <p:cNvPr id="30" name="Text 28"/>
          <p:cNvSpPr/>
          <p:nvPr/>
        </p:nvSpPr>
        <p:spPr>
          <a:xfrm>
            <a:off x="2377440" y="3813048"/>
            <a:ext cx="2011680" cy="256032"/>
          </a:xfrm>
          <a:prstGeom prst="rect">
            <a:avLst/>
          </a:prstGeom>
          <a:noFill/>
          <a:ln/>
        </p:spPr>
        <p:txBody>
          <a:bodyPr wrap="square" lIns="0" tIns="0" rIns="0" bIns="0" rtlCol="0" anchor="ctr"/>
          <a:lstStyle/>
          <a:p>
            <a:pPr marL="0" indent="0">
              <a:buNone/>
            </a:pPr>
            <a:r>
              <a:rPr lang="en-US" sz="900" dirty="0">
                <a:solidFill>
                  <a:srgbClr val="991B1B"/>
                </a:solidFill>
              </a:rPr>
              <a:t>✗ Pickle overhead on every call</a:t>
            </a:r>
            <a:endParaRPr lang="en-US" sz="900" dirty="0"/>
          </a:p>
        </p:txBody>
      </p:sp>
      <p:sp>
        <p:nvSpPr>
          <p:cNvPr id="31" name="Text 29"/>
          <p:cNvSpPr/>
          <p:nvPr/>
        </p:nvSpPr>
        <p:spPr>
          <a:xfrm>
            <a:off x="2377440" y="4069080"/>
            <a:ext cx="2011680" cy="256032"/>
          </a:xfrm>
          <a:prstGeom prst="rect">
            <a:avLst/>
          </a:prstGeom>
          <a:noFill/>
          <a:ln/>
        </p:spPr>
        <p:txBody>
          <a:bodyPr wrap="square" lIns="0" tIns="0" rIns="0" bIns="0" rtlCol="0" anchor="ctr"/>
          <a:lstStyle/>
          <a:p>
            <a:pPr marL="0" indent="0">
              <a:buNone/>
            </a:pPr>
            <a:r>
              <a:rPr lang="en-US" sz="900" dirty="0">
                <a:solidFill>
                  <a:srgbClr val="991B1B"/>
                </a:solidFill>
              </a:rPr>
              <a:t>✗ Often SLOWER for pandas/numpy</a:t>
            </a:r>
            <a:endParaRPr lang="en-US" sz="900" dirty="0"/>
          </a:p>
        </p:txBody>
      </p:sp>
      <p:sp>
        <p:nvSpPr>
          <p:cNvPr id="32" name="Shape 30"/>
          <p:cNvSpPr/>
          <p:nvPr/>
        </p:nvSpPr>
        <p:spPr>
          <a:xfrm>
            <a:off x="4754880" y="3127248"/>
            <a:ext cx="4160520" cy="1664208"/>
          </a:xfrm>
          <a:prstGeom prst="rect">
            <a:avLst/>
          </a:prstGeom>
          <a:solidFill>
            <a:srgbClr val="FFFFFF"/>
          </a:solidFill>
          <a:ln w="10160">
            <a:solidFill>
              <a:srgbClr val="F59E0B"/>
            </a:solidFill>
            <a:prstDash val="solid"/>
          </a:ln>
        </p:spPr>
        <p:txBody>
          <a:bodyPr/>
          <a:lstStyle/>
          <a:p>
            <a:endParaRPr lang="en-LU"/>
          </a:p>
        </p:txBody>
      </p:sp>
      <p:sp>
        <p:nvSpPr>
          <p:cNvPr id="33" name="Shape 31"/>
          <p:cNvSpPr/>
          <p:nvPr/>
        </p:nvSpPr>
        <p:spPr>
          <a:xfrm>
            <a:off x="4754880" y="3127248"/>
            <a:ext cx="4160520" cy="384048"/>
          </a:xfrm>
          <a:prstGeom prst="rect">
            <a:avLst/>
          </a:prstGeom>
          <a:solidFill>
            <a:srgbClr val="F59E0B"/>
          </a:solidFill>
          <a:ln w="12700">
            <a:solidFill>
              <a:srgbClr val="F59E0B"/>
            </a:solidFill>
            <a:prstDash val="solid"/>
          </a:ln>
        </p:spPr>
        <p:txBody>
          <a:bodyPr/>
          <a:lstStyle/>
          <a:p>
            <a:endParaRPr lang="en-LU"/>
          </a:p>
        </p:txBody>
      </p:sp>
      <p:sp>
        <p:nvSpPr>
          <p:cNvPr id="34" name="Text 32"/>
          <p:cNvSpPr/>
          <p:nvPr/>
        </p:nvSpPr>
        <p:spPr>
          <a:xfrm>
            <a:off x="4864607" y="3127248"/>
            <a:ext cx="3556581" cy="384048"/>
          </a:xfrm>
          <a:prstGeom prst="rect">
            <a:avLst/>
          </a:prstGeom>
          <a:noFill/>
          <a:ln/>
        </p:spPr>
        <p:txBody>
          <a:bodyPr wrap="square" lIns="0" tIns="0" rIns="0" bIns="0" rtlCol="0" anchor="ctr"/>
          <a:lstStyle/>
          <a:p>
            <a:pPr marL="0" indent="0">
              <a:buNone/>
            </a:pPr>
            <a:r>
              <a:rPr lang="en-US" sz="1300" b="1" dirty="0">
                <a:solidFill>
                  <a:srgbClr val="FFFFFF"/>
                </a:solidFill>
                <a:latin typeface="Consolas" pitchFamily="34" charset="0"/>
                <a:ea typeface="Consolas" pitchFamily="34" charset="-122"/>
                <a:cs typeface="Consolas" pitchFamily="34" charset="-120"/>
              </a:rPr>
              <a:t>Distributed (beyond this session)</a:t>
            </a:r>
            <a:endParaRPr lang="en-US" sz="1300" dirty="0"/>
          </a:p>
        </p:txBody>
      </p:sp>
      <p:sp>
        <p:nvSpPr>
          <p:cNvPr id="35" name="Text 33"/>
          <p:cNvSpPr/>
          <p:nvPr/>
        </p:nvSpPr>
        <p:spPr>
          <a:xfrm>
            <a:off x="4864608" y="3566160"/>
            <a:ext cx="3840480" cy="256032"/>
          </a:xfrm>
          <a:prstGeom prst="rect">
            <a:avLst/>
          </a:prstGeom>
          <a:noFill/>
          <a:ln/>
        </p:spPr>
        <p:txBody>
          <a:bodyPr wrap="square" lIns="0" tIns="0" rIns="0" bIns="0" rtlCol="0" anchor="ctr"/>
          <a:lstStyle/>
          <a:p>
            <a:pPr marL="0" indent="0">
              <a:buNone/>
            </a:pPr>
            <a:r>
              <a:rPr lang="en-US" sz="1000" b="1" dirty="0">
                <a:solidFill>
                  <a:srgbClr val="F59E0B"/>
                </a:solidFill>
              </a:rPr>
              <a:t>Best for: Multi-node HPC clusters</a:t>
            </a:r>
            <a:endParaRPr lang="en-US" sz="1000" dirty="0"/>
          </a:p>
        </p:txBody>
      </p:sp>
      <p:sp>
        <p:nvSpPr>
          <p:cNvPr id="36" name="Text 34"/>
          <p:cNvSpPr/>
          <p:nvPr/>
        </p:nvSpPr>
        <p:spPr>
          <a:xfrm>
            <a:off x="4892040" y="3813048"/>
            <a:ext cx="1920240" cy="256032"/>
          </a:xfrm>
          <a:prstGeom prst="rect">
            <a:avLst/>
          </a:prstGeom>
          <a:noFill/>
          <a:ln/>
        </p:spPr>
        <p:txBody>
          <a:bodyPr wrap="square" lIns="0" tIns="0" rIns="0" bIns="0" rtlCol="0" anchor="ctr"/>
          <a:lstStyle/>
          <a:p>
            <a:pPr marL="0" indent="0">
              <a:buNone/>
            </a:pPr>
            <a:r>
              <a:rPr lang="en-US" sz="900" dirty="0">
                <a:solidFill>
                  <a:srgbClr val="166534"/>
                </a:solidFill>
              </a:rPr>
              <a:t>✓ Scales to 1000s of nodes</a:t>
            </a:r>
            <a:endParaRPr lang="en-US" sz="900" dirty="0"/>
          </a:p>
        </p:txBody>
      </p:sp>
      <p:sp>
        <p:nvSpPr>
          <p:cNvPr id="37" name="Text 35"/>
          <p:cNvSpPr/>
          <p:nvPr/>
        </p:nvSpPr>
        <p:spPr>
          <a:xfrm>
            <a:off x="4892040" y="4069080"/>
            <a:ext cx="1920240" cy="256032"/>
          </a:xfrm>
          <a:prstGeom prst="rect">
            <a:avLst/>
          </a:prstGeom>
          <a:noFill/>
          <a:ln/>
        </p:spPr>
        <p:txBody>
          <a:bodyPr wrap="square" lIns="0" tIns="0" rIns="0" bIns="0" rtlCol="0" anchor="ctr"/>
          <a:lstStyle/>
          <a:p>
            <a:pPr marL="0" indent="0">
              <a:buNone/>
            </a:pPr>
            <a:r>
              <a:rPr lang="en-US" sz="900" dirty="0">
                <a:solidFill>
                  <a:srgbClr val="166534"/>
                </a:solidFill>
              </a:rPr>
              <a:t>✓ Dashboard + fault tolerance</a:t>
            </a:r>
            <a:endParaRPr lang="en-US" sz="900" dirty="0"/>
          </a:p>
        </p:txBody>
      </p:sp>
      <p:sp>
        <p:nvSpPr>
          <p:cNvPr id="38" name="Text 36"/>
          <p:cNvSpPr/>
          <p:nvPr/>
        </p:nvSpPr>
        <p:spPr>
          <a:xfrm>
            <a:off x="6812280" y="3813048"/>
            <a:ext cx="2011680" cy="256032"/>
          </a:xfrm>
          <a:prstGeom prst="rect">
            <a:avLst/>
          </a:prstGeom>
          <a:noFill/>
          <a:ln/>
        </p:spPr>
        <p:txBody>
          <a:bodyPr wrap="square" lIns="0" tIns="0" rIns="0" bIns="0" rtlCol="0" anchor="ctr"/>
          <a:lstStyle/>
          <a:p>
            <a:pPr marL="0" indent="0">
              <a:buNone/>
            </a:pPr>
            <a:r>
              <a:rPr lang="en-US" sz="900" dirty="0">
                <a:solidFill>
                  <a:srgbClr val="991B1B"/>
                </a:solidFill>
              </a:rPr>
              <a:t>✗ Overhead for small datasets</a:t>
            </a:r>
            <a:endParaRPr lang="en-US" sz="900" dirty="0"/>
          </a:p>
        </p:txBody>
      </p:sp>
      <p:sp>
        <p:nvSpPr>
          <p:cNvPr id="39" name="Text 37"/>
          <p:cNvSpPr/>
          <p:nvPr/>
        </p:nvSpPr>
        <p:spPr>
          <a:xfrm>
            <a:off x="6812280" y="4069080"/>
            <a:ext cx="2011680" cy="256032"/>
          </a:xfrm>
          <a:prstGeom prst="rect">
            <a:avLst/>
          </a:prstGeom>
          <a:noFill/>
          <a:ln/>
        </p:spPr>
        <p:txBody>
          <a:bodyPr wrap="square" lIns="0" tIns="0" rIns="0" bIns="0" rtlCol="0" anchor="ctr"/>
          <a:lstStyle/>
          <a:p>
            <a:pPr marL="0" indent="0">
              <a:buNone/>
            </a:pPr>
            <a:r>
              <a:rPr lang="en-US" sz="900" dirty="0">
                <a:solidFill>
                  <a:srgbClr val="991B1B"/>
                </a:solidFill>
              </a:rPr>
              <a:t>✗ Requires cluster setup</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72C6C6D-62A0-9F24-6CF4-E7FB1715EF61}"/>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LU"/>
          </a:p>
        </p:txBody>
      </p:sp>
      <p:sp>
        <p:nvSpPr>
          <p:cNvPr id="3" name="Text 1">
            <a:extLst>
              <a:ext uri="{FF2B5EF4-FFF2-40B4-BE49-F238E27FC236}">
                <a16:creationId xmlns:a16="http://schemas.microsoft.com/office/drawing/2014/main" id="{4B0D1B54-CE24-6153-80E0-1527D806DEAF}"/>
              </a:ext>
            </a:extLst>
          </p:cNvPr>
          <p:cNvSpPr/>
          <p:nvPr/>
        </p:nvSpPr>
        <p:spPr>
          <a:xfrm>
            <a:off x="365760" y="122138"/>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Scheduler choice results</a:t>
            </a:r>
            <a:endParaRPr lang="en-US" sz="2200" dirty="0"/>
          </a:p>
        </p:txBody>
      </p:sp>
      <p:graphicFrame>
        <p:nvGraphicFramePr>
          <p:cNvPr id="4" name="Chart 3">
            <a:extLst>
              <a:ext uri="{FF2B5EF4-FFF2-40B4-BE49-F238E27FC236}">
                <a16:creationId xmlns:a16="http://schemas.microsoft.com/office/drawing/2014/main" id="{BA992545-3B31-7FDE-5CFE-8861AD8731C6}"/>
              </a:ext>
            </a:extLst>
          </p:cNvPr>
          <p:cNvGraphicFramePr/>
          <p:nvPr>
            <p:extLst>
              <p:ext uri="{D42A27DB-BD31-4B8C-83A1-F6EECF244321}">
                <p14:modId xmlns:p14="http://schemas.microsoft.com/office/powerpoint/2010/main" val="3736662557"/>
              </p:ext>
            </p:extLst>
          </p:nvPr>
        </p:nvGraphicFramePr>
        <p:xfrm>
          <a:off x="156755" y="1084435"/>
          <a:ext cx="6096000" cy="40640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5C303FCD-BB9B-353D-CD8D-5098385588B6}"/>
              </a:ext>
            </a:extLst>
          </p:cNvPr>
          <p:cNvSpPr txBox="1"/>
          <p:nvPr/>
        </p:nvSpPr>
        <p:spPr>
          <a:xfrm>
            <a:off x="6531429" y="1925419"/>
            <a:ext cx="2525486" cy="646331"/>
          </a:xfrm>
          <a:prstGeom prst="rect">
            <a:avLst/>
          </a:prstGeom>
          <a:solidFill>
            <a:srgbClr val="F4D1A5"/>
          </a:solidFill>
        </p:spPr>
        <p:txBody>
          <a:bodyPr wrap="square" rtlCol="0">
            <a:spAutoFit/>
          </a:bodyPr>
          <a:lstStyle/>
          <a:p>
            <a:r>
              <a:rPr lang="en-LU" dirty="0"/>
              <a:t>Wrong scheduler = Dask slower than pandas</a:t>
            </a:r>
          </a:p>
        </p:txBody>
      </p:sp>
    </p:spTree>
    <p:extLst>
      <p:ext uri="{BB962C8B-B14F-4D97-AF65-F5344CB8AC3E}">
        <p14:creationId xmlns:p14="http://schemas.microsoft.com/office/powerpoint/2010/main" val="3445842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C76E341-BB57-871B-1938-6A3E97378F55}"/>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LU" dirty="0"/>
          </a:p>
        </p:txBody>
      </p:sp>
      <p:sp>
        <p:nvSpPr>
          <p:cNvPr id="3" name="Text 1">
            <a:extLst>
              <a:ext uri="{FF2B5EF4-FFF2-40B4-BE49-F238E27FC236}">
                <a16:creationId xmlns:a16="http://schemas.microsoft.com/office/drawing/2014/main" id="{ED91C479-5805-4B84-1CCD-12E85E031D8D}"/>
              </a:ext>
            </a:extLst>
          </p:cNvPr>
          <p:cNvSpPr/>
          <p:nvPr/>
        </p:nvSpPr>
        <p:spPr>
          <a:xfrm>
            <a:off x="365760" y="122138"/>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Partition vs Performance</a:t>
            </a:r>
            <a:endParaRPr lang="en-US" sz="2200" dirty="0"/>
          </a:p>
        </p:txBody>
      </p:sp>
      <p:graphicFrame>
        <p:nvGraphicFramePr>
          <p:cNvPr id="4" name="Chart 3">
            <a:extLst>
              <a:ext uri="{FF2B5EF4-FFF2-40B4-BE49-F238E27FC236}">
                <a16:creationId xmlns:a16="http://schemas.microsoft.com/office/drawing/2014/main" id="{195ECC5D-9884-F1F4-E72F-7FBD3D38C3A7}"/>
              </a:ext>
            </a:extLst>
          </p:cNvPr>
          <p:cNvGraphicFramePr/>
          <p:nvPr>
            <p:extLst>
              <p:ext uri="{D42A27DB-BD31-4B8C-83A1-F6EECF244321}">
                <p14:modId xmlns:p14="http://schemas.microsoft.com/office/powerpoint/2010/main" val="1209403553"/>
              </p:ext>
            </p:extLst>
          </p:nvPr>
        </p:nvGraphicFramePr>
        <p:xfrm>
          <a:off x="217714" y="1283426"/>
          <a:ext cx="4162697" cy="3474901"/>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4">
            <a:extLst>
              <a:ext uri="{FF2B5EF4-FFF2-40B4-BE49-F238E27FC236}">
                <a16:creationId xmlns:a16="http://schemas.microsoft.com/office/drawing/2014/main" id="{5F759EF8-FF71-403C-CF8C-C7A995361E33}"/>
              </a:ext>
            </a:extLst>
          </p:cNvPr>
          <p:cNvSpPr/>
          <p:nvPr/>
        </p:nvSpPr>
        <p:spPr>
          <a:xfrm>
            <a:off x="95795" y="4758327"/>
            <a:ext cx="8412480" cy="274320"/>
          </a:xfrm>
          <a:prstGeom prst="rect">
            <a:avLst/>
          </a:prstGeom>
          <a:noFill/>
          <a:ln/>
        </p:spPr>
        <p:txBody>
          <a:bodyPr wrap="square" lIns="0" tIns="0" rIns="0" bIns="0" rtlCol="0" anchor="ctr"/>
          <a:lstStyle/>
          <a:p>
            <a:pPr marL="0" indent="0">
              <a:buNone/>
            </a:pPr>
            <a:r>
              <a:rPr lang="en-US" sz="1200" dirty="0">
                <a:solidFill>
                  <a:srgbClr val="0D1B2A"/>
                </a:solidFill>
              </a:rPr>
              <a:t>npartitions has a U-shaped effect on performance. Tuning is essential.</a:t>
            </a:r>
            <a:endParaRPr lang="en-US" sz="1200" dirty="0"/>
          </a:p>
        </p:txBody>
      </p:sp>
      <p:sp>
        <p:nvSpPr>
          <p:cNvPr id="6" name="Shape 45">
            <a:extLst>
              <a:ext uri="{FF2B5EF4-FFF2-40B4-BE49-F238E27FC236}">
                <a16:creationId xmlns:a16="http://schemas.microsoft.com/office/drawing/2014/main" id="{5C191532-1A46-36B7-012F-3A9C68375220}"/>
              </a:ext>
            </a:extLst>
          </p:cNvPr>
          <p:cNvSpPr/>
          <p:nvPr/>
        </p:nvSpPr>
        <p:spPr>
          <a:xfrm>
            <a:off x="5669280" y="1444752"/>
            <a:ext cx="3200400" cy="804672"/>
          </a:xfrm>
          <a:prstGeom prst="rect">
            <a:avLst/>
          </a:prstGeom>
          <a:solidFill>
            <a:srgbClr val="FFFFFF"/>
          </a:solidFill>
          <a:ln w="6350">
            <a:solidFill>
              <a:srgbClr val="EF4444"/>
            </a:solidFill>
            <a:prstDash val="solid"/>
          </a:ln>
          <a:effectLst>
            <a:outerShdw blurRad="38100" dist="12700" dir="8100000" algn="bl" rotWithShape="0">
              <a:srgbClr val="000000">
                <a:alpha val="6000"/>
              </a:srgbClr>
            </a:outerShdw>
          </a:effectLst>
        </p:spPr>
        <p:txBody>
          <a:bodyPr/>
          <a:lstStyle/>
          <a:p>
            <a:endParaRPr lang="en-LU"/>
          </a:p>
        </p:txBody>
      </p:sp>
      <p:sp>
        <p:nvSpPr>
          <p:cNvPr id="7" name="Shape 46">
            <a:extLst>
              <a:ext uri="{FF2B5EF4-FFF2-40B4-BE49-F238E27FC236}">
                <a16:creationId xmlns:a16="http://schemas.microsoft.com/office/drawing/2014/main" id="{D44D75A6-A395-5283-1D11-585D365A4874}"/>
              </a:ext>
            </a:extLst>
          </p:cNvPr>
          <p:cNvSpPr/>
          <p:nvPr/>
        </p:nvSpPr>
        <p:spPr>
          <a:xfrm>
            <a:off x="5669280" y="1444752"/>
            <a:ext cx="54864" cy="804672"/>
          </a:xfrm>
          <a:prstGeom prst="rect">
            <a:avLst/>
          </a:prstGeom>
          <a:solidFill>
            <a:srgbClr val="EF4444"/>
          </a:solidFill>
          <a:ln w="12700">
            <a:solidFill>
              <a:srgbClr val="EF4444"/>
            </a:solidFill>
            <a:prstDash val="solid"/>
          </a:ln>
        </p:spPr>
        <p:txBody>
          <a:bodyPr/>
          <a:lstStyle/>
          <a:p>
            <a:endParaRPr lang="en-LU"/>
          </a:p>
        </p:txBody>
      </p:sp>
      <p:sp>
        <p:nvSpPr>
          <p:cNvPr id="8" name="Text 47">
            <a:extLst>
              <a:ext uri="{FF2B5EF4-FFF2-40B4-BE49-F238E27FC236}">
                <a16:creationId xmlns:a16="http://schemas.microsoft.com/office/drawing/2014/main" id="{E7C2E7B3-7418-46F1-41C5-EDDDDBBDAD99}"/>
              </a:ext>
            </a:extLst>
          </p:cNvPr>
          <p:cNvSpPr/>
          <p:nvPr/>
        </p:nvSpPr>
        <p:spPr>
          <a:xfrm>
            <a:off x="5806440" y="1499616"/>
            <a:ext cx="2926080" cy="256032"/>
          </a:xfrm>
          <a:prstGeom prst="rect">
            <a:avLst/>
          </a:prstGeom>
          <a:noFill/>
          <a:ln/>
        </p:spPr>
        <p:txBody>
          <a:bodyPr wrap="square" lIns="0" tIns="0" rIns="0" bIns="0" rtlCol="0" anchor="ctr"/>
          <a:lstStyle/>
          <a:p>
            <a:pPr marL="0" indent="0">
              <a:buNone/>
            </a:pPr>
            <a:r>
              <a:rPr lang="en-US" sz="1100" b="1" dirty="0">
                <a:solidFill>
                  <a:srgbClr val="EF4444"/>
                </a:solidFill>
              </a:rPr>
              <a:t>Too few partitions</a:t>
            </a:r>
            <a:endParaRPr lang="en-US" sz="1100" dirty="0"/>
          </a:p>
        </p:txBody>
      </p:sp>
      <p:sp>
        <p:nvSpPr>
          <p:cNvPr id="9" name="Text 48">
            <a:extLst>
              <a:ext uri="{FF2B5EF4-FFF2-40B4-BE49-F238E27FC236}">
                <a16:creationId xmlns:a16="http://schemas.microsoft.com/office/drawing/2014/main" id="{54F211A7-4D90-CCD7-207F-48A651776C0B}"/>
              </a:ext>
            </a:extLst>
          </p:cNvPr>
          <p:cNvSpPr/>
          <p:nvPr/>
        </p:nvSpPr>
        <p:spPr>
          <a:xfrm>
            <a:off x="5806440" y="1737360"/>
            <a:ext cx="2926080" cy="457200"/>
          </a:xfrm>
          <a:prstGeom prst="rect">
            <a:avLst/>
          </a:prstGeom>
          <a:noFill/>
          <a:ln/>
        </p:spPr>
        <p:txBody>
          <a:bodyPr wrap="square" lIns="0" tIns="0" rIns="0" bIns="0" rtlCol="0" anchor="ctr"/>
          <a:lstStyle/>
          <a:p>
            <a:pPr marL="0" indent="0">
              <a:lnSpc>
                <a:spcPct val="130000"/>
              </a:lnSpc>
              <a:buNone/>
            </a:pPr>
            <a:r>
              <a:rPr lang="en-US" sz="950" dirty="0">
                <a:solidFill>
                  <a:srgbClr val="334155"/>
                </a:solidFill>
              </a:rPr>
              <a:t>Cores sit idle. Not enough work to parallelise. Linear runtime, not parallel.</a:t>
            </a:r>
            <a:endParaRPr lang="en-US" sz="950" dirty="0"/>
          </a:p>
        </p:txBody>
      </p:sp>
      <p:sp>
        <p:nvSpPr>
          <p:cNvPr id="10" name="Shape 49">
            <a:extLst>
              <a:ext uri="{FF2B5EF4-FFF2-40B4-BE49-F238E27FC236}">
                <a16:creationId xmlns:a16="http://schemas.microsoft.com/office/drawing/2014/main" id="{827B7434-90F8-1B71-CBAA-776ADC6641F8}"/>
              </a:ext>
            </a:extLst>
          </p:cNvPr>
          <p:cNvSpPr/>
          <p:nvPr/>
        </p:nvSpPr>
        <p:spPr>
          <a:xfrm>
            <a:off x="5669280" y="2359152"/>
            <a:ext cx="3200400" cy="804672"/>
          </a:xfrm>
          <a:prstGeom prst="rect">
            <a:avLst/>
          </a:prstGeom>
          <a:solidFill>
            <a:srgbClr val="FFFFFF"/>
          </a:solidFill>
          <a:ln w="6350">
            <a:solidFill>
              <a:srgbClr val="0D9488"/>
            </a:solidFill>
            <a:prstDash val="solid"/>
          </a:ln>
          <a:effectLst>
            <a:outerShdw blurRad="38100" dist="12700" dir="8100000" algn="bl" rotWithShape="0">
              <a:srgbClr val="000000">
                <a:alpha val="6000"/>
              </a:srgbClr>
            </a:outerShdw>
          </a:effectLst>
        </p:spPr>
        <p:txBody>
          <a:bodyPr/>
          <a:lstStyle/>
          <a:p>
            <a:endParaRPr lang="en-LU"/>
          </a:p>
        </p:txBody>
      </p:sp>
      <p:sp>
        <p:nvSpPr>
          <p:cNvPr id="11" name="Shape 50">
            <a:extLst>
              <a:ext uri="{FF2B5EF4-FFF2-40B4-BE49-F238E27FC236}">
                <a16:creationId xmlns:a16="http://schemas.microsoft.com/office/drawing/2014/main" id="{52873C76-3416-242B-632A-82AD97B0395B}"/>
              </a:ext>
            </a:extLst>
          </p:cNvPr>
          <p:cNvSpPr/>
          <p:nvPr/>
        </p:nvSpPr>
        <p:spPr>
          <a:xfrm>
            <a:off x="5669280" y="2359152"/>
            <a:ext cx="54864" cy="804672"/>
          </a:xfrm>
          <a:prstGeom prst="rect">
            <a:avLst/>
          </a:prstGeom>
          <a:solidFill>
            <a:srgbClr val="0D9488"/>
          </a:solidFill>
          <a:ln w="12700">
            <a:solidFill>
              <a:srgbClr val="0D9488"/>
            </a:solidFill>
            <a:prstDash val="solid"/>
          </a:ln>
        </p:spPr>
        <p:txBody>
          <a:bodyPr/>
          <a:lstStyle/>
          <a:p>
            <a:endParaRPr lang="en-LU"/>
          </a:p>
        </p:txBody>
      </p:sp>
      <p:sp>
        <p:nvSpPr>
          <p:cNvPr id="12" name="Text 51">
            <a:extLst>
              <a:ext uri="{FF2B5EF4-FFF2-40B4-BE49-F238E27FC236}">
                <a16:creationId xmlns:a16="http://schemas.microsoft.com/office/drawing/2014/main" id="{9C5B64EA-2556-AB37-FABC-D2A2ECF95AAF}"/>
              </a:ext>
            </a:extLst>
          </p:cNvPr>
          <p:cNvSpPr/>
          <p:nvPr/>
        </p:nvSpPr>
        <p:spPr>
          <a:xfrm>
            <a:off x="5806440" y="2414016"/>
            <a:ext cx="2926080" cy="256032"/>
          </a:xfrm>
          <a:prstGeom prst="rect">
            <a:avLst/>
          </a:prstGeom>
          <a:noFill/>
          <a:ln/>
        </p:spPr>
        <p:txBody>
          <a:bodyPr wrap="square" lIns="0" tIns="0" rIns="0" bIns="0" rtlCol="0" anchor="ctr"/>
          <a:lstStyle/>
          <a:p>
            <a:pPr marL="0" indent="0">
              <a:buNone/>
            </a:pPr>
            <a:r>
              <a:rPr lang="en-US" sz="1100" b="1" dirty="0">
                <a:solidFill>
                  <a:srgbClr val="0D9488"/>
                </a:solidFill>
              </a:rPr>
              <a:t>Sweet spot</a:t>
            </a:r>
            <a:endParaRPr lang="en-US" sz="1100" dirty="0"/>
          </a:p>
        </p:txBody>
      </p:sp>
      <p:sp>
        <p:nvSpPr>
          <p:cNvPr id="13" name="Text 52">
            <a:extLst>
              <a:ext uri="{FF2B5EF4-FFF2-40B4-BE49-F238E27FC236}">
                <a16:creationId xmlns:a16="http://schemas.microsoft.com/office/drawing/2014/main" id="{44950E8A-12AC-4B75-AF85-EF3F04D29606}"/>
              </a:ext>
            </a:extLst>
          </p:cNvPr>
          <p:cNvSpPr/>
          <p:nvPr/>
        </p:nvSpPr>
        <p:spPr>
          <a:xfrm>
            <a:off x="5806440" y="2651760"/>
            <a:ext cx="2926080" cy="457200"/>
          </a:xfrm>
          <a:prstGeom prst="rect">
            <a:avLst/>
          </a:prstGeom>
          <a:noFill/>
          <a:ln/>
        </p:spPr>
        <p:txBody>
          <a:bodyPr wrap="square" lIns="0" tIns="0" rIns="0" bIns="0" rtlCol="0" anchor="ctr"/>
          <a:lstStyle/>
          <a:p>
            <a:pPr marL="0" indent="0">
              <a:lnSpc>
                <a:spcPct val="130000"/>
              </a:lnSpc>
              <a:buNone/>
            </a:pPr>
            <a:r>
              <a:rPr lang="en-US" sz="950" dirty="0">
                <a:solidFill>
                  <a:srgbClr val="334155"/>
                </a:solidFill>
              </a:rPr>
              <a:t>2–4× n_cores. Each task ~100ms–1s. All cores busy, low scheduler overhead.</a:t>
            </a:r>
            <a:endParaRPr lang="en-US" sz="950" dirty="0"/>
          </a:p>
        </p:txBody>
      </p:sp>
      <p:sp>
        <p:nvSpPr>
          <p:cNvPr id="14" name="Shape 53">
            <a:extLst>
              <a:ext uri="{FF2B5EF4-FFF2-40B4-BE49-F238E27FC236}">
                <a16:creationId xmlns:a16="http://schemas.microsoft.com/office/drawing/2014/main" id="{CDF23A0E-8A15-88AE-8714-AA43B5A7180A}"/>
              </a:ext>
            </a:extLst>
          </p:cNvPr>
          <p:cNvSpPr/>
          <p:nvPr/>
        </p:nvSpPr>
        <p:spPr>
          <a:xfrm>
            <a:off x="5669280" y="3273552"/>
            <a:ext cx="3200400" cy="804672"/>
          </a:xfrm>
          <a:prstGeom prst="rect">
            <a:avLst/>
          </a:prstGeom>
          <a:solidFill>
            <a:srgbClr val="FFFFFF"/>
          </a:solidFill>
          <a:ln w="6350">
            <a:solidFill>
              <a:srgbClr val="F59E0B"/>
            </a:solidFill>
            <a:prstDash val="solid"/>
          </a:ln>
          <a:effectLst>
            <a:outerShdw blurRad="38100" dist="12700" dir="8100000" algn="bl" rotWithShape="0">
              <a:srgbClr val="000000">
                <a:alpha val="6000"/>
              </a:srgbClr>
            </a:outerShdw>
          </a:effectLst>
        </p:spPr>
        <p:txBody>
          <a:bodyPr/>
          <a:lstStyle/>
          <a:p>
            <a:endParaRPr lang="en-LU"/>
          </a:p>
        </p:txBody>
      </p:sp>
      <p:sp>
        <p:nvSpPr>
          <p:cNvPr id="15" name="Shape 54">
            <a:extLst>
              <a:ext uri="{FF2B5EF4-FFF2-40B4-BE49-F238E27FC236}">
                <a16:creationId xmlns:a16="http://schemas.microsoft.com/office/drawing/2014/main" id="{A9F17453-E4CA-E484-58BC-566FB0371AF5}"/>
              </a:ext>
            </a:extLst>
          </p:cNvPr>
          <p:cNvSpPr/>
          <p:nvPr/>
        </p:nvSpPr>
        <p:spPr>
          <a:xfrm>
            <a:off x="5669280" y="3273552"/>
            <a:ext cx="54864" cy="804672"/>
          </a:xfrm>
          <a:prstGeom prst="rect">
            <a:avLst/>
          </a:prstGeom>
          <a:solidFill>
            <a:srgbClr val="F59E0B"/>
          </a:solidFill>
          <a:ln w="12700">
            <a:solidFill>
              <a:srgbClr val="F59E0B"/>
            </a:solidFill>
            <a:prstDash val="solid"/>
          </a:ln>
        </p:spPr>
        <p:txBody>
          <a:bodyPr/>
          <a:lstStyle/>
          <a:p>
            <a:endParaRPr lang="en-LU"/>
          </a:p>
        </p:txBody>
      </p:sp>
      <p:sp>
        <p:nvSpPr>
          <p:cNvPr id="16" name="Text 55">
            <a:extLst>
              <a:ext uri="{FF2B5EF4-FFF2-40B4-BE49-F238E27FC236}">
                <a16:creationId xmlns:a16="http://schemas.microsoft.com/office/drawing/2014/main" id="{4292DED4-19C6-8938-1681-0D4CADA8D1F9}"/>
              </a:ext>
            </a:extLst>
          </p:cNvPr>
          <p:cNvSpPr/>
          <p:nvPr/>
        </p:nvSpPr>
        <p:spPr>
          <a:xfrm>
            <a:off x="5806440" y="3328416"/>
            <a:ext cx="2926080" cy="256032"/>
          </a:xfrm>
          <a:prstGeom prst="rect">
            <a:avLst/>
          </a:prstGeom>
          <a:noFill/>
          <a:ln/>
        </p:spPr>
        <p:txBody>
          <a:bodyPr wrap="square" lIns="0" tIns="0" rIns="0" bIns="0" rtlCol="0" anchor="ctr"/>
          <a:lstStyle/>
          <a:p>
            <a:pPr marL="0" indent="0">
              <a:buNone/>
            </a:pPr>
            <a:r>
              <a:rPr lang="en-US" sz="1100" b="1" dirty="0">
                <a:solidFill>
                  <a:srgbClr val="F59E0B"/>
                </a:solidFill>
              </a:rPr>
              <a:t>Too many partitions</a:t>
            </a:r>
            <a:endParaRPr lang="en-US" sz="1100" dirty="0"/>
          </a:p>
        </p:txBody>
      </p:sp>
      <p:sp>
        <p:nvSpPr>
          <p:cNvPr id="17" name="Text 56">
            <a:extLst>
              <a:ext uri="{FF2B5EF4-FFF2-40B4-BE49-F238E27FC236}">
                <a16:creationId xmlns:a16="http://schemas.microsoft.com/office/drawing/2014/main" id="{653C6708-62C3-17C2-1E7F-72BB6CBB6848}"/>
              </a:ext>
            </a:extLst>
          </p:cNvPr>
          <p:cNvSpPr/>
          <p:nvPr/>
        </p:nvSpPr>
        <p:spPr>
          <a:xfrm>
            <a:off x="5806440" y="3566160"/>
            <a:ext cx="2926080" cy="457200"/>
          </a:xfrm>
          <a:prstGeom prst="rect">
            <a:avLst/>
          </a:prstGeom>
          <a:noFill/>
          <a:ln/>
        </p:spPr>
        <p:txBody>
          <a:bodyPr wrap="square" lIns="0" tIns="0" rIns="0" bIns="0" rtlCol="0" anchor="ctr"/>
          <a:lstStyle/>
          <a:p>
            <a:pPr marL="0" indent="0">
              <a:lnSpc>
                <a:spcPct val="130000"/>
              </a:lnSpc>
              <a:buNone/>
            </a:pPr>
            <a:r>
              <a:rPr lang="en-US" sz="950" dirty="0">
                <a:solidFill>
                  <a:srgbClr val="334155"/>
                </a:solidFill>
              </a:rPr>
              <a:t>Scheduler overhead dominates. Thousands of tiny tasks cost more than they save.</a:t>
            </a:r>
            <a:endParaRPr lang="en-US" sz="950" dirty="0"/>
          </a:p>
        </p:txBody>
      </p:sp>
      <p:sp>
        <p:nvSpPr>
          <p:cNvPr id="18" name="Shape 57">
            <a:extLst>
              <a:ext uri="{FF2B5EF4-FFF2-40B4-BE49-F238E27FC236}">
                <a16:creationId xmlns:a16="http://schemas.microsoft.com/office/drawing/2014/main" id="{510DDEA9-D78E-B478-659C-54782EF1D5E4}"/>
              </a:ext>
            </a:extLst>
          </p:cNvPr>
          <p:cNvSpPr/>
          <p:nvPr/>
        </p:nvSpPr>
        <p:spPr>
          <a:xfrm>
            <a:off x="5669280" y="4187952"/>
            <a:ext cx="3200400" cy="804672"/>
          </a:xfrm>
          <a:prstGeom prst="rect">
            <a:avLst/>
          </a:prstGeom>
          <a:solidFill>
            <a:srgbClr val="FFFFFF"/>
          </a:solidFill>
          <a:ln w="6350">
            <a:solidFill>
              <a:srgbClr val="7C3AED"/>
            </a:solidFill>
            <a:prstDash val="solid"/>
          </a:ln>
          <a:effectLst>
            <a:outerShdw blurRad="38100" dist="12700" dir="8100000" algn="bl" rotWithShape="0">
              <a:srgbClr val="000000">
                <a:alpha val="6000"/>
              </a:srgbClr>
            </a:outerShdw>
          </a:effectLst>
        </p:spPr>
        <p:txBody>
          <a:bodyPr/>
          <a:lstStyle/>
          <a:p>
            <a:endParaRPr lang="en-LU"/>
          </a:p>
        </p:txBody>
      </p:sp>
      <p:sp>
        <p:nvSpPr>
          <p:cNvPr id="19" name="Shape 58">
            <a:extLst>
              <a:ext uri="{FF2B5EF4-FFF2-40B4-BE49-F238E27FC236}">
                <a16:creationId xmlns:a16="http://schemas.microsoft.com/office/drawing/2014/main" id="{238D465F-58FD-9C20-8577-B8FF86E84C3A}"/>
              </a:ext>
            </a:extLst>
          </p:cNvPr>
          <p:cNvSpPr/>
          <p:nvPr/>
        </p:nvSpPr>
        <p:spPr>
          <a:xfrm>
            <a:off x="5669280" y="4187952"/>
            <a:ext cx="54864" cy="804672"/>
          </a:xfrm>
          <a:prstGeom prst="rect">
            <a:avLst/>
          </a:prstGeom>
          <a:solidFill>
            <a:srgbClr val="7C3AED"/>
          </a:solidFill>
          <a:ln w="12700">
            <a:solidFill>
              <a:srgbClr val="7C3AED"/>
            </a:solidFill>
            <a:prstDash val="solid"/>
          </a:ln>
        </p:spPr>
        <p:txBody>
          <a:bodyPr/>
          <a:lstStyle/>
          <a:p>
            <a:endParaRPr lang="en-LU"/>
          </a:p>
        </p:txBody>
      </p:sp>
      <p:sp>
        <p:nvSpPr>
          <p:cNvPr id="20" name="Text 59">
            <a:extLst>
              <a:ext uri="{FF2B5EF4-FFF2-40B4-BE49-F238E27FC236}">
                <a16:creationId xmlns:a16="http://schemas.microsoft.com/office/drawing/2014/main" id="{C4496FCB-4EAC-1435-3F80-F595EBE4BF95}"/>
              </a:ext>
            </a:extLst>
          </p:cNvPr>
          <p:cNvSpPr/>
          <p:nvPr/>
        </p:nvSpPr>
        <p:spPr>
          <a:xfrm>
            <a:off x="5806440" y="4242816"/>
            <a:ext cx="2926080" cy="256032"/>
          </a:xfrm>
          <a:prstGeom prst="rect">
            <a:avLst/>
          </a:prstGeom>
          <a:noFill/>
          <a:ln/>
        </p:spPr>
        <p:txBody>
          <a:bodyPr wrap="square" lIns="0" tIns="0" rIns="0" bIns="0" rtlCol="0" anchor="ctr"/>
          <a:lstStyle/>
          <a:p>
            <a:pPr marL="0" indent="0">
              <a:buNone/>
            </a:pPr>
            <a:r>
              <a:rPr lang="en-US" sz="1100" b="1" dirty="0">
                <a:solidFill>
                  <a:srgbClr val="7C3AED"/>
                </a:solidFill>
              </a:rPr>
              <a:t>Rule of thumb</a:t>
            </a:r>
            <a:endParaRPr lang="en-US" sz="1100" dirty="0"/>
          </a:p>
        </p:txBody>
      </p:sp>
      <p:sp>
        <p:nvSpPr>
          <p:cNvPr id="21" name="Text 60">
            <a:extLst>
              <a:ext uri="{FF2B5EF4-FFF2-40B4-BE49-F238E27FC236}">
                <a16:creationId xmlns:a16="http://schemas.microsoft.com/office/drawing/2014/main" id="{B6ACC587-8422-2863-55AC-36774BD9D708}"/>
              </a:ext>
            </a:extLst>
          </p:cNvPr>
          <p:cNvSpPr/>
          <p:nvPr/>
        </p:nvSpPr>
        <p:spPr>
          <a:xfrm>
            <a:off x="5806440" y="4480560"/>
            <a:ext cx="2926080" cy="457200"/>
          </a:xfrm>
          <a:prstGeom prst="rect">
            <a:avLst/>
          </a:prstGeom>
          <a:noFill/>
          <a:ln/>
        </p:spPr>
        <p:txBody>
          <a:bodyPr wrap="square" lIns="0" tIns="0" rIns="0" bIns="0" rtlCol="0" anchor="ctr"/>
          <a:lstStyle/>
          <a:p>
            <a:pPr marL="0" indent="0">
              <a:lnSpc>
                <a:spcPct val="130000"/>
              </a:lnSpc>
              <a:buNone/>
            </a:pPr>
            <a:r>
              <a:rPr lang="en-US" sz="950" dirty="0">
                <a:solidFill>
                  <a:srgbClr val="334155"/>
                </a:solidFill>
              </a:rPr>
              <a:t>target chunk = 256–512 MB. npartitions = ceil(file_MB / target_MB). Min: 2×n_cores.</a:t>
            </a:r>
            <a:endParaRPr lang="en-US" sz="950" dirty="0"/>
          </a:p>
        </p:txBody>
      </p:sp>
      <p:sp>
        <p:nvSpPr>
          <p:cNvPr id="22" name="TextBox 21">
            <a:extLst>
              <a:ext uri="{FF2B5EF4-FFF2-40B4-BE49-F238E27FC236}">
                <a16:creationId xmlns:a16="http://schemas.microsoft.com/office/drawing/2014/main" id="{196F7A20-F0EA-67C7-B10C-6738BF22E72D}"/>
              </a:ext>
            </a:extLst>
          </p:cNvPr>
          <p:cNvSpPr txBox="1"/>
          <p:nvPr/>
        </p:nvSpPr>
        <p:spPr>
          <a:xfrm>
            <a:off x="1594357" y="952496"/>
            <a:ext cx="5955285" cy="338554"/>
          </a:xfrm>
          <a:prstGeom prst="rect">
            <a:avLst/>
          </a:prstGeom>
          <a:noFill/>
        </p:spPr>
        <p:txBody>
          <a:bodyPr wrap="none" rtlCol="0">
            <a:spAutoFit/>
          </a:bodyPr>
          <a:lstStyle/>
          <a:p>
            <a:r>
              <a:rPr lang="en-LU" sz="1600" dirty="0">
                <a:solidFill>
                  <a:schemeClr val="tx1">
                    <a:lumMod val="65000"/>
                    <a:lumOff val="35000"/>
                  </a:schemeClr>
                </a:solidFill>
              </a:rPr>
              <a:t>Partition = a chunk of the dataset processed independently in parallel</a:t>
            </a:r>
          </a:p>
        </p:txBody>
      </p:sp>
    </p:spTree>
    <p:extLst>
      <p:ext uri="{BB962C8B-B14F-4D97-AF65-F5344CB8AC3E}">
        <p14:creationId xmlns:p14="http://schemas.microsoft.com/office/powerpoint/2010/main" val="3226562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146304"/>
            <a:ext cx="8229600" cy="594360"/>
          </a:xfrm>
          <a:prstGeom prst="rect">
            <a:avLst/>
          </a:prstGeom>
          <a:noFill/>
          <a:ln/>
        </p:spPr>
        <p:txBody>
          <a:bodyPr wrap="square" lIns="0" tIns="0" rIns="0" bIns="0" rtlCol="0" anchor="ctr"/>
          <a:lstStyle/>
          <a:p>
            <a:pPr marL="0" indent="0">
              <a:buNone/>
            </a:pPr>
            <a:r>
              <a:rPr lang="en-US" sz="3000" b="1" dirty="0">
                <a:solidFill>
                  <a:srgbClr val="FFFFFF"/>
                </a:solidFill>
              </a:rPr>
              <a:t>From One Node to Multi-Node</a:t>
            </a:r>
            <a:endParaRPr lang="en-US" sz="3000" dirty="0"/>
          </a:p>
        </p:txBody>
      </p:sp>
      <p:sp>
        <p:nvSpPr>
          <p:cNvPr id="3" name="Text 1"/>
          <p:cNvSpPr/>
          <p:nvPr/>
        </p:nvSpPr>
        <p:spPr>
          <a:xfrm>
            <a:off x="457200" y="740664"/>
            <a:ext cx="8229600" cy="347472"/>
          </a:xfrm>
          <a:prstGeom prst="rect">
            <a:avLst/>
          </a:prstGeom>
          <a:noFill/>
          <a:ln/>
        </p:spPr>
        <p:txBody>
          <a:bodyPr wrap="square" lIns="0" tIns="0" rIns="0" bIns="0" rtlCol="0" anchor="ctr"/>
          <a:lstStyle/>
          <a:p>
            <a:pPr marL="0" indent="0">
              <a:buNone/>
            </a:pPr>
            <a:r>
              <a:rPr lang="en-US" sz="1400" dirty="0" err="1">
                <a:solidFill>
                  <a:srgbClr val="36DAD4"/>
                </a:solidFill>
              </a:rPr>
              <a:t>Dask</a:t>
            </a:r>
            <a:r>
              <a:rPr lang="en-US" sz="1400" dirty="0">
                <a:solidFill>
                  <a:srgbClr val="36DAD4"/>
                </a:solidFill>
              </a:rPr>
              <a:t> distributes partitions across many workers on multiple nodes</a:t>
            </a:r>
          </a:p>
        </p:txBody>
      </p:sp>
      <p:grpSp>
        <p:nvGrpSpPr>
          <p:cNvPr id="38" name="Group 37">
            <a:extLst>
              <a:ext uri="{FF2B5EF4-FFF2-40B4-BE49-F238E27FC236}">
                <a16:creationId xmlns:a16="http://schemas.microsoft.com/office/drawing/2014/main" id="{9053D997-200C-8451-1971-2F2CB27235D1}"/>
              </a:ext>
            </a:extLst>
          </p:cNvPr>
          <p:cNvGrpSpPr/>
          <p:nvPr/>
        </p:nvGrpSpPr>
        <p:grpSpPr>
          <a:xfrm>
            <a:off x="1455094" y="1261872"/>
            <a:ext cx="4548141" cy="3783801"/>
            <a:chOff x="2401299" y="1289305"/>
            <a:chExt cx="4548141" cy="3783801"/>
          </a:xfrm>
        </p:grpSpPr>
        <p:grpSp>
          <p:nvGrpSpPr>
            <p:cNvPr id="28" name="Group 27">
              <a:extLst>
                <a:ext uri="{FF2B5EF4-FFF2-40B4-BE49-F238E27FC236}">
                  <a16:creationId xmlns:a16="http://schemas.microsoft.com/office/drawing/2014/main" id="{DD30B5B3-B0EE-287D-F9C3-784F4BED2CAF}"/>
                </a:ext>
              </a:extLst>
            </p:cNvPr>
            <p:cNvGrpSpPr/>
            <p:nvPr/>
          </p:nvGrpSpPr>
          <p:grpSpPr>
            <a:xfrm>
              <a:off x="2401299" y="1289305"/>
              <a:ext cx="4548141" cy="749806"/>
              <a:chOff x="365760" y="1417320"/>
              <a:chExt cx="2377440" cy="1508760"/>
            </a:xfrm>
          </p:grpSpPr>
          <p:sp>
            <p:nvSpPr>
              <p:cNvPr id="4" name="Shape 2"/>
              <p:cNvSpPr/>
              <p:nvPr/>
            </p:nvSpPr>
            <p:spPr>
              <a:xfrm>
                <a:off x="365760" y="1417320"/>
                <a:ext cx="2377440" cy="1508760"/>
              </a:xfrm>
              <a:prstGeom prst="rect">
                <a:avLst/>
              </a:prstGeom>
              <a:solidFill>
                <a:srgbClr val="1B3A4B"/>
              </a:solidFill>
              <a:ln w="10160">
                <a:solidFill>
                  <a:srgbClr val="0D9488"/>
                </a:solidFill>
                <a:prstDash val="solid"/>
              </a:ln>
            </p:spPr>
            <p:txBody>
              <a:bodyPr/>
              <a:lstStyle/>
              <a:p>
                <a:endParaRPr lang="en-LU"/>
              </a:p>
            </p:txBody>
          </p:sp>
          <p:sp>
            <p:nvSpPr>
              <p:cNvPr id="5" name="Text 3"/>
              <p:cNvSpPr/>
              <p:nvPr/>
            </p:nvSpPr>
            <p:spPr>
              <a:xfrm>
                <a:off x="457200" y="1600200"/>
                <a:ext cx="2194560" cy="411480"/>
              </a:xfrm>
              <a:prstGeom prst="rect">
                <a:avLst/>
              </a:prstGeom>
              <a:noFill/>
              <a:ln/>
            </p:spPr>
            <p:txBody>
              <a:bodyPr wrap="square" lIns="0" tIns="0" rIns="0" bIns="0" rtlCol="0" anchor="ctr"/>
              <a:lstStyle/>
              <a:p>
                <a:pPr marL="0" indent="0">
                  <a:buNone/>
                </a:pPr>
                <a:r>
                  <a:rPr lang="en-US" b="1" dirty="0">
                    <a:solidFill>
                      <a:schemeClr val="bg1"/>
                    </a:solidFill>
                  </a:rPr>
                  <a:t>Client</a:t>
                </a:r>
                <a:endParaRPr lang="en-US" dirty="0">
                  <a:solidFill>
                    <a:schemeClr val="bg1"/>
                  </a:solidFill>
                </a:endParaRPr>
              </a:p>
            </p:txBody>
          </p:sp>
          <p:sp>
            <p:nvSpPr>
              <p:cNvPr id="6" name="Text 4"/>
              <p:cNvSpPr/>
              <p:nvPr/>
            </p:nvSpPr>
            <p:spPr>
              <a:xfrm>
                <a:off x="457200" y="2011680"/>
                <a:ext cx="2194560" cy="777240"/>
              </a:xfrm>
              <a:prstGeom prst="rect">
                <a:avLst/>
              </a:prstGeom>
              <a:noFill/>
              <a:ln/>
            </p:spPr>
            <p:txBody>
              <a:bodyPr wrap="square" lIns="0" tIns="0" rIns="0" bIns="0" rtlCol="0" anchor="ctr"/>
              <a:lstStyle/>
              <a:p>
                <a:pPr marL="0" indent="0">
                  <a:lnSpc>
                    <a:spcPct val="130000"/>
                  </a:lnSpc>
                  <a:buNone/>
                </a:pPr>
                <a:r>
                  <a:rPr lang="en-US" sz="1400" dirty="0">
                    <a:solidFill>
                      <a:srgbClr val="94A3B8"/>
                    </a:solidFill>
                  </a:rPr>
                  <a:t>Python script / notebook</a:t>
                </a:r>
                <a:endParaRPr lang="en-US" sz="1400" dirty="0"/>
              </a:p>
            </p:txBody>
          </p:sp>
        </p:grpSp>
        <p:grpSp>
          <p:nvGrpSpPr>
            <p:cNvPr id="27" name="Group 26">
              <a:extLst>
                <a:ext uri="{FF2B5EF4-FFF2-40B4-BE49-F238E27FC236}">
                  <a16:creationId xmlns:a16="http://schemas.microsoft.com/office/drawing/2014/main" id="{279DC765-0F30-A3FF-56DC-7BD0007E507C}"/>
                </a:ext>
              </a:extLst>
            </p:cNvPr>
            <p:cNvGrpSpPr/>
            <p:nvPr/>
          </p:nvGrpSpPr>
          <p:grpSpPr>
            <a:xfrm>
              <a:off x="2401299" y="2285723"/>
              <a:ext cx="4546800" cy="748800"/>
              <a:chOff x="2971800" y="1417320"/>
              <a:chExt cx="2377440" cy="1508760"/>
            </a:xfrm>
          </p:grpSpPr>
          <p:sp>
            <p:nvSpPr>
              <p:cNvPr id="7" name="Shape 5"/>
              <p:cNvSpPr/>
              <p:nvPr/>
            </p:nvSpPr>
            <p:spPr>
              <a:xfrm>
                <a:off x="2971800" y="1417320"/>
                <a:ext cx="2377440" cy="1508760"/>
              </a:xfrm>
              <a:prstGeom prst="rect">
                <a:avLst/>
              </a:prstGeom>
              <a:solidFill>
                <a:srgbClr val="1B3A4B"/>
              </a:solidFill>
              <a:ln w="10160">
                <a:solidFill>
                  <a:srgbClr val="0D9488"/>
                </a:solidFill>
                <a:prstDash val="solid"/>
              </a:ln>
            </p:spPr>
            <p:txBody>
              <a:bodyPr/>
              <a:lstStyle/>
              <a:p>
                <a:endParaRPr lang="en-LU"/>
              </a:p>
            </p:txBody>
          </p:sp>
          <p:sp>
            <p:nvSpPr>
              <p:cNvPr id="8" name="Text 6"/>
              <p:cNvSpPr/>
              <p:nvPr/>
            </p:nvSpPr>
            <p:spPr>
              <a:xfrm>
                <a:off x="3063240" y="1600200"/>
                <a:ext cx="2194560" cy="411480"/>
              </a:xfrm>
              <a:prstGeom prst="rect">
                <a:avLst/>
              </a:prstGeom>
              <a:noFill/>
              <a:ln/>
            </p:spPr>
            <p:txBody>
              <a:bodyPr wrap="square" lIns="0" tIns="0" rIns="0" bIns="0" rtlCol="0" anchor="ctr"/>
              <a:lstStyle/>
              <a:p>
                <a:pPr marL="0" indent="0">
                  <a:buNone/>
                </a:pPr>
                <a:r>
                  <a:rPr lang="en-US" b="1" dirty="0">
                    <a:solidFill>
                      <a:schemeClr val="bg1"/>
                    </a:solidFill>
                  </a:rPr>
                  <a:t>Scheduler</a:t>
                </a:r>
                <a:endParaRPr lang="en-US" dirty="0">
                  <a:solidFill>
                    <a:schemeClr val="bg1"/>
                  </a:solidFill>
                </a:endParaRPr>
              </a:p>
            </p:txBody>
          </p:sp>
          <p:sp>
            <p:nvSpPr>
              <p:cNvPr id="9" name="Text 7"/>
              <p:cNvSpPr/>
              <p:nvPr/>
            </p:nvSpPr>
            <p:spPr>
              <a:xfrm>
                <a:off x="3063240" y="2011680"/>
                <a:ext cx="2194560" cy="777240"/>
              </a:xfrm>
              <a:prstGeom prst="rect">
                <a:avLst/>
              </a:prstGeom>
              <a:noFill/>
              <a:ln/>
            </p:spPr>
            <p:txBody>
              <a:bodyPr wrap="square" lIns="0" tIns="0" rIns="0" bIns="0" rtlCol="0" anchor="ctr"/>
              <a:lstStyle/>
              <a:p>
                <a:pPr marL="0" indent="0">
                  <a:lnSpc>
                    <a:spcPct val="130000"/>
                  </a:lnSpc>
                  <a:buNone/>
                </a:pPr>
                <a:r>
                  <a:rPr lang="en-US" sz="1400" dirty="0">
                    <a:solidFill>
                      <a:srgbClr val="94A3B8"/>
                    </a:solidFill>
                  </a:rPr>
                  <a:t>Coordinates tasks</a:t>
                </a:r>
                <a:r>
                  <a:rPr lang="en-US" sz="1400" dirty="0"/>
                  <a:t> </a:t>
                </a:r>
                <a:r>
                  <a:rPr lang="en-US" sz="1400" dirty="0">
                    <a:solidFill>
                      <a:srgbClr val="94A3B8"/>
                    </a:solidFill>
                  </a:rPr>
                  <a:t>across all workers</a:t>
                </a:r>
                <a:endParaRPr lang="en-US" sz="1400" dirty="0"/>
              </a:p>
            </p:txBody>
          </p:sp>
        </p:grpSp>
        <p:grpSp>
          <p:nvGrpSpPr>
            <p:cNvPr id="30" name="Group 29">
              <a:extLst>
                <a:ext uri="{FF2B5EF4-FFF2-40B4-BE49-F238E27FC236}">
                  <a16:creationId xmlns:a16="http://schemas.microsoft.com/office/drawing/2014/main" id="{C88C6782-2B2E-2942-522B-03DA455BE1CF}"/>
                </a:ext>
              </a:extLst>
            </p:cNvPr>
            <p:cNvGrpSpPr/>
            <p:nvPr/>
          </p:nvGrpSpPr>
          <p:grpSpPr>
            <a:xfrm>
              <a:off x="2401299" y="3325342"/>
              <a:ext cx="4546800" cy="748800"/>
              <a:chOff x="2971800" y="1417320"/>
              <a:chExt cx="2377440" cy="1508760"/>
            </a:xfrm>
          </p:grpSpPr>
          <p:sp>
            <p:nvSpPr>
              <p:cNvPr id="31" name="Shape 5">
                <a:extLst>
                  <a:ext uri="{FF2B5EF4-FFF2-40B4-BE49-F238E27FC236}">
                    <a16:creationId xmlns:a16="http://schemas.microsoft.com/office/drawing/2014/main" id="{B5E1D7B6-C978-C451-F5ED-93993F9396D8}"/>
                  </a:ext>
                </a:extLst>
              </p:cNvPr>
              <p:cNvSpPr/>
              <p:nvPr/>
            </p:nvSpPr>
            <p:spPr>
              <a:xfrm>
                <a:off x="2971800" y="1417320"/>
                <a:ext cx="2377440" cy="1508760"/>
              </a:xfrm>
              <a:prstGeom prst="rect">
                <a:avLst/>
              </a:prstGeom>
              <a:solidFill>
                <a:srgbClr val="1B3A4B"/>
              </a:solidFill>
              <a:ln w="10160">
                <a:solidFill>
                  <a:srgbClr val="0D9488"/>
                </a:solidFill>
                <a:prstDash val="solid"/>
              </a:ln>
            </p:spPr>
            <p:txBody>
              <a:bodyPr/>
              <a:lstStyle/>
              <a:p>
                <a:endParaRPr lang="en-LU" dirty="0"/>
              </a:p>
            </p:txBody>
          </p:sp>
          <p:sp>
            <p:nvSpPr>
              <p:cNvPr id="32" name="Text 6">
                <a:extLst>
                  <a:ext uri="{FF2B5EF4-FFF2-40B4-BE49-F238E27FC236}">
                    <a16:creationId xmlns:a16="http://schemas.microsoft.com/office/drawing/2014/main" id="{6BA51F08-0D7B-A3E4-3023-C2BDCFBC0526}"/>
                  </a:ext>
                </a:extLst>
              </p:cNvPr>
              <p:cNvSpPr/>
              <p:nvPr/>
            </p:nvSpPr>
            <p:spPr>
              <a:xfrm>
                <a:off x="3063240" y="1600201"/>
                <a:ext cx="2194560" cy="411480"/>
              </a:xfrm>
              <a:prstGeom prst="rect">
                <a:avLst/>
              </a:prstGeom>
              <a:noFill/>
              <a:ln/>
            </p:spPr>
            <p:txBody>
              <a:bodyPr wrap="square" lIns="0" tIns="0" rIns="0" bIns="0" rtlCol="0" anchor="ctr"/>
              <a:lstStyle/>
              <a:p>
                <a:pPr marL="0" indent="0">
                  <a:buNone/>
                </a:pPr>
                <a:r>
                  <a:rPr lang="en-US" b="1" dirty="0">
                    <a:solidFill>
                      <a:schemeClr val="bg1"/>
                    </a:solidFill>
                  </a:rPr>
                  <a:t>Workers</a:t>
                </a:r>
                <a:endParaRPr lang="en-US" dirty="0">
                  <a:solidFill>
                    <a:schemeClr val="bg1"/>
                  </a:solidFill>
                </a:endParaRPr>
              </a:p>
            </p:txBody>
          </p:sp>
          <p:sp>
            <p:nvSpPr>
              <p:cNvPr id="33" name="Text 7">
                <a:extLst>
                  <a:ext uri="{FF2B5EF4-FFF2-40B4-BE49-F238E27FC236}">
                    <a16:creationId xmlns:a16="http://schemas.microsoft.com/office/drawing/2014/main" id="{3B9007A1-7F97-803F-350B-8FCF26D9B26E}"/>
                  </a:ext>
                </a:extLst>
              </p:cNvPr>
              <p:cNvSpPr/>
              <p:nvPr/>
            </p:nvSpPr>
            <p:spPr>
              <a:xfrm>
                <a:off x="3063240" y="2011680"/>
                <a:ext cx="2194560" cy="777240"/>
              </a:xfrm>
              <a:prstGeom prst="rect">
                <a:avLst/>
              </a:prstGeom>
              <a:noFill/>
              <a:ln/>
            </p:spPr>
            <p:txBody>
              <a:bodyPr wrap="square" lIns="0" tIns="0" rIns="0" bIns="0" rtlCol="0" anchor="ctr"/>
              <a:lstStyle/>
              <a:p>
                <a:pPr marL="0" indent="0">
                  <a:lnSpc>
                    <a:spcPct val="130000"/>
                  </a:lnSpc>
                  <a:buNone/>
                </a:pPr>
                <a:r>
                  <a:rPr lang="en-US" sz="1400" dirty="0">
                    <a:solidFill>
                      <a:srgbClr val="94A3B8"/>
                    </a:solidFill>
                  </a:rPr>
                  <a:t>Execute partitions in parallel (one per core / node)</a:t>
                </a:r>
              </a:p>
            </p:txBody>
          </p:sp>
        </p:grpSp>
        <p:grpSp>
          <p:nvGrpSpPr>
            <p:cNvPr id="34" name="Group 33">
              <a:extLst>
                <a:ext uri="{FF2B5EF4-FFF2-40B4-BE49-F238E27FC236}">
                  <a16:creationId xmlns:a16="http://schemas.microsoft.com/office/drawing/2014/main" id="{92466EB9-9B42-649B-D3E0-146B3D0B21EB}"/>
                </a:ext>
              </a:extLst>
            </p:cNvPr>
            <p:cNvGrpSpPr/>
            <p:nvPr/>
          </p:nvGrpSpPr>
          <p:grpSpPr>
            <a:xfrm>
              <a:off x="2401299" y="4324306"/>
              <a:ext cx="4546800" cy="748800"/>
              <a:chOff x="2971800" y="1417320"/>
              <a:chExt cx="2377440" cy="1508760"/>
            </a:xfrm>
          </p:grpSpPr>
          <p:sp>
            <p:nvSpPr>
              <p:cNvPr id="35" name="Shape 5">
                <a:extLst>
                  <a:ext uri="{FF2B5EF4-FFF2-40B4-BE49-F238E27FC236}">
                    <a16:creationId xmlns:a16="http://schemas.microsoft.com/office/drawing/2014/main" id="{90DE6BA1-9D72-80E0-EB82-30524EFB3B58}"/>
                  </a:ext>
                </a:extLst>
              </p:cNvPr>
              <p:cNvSpPr/>
              <p:nvPr/>
            </p:nvSpPr>
            <p:spPr>
              <a:xfrm>
                <a:off x="2971800" y="1417320"/>
                <a:ext cx="2377440" cy="1508760"/>
              </a:xfrm>
              <a:prstGeom prst="rect">
                <a:avLst/>
              </a:prstGeom>
              <a:solidFill>
                <a:srgbClr val="1B3A4B"/>
              </a:solidFill>
              <a:ln w="10160">
                <a:solidFill>
                  <a:srgbClr val="0D9488"/>
                </a:solidFill>
                <a:prstDash val="solid"/>
              </a:ln>
            </p:spPr>
            <p:txBody>
              <a:bodyPr/>
              <a:lstStyle/>
              <a:p>
                <a:endParaRPr lang="en-LU"/>
              </a:p>
            </p:txBody>
          </p:sp>
          <p:sp>
            <p:nvSpPr>
              <p:cNvPr id="36" name="Text 6">
                <a:extLst>
                  <a:ext uri="{FF2B5EF4-FFF2-40B4-BE49-F238E27FC236}">
                    <a16:creationId xmlns:a16="http://schemas.microsoft.com/office/drawing/2014/main" id="{17122110-C650-1F90-770F-343F6CBB4622}"/>
                  </a:ext>
                </a:extLst>
              </p:cNvPr>
              <p:cNvSpPr/>
              <p:nvPr/>
            </p:nvSpPr>
            <p:spPr>
              <a:xfrm>
                <a:off x="3063240" y="1600200"/>
                <a:ext cx="2194560" cy="411480"/>
              </a:xfrm>
              <a:prstGeom prst="rect">
                <a:avLst/>
              </a:prstGeom>
              <a:noFill/>
              <a:ln/>
            </p:spPr>
            <p:txBody>
              <a:bodyPr wrap="square" lIns="0" tIns="0" rIns="0" bIns="0" rtlCol="0" anchor="ctr"/>
              <a:lstStyle/>
              <a:p>
                <a:pPr marL="0" indent="0">
                  <a:buNone/>
                </a:pPr>
                <a:r>
                  <a:rPr lang="en-US" b="1" dirty="0">
                    <a:solidFill>
                      <a:schemeClr val="bg1"/>
                    </a:solidFill>
                  </a:rPr>
                  <a:t>Shared storage (</a:t>
                </a:r>
                <a:r>
                  <a:rPr lang="en-US" b="1" dirty="0" err="1">
                    <a:solidFill>
                      <a:schemeClr val="bg1"/>
                    </a:solidFill>
                  </a:rPr>
                  <a:t>Lustre</a:t>
                </a:r>
                <a:r>
                  <a:rPr lang="en-US" b="1" dirty="0">
                    <a:solidFill>
                      <a:schemeClr val="bg1"/>
                    </a:solidFill>
                  </a:rPr>
                  <a:t> FS)</a:t>
                </a:r>
                <a:endParaRPr lang="en-US" dirty="0">
                  <a:solidFill>
                    <a:schemeClr val="bg1"/>
                  </a:solidFill>
                </a:endParaRPr>
              </a:p>
            </p:txBody>
          </p:sp>
          <p:sp>
            <p:nvSpPr>
              <p:cNvPr id="37" name="Text 7">
                <a:extLst>
                  <a:ext uri="{FF2B5EF4-FFF2-40B4-BE49-F238E27FC236}">
                    <a16:creationId xmlns:a16="http://schemas.microsoft.com/office/drawing/2014/main" id="{B6A3AC94-64F6-FF3F-C6F6-8AE4E8821A9F}"/>
                  </a:ext>
                </a:extLst>
              </p:cNvPr>
              <p:cNvSpPr/>
              <p:nvPr/>
            </p:nvSpPr>
            <p:spPr>
              <a:xfrm>
                <a:off x="3063240" y="2011680"/>
                <a:ext cx="2194560" cy="777240"/>
              </a:xfrm>
              <a:prstGeom prst="rect">
                <a:avLst/>
              </a:prstGeom>
              <a:noFill/>
              <a:ln/>
            </p:spPr>
            <p:txBody>
              <a:bodyPr wrap="square" lIns="0" tIns="0" rIns="0" bIns="0" rtlCol="0" anchor="ctr"/>
              <a:lstStyle/>
              <a:p>
                <a:pPr marL="0" indent="0">
                  <a:lnSpc>
                    <a:spcPct val="130000"/>
                  </a:lnSpc>
                  <a:buNone/>
                </a:pPr>
                <a:r>
                  <a:rPr lang="en-US" sz="1400" dirty="0">
                    <a:solidFill>
                      <a:srgbClr val="94A3B8"/>
                    </a:solidFill>
                  </a:rPr>
                  <a:t>Parallel file system shared across all nodes</a:t>
                </a:r>
                <a:endParaRPr lang="en-US" sz="1400" dirty="0"/>
              </a:p>
            </p:txBody>
          </p:sp>
        </p:grpSp>
      </p:grpSp>
      <p:sp>
        <p:nvSpPr>
          <p:cNvPr id="39" name="TextBox 38">
            <a:extLst>
              <a:ext uri="{FF2B5EF4-FFF2-40B4-BE49-F238E27FC236}">
                <a16:creationId xmlns:a16="http://schemas.microsoft.com/office/drawing/2014/main" id="{BCEB4B42-A417-34BF-242F-24B5E089B0CD}"/>
              </a:ext>
            </a:extLst>
          </p:cNvPr>
          <p:cNvSpPr txBox="1"/>
          <p:nvPr/>
        </p:nvSpPr>
        <p:spPr>
          <a:xfrm>
            <a:off x="6058893" y="3210644"/>
            <a:ext cx="3085107" cy="923330"/>
          </a:xfrm>
          <a:prstGeom prst="rect">
            <a:avLst/>
          </a:prstGeom>
          <a:noFill/>
        </p:spPr>
        <p:txBody>
          <a:bodyPr wrap="square" rtlCol="0">
            <a:spAutoFit/>
          </a:bodyPr>
          <a:lstStyle/>
          <a:p>
            <a:r>
              <a:rPr lang="en-LU" dirty="0">
                <a:solidFill>
                  <a:srgbClr val="FED855"/>
                </a:solidFill>
              </a:rPr>
              <a:t>Scaling = more workers </a:t>
            </a:r>
            <a:r>
              <a:rPr lang="en-LU" dirty="0">
                <a:solidFill>
                  <a:srgbClr val="FED855"/>
                </a:solidFill>
                <a:sym typeface="Wingdings" pitchFamily="2" charset="2"/>
              </a:rPr>
              <a:t> more partitions processed in parallel.</a:t>
            </a:r>
            <a:endParaRPr lang="en-LU" dirty="0">
              <a:solidFill>
                <a:srgbClr val="FED855"/>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1B2A"/>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rtlCol="0" anchor="ctr"/>
          <a:lstStyle/>
          <a:p>
            <a:pPr marL="0" indent="0">
              <a:buNone/>
            </a:pPr>
            <a:r>
              <a:rPr lang="en-US" sz="1100" b="1" kern="0" spc="200" dirty="0">
                <a:solidFill>
                  <a:srgbClr val="0D9488"/>
                </a:solidFill>
                <a:latin typeface="Arial" pitchFamily="34" charset="0"/>
                <a:ea typeface="Arial" pitchFamily="34" charset="-122"/>
                <a:cs typeface="Arial" pitchFamily="34" charset="-120"/>
              </a:rPr>
              <a:t>EXERCISE 3 · GPU</a:t>
            </a:r>
            <a:endParaRPr lang="en-US" sz="1100" dirty="0"/>
          </a:p>
        </p:txBody>
      </p:sp>
      <p:sp>
        <p:nvSpPr>
          <p:cNvPr id="3" name="Text 1"/>
          <p:cNvSpPr/>
          <p:nvPr/>
        </p:nvSpPr>
        <p:spPr>
          <a:xfrm>
            <a:off x="502920" y="566928"/>
            <a:ext cx="8138160" cy="54864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Running Our Analytics on a GPU</a:t>
            </a:r>
            <a:endParaRPr lang="en-US" sz="2700" dirty="0"/>
          </a:p>
        </p:txBody>
      </p:sp>
      <p:sp>
        <p:nvSpPr>
          <p:cNvPr id="4" name="Text 2"/>
          <p:cNvSpPr/>
          <p:nvPr/>
        </p:nvSpPr>
        <p:spPr>
          <a:xfrm>
            <a:off x="502920" y="1078992"/>
            <a:ext cx="8138160" cy="292608"/>
          </a:xfrm>
          <a:prstGeom prst="rect">
            <a:avLst/>
          </a:prstGeom>
          <a:noFill/>
          <a:ln/>
        </p:spPr>
        <p:txBody>
          <a:bodyPr wrap="square" rtlCol="0" anchor="ctr"/>
          <a:lstStyle/>
          <a:p>
            <a:pPr marL="0" indent="0">
              <a:buNone/>
            </a:pPr>
            <a:r>
              <a:rPr lang="en-US" sz="1300" i="1" dirty="0">
                <a:solidFill>
                  <a:srgbClr val="94A3B8"/>
                </a:solidFill>
                <a:latin typeface="Arial" pitchFamily="34" charset="0"/>
                <a:ea typeface="Arial" pitchFamily="34" charset="-122"/>
                <a:cs typeface="Arial" pitchFamily="34" charset="-120"/>
              </a:rPr>
              <a:t>Same data, same pipeline — this time on a GPU instead of the CPU.</a:t>
            </a:r>
            <a:endParaRPr lang="en-US" sz="1300" dirty="0"/>
          </a:p>
        </p:txBody>
      </p:sp>
      <p:sp>
        <p:nvSpPr>
          <p:cNvPr id="5" name="Shape 3"/>
          <p:cNvSpPr/>
          <p:nvPr/>
        </p:nvSpPr>
        <p:spPr>
          <a:xfrm>
            <a:off x="502920" y="1618488"/>
            <a:ext cx="118872" cy="118872"/>
          </a:xfrm>
          <a:prstGeom prst="ellipse">
            <a:avLst/>
          </a:prstGeom>
          <a:solidFill>
            <a:srgbClr val="0D9488"/>
          </a:solidFill>
          <a:ln/>
        </p:spPr>
        <p:txBody>
          <a:bodyPr/>
          <a:lstStyle/>
          <a:p>
            <a:endParaRPr lang="en-LU"/>
          </a:p>
        </p:txBody>
      </p:sp>
      <p:sp>
        <p:nvSpPr>
          <p:cNvPr id="6" name="Text 4"/>
          <p:cNvSpPr/>
          <p:nvPr/>
        </p:nvSpPr>
        <p:spPr>
          <a:xfrm>
            <a:off x="758952" y="1527048"/>
            <a:ext cx="4206240" cy="27432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Goal</a:t>
            </a:r>
            <a:endParaRPr lang="en-US" sz="1400" dirty="0"/>
          </a:p>
        </p:txBody>
      </p:sp>
      <p:sp>
        <p:nvSpPr>
          <p:cNvPr id="7" name="Text 5"/>
          <p:cNvSpPr/>
          <p:nvPr/>
        </p:nvSpPr>
        <p:spPr>
          <a:xfrm>
            <a:off x="758952" y="1810512"/>
            <a:ext cx="4297680" cy="548640"/>
          </a:xfrm>
          <a:prstGeom prst="rect">
            <a:avLst/>
          </a:prstGeom>
          <a:noFill/>
          <a:ln/>
        </p:spPr>
        <p:txBody>
          <a:bodyPr wrap="square" rtlCol="0" anchor="ctr"/>
          <a:lstStyle/>
          <a:p>
            <a:pPr marL="0" indent="0">
              <a:buNone/>
            </a:pPr>
            <a:r>
              <a:rPr lang="en-US" sz="1250" dirty="0">
                <a:solidFill>
                  <a:srgbClr val="E2E8F0"/>
                </a:solidFill>
                <a:latin typeface="Arial" pitchFamily="34" charset="0"/>
                <a:ea typeface="Arial" pitchFamily="34" charset="-122"/>
                <a:cs typeface="Arial" pitchFamily="34" charset="-120"/>
              </a:rPr>
              <a:t>Use a GPU's thousands of cores to run the analytics much faster.</a:t>
            </a:r>
            <a:endParaRPr lang="en-US" sz="1250" dirty="0"/>
          </a:p>
        </p:txBody>
      </p:sp>
      <p:sp>
        <p:nvSpPr>
          <p:cNvPr id="8" name="Shape 6"/>
          <p:cNvSpPr/>
          <p:nvPr/>
        </p:nvSpPr>
        <p:spPr>
          <a:xfrm>
            <a:off x="502920" y="2551176"/>
            <a:ext cx="118872" cy="118872"/>
          </a:xfrm>
          <a:prstGeom prst="ellipse">
            <a:avLst/>
          </a:prstGeom>
          <a:solidFill>
            <a:srgbClr val="F59E0B"/>
          </a:solidFill>
          <a:ln/>
        </p:spPr>
        <p:txBody>
          <a:bodyPr/>
          <a:lstStyle/>
          <a:p>
            <a:endParaRPr lang="en-LU"/>
          </a:p>
        </p:txBody>
      </p:sp>
      <p:sp>
        <p:nvSpPr>
          <p:cNvPr id="9" name="Text 7"/>
          <p:cNvSpPr/>
          <p:nvPr/>
        </p:nvSpPr>
        <p:spPr>
          <a:xfrm>
            <a:off x="758952" y="2459736"/>
            <a:ext cx="4206240" cy="27432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Starting point</a:t>
            </a:r>
            <a:endParaRPr lang="en-US" sz="1400" dirty="0"/>
          </a:p>
        </p:txBody>
      </p:sp>
      <p:sp>
        <p:nvSpPr>
          <p:cNvPr id="10" name="Text 8"/>
          <p:cNvSpPr/>
          <p:nvPr/>
        </p:nvSpPr>
        <p:spPr>
          <a:xfrm>
            <a:off x="758952" y="2743200"/>
            <a:ext cx="4297680" cy="548640"/>
          </a:xfrm>
          <a:prstGeom prst="rect">
            <a:avLst/>
          </a:prstGeom>
          <a:noFill/>
          <a:ln/>
        </p:spPr>
        <p:txBody>
          <a:bodyPr wrap="square" rtlCol="0" anchor="ctr"/>
          <a:lstStyle/>
          <a:p>
            <a:pPr marL="0" indent="0">
              <a:buNone/>
            </a:pPr>
            <a:r>
              <a:rPr lang="en-US" sz="1250" dirty="0">
                <a:solidFill>
                  <a:srgbClr val="E2E8F0"/>
                </a:solidFill>
                <a:latin typeface="Arial" pitchFamily="34" charset="0"/>
                <a:ea typeface="Arial" pitchFamily="34" charset="-122"/>
                <a:cs typeface="Arial" pitchFamily="34" charset="-120"/>
              </a:rPr>
              <a:t>The same transactions.parquet from Exercise 1. Nothing new to build.</a:t>
            </a:r>
            <a:endParaRPr lang="en-US" sz="1250" dirty="0"/>
          </a:p>
        </p:txBody>
      </p:sp>
      <p:sp>
        <p:nvSpPr>
          <p:cNvPr id="11" name="Shape 9"/>
          <p:cNvSpPr/>
          <p:nvPr/>
        </p:nvSpPr>
        <p:spPr>
          <a:xfrm>
            <a:off x="502920" y="3483864"/>
            <a:ext cx="118872" cy="118872"/>
          </a:xfrm>
          <a:prstGeom prst="ellipse">
            <a:avLst/>
          </a:prstGeom>
          <a:solidFill>
            <a:srgbClr val="7C3AED"/>
          </a:solidFill>
          <a:ln/>
        </p:spPr>
        <p:txBody>
          <a:bodyPr/>
          <a:lstStyle/>
          <a:p>
            <a:endParaRPr lang="en-LU"/>
          </a:p>
        </p:txBody>
      </p:sp>
      <p:sp>
        <p:nvSpPr>
          <p:cNvPr id="12" name="Text 10"/>
          <p:cNvSpPr/>
          <p:nvPr/>
        </p:nvSpPr>
        <p:spPr>
          <a:xfrm>
            <a:off x="758952" y="3392424"/>
            <a:ext cx="4206240" cy="274320"/>
          </a:xfrm>
          <a:prstGeom prst="rect">
            <a:avLst/>
          </a:prstGeom>
          <a:noFill/>
          <a:ln/>
        </p:spPr>
        <p:txBody>
          <a:bodyPr wrap="square" rtlCol="0" anchor="ctr"/>
          <a:lstStyle/>
          <a:p>
            <a:pPr marL="0" indent="0">
              <a:buNone/>
            </a:pPr>
            <a:r>
              <a:rPr lang="en-US" sz="1400" b="1" dirty="0">
                <a:solidFill>
                  <a:srgbClr val="FFFFFF"/>
                </a:solidFill>
                <a:latin typeface="Arial" pitchFamily="34" charset="0"/>
                <a:ea typeface="Arial" pitchFamily="34" charset="-122"/>
                <a:cs typeface="Arial" pitchFamily="34" charset="-120"/>
              </a:rPr>
              <a:t>What changes</a:t>
            </a:r>
            <a:endParaRPr lang="en-US" sz="1400" dirty="0"/>
          </a:p>
        </p:txBody>
      </p:sp>
      <p:sp>
        <p:nvSpPr>
          <p:cNvPr id="13" name="Text 11"/>
          <p:cNvSpPr/>
          <p:nvPr/>
        </p:nvSpPr>
        <p:spPr>
          <a:xfrm>
            <a:off x="758952" y="3675888"/>
            <a:ext cx="4297680" cy="548640"/>
          </a:xfrm>
          <a:prstGeom prst="rect">
            <a:avLst/>
          </a:prstGeom>
          <a:noFill/>
          <a:ln/>
        </p:spPr>
        <p:txBody>
          <a:bodyPr wrap="square" rtlCol="0" anchor="ctr"/>
          <a:lstStyle/>
          <a:p>
            <a:pPr marL="0" indent="0">
              <a:buNone/>
            </a:pPr>
            <a:r>
              <a:rPr lang="en-US" sz="1250" dirty="0">
                <a:solidFill>
                  <a:srgbClr val="E2E8F0"/>
                </a:solidFill>
                <a:latin typeface="Arial" pitchFamily="34" charset="0"/>
                <a:ea typeface="Arial" pitchFamily="34" charset="-122"/>
                <a:cs typeface="Arial" pitchFamily="34" charset="-120"/>
              </a:rPr>
              <a:t>pandas (CPU)  →  cuDF (GPU). The GPU does the heavy lifting.</a:t>
            </a:r>
            <a:endParaRPr lang="en-US" sz="1250" dirty="0"/>
          </a:p>
        </p:txBody>
      </p:sp>
      <p:sp>
        <p:nvSpPr>
          <p:cNvPr id="14" name="Shape 12"/>
          <p:cNvSpPr/>
          <p:nvPr/>
        </p:nvSpPr>
        <p:spPr>
          <a:xfrm>
            <a:off x="5166360" y="1572768"/>
            <a:ext cx="3474720" cy="2697480"/>
          </a:xfrm>
          <a:prstGeom prst="roundRect">
            <a:avLst>
              <a:gd name="adj" fmla="val 3390"/>
            </a:avLst>
          </a:prstGeom>
          <a:solidFill>
            <a:srgbClr val="12263A"/>
          </a:solidFill>
          <a:ln w="12700">
            <a:solidFill>
              <a:srgbClr val="0D9488"/>
            </a:solidFill>
            <a:prstDash val="solid"/>
          </a:ln>
        </p:spPr>
        <p:txBody>
          <a:bodyPr/>
          <a:lstStyle/>
          <a:p>
            <a:endParaRPr lang="en-LU"/>
          </a:p>
        </p:txBody>
      </p:sp>
      <p:sp>
        <p:nvSpPr>
          <p:cNvPr id="15" name="Text 13"/>
          <p:cNvSpPr/>
          <p:nvPr/>
        </p:nvSpPr>
        <p:spPr>
          <a:xfrm>
            <a:off x="5440680" y="1783080"/>
            <a:ext cx="2926080" cy="274320"/>
          </a:xfrm>
          <a:prstGeom prst="rect">
            <a:avLst/>
          </a:prstGeom>
          <a:noFill/>
          <a:ln/>
        </p:spPr>
        <p:txBody>
          <a:bodyPr wrap="square" rtlCol="0" anchor="ctr"/>
          <a:lstStyle/>
          <a:p>
            <a:pPr marL="0" indent="0">
              <a:buNone/>
            </a:pPr>
            <a:r>
              <a:rPr lang="en-US" sz="1100" b="1" kern="0" spc="100" dirty="0">
                <a:solidFill>
                  <a:srgbClr val="0D9488"/>
                </a:solidFill>
                <a:latin typeface="Arial" pitchFamily="34" charset="0"/>
                <a:ea typeface="Arial" pitchFamily="34" charset="-122"/>
                <a:cs typeface="Arial" pitchFamily="34" charset="-120"/>
              </a:rPr>
              <a:t>THE BIG IDEA</a:t>
            </a:r>
            <a:endParaRPr lang="en-US" sz="1100" dirty="0"/>
          </a:p>
        </p:txBody>
      </p:sp>
      <p:sp>
        <p:nvSpPr>
          <p:cNvPr id="16" name="Text 14"/>
          <p:cNvSpPr/>
          <p:nvPr/>
        </p:nvSpPr>
        <p:spPr>
          <a:xfrm>
            <a:off x="5440680" y="2084832"/>
            <a:ext cx="2926080" cy="365760"/>
          </a:xfrm>
          <a:prstGeom prst="rect">
            <a:avLst/>
          </a:prstGeom>
          <a:noFill/>
          <a:ln/>
        </p:spPr>
        <p:txBody>
          <a:bodyPr wrap="square" rtlCol="0" anchor="ctr"/>
          <a:lstStyle/>
          <a:p>
            <a:pPr marL="0" indent="0">
              <a:buNone/>
            </a:pPr>
            <a:r>
              <a:rPr lang="en-US" sz="1900" b="1" dirty="0">
                <a:solidFill>
                  <a:srgbClr val="FFFFFF"/>
                </a:solidFill>
                <a:latin typeface="Arial" pitchFamily="34" charset="0"/>
                <a:ea typeface="Arial" pitchFamily="34" charset="-122"/>
                <a:cs typeface="Arial" pitchFamily="34" charset="-120"/>
              </a:rPr>
              <a:t>Zero code changes.</a:t>
            </a:r>
            <a:endParaRPr lang="en-US" sz="1900" dirty="0"/>
          </a:p>
        </p:txBody>
      </p:sp>
      <p:sp>
        <p:nvSpPr>
          <p:cNvPr id="17" name="Text 15"/>
          <p:cNvSpPr/>
          <p:nvPr/>
        </p:nvSpPr>
        <p:spPr>
          <a:xfrm>
            <a:off x="5440680" y="2505456"/>
            <a:ext cx="2926080" cy="457200"/>
          </a:xfrm>
          <a:prstGeom prst="rect">
            <a:avLst/>
          </a:prstGeom>
          <a:noFill/>
          <a:ln/>
        </p:spPr>
        <p:txBody>
          <a:bodyPr wrap="square" rtlCol="0" anchor="ctr"/>
          <a:lstStyle/>
          <a:p>
            <a:pPr marL="0" indent="0">
              <a:buNone/>
            </a:pPr>
            <a:r>
              <a:rPr lang="en-US" sz="1200" dirty="0">
                <a:solidFill>
                  <a:srgbClr val="E2E8F0"/>
                </a:solidFill>
                <a:latin typeface="Arial" pitchFamily="34" charset="0"/>
                <a:ea typeface="Arial" pitchFamily="34" charset="-122"/>
                <a:cs typeface="Arial" pitchFamily="34" charset="-120"/>
              </a:rPr>
              <a:t>Run your Exercise 1 script on the GPU by adding one flag:</a:t>
            </a:r>
            <a:endParaRPr lang="en-US" sz="1200" dirty="0"/>
          </a:p>
        </p:txBody>
      </p:sp>
      <p:sp>
        <p:nvSpPr>
          <p:cNvPr id="18" name="Shape 16"/>
          <p:cNvSpPr/>
          <p:nvPr/>
        </p:nvSpPr>
        <p:spPr>
          <a:xfrm>
            <a:off x="5440680" y="3054096"/>
            <a:ext cx="2926080" cy="502920"/>
          </a:xfrm>
          <a:prstGeom prst="roundRect">
            <a:avLst>
              <a:gd name="adj" fmla="val 9091"/>
            </a:avLst>
          </a:prstGeom>
          <a:solidFill>
            <a:srgbClr val="05131F"/>
          </a:solidFill>
          <a:ln w="12700">
            <a:solidFill>
              <a:srgbClr val="334155"/>
            </a:solidFill>
            <a:prstDash val="solid"/>
          </a:ln>
        </p:spPr>
        <p:txBody>
          <a:bodyPr/>
          <a:lstStyle/>
          <a:p>
            <a:endParaRPr lang="en-LU"/>
          </a:p>
        </p:txBody>
      </p:sp>
      <p:sp>
        <p:nvSpPr>
          <p:cNvPr id="19" name="Text 17"/>
          <p:cNvSpPr/>
          <p:nvPr/>
        </p:nvSpPr>
        <p:spPr>
          <a:xfrm>
            <a:off x="5550408" y="3054096"/>
            <a:ext cx="2743200" cy="502920"/>
          </a:xfrm>
          <a:prstGeom prst="rect">
            <a:avLst/>
          </a:prstGeom>
          <a:noFill/>
          <a:ln/>
        </p:spPr>
        <p:txBody>
          <a:bodyPr wrap="square" rtlCol="0" anchor="ctr"/>
          <a:lstStyle/>
          <a:p>
            <a:pPr marL="0" indent="0">
              <a:buNone/>
            </a:pPr>
            <a:r>
              <a:rPr lang="en-US" sz="1150" dirty="0">
                <a:solidFill>
                  <a:srgbClr val="F59E0B"/>
                </a:solidFill>
                <a:latin typeface="Courier New" pitchFamily="34" charset="0"/>
                <a:ea typeface="Courier New" pitchFamily="34" charset="-122"/>
                <a:cs typeface="Courier New" pitchFamily="34" charset="-120"/>
              </a:rPr>
              <a:t>python -m cudf.pandas exercise1.py</a:t>
            </a:r>
            <a:endParaRPr lang="en-US" sz="1150" dirty="0"/>
          </a:p>
        </p:txBody>
      </p:sp>
      <p:sp>
        <p:nvSpPr>
          <p:cNvPr id="20" name="Text 18"/>
          <p:cNvSpPr/>
          <p:nvPr/>
        </p:nvSpPr>
        <p:spPr>
          <a:xfrm>
            <a:off x="5440680" y="3675888"/>
            <a:ext cx="2926080" cy="457200"/>
          </a:xfrm>
          <a:prstGeom prst="rect">
            <a:avLst/>
          </a:prstGeom>
          <a:noFill/>
          <a:ln/>
        </p:spPr>
        <p:txBody>
          <a:bodyPr wrap="square" rtlCol="0" anchor="ctr"/>
          <a:lstStyle/>
          <a:p>
            <a:pPr marL="0" indent="0">
              <a:buNone/>
            </a:pPr>
            <a:r>
              <a:rPr lang="en-US" sz="1200" i="1" dirty="0">
                <a:solidFill>
                  <a:srgbClr val="94A3B8"/>
                </a:solidFill>
                <a:latin typeface="Arial" pitchFamily="34" charset="0"/>
                <a:ea typeface="Arial" pitchFamily="34" charset="-122"/>
                <a:cs typeface="Arial" pitchFamily="34" charset="-120"/>
              </a:rPr>
              <a:t>Same code. Same results. GPU speed.</a:t>
            </a:r>
            <a:endParaRPr lang="en-US" sz="1200" dirty="0"/>
          </a:p>
        </p:txBody>
      </p:sp>
      <p:sp>
        <p:nvSpPr>
          <p:cNvPr id="21" name="Text 19"/>
          <p:cNvSpPr/>
          <p:nvPr/>
        </p:nvSpPr>
        <p:spPr>
          <a:xfrm>
            <a:off x="502920" y="4590288"/>
            <a:ext cx="8138160" cy="320040"/>
          </a:xfrm>
          <a:prstGeom prst="rect">
            <a:avLst/>
          </a:prstGeom>
          <a:noFill/>
          <a:ln/>
        </p:spPr>
        <p:txBody>
          <a:bodyPr wrap="square" rtlCol="0" anchor="ctr"/>
          <a:lstStyle/>
          <a:p>
            <a:pPr marL="0" indent="0" algn="ctr">
              <a:buNone/>
            </a:pPr>
            <a:r>
              <a:rPr lang="en-US" sz="1150" dirty="0">
                <a:solidFill>
                  <a:srgbClr val="94A3B8"/>
                </a:solidFill>
                <a:latin typeface="Arial" pitchFamily="34" charset="0"/>
                <a:ea typeface="Arial" pitchFamily="34" charset="-122"/>
                <a:cs typeface="Arial" pitchFamily="34" charset="-120"/>
              </a:rPr>
              <a:t>Workload:  read Parquet  ·  add revenue column  ·  group by  ·  join  ·  filter</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1B2A"/>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rtlCol="0" anchor="ctr"/>
          <a:lstStyle/>
          <a:p>
            <a:pPr marL="0" indent="0">
              <a:buNone/>
            </a:pPr>
            <a:r>
              <a:rPr lang="en-US" sz="1100" b="1" kern="0" spc="200" dirty="0">
                <a:solidFill>
                  <a:srgbClr val="0D9488"/>
                </a:solidFill>
                <a:latin typeface="Arial" pitchFamily="34" charset="0"/>
                <a:ea typeface="Arial" pitchFamily="34" charset="-122"/>
                <a:cs typeface="Arial" pitchFamily="34" charset="-120"/>
              </a:rPr>
              <a:t>EXERCISE 3 · WHY IT WORKS</a:t>
            </a:r>
            <a:endParaRPr lang="en-US" sz="1100" dirty="0"/>
          </a:p>
        </p:txBody>
      </p:sp>
      <p:sp>
        <p:nvSpPr>
          <p:cNvPr id="3" name="Text 1"/>
          <p:cNvSpPr/>
          <p:nvPr/>
        </p:nvSpPr>
        <p:spPr>
          <a:xfrm>
            <a:off x="502920" y="566928"/>
            <a:ext cx="8138160" cy="54864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From 1 Core to All Cores to a GPU</a:t>
            </a:r>
            <a:endParaRPr lang="en-US" sz="2700" dirty="0"/>
          </a:p>
        </p:txBody>
      </p:sp>
      <p:sp>
        <p:nvSpPr>
          <p:cNvPr id="4" name="Text 2"/>
          <p:cNvSpPr/>
          <p:nvPr/>
        </p:nvSpPr>
        <p:spPr>
          <a:xfrm>
            <a:off x="502920" y="1078992"/>
            <a:ext cx="8138160" cy="292608"/>
          </a:xfrm>
          <a:prstGeom prst="rect">
            <a:avLst/>
          </a:prstGeom>
          <a:noFill/>
          <a:ln/>
        </p:spPr>
        <p:txBody>
          <a:bodyPr wrap="square" rtlCol="0" anchor="ctr"/>
          <a:lstStyle/>
          <a:p>
            <a:pPr marL="0" indent="0">
              <a:buNone/>
            </a:pPr>
            <a:r>
              <a:rPr lang="en-US" sz="1300" i="1" dirty="0">
                <a:solidFill>
                  <a:srgbClr val="94A3B8"/>
                </a:solidFill>
                <a:latin typeface="Arial" pitchFamily="34" charset="0"/>
                <a:ea typeface="Arial" pitchFamily="34" charset="-122"/>
                <a:cs typeface="Arial" pitchFamily="34" charset="-120"/>
              </a:rPr>
              <a:t>Each step attacks a different bottleneck. The GPU is the next step, not magic.</a:t>
            </a:r>
            <a:endParaRPr lang="en-US" sz="1300" dirty="0"/>
          </a:p>
        </p:txBody>
      </p:sp>
      <p:sp>
        <p:nvSpPr>
          <p:cNvPr id="5" name="Shape 3"/>
          <p:cNvSpPr/>
          <p:nvPr/>
        </p:nvSpPr>
        <p:spPr>
          <a:xfrm>
            <a:off x="502920" y="1627632"/>
            <a:ext cx="2468880" cy="1691640"/>
          </a:xfrm>
          <a:prstGeom prst="roundRect">
            <a:avLst>
              <a:gd name="adj" fmla="val 4865"/>
            </a:avLst>
          </a:prstGeom>
          <a:solidFill>
            <a:srgbClr val="12263A"/>
          </a:solidFill>
          <a:ln w="12700">
            <a:solidFill>
              <a:srgbClr val="334155"/>
            </a:solidFill>
            <a:prstDash val="solid"/>
          </a:ln>
        </p:spPr>
        <p:txBody>
          <a:bodyPr/>
          <a:lstStyle/>
          <a:p>
            <a:endParaRPr lang="en-LU"/>
          </a:p>
        </p:txBody>
      </p:sp>
      <p:sp>
        <p:nvSpPr>
          <p:cNvPr id="6" name="Text 4"/>
          <p:cNvSpPr/>
          <p:nvPr/>
        </p:nvSpPr>
        <p:spPr>
          <a:xfrm>
            <a:off x="685800" y="1792224"/>
            <a:ext cx="2103120" cy="36576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pandas</a:t>
            </a:r>
            <a:endParaRPr lang="en-US" sz="1800" dirty="0"/>
          </a:p>
        </p:txBody>
      </p:sp>
      <p:sp>
        <p:nvSpPr>
          <p:cNvPr id="7" name="Text 5"/>
          <p:cNvSpPr/>
          <p:nvPr/>
        </p:nvSpPr>
        <p:spPr>
          <a:xfrm>
            <a:off x="685800" y="2194560"/>
            <a:ext cx="2103120" cy="274320"/>
          </a:xfrm>
          <a:prstGeom prst="rect">
            <a:avLst/>
          </a:prstGeom>
          <a:noFill/>
          <a:ln/>
        </p:spPr>
        <p:txBody>
          <a:bodyPr wrap="square" rtlCol="0" anchor="ctr"/>
          <a:lstStyle/>
          <a:p>
            <a:pPr marL="0" indent="0">
              <a:buNone/>
            </a:pPr>
            <a:r>
              <a:rPr lang="en-US" sz="1250" b="1" dirty="0">
                <a:solidFill>
                  <a:srgbClr val="94A3B8"/>
                </a:solidFill>
                <a:latin typeface="Arial" pitchFamily="34" charset="0"/>
                <a:ea typeface="Arial" pitchFamily="34" charset="-122"/>
                <a:cs typeface="Arial" pitchFamily="34" charset="-120"/>
              </a:rPr>
              <a:t>1 CPU core</a:t>
            </a:r>
            <a:endParaRPr lang="en-US" sz="1250" dirty="0"/>
          </a:p>
        </p:txBody>
      </p:sp>
      <p:sp>
        <p:nvSpPr>
          <p:cNvPr id="8" name="Text 6"/>
          <p:cNvSpPr/>
          <p:nvPr/>
        </p:nvSpPr>
        <p:spPr>
          <a:xfrm>
            <a:off x="685800" y="2523744"/>
            <a:ext cx="2103120" cy="685800"/>
          </a:xfrm>
          <a:prstGeom prst="rect">
            <a:avLst/>
          </a:prstGeom>
          <a:noFill/>
          <a:ln/>
        </p:spPr>
        <p:txBody>
          <a:bodyPr wrap="square" rtlCol="0" anchor="ctr"/>
          <a:lstStyle/>
          <a:p>
            <a:pPr marL="0" indent="0">
              <a:buNone/>
            </a:pPr>
            <a:r>
              <a:rPr lang="en-US" sz="1150" dirty="0">
                <a:solidFill>
                  <a:srgbClr val="E2E8F0"/>
                </a:solidFill>
                <a:latin typeface="Arial" pitchFamily="34" charset="0"/>
                <a:ea typeface="Arial" pitchFamily="34" charset="-122"/>
                <a:cs typeface="Arial" pitchFamily="34" charset="-120"/>
              </a:rPr>
              <a:t>Simple, but uses only one core.</a:t>
            </a:r>
            <a:endParaRPr lang="en-US" sz="1150" dirty="0"/>
          </a:p>
        </p:txBody>
      </p:sp>
      <p:sp>
        <p:nvSpPr>
          <p:cNvPr id="9" name="Text 7"/>
          <p:cNvSpPr/>
          <p:nvPr/>
        </p:nvSpPr>
        <p:spPr>
          <a:xfrm>
            <a:off x="2990088" y="2130552"/>
            <a:ext cx="365760" cy="548640"/>
          </a:xfrm>
          <a:prstGeom prst="rect">
            <a:avLst/>
          </a:prstGeom>
          <a:noFill/>
          <a:ln/>
        </p:spPr>
        <p:txBody>
          <a:bodyPr wrap="square" rtlCol="0" anchor="ctr"/>
          <a:lstStyle/>
          <a:p>
            <a:pPr marL="0" indent="0" algn="ctr">
              <a:buNone/>
            </a:pPr>
            <a:r>
              <a:rPr lang="en-US" sz="2200" b="1" dirty="0">
                <a:solidFill>
                  <a:srgbClr val="94A3B8"/>
                </a:solidFill>
                <a:latin typeface="Arial" pitchFamily="34" charset="0"/>
                <a:ea typeface="Arial" pitchFamily="34" charset="-122"/>
                <a:cs typeface="Arial" pitchFamily="34" charset="-120"/>
              </a:rPr>
              <a:t>→</a:t>
            </a:r>
            <a:endParaRPr lang="en-US" sz="2200" dirty="0"/>
          </a:p>
        </p:txBody>
      </p:sp>
      <p:sp>
        <p:nvSpPr>
          <p:cNvPr id="10" name="Shape 8"/>
          <p:cNvSpPr/>
          <p:nvPr/>
        </p:nvSpPr>
        <p:spPr>
          <a:xfrm>
            <a:off x="3355848" y="1627632"/>
            <a:ext cx="2468880" cy="1691640"/>
          </a:xfrm>
          <a:prstGeom prst="roundRect">
            <a:avLst>
              <a:gd name="adj" fmla="val 4865"/>
            </a:avLst>
          </a:prstGeom>
          <a:solidFill>
            <a:srgbClr val="12263A"/>
          </a:solidFill>
          <a:ln w="12700">
            <a:solidFill>
              <a:srgbClr val="334155"/>
            </a:solidFill>
            <a:prstDash val="solid"/>
          </a:ln>
        </p:spPr>
        <p:txBody>
          <a:bodyPr/>
          <a:lstStyle/>
          <a:p>
            <a:endParaRPr lang="en-LU"/>
          </a:p>
        </p:txBody>
      </p:sp>
      <p:sp>
        <p:nvSpPr>
          <p:cNvPr id="11" name="Text 9"/>
          <p:cNvSpPr/>
          <p:nvPr/>
        </p:nvSpPr>
        <p:spPr>
          <a:xfrm>
            <a:off x="3538728" y="1792224"/>
            <a:ext cx="2103120" cy="36576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Dask</a:t>
            </a:r>
            <a:endParaRPr lang="en-US" sz="1800" dirty="0"/>
          </a:p>
        </p:txBody>
      </p:sp>
      <p:sp>
        <p:nvSpPr>
          <p:cNvPr id="12" name="Text 10"/>
          <p:cNvSpPr/>
          <p:nvPr/>
        </p:nvSpPr>
        <p:spPr>
          <a:xfrm>
            <a:off x="3538728" y="2194560"/>
            <a:ext cx="2103120" cy="274320"/>
          </a:xfrm>
          <a:prstGeom prst="rect">
            <a:avLst/>
          </a:prstGeom>
          <a:noFill/>
          <a:ln/>
        </p:spPr>
        <p:txBody>
          <a:bodyPr wrap="square" rtlCol="0" anchor="ctr"/>
          <a:lstStyle/>
          <a:p>
            <a:pPr marL="0" indent="0">
              <a:buNone/>
            </a:pPr>
            <a:r>
              <a:rPr lang="en-US" sz="1250" b="1" dirty="0">
                <a:solidFill>
                  <a:srgbClr val="F59E0B"/>
                </a:solidFill>
                <a:latin typeface="Arial" pitchFamily="34" charset="0"/>
                <a:ea typeface="Arial" pitchFamily="34" charset="-122"/>
                <a:cs typeface="Arial" pitchFamily="34" charset="-120"/>
              </a:rPr>
              <a:t>All CPU cores</a:t>
            </a:r>
            <a:endParaRPr lang="en-US" sz="1250" dirty="0"/>
          </a:p>
        </p:txBody>
      </p:sp>
      <p:sp>
        <p:nvSpPr>
          <p:cNvPr id="13" name="Text 11"/>
          <p:cNvSpPr/>
          <p:nvPr/>
        </p:nvSpPr>
        <p:spPr>
          <a:xfrm>
            <a:off x="3538728" y="2523744"/>
            <a:ext cx="2103120" cy="685800"/>
          </a:xfrm>
          <a:prstGeom prst="rect">
            <a:avLst/>
          </a:prstGeom>
          <a:noFill/>
          <a:ln/>
        </p:spPr>
        <p:txBody>
          <a:bodyPr wrap="square" rtlCol="0" anchor="ctr"/>
          <a:lstStyle/>
          <a:p>
            <a:pPr marL="0" indent="0">
              <a:buNone/>
            </a:pPr>
            <a:r>
              <a:rPr lang="en-US" sz="1150" dirty="0">
                <a:solidFill>
                  <a:srgbClr val="E2E8F0"/>
                </a:solidFill>
                <a:latin typeface="Arial" pitchFamily="34" charset="0"/>
                <a:ea typeface="Arial" pitchFamily="34" charset="-122"/>
                <a:cs typeface="Arial" pitchFamily="34" charset="-120"/>
              </a:rPr>
              <a:t>Exercise 2. Splits work across every core.</a:t>
            </a:r>
            <a:endParaRPr lang="en-US" sz="1150" dirty="0"/>
          </a:p>
        </p:txBody>
      </p:sp>
      <p:sp>
        <p:nvSpPr>
          <p:cNvPr id="14" name="Text 12"/>
          <p:cNvSpPr/>
          <p:nvPr/>
        </p:nvSpPr>
        <p:spPr>
          <a:xfrm>
            <a:off x="5843016" y="2130552"/>
            <a:ext cx="365760" cy="548640"/>
          </a:xfrm>
          <a:prstGeom prst="rect">
            <a:avLst/>
          </a:prstGeom>
          <a:noFill/>
          <a:ln/>
        </p:spPr>
        <p:txBody>
          <a:bodyPr wrap="square" rtlCol="0" anchor="ctr"/>
          <a:lstStyle/>
          <a:p>
            <a:pPr marL="0" indent="0" algn="ctr">
              <a:buNone/>
            </a:pPr>
            <a:r>
              <a:rPr lang="en-US" sz="2200" b="1" dirty="0">
                <a:solidFill>
                  <a:srgbClr val="94A3B8"/>
                </a:solidFill>
                <a:latin typeface="Arial" pitchFamily="34" charset="0"/>
                <a:ea typeface="Arial" pitchFamily="34" charset="-122"/>
                <a:cs typeface="Arial" pitchFamily="34" charset="-120"/>
              </a:rPr>
              <a:t>→</a:t>
            </a:r>
            <a:endParaRPr lang="en-US" sz="2200" dirty="0"/>
          </a:p>
        </p:txBody>
      </p:sp>
      <p:sp>
        <p:nvSpPr>
          <p:cNvPr id="15" name="Shape 13"/>
          <p:cNvSpPr/>
          <p:nvPr/>
        </p:nvSpPr>
        <p:spPr>
          <a:xfrm>
            <a:off x="6208776" y="1627632"/>
            <a:ext cx="2468880" cy="1691640"/>
          </a:xfrm>
          <a:prstGeom prst="roundRect">
            <a:avLst>
              <a:gd name="adj" fmla="val 4865"/>
            </a:avLst>
          </a:prstGeom>
          <a:solidFill>
            <a:srgbClr val="12263A"/>
          </a:solidFill>
          <a:ln w="25400">
            <a:solidFill>
              <a:srgbClr val="0D9488"/>
            </a:solidFill>
            <a:prstDash val="solid"/>
          </a:ln>
        </p:spPr>
        <p:txBody>
          <a:bodyPr/>
          <a:lstStyle/>
          <a:p>
            <a:endParaRPr lang="en-LU"/>
          </a:p>
        </p:txBody>
      </p:sp>
      <p:sp>
        <p:nvSpPr>
          <p:cNvPr id="16" name="Text 14"/>
          <p:cNvSpPr/>
          <p:nvPr/>
        </p:nvSpPr>
        <p:spPr>
          <a:xfrm>
            <a:off x="6391656" y="1792224"/>
            <a:ext cx="2103120" cy="365760"/>
          </a:xfrm>
          <a:prstGeom prst="rect">
            <a:avLst/>
          </a:prstGeom>
          <a:noFill/>
          <a:ln/>
        </p:spPr>
        <p:txBody>
          <a:bodyPr wrap="square" rtlCol="0" anchor="ctr"/>
          <a:lstStyle/>
          <a:p>
            <a:pPr marL="0" indent="0">
              <a:buNone/>
            </a:pPr>
            <a:r>
              <a:rPr lang="en-US" sz="1800" b="1" dirty="0">
                <a:solidFill>
                  <a:srgbClr val="0D9488"/>
                </a:solidFill>
                <a:latin typeface="Arial" pitchFamily="34" charset="0"/>
                <a:ea typeface="Arial" pitchFamily="34" charset="-122"/>
                <a:cs typeface="Arial" pitchFamily="34" charset="-120"/>
              </a:rPr>
              <a:t>cuDF</a:t>
            </a:r>
            <a:endParaRPr lang="en-US" sz="1800" dirty="0"/>
          </a:p>
        </p:txBody>
      </p:sp>
      <p:sp>
        <p:nvSpPr>
          <p:cNvPr id="17" name="Text 15"/>
          <p:cNvSpPr/>
          <p:nvPr/>
        </p:nvSpPr>
        <p:spPr>
          <a:xfrm>
            <a:off x="6391656" y="2194560"/>
            <a:ext cx="2103120" cy="274320"/>
          </a:xfrm>
          <a:prstGeom prst="rect">
            <a:avLst/>
          </a:prstGeom>
          <a:noFill/>
          <a:ln/>
        </p:spPr>
        <p:txBody>
          <a:bodyPr wrap="square" rtlCol="0" anchor="ctr"/>
          <a:lstStyle/>
          <a:p>
            <a:pPr marL="0" indent="0">
              <a:buNone/>
            </a:pPr>
            <a:r>
              <a:rPr lang="en-US" sz="1250" b="1" dirty="0">
                <a:solidFill>
                  <a:srgbClr val="0D9488"/>
                </a:solidFill>
                <a:latin typeface="Arial" pitchFamily="34" charset="0"/>
                <a:ea typeface="Arial" pitchFamily="34" charset="-122"/>
                <a:cs typeface="Arial" pitchFamily="34" charset="-120"/>
              </a:rPr>
              <a:t>1 GPU</a:t>
            </a:r>
            <a:endParaRPr lang="en-US" sz="1250" dirty="0"/>
          </a:p>
        </p:txBody>
      </p:sp>
      <p:sp>
        <p:nvSpPr>
          <p:cNvPr id="18" name="Text 16"/>
          <p:cNvSpPr/>
          <p:nvPr/>
        </p:nvSpPr>
        <p:spPr>
          <a:xfrm>
            <a:off x="6391656" y="2523744"/>
            <a:ext cx="2103120" cy="685800"/>
          </a:xfrm>
          <a:prstGeom prst="rect">
            <a:avLst/>
          </a:prstGeom>
          <a:noFill/>
          <a:ln/>
        </p:spPr>
        <p:txBody>
          <a:bodyPr wrap="square" rtlCol="0" anchor="ctr"/>
          <a:lstStyle/>
          <a:p>
            <a:pPr marL="0" indent="0">
              <a:buNone/>
            </a:pPr>
            <a:r>
              <a:rPr lang="en-US" sz="1150" dirty="0">
                <a:solidFill>
                  <a:srgbClr val="E2E8F0"/>
                </a:solidFill>
                <a:latin typeface="Arial" pitchFamily="34" charset="0"/>
                <a:ea typeface="Arial" pitchFamily="34" charset="-122"/>
                <a:cs typeface="Arial" pitchFamily="34" charset="-120"/>
              </a:rPr>
              <a:t>Exercise 3. Thousands of cores, very fast memory.</a:t>
            </a:r>
            <a:endParaRPr lang="en-US" sz="1150" dirty="0"/>
          </a:p>
        </p:txBody>
      </p:sp>
      <p:sp>
        <p:nvSpPr>
          <p:cNvPr id="19" name="Shape 17"/>
          <p:cNvSpPr/>
          <p:nvPr/>
        </p:nvSpPr>
        <p:spPr>
          <a:xfrm>
            <a:off x="502920" y="3611880"/>
            <a:ext cx="8138160" cy="1097280"/>
          </a:xfrm>
          <a:prstGeom prst="roundRect">
            <a:avLst>
              <a:gd name="adj" fmla="val 7500"/>
            </a:avLst>
          </a:prstGeom>
          <a:solidFill>
            <a:srgbClr val="05131F"/>
          </a:solidFill>
          <a:ln w="12700">
            <a:solidFill>
              <a:srgbClr val="334155"/>
            </a:solidFill>
            <a:prstDash val="solid"/>
          </a:ln>
        </p:spPr>
        <p:txBody>
          <a:bodyPr/>
          <a:lstStyle/>
          <a:p>
            <a:endParaRPr lang="en-LU"/>
          </a:p>
        </p:txBody>
      </p:sp>
      <p:sp>
        <p:nvSpPr>
          <p:cNvPr id="20" name="Text 18"/>
          <p:cNvSpPr/>
          <p:nvPr/>
        </p:nvSpPr>
        <p:spPr>
          <a:xfrm>
            <a:off x="777240" y="3730752"/>
            <a:ext cx="8046720" cy="274320"/>
          </a:xfrm>
          <a:prstGeom prst="rect">
            <a:avLst/>
          </a:prstGeom>
          <a:noFill/>
          <a:ln/>
        </p:spPr>
        <p:txBody>
          <a:bodyPr wrap="square" rtlCol="0" anchor="ctr"/>
          <a:lstStyle/>
          <a:p>
            <a:pPr marL="0" indent="0">
              <a:buNone/>
            </a:pPr>
            <a:r>
              <a:rPr lang="en-US" sz="1250" b="1" dirty="0">
                <a:solidFill>
                  <a:srgbClr val="FFFFFF"/>
                </a:solidFill>
                <a:latin typeface="Arial" pitchFamily="34" charset="0"/>
                <a:ea typeface="Arial" pitchFamily="34" charset="-122"/>
                <a:cs typeface="Arial" pitchFamily="34" charset="-120"/>
              </a:rPr>
              <a:t>Why a GPU is great for analytics</a:t>
            </a:r>
            <a:endParaRPr lang="en-US" sz="1250" dirty="0"/>
          </a:p>
        </p:txBody>
      </p:sp>
      <p:sp>
        <p:nvSpPr>
          <p:cNvPr id="21" name="Text 19"/>
          <p:cNvSpPr/>
          <p:nvPr/>
        </p:nvSpPr>
        <p:spPr>
          <a:xfrm>
            <a:off x="777240" y="4023360"/>
            <a:ext cx="7589520" cy="640080"/>
          </a:xfrm>
          <a:prstGeom prst="rect">
            <a:avLst/>
          </a:prstGeom>
          <a:noFill/>
          <a:ln/>
        </p:spPr>
        <p:txBody>
          <a:bodyPr wrap="square" rtlCol="0" anchor="ctr"/>
          <a:lstStyle/>
          <a:p>
            <a:pPr marL="0" indent="0">
              <a:buNone/>
            </a:pPr>
            <a:r>
              <a:rPr lang="en-US" sz="1250" dirty="0">
                <a:solidFill>
                  <a:srgbClr val="E2E8F0"/>
                </a:solidFill>
                <a:latin typeface="Arial" pitchFamily="34" charset="0"/>
                <a:ea typeface="Arial" pitchFamily="34" charset="-122"/>
                <a:cs typeface="Arial" pitchFamily="34" charset="-120"/>
              </a:rPr>
              <a:t>Grouping and joining millions of rows  </a:t>
            </a:r>
            <a:r>
              <a:rPr lang="en-US" sz="1250" dirty="0">
                <a:solidFill>
                  <a:srgbClr val="94A3B8"/>
                </a:solidFill>
                <a:latin typeface="Arial" pitchFamily="34" charset="0"/>
                <a:ea typeface="Arial" pitchFamily="34" charset="-122"/>
                <a:cs typeface="Arial" pitchFamily="34" charset="-120"/>
              </a:rPr>
              <a:t>is exactly what GPUs do best: thousands of small cores work on many rows at once, with memory far faster than a CPU's. Those two steps get the biggest speedup.</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1B2A"/>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rtlCol="0" anchor="ctr"/>
          <a:lstStyle/>
          <a:p>
            <a:pPr marL="0" indent="0">
              <a:buNone/>
            </a:pPr>
            <a:r>
              <a:rPr lang="en-US" sz="1100" b="1" kern="0" spc="200" dirty="0">
                <a:solidFill>
                  <a:srgbClr val="0D9488"/>
                </a:solidFill>
                <a:latin typeface="Arial" pitchFamily="34" charset="0"/>
                <a:ea typeface="Arial" pitchFamily="34" charset="-122"/>
                <a:cs typeface="Arial" pitchFamily="34" charset="-120"/>
              </a:rPr>
              <a:t>EXERCISE 3 · RESULTS</a:t>
            </a:r>
            <a:endParaRPr lang="en-US" sz="1100" dirty="0"/>
          </a:p>
        </p:txBody>
      </p:sp>
      <p:sp>
        <p:nvSpPr>
          <p:cNvPr id="3" name="Text 1"/>
          <p:cNvSpPr/>
          <p:nvPr/>
        </p:nvSpPr>
        <p:spPr>
          <a:xfrm>
            <a:off x="502920" y="566928"/>
            <a:ext cx="8138160" cy="54864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Big Speedup — When It Fits</a:t>
            </a:r>
            <a:endParaRPr lang="en-US" sz="2700" dirty="0"/>
          </a:p>
        </p:txBody>
      </p:sp>
      <p:sp>
        <p:nvSpPr>
          <p:cNvPr id="4" name="Shape 2"/>
          <p:cNvSpPr/>
          <p:nvPr/>
        </p:nvSpPr>
        <p:spPr>
          <a:xfrm>
            <a:off x="502920" y="1234440"/>
            <a:ext cx="2468880" cy="1371600"/>
          </a:xfrm>
          <a:prstGeom prst="roundRect">
            <a:avLst>
              <a:gd name="adj" fmla="val 6000"/>
            </a:avLst>
          </a:prstGeom>
          <a:solidFill>
            <a:srgbClr val="12263A"/>
          </a:solidFill>
          <a:ln w="12700">
            <a:solidFill>
              <a:srgbClr val="334155"/>
            </a:solidFill>
            <a:prstDash val="solid"/>
          </a:ln>
        </p:spPr>
        <p:txBody>
          <a:bodyPr/>
          <a:lstStyle/>
          <a:p>
            <a:endParaRPr lang="en-LU"/>
          </a:p>
        </p:txBody>
      </p:sp>
      <p:sp>
        <p:nvSpPr>
          <p:cNvPr id="5" name="Text 3"/>
          <p:cNvSpPr/>
          <p:nvPr/>
        </p:nvSpPr>
        <p:spPr>
          <a:xfrm>
            <a:off x="502920" y="1399032"/>
            <a:ext cx="2468880" cy="603504"/>
          </a:xfrm>
          <a:prstGeom prst="rect">
            <a:avLst/>
          </a:prstGeom>
          <a:noFill/>
          <a:ln/>
        </p:spPr>
        <p:txBody>
          <a:bodyPr wrap="square" rtlCol="0" anchor="ctr"/>
          <a:lstStyle/>
          <a:p>
            <a:pPr marL="0" indent="0" algn="ctr">
              <a:buNone/>
            </a:pPr>
            <a:r>
              <a:rPr lang="en-US" sz="3800" b="1" dirty="0">
                <a:solidFill>
                  <a:srgbClr val="0D9488"/>
                </a:solidFill>
                <a:latin typeface="Arial" pitchFamily="34" charset="0"/>
                <a:ea typeface="Arial" pitchFamily="34" charset="-122"/>
                <a:cs typeface="Arial" pitchFamily="34" charset="-120"/>
              </a:rPr>
              <a:t>10–100×</a:t>
            </a:r>
            <a:endParaRPr lang="en-US" sz="3800" dirty="0"/>
          </a:p>
        </p:txBody>
      </p:sp>
      <p:sp>
        <p:nvSpPr>
          <p:cNvPr id="6" name="Text 4"/>
          <p:cNvSpPr/>
          <p:nvPr/>
        </p:nvSpPr>
        <p:spPr>
          <a:xfrm>
            <a:off x="640080" y="2039112"/>
            <a:ext cx="2194560" cy="502920"/>
          </a:xfrm>
          <a:prstGeom prst="rect">
            <a:avLst/>
          </a:prstGeom>
          <a:noFill/>
          <a:ln/>
        </p:spPr>
        <p:txBody>
          <a:bodyPr wrap="square" rtlCol="0" anchor="ctr"/>
          <a:lstStyle/>
          <a:p>
            <a:pPr marL="0" indent="0" algn="ctr">
              <a:buNone/>
            </a:pPr>
            <a:r>
              <a:rPr lang="en-US" sz="1150" dirty="0">
                <a:solidFill>
                  <a:srgbClr val="E2E8F0"/>
                </a:solidFill>
                <a:latin typeface="Arial" pitchFamily="34" charset="0"/>
                <a:ea typeface="Arial" pitchFamily="34" charset="-122"/>
                <a:cs typeface="Arial" pitchFamily="34" charset="-120"/>
              </a:rPr>
              <a:t>faster on heavy steps</a:t>
            </a:r>
            <a:endParaRPr lang="en-US" sz="1150" dirty="0"/>
          </a:p>
          <a:p>
            <a:pPr marL="0" indent="0" algn="ctr">
              <a:buNone/>
            </a:pPr>
            <a:r>
              <a:rPr lang="en-US" sz="1150" dirty="0">
                <a:solidFill>
                  <a:srgbClr val="E2E8F0"/>
                </a:solidFill>
                <a:latin typeface="Arial" pitchFamily="34" charset="0"/>
                <a:ea typeface="Arial" pitchFamily="34" charset="-122"/>
                <a:cs typeface="Arial" pitchFamily="34" charset="-120"/>
              </a:rPr>
              <a:t>(groupby &amp; join)</a:t>
            </a:r>
            <a:endParaRPr lang="en-US" sz="1150" dirty="0"/>
          </a:p>
        </p:txBody>
      </p:sp>
      <p:sp>
        <p:nvSpPr>
          <p:cNvPr id="7" name="Shape 5"/>
          <p:cNvSpPr/>
          <p:nvPr/>
        </p:nvSpPr>
        <p:spPr>
          <a:xfrm>
            <a:off x="3355848" y="1234440"/>
            <a:ext cx="2468880" cy="1371600"/>
          </a:xfrm>
          <a:prstGeom prst="roundRect">
            <a:avLst>
              <a:gd name="adj" fmla="val 6000"/>
            </a:avLst>
          </a:prstGeom>
          <a:solidFill>
            <a:srgbClr val="12263A"/>
          </a:solidFill>
          <a:ln w="12700">
            <a:solidFill>
              <a:srgbClr val="334155"/>
            </a:solidFill>
            <a:prstDash val="solid"/>
          </a:ln>
        </p:spPr>
        <p:txBody>
          <a:bodyPr/>
          <a:lstStyle/>
          <a:p>
            <a:endParaRPr lang="en-LU"/>
          </a:p>
        </p:txBody>
      </p:sp>
      <p:sp>
        <p:nvSpPr>
          <p:cNvPr id="8" name="Text 6"/>
          <p:cNvSpPr/>
          <p:nvPr/>
        </p:nvSpPr>
        <p:spPr>
          <a:xfrm>
            <a:off x="3355848" y="1399032"/>
            <a:ext cx="2468880" cy="603504"/>
          </a:xfrm>
          <a:prstGeom prst="rect">
            <a:avLst/>
          </a:prstGeom>
          <a:noFill/>
          <a:ln/>
        </p:spPr>
        <p:txBody>
          <a:bodyPr wrap="square" rtlCol="0" anchor="ctr"/>
          <a:lstStyle/>
          <a:p>
            <a:pPr marL="0" indent="0" algn="ctr">
              <a:buNone/>
            </a:pPr>
            <a:r>
              <a:rPr lang="en-US" sz="3800" b="1" dirty="0">
                <a:solidFill>
                  <a:srgbClr val="F59E0B"/>
                </a:solidFill>
                <a:latin typeface="Arial" pitchFamily="34" charset="0"/>
                <a:ea typeface="Arial" pitchFamily="34" charset="-122"/>
                <a:cs typeface="Arial" pitchFamily="34" charset="-120"/>
              </a:rPr>
              <a:t>0</a:t>
            </a:r>
            <a:endParaRPr lang="en-US" sz="3800" dirty="0"/>
          </a:p>
        </p:txBody>
      </p:sp>
      <p:sp>
        <p:nvSpPr>
          <p:cNvPr id="9" name="Text 7"/>
          <p:cNvSpPr/>
          <p:nvPr/>
        </p:nvSpPr>
        <p:spPr>
          <a:xfrm>
            <a:off x="3493008" y="2039112"/>
            <a:ext cx="2194560" cy="502920"/>
          </a:xfrm>
          <a:prstGeom prst="rect">
            <a:avLst/>
          </a:prstGeom>
          <a:noFill/>
          <a:ln/>
        </p:spPr>
        <p:txBody>
          <a:bodyPr wrap="square" rtlCol="0" anchor="ctr"/>
          <a:lstStyle/>
          <a:p>
            <a:pPr marL="0" indent="0" algn="ctr">
              <a:buNone/>
            </a:pPr>
            <a:r>
              <a:rPr lang="en-US" sz="1150" dirty="0">
                <a:solidFill>
                  <a:srgbClr val="E2E8F0"/>
                </a:solidFill>
                <a:latin typeface="Arial" pitchFamily="34" charset="0"/>
                <a:ea typeface="Arial" pitchFamily="34" charset="-122"/>
                <a:cs typeface="Arial" pitchFamily="34" charset="-120"/>
              </a:rPr>
              <a:t>lines of code</a:t>
            </a:r>
            <a:endParaRPr lang="en-US" sz="1150" dirty="0"/>
          </a:p>
          <a:p>
            <a:pPr marL="0" indent="0" algn="ctr">
              <a:buNone/>
            </a:pPr>
            <a:r>
              <a:rPr lang="en-US" sz="1150" dirty="0">
                <a:solidFill>
                  <a:srgbClr val="E2E8F0"/>
                </a:solidFill>
                <a:latin typeface="Arial" pitchFamily="34" charset="0"/>
                <a:ea typeface="Arial" pitchFamily="34" charset="-122"/>
                <a:cs typeface="Arial" pitchFamily="34" charset="-120"/>
              </a:rPr>
              <a:t>changed</a:t>
            </a:r>
            <a:endParaRPr lang="en-US" sz="1150" dirty="0"/>
          </a:p>
        </p:txBody>
      </p:sp>
      <p:sp>
        <p:nvSpPr>
          <p:cNvPr id="10" name="Shape 8"/>
          <p:cNvSpPr/>
          <p:nvPr/>
        </p:nvSpPr>
        <p:spPr>
          <a:xfrm>
            <a:off x="6208776" y="1234440"/>
            <a:ext cx="2468880" cy="1371600"/>
          </a:xfrm>
          <a:prstGeom prst="roundRect">
            <a:avLst>
              <a:gd name="adj" fmla="val 6000"/>
            </a:avLst>
          </a:prstGeom>
          <a:solidFill>
            <a:srgbClr val="12263A"/>
          </a:solidFill>
          <a:ln w="12700">
            <a:solidFill>
              <a:srgbClr val="334155"/>
            </a:solidFill>
            <a:prstDash val="solid"/>
          </a:ln>
        </p:spPr>
        <p:txBody>
          <a:bodyPr/>
          <a:lstStyle/>
          <a:p>
            <a:endParaRPr lang="en-LU"/>
          </a:p>
        </p:txBody>
      </p:sp>
      <p:sp>
        <p:nvSpPr>
          <p:cNvPr id="11" name="Text 9"/>
          <p:cNvSpPr/>
          <p:nvPr/>
        </p:nvSpPr>
        <p:spPr>
          <a:xfrm>
            <a:off x="6208776" y="1399032"/>
            <a:ext cx="2468880" cy="603504"/>
          </a:xfrm>
          <a:prstGeom prst="rect">
            <a:avLst/>
          </a:prstGeom>
          <a:noFill/>
          <a:ln/>
        </p:spPr>
        <p:txBody>
          <a:bodyPr wrap="square" rtlCol="0" anchor="ctr"/>
          <a:lstStyle/>
          <a:p>
            <a:pPr marL="0" indent="0" algn="ctr">
              <a:buNone/>
            </a:pPr>
            <a:r>
              <a:rPr lang="en-US" sz="3800" b="1" dirty="0">
                <a:solidFill>
                  <a:srgbClr val="7C3AED"/>
                </a:solidFill>
                <a:latin typeface="Arial" pitchFamily="34" charset="0"/>
                <a:ea typeface="Arial" pitchFamily="34" charset="-122"/>
                <a:cs typeface="Arial" pitchFamily="34" charset="-120"/>
              </a:rPr>
              <a:t>1</a:t>
            </a:r>
            <a:endParaRPr lang="en-US" sz="3800" dirty="0"/>
          </a:p>
        </p:txBody>
      </p:sp>
      <p:sp>
        <p:nvSpPr>
          <p:cNvPr id="12" name="Text 10"/>
          <p:cNvSpPr/>
          <p:nvPr/>
        </p:nvSpPr>
        <p:spPr>
          <a:xfrm>
            <a:off x="6345936" y="2039112"/>
            <a:ext cx="2194560" cy="502920"/>
          </a:xfrm>
          <a:prstGeom prst="rect">
            <a:avLst/>
          </a:prstGeom>
          <a:noFill/>
          <a:ln/>
        </p:spPr>
        <p:txBody>
          <a:bodyPr wrap="square" rtlCol="0" anchor="ctr"/>
          <a:lstStyle/>
          <a:p>
            <a:pPr marL="0" indent="0" algn="ctr">
              <a:buNone/>
            </a:pPr>
            <a:r>
              <a:rPr lang="en-US" sz="1150" dirty="0">
                <a:solidFill>
                  <a:srgbClr val="E2E8F0"/>
                </a:solidFill>
                <a:latin typeface="Arial" pitchFamily="34" charset="0"/>
                <a:ea typeface="Arial" pitchFamily="34" charset="-122"/>
                <a:cs typeface="Arial" pitchFamily="34" charset="-120"/>
              </a:rPr>
              <a:t>launch flag to run</a:t>
            </a:r>
            <a:endParaRPr lang="en-US" sz="1150" dirty="0"/>
          </a:p>
          <a:p>
            <a:pPr marL="0" indent="0" algn="ctr">
              <a:buNone/>
            </a:pPr>
            <a:r>
              <a:rPr lang="en-US" sz="1150" dirty="0">
                <a:solidFill>
                  <a:srgbClr val="E2E8F0"/>
                </a:solidFill>
                <a:latin typeface="Arial" pitchFamily="34" charset="0"/>
                <a:ea typeface="Arial" pitchFamily="34" charset="-122"/>
                <a:cs typeface="Arial" pitchFamily="34" charset="-120"/>
              </a:rPr>
              <a:t>on the GPU</a:t>
            </a:r>
            <a:endParaRPr lang="en-US" sz="1150" dirty="0"/>
          </a:p>
        </p:txBody>
      </p:sp>
      <p:sp>
        <p:nvSpPr>
          <p:cNvPr id="13" name="Shape 11"/>
          <p:cNvSpPr/>
          <p:nvPr/>
        </p:nvSpPr>
        <p:spPr>
          <a:xfrm>
            <a:off x="502920" y="2880360"/>
            <a:ext cx="3986784" cy="1691640"/>
          </a:xfrm>
          <a:prstGeom prst="roundRect">
            <a:avLst>
              <a:gd name="adj" fmla="val 4865"/>
            </a:avLst>
          </a:prstGeom>
          <a:solidFill>
            <a:srgbClr val="05131F"/>
          </a:solidFill>
          <a:ln w="12700">
            <a:solidFill>
              <a:srgbClr val="0D9488"/>
            </a:solidFill>
            <a:prstDash val="solid"/>
          </a:ln>
        </p:spPr>
        <p:txBody>
          <a:bodyPr/>
          <a:lstStyle/>
          <a:p>
            <a:endParaRPr lang="en-LU"/>
          </a:p>
        </p:txBody>
      </p:sp>
      <p:sp>
        <p:nvSpPr>
          <p:cNvPr id="14" name="Text 12"/>
          <p:cNvSpPr/>
          <p:nvPr/>
        </p:nvSpPr>
        <p:spPr>
          <a:xfrm>
            <a:off x="731520" y="3008376"/>
            <a:ext cx="3529584" cy="274320"/>
          </a:xfrm>
          <a:prstGeom prst="rect">
            <a:avLst/>
          </a:prstGeom>
          <a:noFill/>
          <a:ln/>
        </p:spPr>
        <p:txBody>
          <a:bodyPr wrap="square" rtlCol="0" anchor="ctr"/>
          <a:lstStyle/>
          <a:p>
            <a:pPr marL="0" indent="0">
              <a:buNone/>
            </a:pPr>
            <a:r>
              <a:rPr lang="en-US" sz="1300" b="1" dirty="0">
                <a:solidFill>
                  <a:srgbClr val="0D9488"/>
                </a:solidFill>
                <a:latin typeface="Arial" pitchFamily="34" charset="0"/>
                <a:ea typeface="Arial" pitchFamily="34" charset="-122"/>
                <a:cs typeface="Arial" pitchFamily="34" charset="-120"/>
              </a:rPr>
              <a:t>Use a GPU when</a:t>
            </a:r>
            <a:endParaRPr lang="en-US" sz="1300" dirty="0"/>
          </a:p>
        </p:txBody>
      </p:sp>
      <p:sp>
        <p:nvSpPr>
          <p:cNvPr id="15" name="Text 13"/>
          <p:cNvSpPr/>
          <p:nvPr/>
        </p:nvSpPr>
        <p:spPr>
          <a:xfrm>
            <a:off x="777240" y="3337560"/>
            <a:ext cx="3438144" cy="1143000"/>
          </a:xfrm>
          <a:prstGeom prst="rect">
            <a:avLst/>
          </a:prstGeom>
          <a:noFill/>
          <a:ln/>
        </p:spPr>
        <p:txBody>
          <a:bodyPr wrap="square" rtlCol="0" anchor="ctr"/>
          <a:lstStyle/>
          <a:p>
            <a:pPr marL="342900" indent="-342900">
              <a:lnSpc>
                <a:spcPct val="115000"/>
              </a:lnSpc>
              <a:spcAft>
                <a:spcPts val="400"/>
              </a:spcAft>
              <a:buSzPct val="100000"/>
              <a:buChar char="•"/>
            </a:pPr>
            <a:r>
              <a:rPr lang="en-US" sz="1200" dirty="0">
                <a:solidFill>
                  <a:srgbClr val="E2E8F0"/>
                </a:solidFill>
                <a:latin typeface="Arial" pitchFamily="34" charset="0"/>
                <a:ea typeface="Arial" pitchFamily="34" charset="-122"/>
                <a:cs typeface="Arial" pitchFamily="34" charset="-120"/>
              </a:rPr>
              <a:t>The data fits in GPU memory (40–80 GB)</a:t>
            </a:r>
            <a:endParaRPr lang="en-US" sz="1200" dirty="0"/>
          </a:p>
          <a:p>
            <a:pPr marL="342900" indent="-342900">
              <a:lnSpc>
                <a:spcPct val="115000"/>
              </a:lnSpc>
              <a:spcAft>
                <a:spcPts val="400"/>
              </a:spcAft>
              <a:buSzPct val="100000"/>
              <a:buChar char="•"/>
            </a:pPr>
            <a:r>
              <a:rPr lang="en-US" sz="1200" dirty="0">
                <a:solidFill>
                  <a:srgbClr val="E2E8F0"/>
                </a:solidFill>
                <a:latin typeface="Arial" pitchFamily="34" charset="0"/>
                <a:ea typeface="Arial" pitchFamily="34" charset="-122"/>
                <a:cs typeface="Arial" pitchFamily="34" charset="-120"/>
              </a:rPr>
              <a:t>Heavy work: big group-by, joins, aggregations</a:t>
            </a:r>
            <a:endParaRPr lang="en-US" sz="1200" dirty="0"/>
          </a:p>
          <a:p>
            <a:pPr marL="342900" indent="-342900">
              <a:lnSpc>
                <a:spcPct val="115000"/>
              </a:lnSpc>
              <a:spcAft>
                <a:spcPts val="400"/>
              </a:spcAft>
              <a:buSzPct val="100000"/>
              <a:buChar char="•"/>
            </a:pPr>
            <a:r>
              <a:rPr lang="en-US" sz="1200" dirty="0">
                <a:solidFill>
                  <a:srgbClr val="E2E8F0"/>
                </a:solidFill>
                <a:latin typeface="Arial" pitchFamily="34" charset="0"/>
                <a:ea typeface="Arial" pitchFamily="34" charset="-122"/>
                <a:cs typeface="Arial" pitchFamily="34" charset="-120"/>
              </a:rPr>
              <a:t>Enough work to be worth sending data over</a:t>
            </a:r>
            <a:endParaRPr lang="en-US" sz="1200" dirty="0"/>
          </a:p>
        </p:txBody>
      </p:sp>
      <p:sp>
        <p:nvSpPr>
          <p:cNvPr id="16" name="Shape 14"/>
          <p:cNvSpPr/>
          <p:nvPr/>
        </p:nvSpPr>
        <p:spPr>
          <a:xfrm>
            <a:off x="4745736" y="2880360"/>
            <a:ext cx="3986784" cy="1691640"/>
          </a:xfrm>
          <a:prstGeom prst="roundRect">
            <a:avLst>
              <a:gd name="adj" fmla="val 4865"/>
            </a:avLst>
          </a:prstGeom>
          <a:solidFill>
            <a:srgbClr val="05131F"/>
          </a:solidFill>
          <a:ln w="12700">
            <a:solidFill>
              <a:srgbClr val="F59E0B"/>
            </a:solidFill>
            <a:prstDash val="solid"/>
          </a:ln>
        </p:spPr>
        <p:txBody>
          <a:bodyPr/>
          <a:lstStyle/>
          <a:p>
            <a:endParaRPr lang="en-LU"/>
          </a:p>
        </p:txBody>
      </p:sp>
      <p:sp>
        <p:nvSpPr>
          <p:cNvPr id="17" name="Text 15"/>
          <p:cNvSpPr/>
          <p:nvPr/>
        </p:nvSpPr>
        <p:spPr>
          <a:xfrm>
            <a:off x="4974336" y="3008376"/>
            <a:ext cx="3529584" cy="274320"/>
          </a:xfrm>
          <a:prstGeom prst="rect">
            <a:avLst/>
          </a:prstGeom>
          <a:noFill/>
          <a:ln/>
        </p:spPr>
        <p:txBody>
          <a:bodyPr wrap="square" rtlCol="0" anchor="ctr"/>
          <a:lstStyle/>
          <a:p>
            <a:pPr marL="0" indent="0">
              <a:buNone/>
            </a:pPr>
            <a:r>
              <a:rPr lang="en-US" sz="1300" b="1" dirty="0">
                <a:solidFill>
                  <a:srgbClr val="F59E0B"/>
                </a:solidFill>
                <a:latin typeface="Arial" pitchFamily="34" charset="0"/>
                <a:ea typeface="Arial" pitchFamily="34" charset="-122"/>
                <a:cs typeface="Arial" pitchFamily="34" charset="-120"/>
              </a:rPr>
              <a:t>Skip the GPU when</a:t>
            </a:r>
            <a:endParaRPr lang="en-US" sz="1300" dirty="0"/>
          </a:p>
        </p:txBody>
      </p:sp>
      <p:sp>
        <p:nvSpPr>
          <p:cNvPr id="18" name="Text 16"/>
          <p:cNvSpPr/>
          <p:nvPr/>
        </p:nvSpPr>
        <p:spPr>
          <a:xfrm>
            <a:off x="4940213" y="3258609"/>
            <a:ext cx="3438144" cy="1371600"/>
          </a:xfrm>
          <a:prstGeom prst="rect">
            <a:avLst/>
          </a:prstGeom>
          <a:noFill/>
          <a:ln/>
        </p:spPr>
        <p:txBody>
          <a:bodyPr wrap="square" rtlCol="0" anchor="ctr"/>
          <a:lstStyle/>
          <a:p>
            <a:pPr marL="342900" indent="-342900">
              <a:lnSpc>
                <a:spcPct val="115000"/>
              </a:lnSpc>
              <a:spcAft>
                <a:spcPts val="400"/>
              </a:spcAft>
              <a:buSzPct val="100000"/>
              <a:buChar char="•"/>
            </a:pPr>
            <a:r>
              <a:rPr lang="en-US" sz="1200" dirty="0">
                <a:solidFill>
                  <a:srgbClr val="E2E8F0"/>
                </a:solidFill>
                <a:latin typeface="Arial" pitchFamily="34" charset="0"/>
                <a:ea typeface="Arial" pitchFamily="34" charset="-122"/>
                <a:cs typeface="Arial" pitchFamily="34" charset="-120"/>
              </a:rPr>
              <a:t>Data is tiny — the transfer costs more than it saves</a:t>
            </a:r>
            <a:endParaRPr lang="en-US" sz="1200" dirty="0"/>
          </a:p>
          <a:p>
            <a:pPr marL="342900" indent="-342900">
              <a:lnSpc>
                <a:spcPct val="115000"/>
              </a:lnSpc>
              <a:spcAft>
                <a:spcPts val="400"/>
              </a:spcAft>
              <a:buSzPct val="100000"/>
              <a:buChar char="•"/>
            </a:pPr>
            <a:r>
              <a:rPr lang="en-US" sz="1200" dirty="0">
                <a:solidFill>
                  <a:srgbClr val="E2E8F0"/>
                </a:solidFill>
                <a:latin typeface="Arial" pitchFamily="34" charset="0"/>
                <a:ea typeface="Arial" pitchFamily="34" charset="-122"/>
                <a:cs typeface="Arial" pitchFamily="34" charset="-120"/>
              </a:rPr>
              <a:t>Data is far bigger than one GPU's memory</a:t>
            </a:r>
            <a:endParaRPr lang="en-US" sz="1200" dirty="0"/>
          </a:p>
          <a:p>
            <a:pPr marL="342900" indent="-342900">
              <a:lnSpc>
                <a:spcPct val="115000"/>
              </a:lnSpc>
              <a:spcAft>
                <a:spcPts val="400"/>
              </a:spcAft>
              <a:buSzPct val="100000"/>
              <a:buChar char="•"/>
            </a:pPr>
            <a:r>
              <a:rPr lang="en-US" sz="1200" dirty="0">
                <a:solidFill>
                  <a:srgbClr val="E2E8F0"/>
                </a:solidFill>
                <a:latin typeface="Arial" pitchFamily="34" charset="0"/>
                <a:ea typeface="Arial" pitchFamily="34" charset="-122"/>
                <a:cs typeface="Arial" pitchFamily="34" charset="-120"/>
              </a:rPr>
              <a:t>Lots of row-by-row Python instead of whole columns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187452"/>
            <a:ext cx="8229600" cy="566928"/>
          </a:xfrm>
          <a:prstGeom prst="rect">
            <a:avLst/>
          </a:prstGeom>
          <a:noFill/>
          <a:ln/>
        </p:spPr>
        <p:txBody>
          <a:bodyPr wrap="square" lIns="0" tIns="0" rIns="0" bIns="0" rtlCol="0" anchor="ctr"/>
          <a:lstStyle/>
          <a:p>
            <a:pPr marL="0" indent="0">
              <a:buNone/>
            </a:pPr>
            <a:r>
              <a:rPr lang="en-US" sz="3000" b="1" dirty="0">
                <a:solidFill>
                  <a:srgbClr val="FFFFFF"/>
                </a:solidFill>
              </a:rPr>
              <a:t>HPDA in the Real World</a:t>
            </a:r>
            <a:endParaRPr lang="en-US" sz="3000" dirty="0"/>
          </a:p>
        </p:txBody>
      </p:sp>
      <p:sp>
        <p:nvSpPr>
          <p:cNvPr id="4" name="Shape 2"/>
          <p:cNvSpPr/>
          <p:nvPr/>
        </p:nvSpPr>
        <p:spPr>
          <a:xfrm>
            <a:off x="365760" y="1003109"/>
            <a:ext cx="4754880" cy="1536192"/>
          </a:xfrm>
          <a:prstGeom prst="rect">
            <a:avLst/>
          </a:prstGeom>
          <a:solidFill>
            <a:srgbClr val="1B3A4B"/>
          </a:solidFill>
          <a:ln w="10160">
            <a:solidFill>
              <a:srgbClr val="7C3AED"/>
            </a:solidFill>
            <a:prstDash val="solid"/>
          </a:ln>
        </p:spPr>
        <p:txBody>
          <a:bodyPr/>
          <a:lstStyle/>
          <a:p>
            <a:endParaRPr lang="en-LU" sz="2800"/>
          </a:p>
        </p:txBody>
      </p:sp>
      <p:sp>
        <p:nvSpPr>
          <p:cNvPr id="5" name="Shape 3"/>
          <p:cNvSpPr/>
          <p:nvPr/>
        </p:nvSpPr>
        <p:spPr>
          <a:xfrm>
            <a:off x="365760" y="1003109"/>
            <a:ext cx="4754880" cy="365760"/>
          </a:xfrm>
          <a:prstGeom prst="rect">
            <a:avLst/>
          </a:prstGeom>
          <a:solidFill>
            <a:srgbClr val="7C3AED"/>
          </a:solidFill>
          <a:ln w="12700">
            <a:solidFill>
              <a:srgbClr val="7C3AED"/>
            </a:solidFill>
            <a:prstDash val="solid"/>
          </a:ln>
        </p:spPr>
        <p:txBody>
          <a:bodyPr/>
          <a:lstStyle/>
          <a:p>
            <a:endParaRPr lang="en-LU" sz="2800"/>
          </a:p>
        </p:txBody>
      </p:sp>
      <p:sp>
        <p:nvSpPr>
          <p:cNvPr id="6" name="Text 4"/>
          <p:cNvSpPr/>
          <p:nvPr/>
        </p:nvSpPr>
        <p:spPr>
          <a:xfrm>
            <a:off x="475488" y="1003109"/>
            <a:ext cx="4572000" cy="365760"/>
          </a:xfrm>
          <a:prstGeom prst="rect">
            <a:avLst/>
          </a:prstGeom>
          <a:noFill/>
          <a:ln/>
        </p:spPr>
        <p:txBody>
          <a:bodyPr wrap="square" lIns="0" tIns="0" rIns="0" bIns="0" rtlCol="0" anchor="ctr"/>
          <a:lstStyle/>
          <a:p>
            <a:pPr marL="0" indent="0">
              <a:buNone/>
            </a:pPr>
            <a:r>
              <a:rPr lang="en-US" sz="1600" b="1" dirty="0">
                <a:solidFill>
                  <a:srgbClr val="FFFFFF"/>
                </a:solidFill>
              </a:rPr>
              <a:t>Finance / Insurance</a:t>
            </a:r>
            <a:endParaRPr lang="en-US" sz="1600" dirty="0"/>
          </a:p>
        </p:txBody>
      </p:sp>
      <p:sp>
        <p:nvSpPr>
          <p:cNvPr id="7" name="Text 5"/>
          <p:cNvSpPr/>
          <p:nvPr/>
        </p:nvSpPr>
        <p:spPr>
          <a:xfrm>
            <a:off x="475488" y="1442021"/>
            <a:ext cx="4572000" cy="274320"/>
          </a:xfrm>
          <a:prstGeom prst="rect">
            <a:avLst/>
          </a:prstGeom>
          <a:noFill/>
          <a:ln/>
        </p:spPr>
        <p:txBody>
          <a:bodyPr wrap="square" lIns="0" tIns="0" rIns="0" bIns="0" rtlCol="0" anchor="ctr"/>
          <a:lstStyle/>
          <a:p>
            <a:pPr marL="0" indent="0">
              <a:buNone/>
            </a:pPr>
            <a:r>
              <a:rPr lang="en-US" b="1" dirty="0">
                <a:solidFill>
                  <a:srgbClr val="FFFFFF"/>
                </a:solidFill>
              </a:rPr>
              <a:t>Real-time fraud scoring</a:t>
            </a:r>
            <a:endParaRPr lang="en-US" dirty="0"/>
          </a:p>
        </p:txBody>
      </p:sp>
      <p:sp>
        <p:nvSpPr>
          <p:cNvPr id="8" name="Text 6"/>
          <p:cNvSpPr/>
          <p:nvPr/>
        </p:nvSpPr>
        <p:spPr>
          <a:xfrm>
            <a:off x="475488" y="1716341"/>
            <a:ext cx="4572000" cy="658368"/>
          </a:xfrm>
          <a:prstGeom prst="rect">
            <a:avLst/>
          </a:prstGeom>
          <a:noFill/>
          <a:ln/>
        </p:spPr>
        <p:txBody>
          <a:bodyPr wrap="square" lIns="0" tIns="0" rIns="0" bIns="0" rtlCol="0" anchor="ctr"/>
          <a:lstStyle/>
          <a:p>
            <a:pPr marL="0" indent="0">
              <a:lnSpc>
                <a:spcPct val="130000"/>
              </a:lnSpc>
              <a:buNone/>
            </a:pPr>
            <a:r>
              <a:rPr lang="en-US" sz="1100" dirty="0">
                <a:solidFill>
                  <a:srgbClr val="94A3B8"/>
                </a:solidFill>
              </a:rPr>
              <a:t>A payment network processes 40,000 transactions/second. Each must be scored by an ML model within 300ms or the transaction is rejected. A 3-second delay = €2M/day in losses.</a:t>
            </a:r>
            <a:endParaRPr lang="en-US" sz="1100" dirty="0"/>
          </a:p>
        </p:txBody>
      </p:sp>
      <p:sp>
        <p:nvSpPr>
          <p:cNvPr id="9" name="Shape 7"/>
          <p:cNvSpPr/>
          <p:nvPr/>
        </p:nvSpPr>
        <p:spPr>
          <a:xfrm>
            <a:off x="5394960" y="1003108"/>
            <a:ext cx="3383280" cy="1536192"/>
          </a:xfrm>
          <a:prstGeom prst="rect">
            <a:avLst/>
          </a:prstGeom>
          <a:solidFill>
            <a:srgbClr val="0A2236"/>
          </a:solidFill>
          <a:ln w="6350">
            <a:solidFill>
              <a:srgbClr val="7C3AED"/>
            </a:solidFill>
            <a:prstDash val="solid"/>
          </a:ln>
        </p:spPr>
        <p:txBody>
          <a:bodyPr/>
          <a:lstStyle/>
          <a:p>
            <a:endParaRPr lang="en-LU" sz="2800"/>
          </a:p>
        </p:txBody>
      </p:sp>
      <p:sp>
        <p:nvSpPr>
          <p:cNvPr id="10" name="Text 8"/>
          <p:cNvSpPr/>
          <p:nvPr/>
        </p:nvSpPr>
        <p:spPr>
          <a:xfrm>
            <a:off x="5532120" y="1231708"/>
            <a:ext cx="3108960" cy="256032"/>
          </a:xfrm>
          <a:prstGeom prst="rect">
            <a:avLst/>
          </a:prstGeom>
          <a:noFill/>
          <a:ln/>
        </p:spPr>
        <p:txBody>
          <a:bodyPr wrap="square" lIns="0" tIns="0" rIns="0" bIns="0" rtlCol="0" anchor="ctr"/>
          <a:lstStyle/>
          <a:p>
            <a:pPr marL="0" indent="0">
              <a:buNone/>
            </a:pPr>
            <a:r>
              <a:rPr lang="en-US" sz="1600" b="1" dirty="0">
                <a:solidFill>
                  <a:srgbClr val="7C3AED"/>
                </a:solidFill>
              </a:rPr>
              <a:t>Key question:</a:t>
            </a:r>
            <a:endParaRPr lang="en-US" sz="1600" dirty="0"/>
          </a:p>
        </p:txBody>
      </p:sp>
      <p:sp>
        <p:nvSpPr>
          <p:cNvPr id="11" name="Text 9"/>
          <p:cNvSpPr/>
          <p:nvPr/>
        </p:nvSpPr>
        <p:spPr>
          <a:xfrm>
            <a:off x="5532120" y="1506028"/>
            <a:ext cx="3108960" cy="879052"/>
          </a:xfrm>
          <a:prstGeom prst="rect">
            <a:avLst/>
          </a:prstGeom>
          <a:noFill/>
          <a:ln/>
        </p:spPr>
        <p:txBody>
          <a:bodyPr wrap="square" lIns="0" tIns="0" rIns="0" bIns="0" rtlCol="0" anchor="ctr"/>
          <a:lstStyle/>
          <a:p>
            <a:pPr marL="0" indent="0">
              <a:lnSpc>
                <a:spcPct val="130000"/>
              </a:lnSpc>
              <a:buNone/>
            </a:pPr>
            <a:r>
              <a:rPr lang="en-US" sz="1600" i="1" dirty="0">
                <a:solidFill>
                  <a:srgbClr val="FFFFFF"/>
                </a:solidFill>
              </a:rPr>
              <a:t>What happens if I/O is 10x slower?</a:t>
            </a:r>
          </a:p>
          <a:p>
            <a:pPr marL="0" indent="0">
              <a:lnSpc>
                <a:spcPct val="130000"/>
              </a:lnSpc>
              <a:buNone/>
            </a:pPr>
            <a:r>
              <a:rPr lang="en-US" sz="1600" i="1" dirty="0">
                <a:solidFill>
                  <a:srgbClr val="FFFFFF"/>
                </a:solidFill>
              </a:rPr>
              <a:t>Slow I/O = delayed data processing</a:t>
            </a:r>
            <a:endParaRPr lang="en-US" sz="1600" dirty="0"/>
          </a:p>
        </p:txBody>
      </p:sp>
      <p:sp>
        <p:nvSpPr>
          <p:cNvPr id="12" name="Shape 10"/>
          <p:cNvSpPr/>
          <p:nvPr/>
        </p:nvSpPr>
        <p:spPr>
          <a:xfrm>
            <a:off x="365760" y="2694749"/>
            <a:ext cx="4754880" cy="1536192"/>
          </a:xfrm>
          <a:prstGeom prst="rect">
            <a:avLst/>
          </a:prstGeom>
          <a:solidFill>
            <a:srgbClr val="1B3A4B"/>
          </a:solidFill>
          <a:ln w="10160">
            <a:solidFill>
              <a:srgbClr val="0D9488"/>
            </a:solidFill>
            <a:prstDash val="solid"/>
          </a:ln>
        </p:spPr>
        <p:txBody>
          <a:bodyPr/>
          <a:lstStyle/>
          <a:p>
            <a:endParaRPr lang="en-LU" sz="2800"/>
          </a:p>
        </p:txBody>
      </p:sp>
      <p:sp>
        <p:nvSpPr>
          <p:cNvPr id="13" name="Shape 11"/>
          <p:cNvSpPr/>
          <p:nvPr/>
        </p:nvSpPr>
        <p:spPr>
          <a:xfrm>
            <a:off x="365760" y="2694749"/>
            <a:ext cx="4754880" cy="365760"/>
          </a:xfrm>
          <a:prstGeom prst="rect">
            <a:avLst/>
          </a:prstGeom>
          <a:solidFill>
            <a:srgbClr val="0D9488"/>
          </a:solidFill>
          <a:ln w="12700">
            <a:solidFill>
              <a:srgbClr val="0D9488"/>
            </a:solidFill>
            <a:prstDash val="solid"/>
          </a:ln>
        </p:spPr>
        <p:txBody>
          <a:bodyPr/>
          <a:lstStyle/>
          <a:p>
            <a:endParaRPr lang="en-LU" sz="2800"/>
          </a:p>
        </p:txBody>
      </p:sp>
      <p:sp>
        <p:nvSpPr>
          <p:cNvPr id="14" name="Text 12"/>
          <p:cNvSpPr/>
          <p:nvPr/>
        </p:nvSpPr>
        <p:spPr>
          <a:xfrm>
            <a:off x="475488" y="2694749"/>
            <a:ext cx="4572000" cy="365760"/>
          </a:xfrm>
          <a:prstGeom prst="rect">
            <a:avLst/>
          </a:prstGeom>
          <a:noFill/>
          <a:ln/>
        </p:spPr>
        <p:txBody>
          <a:bodyPr wrap="square" lIns="0" tIns="0" rIns="0" bIns="0" rtlCol="0" anchor="ctr"/>
          <a:lstStyle/>
          <a:p>
            <a:pPr marL="0" indent="0">
              <a:buNone/>
            </a:pPr>
            <a:r>
              <a:rPr lang="en-US" sz="1600" b="1" dirty="0">
                <a:solidFill>
                  <a:srgbClr val="FFFFFF"/>
                </a:solidFill>
              </a:rPr>
              <a:t>Healthcare / Operations</a:t>
            </a:r>
            <a:endParaRPr lang="en-US" sz="1600" dirty="0"/>
          </a:p>
        </p:txBody>
      </p:sp>
      <p:sp>
        <p:nvSpPr>
          <p:cNvPr id="15" name="Text 13"/>
          <p:cNvSpPr/>
          <p:nvPr/>
        </p:nvSpPr>
        <p:spPr>
          <a:xfrm>
            <a:off x="475488" y="3133661"/>
            <a:ext cx="4572000" cy="274320"/>
          </a:xfrm>
          <a:prstGeom prst="rect">
            <a:avLst/>
          </a:prstGeom>
          <a:noFill/>
          <a:ln/>
        </p:spPr>
        <p:txBody>
          <a:bodyPr wrap="square" lIns="0" tIns="0" rIns="0" bIns="0" rtlCol="0" anchor="ctr"/>
          <a:lstStyle/>
          <a:p>
            <a:pPr marL="0" indent="0">
              <a:buNone/>
            </a:pPr>
            <a:r>
              <a:rPr lang="en-US" b="1" dirty="0">
                <a:solidFill>
                  <a:srgbClr val="FFFFFF"/>
                </a:solidFill>
              </a:rPr>
              <a:t>Predictive maintenance</a:t>
            </a:r>
            <a:endParaRPr lang="en-US" dirty="0"/>
          </a:p>
        </p:txBody>
      </p:sp>
      <p:sp>
        <p:nvSpPr>
          <p:cNvPr id="16" name="Text 14"/>
          <p:cNvSpPr/>
          <p:nvPr/>
        </p:nvSpPr>
        <p:spPr>
          <a:xfrm>
            <a:off x="475488" y="3407981"/>
            <a:ext cx="4572000" cy="658368"/>
          </a:xfrm>
          <a:prstGeom prst="rect">
            <a:avLst/>
          </a:prstGeom>
          <a:noFill/>
          <a:ln/>
        </p:spPr>
        <p:txBody>
          <a:bodyPr wrap="square" lIns="0" tIns="0" rIns="0" bIns="0" rtlCol="0" anchor="ctr"/>
          <a:lstStyle/>
          <a:p>
            <a:pPr marL="0" indent="0">
              <a:lnSpc>
                <a:spcPct val="130000"/>
              </a:lnSpc>
              <a:buNone/>
            </a:pPr>
            <a:r>
              <a:rPr lang="en-US" sz="1100" dirty="0">
                <a:solidFill>
                  <a:srgbClr val="94A3B8"/>
                </a:solidFill>
              </a:rPr>
              <a:t>An industrial plant monitors 10,000 sensors on 200 machines. HPDA detects vibration anomalies 72 hours before failure. False negatives cost €500K per unplanned shutdown.</a:t>
            </a:r>
            <a:endParaRPr lang="en-US" sz="1100" dirty="0"/>
          </a:p>
        </p:txBody>
      </p:sp>
      <p:sp>
        <p:nvSpPr>
          <p:cNvPr id="17" name="Shape 15"/>
          <p:cNvSpPr/>
          <p:nvPr/>
        </p:nvSpPr>
        <p:spPr>
          <a:xfrm>
            <a:off x="5394960" y="2694748"/>
            <a:ext cx="3383280" cy="1536192"/>
          </a:xfrm>
          <a:prstGeom prst="rect">
            <a:avLst/>
          </a:prstGeom>
          <a:solidFill>
            <a:srgbClr val="0A2236"/>
          </a:solidFill>
          <a:ln w="6350">
            <a:solidFill>
              <a:srgbClr val="0D9488"/>
            </a:solidFill>
            <a:prstDash val="solid"/>
          </a:ln>
        </p:spPr>
        <p:txBody>
          <a:bodyPr/>
          <a:lstStyle/>
          <a:p>
            <a:endParaRPr lang="en-LU" sz="2800"/>
          </a:p>
        </p:txBody>
      </p:sp>
      <p:sp>
        <p:nvSpPr>
          <p:cNvPr id="18" name="Text 16"/>
          <p:cNvSpPr/>
          <p:nvPr/>
        </p:nvSpPr>
        <p:spPr>
          <a:xfrm>
            <a:off x="5532120" y="2868756"/>
            <a:ext cx="3108960" cy="256032"/>
          </a:xfrm>
          <a:prstGeom prst="rect">
            <a:avLst/>
          </a:prstGeom>
          <a:noFill/>
          <a:ln/>
        </p:spPr>
        <p:txBody>
          <a:bodyPr wrap="square" lIns="0" tIns="0" rIns="0" bIns="0" rtlCol="0" anchor="ctr"/>
          <a:lstStyle/>
          <a:p>
            <a:pPr marL="0" indent="0">
              <a:buNone/>
            </a:pPr>
            <a:r>
              <a:rPr lang="en-US" sz="1600" b="1" dirty="0">
                <a:solidFill>
                  <a:srgbClr val="0D9488"/>
                </a:solidFill>
              </a:rPr>
              <a:t>Key question:</a:t>
            </a:r>
            <a:endParaRPr lang="en-US" sz="1600" dirty="0"/>
          </a:p>
        </p:txBody>
      </p:sp>
      <p:sp>
        <p:nvSpPr>
          <p:cNvPr id="19" name="Text 17"/>
          <p:cNvSpPr/>
          <p:nvPr/>
        </p:nvSpPr>
        <p:spPr>
          <a:xfrm>
            <a:off x="5532120" y="3247752"/>
            <a:ext cx="3108960" cy="728451"/>
          </a:xfrm>
          <a:prstGeom prst="rect">
            <a:avLst/>
          </a:prstGeom>
          <a:noFill/>
          <a:ln/>
        </p:spPr>
        <p:txBody>
          <a:bodyPr wrap="square" lIns="0" tIns="0" rIns="0" bIns="0" rtlCol="0" anchor="ctr"/>
          <a:lstStyle/>
          <a:p>
            <a:pPr marL="0" indent="0">
              <a:lnSpc>
                <a:spcPct val="130000"/>
              </a:lnSpc>
              <a:buNone/>
            </a:pPr>
            <a:r>
              <a:rPr lang="en-US" sz="1600" i="1" dirty="0">
                <a:solidFill>
                  <a:srgbClr val="FFFFFF"/>
                </a:solidFill>
              </a:rPr>
              <a:t>What happens if we don’t parallelize?</a:t>
            </a:r>
          </a:p>
          <a:p>
            <a:pPr marL="0" indent="0">
              <a:lnSpc>
                <a:spcPct val="130000"/>
              </a:lnSpc>
              <a:buNone/>
            </a:pPr>
            <a:r>
              <a:rPr lang="en-US" sz="1600" i="1" dirty="0">
                <a:solidFill>
                  <a:srgbClr val="FFFFFF"/>
                </a:solidFill>
              </a:rPr>
              <a:t>Limited parallelism = cannot keep up with incoming data</a:t>
            </a:r>
          </a:p>
        </p:txBody>
      </p:sp>
      <p:sp>
        <p:nvSpPr>
          <p:cNvPr id="20" name="Shape 18"/>
          <p:cNvSpPr/>
          <p:nvPr/>
        </p:nvSpPr>
        <p:spPr>
          <a:xfrm>
            <a:off x="365760" y="4385024"/>
            <a:ext cx="8412480" cy="566928"/>
          </a:xfrm>
          <a:prstGeom prst="rect">
            <a:avLst/>
          </a:prstGeom>
          <a:solidFill>
            <a:schemeClr val="accent6">
              <a:lumMod val="60000"/>
              <a:lumOff val="40000"/>
              <a:alpha val="85000"/>
            </a:schemeClr>
          </a:solidFill>
          <a:ln w="6350">
            <a:solidFill>
              <a:srgbClr val="F59E0B"/>
            </a:solidFill>
            <a:prstDash val="solid"/>
          </a:ln>
        </p:spPr>
        <p:txBody>
          <a:bodyPr/>
          <a:lstStyle/>
          <a:p>
            <a:endParaRPr lang="en-LU"/>
          </a:p>
        </p:txBody>
      </p:sp>
      <p:sp>
        <p:nvSpPr>
          <p:cNvPr id="21" name="Text 19"/>
          <p:cNvSpPr/>
          <p:nvPr/>
        </p:nvSpPr>
        <p:spPr>
          <a:xfrm>
            <a:off x="475488" y="4494888"/>
            <a:ext cx="8366760" cy="384048"/>
          </a:xfrm>
          <a:prstGeom prst="rect">
            <a:avLst/>
          </a:prstGeom>
          <a:noFill/>
          <a:ln/>
        </p:spPr>
        <p:txBody>
          <a:bodyPr wrap="square" lIns="0" tIns="0" rIns="0" bIns="0" rtlCol="0" anchor="ctr"/>
          <a:lstStyle/>
          <a:p>
            <a:pPr marL="0" indent="0">
              <a:buNone/>
            </a:pPr>
            <a:r>
              <a:rPr lang="en-US" sz="1400" dirty="0">
                <a:solidFill>
                  <a:srgbClr val="0D1B2A"/>
                </a:solidFill>
              </a:rPr>
              <a:t>Retail/Logistics – Batch analytics | Large volume of data processed overnight (strict deadline) | Throughput (I/O + parallelism) is critical</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LU"/>
          </a:p>
        </p:txBody>
      </p:sp>
      <p:sp>
        <p:nvSpPr>
          <p:cNvPr id="3" name="Text 1"/>
          <p:cNvSpPr/>
          <p:nvPr/>
        </p:nvSpPr>
        <p:spPr>
          <a:xfrm>
            <a:off x="365760" y="0"/>
            <a:ext cx="8412480" cy="960120"/>
          </a:xfrm>
          <a:prstGeom prst="rect">
            <a:avLst/>
          </a:prstGeom>
          <a:noFill/>
          <a:ln/>
        </p:spPr>
        <p:txBody>
          <a:bodyPr wrap="square" lIns="0" tIns="0" rIns="0" bIns="0" rtlCol="0" anchor="ctr"/>
          <a:lstStyle/>
          <a:p>
            <a:pPr marL="0" indent="0">
              <a:buNone/>
            </a:pPr>
            <a:r>
              <a:rPr lang="en-US" sz="2200" b="1" dirty="0">
                <a:solidFill>
                  <a:srgbClr val="FFFFFF"/>
                </a:solidFill>
              </a:rPr>
              <a:t>Questions to Ask Before Any HPDA Project</a:t>
            </a:r>
            <a:endParaRPr lang="en-US" sz="2200" dirty="0"/>
          </a:p>
        </p:txBody>
      </p:sp>
      <p:sp>
        <p:nvSpPr>
          <p:cNvPr id="5" name="Text 3"/>
          <p:cNvSpPr/>
          <p:nvPr/>
        </p:nvSpPr>
        <p:spPr>
          <a:xfrm>
            <a:off x="365760" y="1078992"/>
            <a:ext cx="1645920" cy="256032"/>
          </a:xfrm>
          <a:prstGeom prst="rect">
            <a:avLst/>
          </a:prstGeom>
          <a:noFill/>
          <a:ln/>
        </p:spPr>
        <p:txBody>
          <a:bodyPr wrap="square" lIns="0" tIns="0" rIns="0" bIns="0" rtlCol="0" anchor="ctr"/>
          <a:lstStyle/>
          <a:p>
            <a:pPr marL="0" indent="0" algn="ctr">
              <a:buNone/>
            </a:pPr>
            <a:r>
              <a:rPr lang="en-US" sz="900" b="1" dirty="0">
                <a:solidFill>
                  <a:srgbClr val="FFFFFF"/>
                </a:solidFill>
              </a:rPr>
              <a:t>BLOCK 4 · QUESTIONS</a:t>
            </a:r>
            <a:endParaRPr lang="en-US" sz="900" dirty="0"/>
          </a:p>
        </p:txBody>
      </p:sp>
      <p:sp>
        <p:nvSpPr>
          <p:cNvPr id="6" name="Shape 4"/>
          <p:cNvSpPr/>
          <p:nvPr/>
        </p:nvSpPr>
        <p:spPr>
          <a:xfrm>
            <a:off x="320040" y="1261872"/>
            <a:ext cx="4160520" cy="1664208"/>
          </a:xfrm>
          <a:prstGeom prst="rect">
            <a:avLst/>
          </a:prstGeom>
          <a:solidFill>
            <a:srgbClr val="FFFFFF"/>
          </a:solidFill>
          <a:ln w="6350">
            <a:solidFill>
              <a:srgbClr val="0D9488"/>
            </a:solidFill>
            <a:prstDash val="solid"/>
          </a:ln>
          <a:effectLst>
            <a:outerShdw blurRad="38100" dist="12700" dir="8100000" algn="bl" rotWithShape="0">
              <a:srgbClr val="000000">
                <a:alpha val="6000"/>
              </a:srgbClr>
            </a:outerShdw>
          </a:effectLst>
        </p:spPr>
        <p:txBody>
          <a:bodyPr/>
          <a:lstStyle/>
          <a:p>
            <a:endParaRPr lang="en-LU" dirty="0"/>
          </a:p>
          <a:p>
            <a:endParaRPr lang="en-LU" dirty="0"/>
          </a:p>
          <a:p>
            <a:pPr marL="285750" indent="-285750">
              <a:buFont typeface="Wingdings" pitchFamily="2" charset="2"/>
              <a:buChar char="à"/>
            </a:pPr>
            <a:r>
              <a:rPr lang="en-LU" dirty="0">
                <a:sym typeface="Wingdings" pitchFamily="2" charset="2"/>
              </a:rPr>
              <a:t>CSV vs Parquet showed: I/O can dominate</a:t>
            </a:r>
          </a:p>
          <a:p>
            <a:pPr marL="285750" indent="-285750">
              <a:buFont typeface="Wingdings" pitchFamily="2" charset="2"/>
              <a:buChar char="à"/>
            </a:pPr>
            <a:r>
              <a:rPr lang="en-LU" dirty="0">
                <a:sym typeface="Wingdings" pitchFamily="2" charset="2"/>
              </a:rPr>
              <a:t>Parallelism will not fix slow storage</a:t>
            </a:r>
            <a:endParaRPr lang="en-LU" dirty="0"/>
          </a:p>
        </p:txBody>
      </p:sp>
      <p:sp>
        <p:nvSpPr>
          <p:cNvPr id="7" name="Shape 5"/>
          <p:cNvSpPr/>
          <p:nvPr/>
        </p:nvSpPr>
        <p:spPr>
          <a:xfrm>
            <a:off x="320040" y="1261872"/>
            <a:ext cx="4160520" cy="347472"/>
          </a:xfrm>
          <a:prstGeom prst="rect">
            <a:avLst/>
          </a:prstGeom>
          <a:solidFill>
            <a:srgbClr val="0D9488"/>
          </a:solidFill>
          <a:ln w="12700">
            <a:solidFill>
              <a:srgbClr val="0D9488"/>
            </a:solidFill>
            <a:prstDash val="solid"/>
          </a:ln>
        </p:spPr>
        <p:txBody>
          <a:bodyPr/>
          <a:lstStyle/>
          <a:p>
            <a:endParaRPr lang="en-LU"/>
          </a:p>
        </p:txBody>
      </p:sp>
      <p:sp>
        <p:nvSpPr>
          <p:cNvPr id="8" name="Text 6"/>
          <p:cNvSpPr/>
          <p:nvPr/>
        </p:nvSpPr>
        <p:spPr>
          <a:xfrm>
            <a:off x="429768" y="1261872"/>
            <a:ext cx="3931920" cy="347472"/>
          </a:xfrm>
          <a:prstGeom prst="rect">
            <a:avLst/>
          </a:prstGeom>
          <a:noFill/>
          <a:ln/>
        </p:spPr>
        <p:txBody>
          <a:bodyPr wrap="square" lIns="0" tIns="0" rIns="0" bIns="0" rtlCol="0" anchor="ctr"/>
          <a:lstStyle/>
          <a:p>
            <a:pPr marL="0" indent="0">
              <a:buNone/>
            </a:pPr>
            <a:r>
              <a:rPr lang="en-US" b="1" dirty="0">
                <a:solidFill>
                  <a:srgbClr val="FFFFFF"/>
                </a:solidFill>
              </a:rPr>
              <a:t>Is this an I/O or compute problem?</a:t>
            </a:r>
            <a:endParaRPr lang="en-US" dirty="0"/>
          </a:p>
        </p:txBody>
      </p:sp>
      <p:sp>
        <p:nvSpPr>
          <p:cNvPr id="12" name="Shape 10"/>
          <p:cNvSpPr/>
          <p:nvPr/>
        </p:nvSpPr>
        <p:spPr>
          <a:xfrm>
            <a:off x="4754880" y="1261872"/>
            <a:ext cx="4160520" cy="1664208"/>
          </a:xfrm>
          <a:prstGeom prst="rect">
            <a:avLst/>
          </a:prstGeom>
          <a:solidFill>
            <a:srgbClr val="FFFFFF"/>
          </a:solidFill>
          <a:ln w="6350">
            <a:solidFill>
              <a:srgbClr val="F59E0B"/>
            </a:solidFill>
            <a:prstDash val="solid"/>
          </a:ln>
          <a:effectLst>
            <a:outerShdw blurRad="38100" dist="12700" dir="8100000" algn="bl" rotWithShape="0">
              <a:srgbClr val="000000">
                <a:alpha val="6000"/>
              </a:srgbClr>
            </a:outerShdw>
          </a:effectLst>
        </p:spPr>
        <p:txBody>
          <a:bodyPr/>
          <a:lstStyle/>
          <a:p>
            <a:endParaRPr lang="en-LU" dirty="0"/>
          </a:p>
          <a:p>
            <a:endParaRPr lang="en-LU" dirty="0"/>
          </a:p>
          <a:p>
            <a:pPr marL="285750" indent="-285750">
              <a:buFont typeface="Wingdings" pitchFamily="2" charset="2"/>
              <a:buChar char="à"/>
            </a:pPr>
            <a:r>
              <a:rPr lang="en-GB" dirty="0">
                <a:sym typeface="Wingdings" pitchFamily="2" charset="2"/>
              </a:rPr>
              <a:t>P</a:t>
            </a:r>
            <a:r>
              <a:rPr lang="en-LU" dirty="0">
                <a:sym typeface="Wingdings" pitchFamily="2" charset="2"/>
              </a:rPr>
              <a:t>andas was fast on small data</a:t>
            </a:r>
          </a:p>
          <a:p>
            <a:pPr marL="285750" indent="-285750">
              <a:buFont typeface="Wingdings" pitchFamily="2" charset="2"/>
              <a:buChar char="à"/>
            </a:pPr>
            <a:r>
              <a:rPr lang="en-LU" dirty="0">
                <a:sym typeface="Wingdings" pitchFamily="2" charset="2"/>
              </a:rPr>
              <a:t>Dask usefull for larger datasets</a:t>
            </a:r>
            <a:endParaRPr lang="en-LU" dirty="0"/>
          </a:p>
        </p:txBody>
      </p:sp>
      <p:sp>
        <p:nvSpPr>
          <p:cNvPr id="13" name="Shape 11"/>
          <p:cNvSpPr/>
          <p:nvPr/>
        </p:nvSpPr>
        <p:spPr>
          <a:xfrm>
            <a:off x="4754880" y="1261872"/>
            <a:ext cx="4160520" cy="347472"/>
          </a:xfrm>
          <a:prstGeom prst="rect">
            <a:avLst/>
          </a:prstGeom>
          <a:solidFill>
            <a:srgbClr val="F59E0B"/>
          </a:solidFill>
          <a:ln w="12700">
            <a:solidFill>
              <a:srgbClr val="F59E0B"/>
            </a:solidFill>
            <a:prstDash val="solid"/>
          </a:ln>
        </p:spPr>
        <p:txBody>
          <a:bodyPr/>
          <a:lstStyle/>
          <a:p>
            <a:endParaRPr lang="en-LU"/>
          </a:p>
        </p:txBody>
      </p:sp>
      <p:sp>
        <p:nvSpPr>
          <p:cNvPr id="14" name="Text 12"/>
          <p:cNvSpPr/>
          <p:nvPr/>
        </p:nvSpPr>
        <p:spPr>
          <a:xfrm>
            <a:off x="4864608" y="1261872"/>
            <a:ext cx="3931920" cy="347472"/>
          </a:xfrm>
          <a:prstGeom prst="rect">
            <a:avLst/>
          </a:prstGeom>
          <a:noFill/>
          <a:ln/>
        </p:spPr>
        <p:txBody>
          <a:bodyPr wrap="square" lIns="0" tIns="0" rIns="0" bIns="0" rtlCol="0" anchor="ctr"/>
          <a:lstStyle/>
          <a:p>
            <a:pPr marL="0" indent="0">
              <a:buNone/>
            </a:pPr>
            <a:r>
              <a:rPr lang="en-US" b="1" dirty="0">
                <a:solidFill>
                  <a:srgbClr val="FFFFFF"/>
                </a:solidFill>
              </a:rPr>
              <a:t>Do we need parallelism?</a:t>
            </a:r>
          </a:p>
        </p:txBody>
      </p:sp>
      <p:sp>
        <p:nvSpPr>
          <p:cNvPr id="18" name="Shape 16"/>
          <p:cNvSpPr/>
          <p:nvPr/>
        </p:nvSpPr>
        <p:spPr>
          <a:xfrm>
            <a:off x="320040" y="3079629"/>
            <a:ext cx="4160520" cy="1802921"/>
          </a:xfrm>
          <a:prstGeom prst="rect">
            <a:avLst/>
          </a:prstGeom>
          <a:solidFill>
            <a:srgbClr val="FFFFFF"/>
          </a:solidFill>
          <a:ln w="6350">
            <a:solidFill>
              <a:srgbClr val="7C3AED"/>
            </a:solidFill>
            <a:prstDash val="solid"/>
          </a:ln>
          <a:effectLst>
            <a:outerShdw blurRad="38100" dist="12700" dir="8100000" algn="bl" rotWithShape="0">
              <a:srgbClr val="000000">
                <a:alpha val="6000"/>
              </a:srgbClr>
            </a:outerShdw>
          </a:effectLst>
        </p:spPr>
        <p:txBody>
          <a:bodyPr/>
          <a:lstStyle/>
          <a:p>
            <a:endParaRPr lang="en-LU" dirty="0"/>
          </a:p>
          <a:p>
            <a:endParaRPr lang="en-LU" dirty="0"/>
          </a:p>
          <a:p>
            <a:pPr marL="285750" indent="-285750">
              <a:buFont typeface="Wingdings" pitchFamily="2" charset="2"/>
              <a:buChar char="à"/>
            </a:pPr>
            <a:r>
              <a:rPr lang="en-US" dirty="0">
                <a:sym typeface="Wingdings" pitchFamily="2" charset="2"/>
              </a:rPr>
              <a:t>Heavy computations -&gt; parallelism helps</a:t>
            </a:r>
          </a:p>
          <a:p>
            <a:pPr marL="285750" indent="-285750">
              <a:buFont typeface="Wingdings" pitchFamily="2" charset="2"/>
              <a:buChar char="à"/>
            </a:pPr>
            <a:r>
              <a:rPr lang="en-US" dirty="0">
                <a:sym typeface="Wingdings" pitchFamily="2" charset="2"/>
              </a:rPr>
              <a:t>Simple operations -&gt; overhead dominates</a:t>
            </a:r>
            <a:endParaRPr lang="en-LU" dirty="0"/>
          </a:p>
        </p:txBody>
      </p:sp>
      <p:sp>
        <p:nvSpPr>
          <p:cNvPr id="19" name="Shape 17"/>
          <p:cNvSpPr/>
          <p:nvPr/>
        </p:nvSpPr>
        <p:spPr>
          <a:xfrm>
            <a:off x="320040" y="3096882"/>
            <a:ext cx="4160520" cy="347472"/>
          </a:xfrm>
          <a:prstGeom prst="rect">
            <a:avLst/>
          </a:prstGeom>
          <a:solidFill>
            <a:srgbClr val="7C3AED"/>
          </a:solidFill>
          <a:ln w="12700">
            <a:solidFill>
              <a:srgbClr val="7C3AED"/>
            </a:solidFill>
            <a:prstDash val="solid"/>
          </a:ln>
        </p:spPr>
        <p:txBody>
          <a:bodyPr/>
          <a:lstStyle/>
          <a:p>
            <a:endParaRPr lang="en-LU"/>
          </a:p>
        </p:txBody>
      </p:sp>
      <p:sp>
        <p:nvSpPr>
          <p:cNvPr id="20" name="Text 18"/>
          <p:cNvSpPr/>
          <p:nvPr/>
        </p:nvSpPr>
        <p:spPr>
          <a:xfrm>
            <a:off x="429768" y="3114135"/>
            <a:ext cx="3931920" cy="347472"/>
          </a:xfrm>
          <a:prstGeom prst="rect">
            <a:avLst/>
          </a:prstGeom>
          <a:noFill/>
          <a:ln/>
        </p:spPr>
        <p:txBody>
          <a:bodyPr wrap="square" lIns="0" tIns="0" rIns="0" bIns="0" rtlCol="0" anchor="ctr"/>
          <a:lstStyle/>
          <a:p>
            <a:pPr marL="0" indent="0">
              <a:buNone/>
            </a:pPr>
            <a:r>
              <a:rPr lang="en-US" b="1" dirty="0">
                <a:solidFill>
                  <a:srgbClr val="FFFFFF"/>
                </a:solidFill>
              </a:rPr>
              <a:t>Will the workload scale?</a:t>
            </a:r>
            <a:endParaRPr lang="en-US" dirty="0"/>
          </a:p>
        </p:txBody>
      </p:sp>
      <p:sp>
        <p:nvSpPr>
          <p:cNvPr id="24" name="Shape 22"/>
          <p:cNvSpPr/>
          <p:nvPr/>
        </p:nvSpPr>
        <p:spPr>
          <a:xfrm>
            <a:off x="4754880" y="3200400"/>
            <a:ext cx="4160520" cy="1475117"/>
          </a:xfrm>
          <a:prstGeom prst="rect">
            <a:avLst/>
          </a:prstGeom>
          <a:solidFill>
            <a:srgbClr val="FFFFFF"/>
          </a:solidFill>
          <a:ln w="6350">
            <a:solidFill>
              <a:srgbClr val="2563EB"/>
            </a:solidFill>
            <a:prstDash val="solid"/>
          </a:ln>
          <a:effectLst>
            <a:outerShdw blurRad="38100" dist="12700" dir="8100000" algn="bl" rotWithShape="0">
              <a:srgbClr val="000000">
                <a:alpha val="6000"/>
              </a:srgbClr>
            </a:outerShdw>
          </a:effectLst>
        </p:spPr>
        <p:txBody>
          <a:bodyPr/>
          <a:lstStyle/>
          <a:p>
            <a:endParaRPr lang="en-LU" dirty="0"/>
          </a:p>
          <a:p>
            <a:endParaRPr lang="en-LU" dirty="0"/>
          </a:p>
          <a:p>
            <a:endParaRPr lang="en-LU" dirty="0"/>
          </a:p>
          <a:p>
            <a:pPr marL="285750" indent="-285750">
              <a:buFont typeface="Wingdings" pitchFamily="2" charset="2"/>
              <a:buChar char="à"/>
            </a:pPr>
            <a:r>
              <a:rPr lang="en-GB" dirty="0">
                <a:sym typeface="Wingdings" pitchFamily="2" charset="2"/>
              </a:rPr>
              <a:t>G</a:t>
            </a:r>
            <a:r>
              <a:rPr lang="en-LU" dirty="0">
                <a:sym typeface="Wingdings" pitchFamily="2" charset="2"/>
              </a:rPr>
              <a:t>ood partitioning -&gt; speedup</a:t>
            </a:r>
          </a:p>
        </p:txBody>
      </p:sp>
      <p:sp>
        <p:nvSpPr>
          <p:cNvPr id="25" name="Shape 23"/>
          <p:cNvSpPr/>
          <p:nvPr/>
        </p:nvSpPr>
        <p:spPr>
          <a:xfrm>
            <a:off x="4754880" y="3200400"/>
            <a:ext cx="4160520" cy="347472"/>
          </a:xfrm>
          <a:prstGeom prst="rect">
            <a:avLst/>
          </a:prstGeom>
          <a:solidFill>
            <a:srgbClr val="2563EB"/>
          </a:solidFill>
          <a:ln w="12700">
            <a:solidFill>
              <a:srgbClr val="2563EB"/>
            </a:solidFill>
            <a:prstDash val="solid"/>
          </a:ln>
        </p:spPr>
        <p:txBody>
          <a:bodyPr/>
          <a:lstStyle/>
          <a:p>
            <a:endParaRPr lang="en-LU"/>
          </a:p>
        </p:txBody>
      </p:sp>
      <p:sp>
        <p:nvSpPr>
          <p:cNvPr id="26" name="Text 24"/>
          <p:cNvSpPr/>
          <p:nvPr/>
        </p:nvSpPr>
        <p:spPr>
          <a:xfrm>
            <a:off x="4864608" y="3200400"/>
            <a:ext cx="3931920" cy="347472"/>
          </a:xfrm>
          <a:prstGeom prst="rect">
            <a:avLst/>
          </a:prstGeom>
          <a:noFill/>
          <a:ln/>
        </p:spPr>
        <p:txBody>
          <a:bodyPr wrap="square" lIns="0" tIns="0" rIns="0" bIns="0" rtlCol="0" anchor="ctr"/>
          <a:lstStyle/>
          <a:p>
            <a:pPr marL="0" indent="0">
              <a:buNone/>
            </a:pPr>
            <a:r>
              <a:rPr lang="en-US" b="1" dirty="0">
                <a:solidFill>
                  <a:srgbClr val="FFFFFF"/>
                </a:solidFill>
              </a:rPr>
              <a:t>Can the data be partitioned effectively?</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LU"/>
          </a:p>
        </p:txBody>
      </p:sp>
      <p:sp>
        <p:nvSpPr>
          <p:cNvPr id="3" name="Text 1"/>
          <p:cNvSpPr/>
          <p:nvPr/>
        </p:nvSpPr>
        <p:spPr>
          <a:xfrm>
            <a:off x="365760" y="0"/>
            <a:ext cx="8412480" cy="960120"/>
          </a:xfrm>
          <a:prstGeom prst="rect">
            <a:avLst/>
          </a:prstGeom>
          <a:noFill/>
          <a:ln/>
        </p:spPr>
        <p:txBody>
          <a:bodyPr wrap="square" lIns="0" tIns="0" rIns="0" bIns="0" rtlCol="0" anchor="ctr"/>
          <a:lstStyle/>
          <a:p>
            <a:pPr marL="0" indent="0">
              <a:buNone/>
            </a:pPr>
            <a:r>
              <a:rPr lang="en-US" sz="2200" b="1" dirty="0">
                <a:solidFill>
                  <a:srgbClr val="FFFFFF"/>
                </a:solidFill>
              </a:rPr>
              <a:t>Different problems require different tools</a:t>
            </a:r>
            <a:endParaRPr lang="en-US" sz="2200" dirty="0"/>
          </a:p>
        </p:txBody>
      </p:sp>
      <p:sp>
        <p:nvSpPr>
          <p:cNvPr id="4" name="Shape 2"/>
          <p:cNvSpPr/>
          <p:nvPr/>
        </p:nvSpPr>
        <p:spPr>
          <a:xfrm>
            <a:off x="365760" y="1078992"/>
            <a:ext cx="1645920" cy="256032"/>
          </a:xfrm>
          <a:prstGeom prst="rect">
            <a:avLst/>
          </a:prstGeom>
          <a:solidFill>
            <a:srgbClr val="0D9488"/>
          </a:solidFill>
          <a:ln w="12700">
            <a:solidFill>
              <a:srgbClr val="0D9488"/>
            </a:solidFill>
            <a:prstDash val="solid"/>
          </a:ln>
        </p:spPr>
        <p:txBody>
          <a:bodyPr/>
          <a:lstStyle/>
          <a:p>
            <a:endParaRPr lang="en-LU"/>
          </a:p>
        </p:txBody>
      </p:sp>
      <p:sp>
        <p:nvSpPr>
          <p:cNvPr id="5" name="Text 3"/>
          <p:cNvSpPr/>
          <p:nvPr/>
        </p:nvSpPr>
        <p:spPr>
          <a:xfrm>
            <a:off x="365760" y="1078992"/>
            <a:ext cx="1645920" cy="256032"/>
          </a:xfrm>
          <a:prstGeom prst="rect">
            <a:avLst/>
          </a:prstGeom>
          <a:noFill/>
          <a:ln/>
        </p:spPr>
        <p:txBody>
          <a:bodyPr wrap="square" lIns="0" tIns="0" rIns="0" bIns="0" rtlCol="0" anchor="ctr"/>
          <a:lstStyle/>
          <a:p>
            <a:pPr marL="0" indent="0" algn="ctr">
              <a:buNone/>
            </a:pPr>
            <a:r>
              <a:rPr lang="en-US" sz="900" b="1" dirty="0">
                <a:solidFill>
                  <a:srgbClr val="FFFFFF"/>
                </a:solidFill>
              </a:rPr>
              <a:t>SYNTHESIS</a:t>
            </a:r>
            <a:endParaRPr lang="en-US" sz="900" dirty="0"/>
          </a:p>
        </p:txBody>
      </p:sp>
      <p:sp>
        <p:nvSpPr>
          <p:cNvPr id="6" name="Shape 4"/>
          <p:cNvSpPr/>
          <p:nvPr/>
        </p:nvSpPr>
        <p:spPr>
          <a:xfrm>
            <a:off x="320040" y="1115568"/>
            <a:ext cx="8503920" cy="685800"/>
          </a:xfrm>
          <a:prstGeom prst="rect">
            <a:avLst/>
          </a:prstGeom>
          <a:solidFill>
            <a:srgbClr val="FFFFFF"/>
          </a:solidFill>
          <a:ln w="6350">
            <a:solidFill>
              <a:srgbClr val="E2E8F0"/>
            </a:solidFill>
            <a:prstDash val="solid"/>
          </a:ln>
        </p:spPr>
        <p:txBody>
          <a:bodyPr/>
          <a:lstStyle/>
          <a:p>
            <a:endParaRPr lang="en-LU"/>
          </a:p>
        </p:txBody>
      </p:sp>
      <p:sp>
        <p:nvSpPr>
          <p:cNvPr id="7" name="Shape 5"/>
          <p:cNvSpPr/>
          <p:nvPr/>
        </p:nvSpPr>
        <p:spPr>
          <a:xfrm>
            <a:off x="320040" y="1115568"/>
            <a:ext cx="54864" cy="685800"/>
          </a:xfrm>
          <a:prstGeom prst="rect">
            <a:avLst/>
          </a:prstGeom>
          <a:solidFill>
            <a:srgbClr val="334155"/>
          </a:solidFill>
          <a:ln w="12700">
            <a:solidFill>
              <a:srgbClr val="334155"/>
            </a:solidFill>
            <a:prstDash val="solid"/>
          </a:ln>
        </p:spPr>
        <p:txBody>
          <a:bodyPr/>
          <a:lstStyle/>
          <a:p>
            <a:endParaRPr lang="en-LU"/>
          </a:p>
        </p:txBody>
      </p:sp>
      <p:sp>
        <p:nvSpPr>
          <p:cNvPr id="8" name="Text 6"/>
          <p:cNvSpPr/>
          <p:nvPr/>
        </p:nvSpPr>
        <p:spPr>
          <a:xfrm>
            <a:off x="502920" y="1170432"/>
            <a:ext cx="2560320" cy="274320"/>
          </a:xfrm>
          <a:prstGeom prst="rect">
            <a:avLst/>
          </a:prstGeom>
          <a:noFill/>
          <a:ln/>
        </p:spPr>
        <p:txBody>
          <a:bodyPr wrap="square" lIns="0" tIns="0" rIns="0" bIns="0" rtlCol="0" anchor="ctr"/>
          <a:lstStyle/>
          <a:p>
            <a:pPr marL="0" indent="0">
              <a:buNone/>
            </a:pPr>
            <a:r>
              <a:rPr lang="en-US" sz="1100" b="1" dirty="0">
                <a:solidFill>
                  <a:srgbClr val="334155"/>
                </a:solidFill>
              </a:rPr>
              <a:t>Spreadsheet / SQL</a:t>
            </a:r>
            <a:endParaRPr lang="en-US" sz="1100" dirty="0"/>
          </a:p>
        </p:txBody>
      </p:sp>
      <p:sp>
        <p:nvSpPr>
          <p:cNvPr id="9" name="Text 7"/>
          <p:cNvSpPr/>
          <p:nvPr/>
        </p:nvSpPr>
        <p:spPr>
          <a:xfrm>
            <a:off x="3017520" y="1170432"/>
            <a:ext cx="3657600" cy="274320"/>
          </a:xfrm>
          <a:prstGeom prst="rect">
            <a:avLst/>
          </a:prstGeom>
          <a:noFill/>
          <a:ln/>
        </p:spPr>
        <p:txBody>
          <a:bodyPr wrap="square" lIns="0" tIns="0" rIns="0" bIns="0" rtlCol="0" anchor="ctr"/>
          <a:lstStyle/>
          <a:p>
            <a:pPr marL="0" indent="0">
              <a:buNone/>
            </a:pPr>
            <a:r>
              <a:rPr lang="en-US" sz="900" dirty="0">
                <a:solidFill>
                  <a:srgbClr val="166534"/>
                </a:solidFill>
              </a:rPr>
              <a:t>✓ small, simple, interactive analysis</a:t>
            </a:r>
          </a:p>
          <a:p>
            <a:r>
              <a:rPr lang="en-US" sz="900" dirty="0">
                <a:solidFill>
                  <a:srgbClr val="166534"/>
                </a:solidFill>
              </a:rPr>
              <a:t>✓ manual querying, dashboard</a:t>
            </a:r>
            <a:endParaRPr lang="en-US" sz="900" dirty="0"/>
          </a:p>
        </p:txBody>
      </p:sp>
      <p:sp>
        <p:nvSpPr>
          <p:cNvPr id="10" name="Text 8"/>
          <p:cNvSpPr/>
          <p:nvPr/>
        </p:nvSpPr>
        <p:spPr>
          <a:xfrm>
            <a:off x="3017520" y="1463040"/>
            <a:ext cx="5303520" cy="274320"/>
          </a:xfrm>
          <a:prstGeom prst="rect">
            <a:avLst/>
          </a:prstGeom>
          <a:noFill/>
          <a:ln/>
        </p:spPr>
        <p:txBody>
          <a:bodyPr wrap="square" lIns="0" tIns="0" rIns="0" bIns="0" rtlCol="0" anchor="ctr"/>
          <a:lstStyle/>
          <a:p>
            <a:pPr marL="0" indent="0">
              <a:buNone/>
            </a:pPr>
            <a:r>
              <a:rPr lang="en-US" sz="900" dirty="0">
                <a:solidFill>
                  <a:srgbClr val="991B1B"/>
                </a:solidFill>
              </a:rPr>
              <a:t>✗ Not suitable for large-scale or automated pipelines </a:t>
            </a:r>
            <a:endParaRPr lang="en-US" sz="900" dirty="0"/>
          </a:p>
        </p:txBody>
      </p:sp>
      <p:sp>
        <p:nvSpPr>
          <p:cNvPr id="11" name="Shape 9"/>
          <p:cNvSpPr/>
          <p:nvPr/>
        </p:nvSpPr>
        <p:spPr>
          <a:xfrm>
            <a:off x="320040" y="1883664"/>
            <a:ext cx="8503920" cy="685800"/>
          </a:xfrm>
          <a:prstGeom prst="rect">
            <a:avLst/>
          </a:prstGeom>
          <a:solidFill>
            <a:srgbClr val="FFFFFF"/>
          </a:solidFill>
          <a:ln w="6350">
            <a:solidFill>
              <a:srgbClr val="E2E8F0"/>
            </a:solidFill>
            <a:prstDash val="solid"/>
          </a:ln>
        </p:spPr>
        <p:txBody>
          <a:bodyPr/>
          <a:lstStyle/>
          <a:p>
            <a:endParaRPr lang="en-LU"/>
          </a:p>
        </p:txBody>
      </p:sp>
      <p:sp>
        <p:nvSpPr>
          <p:cNvPr id="12" name="Shape 10"/>
          <p:cNvSpPr/>
          <p:nvPr/>
        </p:nvSpPr>
        <p:spPr>
          <a:xfrm>
            <a:off x="320040" y="1883664"/>
            <a:ext cx="54864" cy="685800"/>
          </a:xfrm>
          <a:prstGeom prst="rect">
            <a:avLst/>
          </a:prstGeom>
          <a:solidFill>
            <a:srgbClr val="2563EB"/>
          </a:solidFill>
          <a:ln w="12700">
            <a:solidFill>
              <a:srgbClr val="2563EB"/>
            </a:solidFill>
            <a:prstDash val="solid"/>
          </a:ln>
        </p:spPr>
        <p:txBody>
          <a:bodyPr/>
          <a:lstStyle/>
          <a:p>
            <a:endParaRPr lang="en-LU"/>
          </a:p>
        </p:txBody>
      </p:sp>
      <p:sp>
        <p:nvSpPr>
          <p:cNvPr id="13" name="Text 11"/>
          <p:cNvSpPr/>
          <p:nvPr/>
        </p:nvSpPr>
        <p:spPr>
          <a:xfrm>
            <a:off x="502920" y="1938528"/>
            <a:ext cx="2560320" cy="274320"/>
          </a:xfrm>
          <a:prstGeom prst="rect">
            <a:avLst/>
          </a:prstGeom>
          <a:noFill/>
          <a:ln/>
        </p:spPr>
        <p:txBody>
          <a:bodyPr wrap="square" lIns="0" tIns="0" rIns="0" bIns="0" rtlCol="0" anchor="ctr"/>
          <a:lstStyle/>
          <a:p>
            <a:pPr marL="0" indent="0">
              <a:buNone/>
            </a:pPr>
            <a:r>
              <a:rPr lang="en-US" sz="1100" b="1" dirty="0">
                <a:solidFill>
                  <a:srgbClr val="2563EB"/>
                </a:solidFill>
              </a:rPr>
              <a:t>pandas (single-node)</a:t>
            </a:r>
            <a:endParaRPr lang="en-US" sz="1100" dirty="0"/>
          </a:p>
        </p:txBody>
      </p:sp>
      <p:sp>
        <p:nvSpPr>
          <p:cNvPr id="14" name="Text 12"/>
          <p:cNvSpPr/>
          <p:nvPr/>
        </p:nvSpPr>
        <p:spPr>
          <a:xfrm>
            <a:off x="3017520" y="1938528"/>
            <a:ext cx="3657600" cy="411480"/>
          </a:xfrm>
          <a:prstGeom prst="rect">
            <a:avLst/>
          </a:prstGeom>
          <a:noFill/>
          <a:ln/>
        </p:spPr>
        <p:txBody>
          <a:bodyPr wrap="square" lIns="0" tIns="0" rIns="0" bIns="0" rtlCol="0" anchor="ctr"/>
          <a:lstStyle/>
          <a:p>
            <a:pPr marL="0" indent="0">
              <a:buNone/>
            </a:pPr>
            <a:r>
              <a:rPr lang="en-US" sz="900" dirty="0">
                <a:solidFill>
                  <a:srgbClr val="166534"/>
                </a:solidFill>
              </a:rPr>
              <a:t>✓ Data fits in memory</a:t>
            </a:r>
          </a:p>
          <a:p>
            <a:r>
              <a:rPr lang="en-US" sz="900" dirty="0">
                <a:solidFill>
                  <a:srgbClr val="166534"/>
                </a:solidFill>
              </a:rPr>
              <a:t>✓ Fast iteration, exploration</a:t>
            </a:r>
          </a:p>
          <a:p>
            <a:r>
              <a:rPr lang="en-US" sz="900" dirty="0">
                <a:solidFill>
                  <a:srgbClr val="166534"/>
                </a:solidFill>
              </a:rPr>
              <a:t>✓ Low overhead</a:t>
            </a:r>
            <a:endParaRPr lang="en-US" sz="900" dirty="0"/>
          </a:p>
        </p:txBody>
      </p:sp>
      <p:sp>
        <p:nvSpPr>
          <p:cNvPr id="15" name="Text 13"/>
          <p:cNvSpPr/>
          <p:nvPr/>
        </p:nvSpPr>
        <p:spPr>
          <a:xfrm>
            <a:off x="3017520" y="2336292"/>
            <a:ext cx="5303520" cy="274320"/>
          </a:xfrm>
          <a:prstGeom prst="rect">
            <a:avLst/>
          </a:prstGeom>
          <a:noFill/>
          <a:ln/>
        </p:spPr>
        <p:txBody>
          <a:bodyPr wrap="square" lIns="0" tIns="0" rIns="0" bIns="0" rtlCol="0" anchor="ctr"/>
          <a:lstStyle/>
          <a:p>
            <a:pPr marL="0" indent="0">
              <a:buNone/>
            </a:pPr>
            <a:r>
              <a:rPr lang="en-US" sz="900" dirty="0">
                <a:solidFill>
                  <a:srgbClr val="991B1B"/>
                </a:solidFill>
              </a:rPr>
              <a:t>✗Limited by RAM and single machine</a:t>
            </a:r>
          </a:p>
        </p:txBody>
      </p:sp>
      <p:sp>
        <p:nvSpPr>
          <p:cNvPr id="16" name="Shape 14"/>
          <p:cNvSpPr/>
          <p:nvPr/>
        </p:nvSpPr>
        <p:spPr>
          <a:xfrm>
            <a:off x="320040" y="2651760"/>
            <a:ext cx="8503920" cy="685800"/>
          </a:xfrm>
          <a:prstGeom prst="rect">
            <a:avLst/>
          </a:prstGeom>
          <a:solidFill>
            <a:srgbClr val="FFFFFF"/>
          </a:solidFill>
          <a:ln w="6350">
            <a:solidFill>
              <a:srgbClr val="E2E8F0"/>
            </a:solidFill>
            <a:prstDash val="solid"/>
          </a:ln>
        </p:spPr>
        <p:txBody>
          <a:bodyPr/>
          <a:lstStyle/>
          <a:p>
            <a:endParaRPr lang="en-LU"/>
          </a:p>
        </p:txBody>
      </p:sp>
      <p:sp>
        <p:nvSpPr>
          <p:cNvPr id="17" name="Shape 15"/>
          <p:cNvSpPr/>
          <p:nvPr/>
        </p:nvSpPr>
        <p:spPr>
          <a:xfrm>
            <a:off x="320040" y="2651760"/>
            <a:ext cx="54864" cy="685800"/>
          </a:xfrm>
          <a:prstGeom prst="rect">
            <a:avLst/>
          </a:prstGeom>
          <a:solidFill>
            <a:srgbClr val="0D9488"/>
          </a:solidFill>
          <a:ln w="12700">
            <a:solidFill>
              <a:srgbClr val="0D9488"/>
            </a:solidFill>
            <a:prstDash val="solid"/>
          </a:ln>
        </p:spPr>
        <p:txBody>
          <a:bodyPr/>
          <a:lstStyle/>
          <a:p>
            <a:endParaRPr lang="en-LU"/>
          </a:p>
        </p:txBody>
      </p:sp>
      <p:sp>
        <p:nvSpPr>
          <p:cNvPr id="18" name="Text 16"/>
          <p:cNvSpPr/>
          <p:nvPr/>
        </p:nvSpPr>
        <p:spPr>
          <a:xfrm>
            <a:off x="502920" y="2706624"/>
            <a:ext cx="2560320" cy="274320"/>
          </a:xfrm>
          <a:prstGeom prst="rect">
            <a:avLst/>
          </a:prstGeom>
          <a:noFill/>
          <a:ln/>
        </p:spPr>
        <p:txBody>
          <a:bodyPr wrap="square" lIns="0" tIns="0" rIns="0" bIns="0" rtlCol="0" anchor="ctr"/>
          <a:lstStyle/>
          <a:p>
            <a:pPr marL="0" indent="0">
              <a:buNone/>
            </a:pPr>
            <a:r>
              <a:rPr lang="en-US" sz="1100" b="1" dirty="0" err="1">
                <a:solidFill>
                  <a:srgbClr val="0D9488"/>
                </a:solidFill>
              </a:rPr>
              <a:t>Dask</a:t>
            </a:r>
            <a:r>
              <a:rPr lang="en-US" sz="1100" b="1" dirty="0">
                <a:solidFill>
                  <a:srgbClr val="0D9488"/>
                </a:solidFill>
              </a:rPr>
              <a:t> (single-node)</a:t>
            </a:r>
            <a:endParaRPr lang="en-US" sz="1100" dirty="0"/>
          </a:p>
        </p:txBody>
      </p:sp>
      <p:sp>
        <p:nvSpPr>
          <p:cNvPr id="19" name="Text 17"/>
          <p:cNvSpPr/>
          <p:nvPr/>
        </p:nvSpPr>
        <p:spPr>
          <a:xfrm>
            <a:off x="3017520" y="2706624"/>
            <a:ext cx="3657600" cy="411480"/>
          </a:xfrm>
          <a:prstGeom prst="rect">
            <a:avLst/>
          </a:prstGeom>
          <a:noFill/>
          <a:ln/>
        </p:spPr>
        <p:txBody>
          <a:bodyPr wrap="square" lIns="0" tIns="0" rIns="0" bIns="0" rtlCol="0" anchor="ctr"/>
          <a:lstStyle/>
          <a:p>
            <a:pPr marL="0" indent="0">
              <a:buNone/>
            </a:pPr>
            <a:r>
              <a:rPr lang="en-US" sz="900" dirty="0">
                <a:solidFill>
                  <a:srgbClr val="166534"/>
                </a:solidFill>
              </a:rPr>
              <a:t>✓ Data larger than RAM</a:t>
            </a:r>
          </a:p>
          <a:p>
            <a:r>
              <a:rPr lang="en-US" sz="900" dirty="0">
                <a:solidFill>
                  <a:srgbClr val="166534"/>
                </a:solidFill>
              </a:rPr>
              <a:t>✓ Need multi core processing</a:t>
            </a:r>
          </a:p>
          <a:p>
            <a:r>
              <a:rPr lang="en-US" sz="900" dirty="0">
                <a:solidFill>
                  <a:srgbClr val="166534"/>
                </a:solidFill>
              </a:rPr>
              <a:t>✓ Same workflow as pandas</a:t>
            </a:r>
            <a:endParaRPr lang="en-US" sz="900" dirty="0"/>
          </a:p>
        </p:txBody>
      </p:sp>
      <p:sp>
        <p:nvSpPr>
          <p:cNvPr id="20" name="Text 18"/>
          <p:cNvSpPr/>
          <p:nvPr/>
        </p:nvSpPr>
        <p:spPr>
          <a:xfrm>
            <a:off x="3017520" y="3086784"/>
            <a:ext cx="5303520" cy="274320"/>
          </a:xfrm>
          <a:prstGeom prst="rect">
            <a:avLst/>
          </a:prstGeom>
          <a:noFill/>
          <a:ln/>
        </p:spPr>
        <p:txBody>
          <a:bodyPr wrap="square" lIns="0" tIns="0" rIns="0" bIns="0" rtlCol="0" anchor="ctr"/>
          <a:lstStyle/>
          <a:p>
            <a:pPr marL="0" indent="0">
              <a:buNone/>
            </a:pPr>
            <a:r>
              <a:rPr lang="en-US" sz="900" dirty="0">
                <a:solidFill>
                  <a:srgbClr val="991B1B"/>
                </a:solidFill>
              </a:rPr>
              <a:t>✗ Overhead -&gt; not efficient for small/simple tasks</a:t>
            </a:r>
            <a:endParaRPr lang="en-US" sz="900" dirty="0"/>
          </a:p>
        </p:txBody>
      </p:sp>
      <p:sp>
        <p:nvSpPr>
          <p:cNvPr id="21" name="Shape 19"/>
          <p:cNvSpPr/>
          <p:nvPr/>
        </p:nvSpPr>
        <p:spPr>
          <a:xfrm>
            <a:off x="320040" y="3419856"/>
            <a:ext cx="8503920" cy="685800"/>
          </a:xfrm>
          <a:prstGeom prst="rect">
            <a:avLst/>
          </a:prstGeom>
          <a:solidFill>
            <a:srgbClr val="FFFFFF"/>
          </a:solidFill>
          <a:ln w="6350">
            <a:solidFill>
              <a:srgbClr val="E2E8F0"/>
            </a:solidFill>
            <a:prstDash val="solid"/>
          </a:ln>
        </p:spPr>
        <p:txBody>
          <a:bodyPr/>
          <a:lstStyle/>
          <a:p>
            <a:endParaRPr lang="en-LU"/>
          </a:p>
        </p:txBody>
      </p:sp>
      <p:sp>
        <p:nvSpPr>
          <p:cNvPr id="22" name="Shape 20"/>
          <p:cNvSpPr/>
          <p:nvPr/>
        </p:nvSpPr>
        <p:spPr>
          <a:xfrm>
            <a:off x="320040" y="3419856"/>
            <a:ext cx="54864" cy="685800"/>
          </a:xfrm>
          <a:prstGeom prst="rect">
            <a:avLst/>
          </a:prstGeom>
          <a:solidFill>
            <a:srgbClr val="7C3AED"/>
          </a:solidFill>
          <a:ln w="12700">
            <a:solidFill>
              <a:srgbClr val="7C3AED"/>
            </a:solidFill>
            <a:prstDash val="solid"/>
          </a:ln>
        </p:spPr>
        <p:txBody>
          <a:bodyPr/>
          <a:lstStyle/>
          <a:p>
            <a:endParaRPr lang="en-LU"/>
          </a:p>
        </p:txBody>
      </p:sp>
      <p:sp>
        <p:nvSpPr>
          <p:cNvPr id="23" name="Text 21"/>
          <p:cNvSpPr/>
          <p:nvPr/>
        </p:nvSpPr>
        <p:spPr>
          <a:xfrm>
            <a:off x="502920" y="3474720"/>
            <a:ext cx="2560320" cy="274320"/>
          </a:xfrm>
          <a:prstGeom prst="rect">
            <a:avLst/>
          </a:prstGeom>
          <a:noFill/>
          <a:ln/>
        </p:spPr>
        <p:txBody>
          <a:bodyPr wrap="square" lIns="0" tIns="0" rIns="0" bIns="0" rtlCol="0" anchor="ctr"/>
          <a:lstStyle/>
          <a:p>
            <a:pPr marL="0" indent="0">
              <a:buNone/>
            </a:pPr>
            <a:r>
              <a:rPr lang="en-US" sz="1100" b="1" dirty="0" err="1">
                <a:solidFill>
                  <a:srgbClr val="7C3AED"/>
                </a:solidFill>
              </a:rPr>
              <a:t>Dask</a:t>
            </a:r>
            <a:r>
              <a:rPr lang="en-US" sz="1100" b="1" dirty="0">
                <a:solidFill>
                  <a:srgbClr val="7C3AED"/>
                </a:solidFill>
              </a:rPr>
              <a:t> Distributed / Spark</a:t>
            </a:r>
            <a:endParaRPr lang="en-US" sz="1100" dirty="0"/>
          </a:p>
        </p:txBody>
      </p:sp>
      <p:sp>
        <p:nvSpPr>
          <p:cNvPr id="24" name="Text 22"/>
          <p:cNvSpPr/>
          <p:nvPr/>
        </p:nvSpPr>
        <p:spPr>
          <a:xfrm>
            <a:off x="3017520" y="3474720"/>
            <a:ext cx="3657600" cy="498348"/>
          </a:xfrm>
          <a:prstGeom prst="rect">
            <a:avLst/>
          </a:prstGeom>
          <a:noFill/>
          <a:ln/>
        </p:spPr>
        <p:txBody>
          <a:bodyPr wrap="square" lIns="0" tIns="0" rIns="0" bIns="0" rtlCol="0" anchor="ctr"/>
          <a:lstStyle/>
          <a:p>
            <a:r>
              <a:rPr lang="en-US" sz="900" dirty="0">
                <a:solidFill>
                  <a:srgbClr val="166534"/>
                </a:solidFill>
              </a:rPr>
              <a:t>✓ Very large datasets</a:t>
            </a:r>
          </a:p>
          <a:p>
            <a:r>
              <a:rPr lang="en-US" sz="900" dirty="0">
                <a:solidFill>
                  <a:srgbClr val="166534"/>
                </a:solidFill>
              </a:rPr>
              <a:t>✓ Multi-node processing</a:t>
            </a:r>
          </a:p>
          <a:p>
            <a:r>
              <a:rPr lang="en-US" sz="900" dirty="0">
                <a:solidFill>
                  <a:srgbClr val="166534"/>
                </a:solidFill>
              </a:rPr>
              <a:t>✓ Shuffle-heavy operations (joins, </a:t>
            </a:r>
            <a:r>
              <a:rPr lang="en-US" sz="900" dirty="0" err="1">
                <a:solidFill>
                  <a:srgbClr val="166534"/>
                </a:solidFill>
              </a:rPr>
              <a:t>groupby</a:t>
            </a:r>
            <a:r>
              <a:rPr lang="en-US" sz="900" dirty="0">
                <a:solidFill>
                  <a:srgbClr val="166534"/>
                </a:solidFill>
              </a:rPr>
              <a:t> at scale)</a:t>
            </a:r>
            <a:endParaRPr lang="en-US" sz="900" dirty="0"/>
          </a:p>
        </p:txBody>
      </p:sp>
      <p:sp>
        <p:nvSpPr>
          <p:cNvPr id="25" name="Text 23"/>
          <p:cNvSpPr/>
          <p:nvPr/>
        </p:nvSpPr>
        <p:spPr>
          <a:xfrm>
            <a:off x="3017520" y="3886200"/>
            <a:ext cx="5303520" cy="274320"/>
          </a:xfrm>
          <a:prstGeom prst="rect">
            <a:avLst/>
          </a:prstGeom>
          <a:noFill/>
          <a:ln/>
        </p:spPr>
        <p:txBody>
          <a:bodyPr wrap="square" lIns="0" tIns="0" rIns="0" bIns="0" rtlCol="0" anchor="ctr"/>
          <a:lstStyle/>
          <a:p>
            <a:pPr marL="0" indent="0">
              <a:buNone/>
            </a:pPr>
            <a:r>
              <a:rPr lang="en-US" sz="900" dirty="0">
                <a:solidFill>
                  <a:srgbClr val="991B1B"/>
                </a:solidFill>
              </a:rPr>
              <a:t>✗Requires cluster + careful tuning</a:t>
            </a:r>
            <a:endParaRPr lang="en-US" sz="900" dirty="0"/>
          </a:p>
        </p:txBody>
      </p:sp>
      <p:sp>
        <p:nvSpPr>
          <p:cNvPr id="26" name="Shape 24"/>
          <p:cNvSpPr/>
          <p:nvPr/>
        </p:nvSpPr>
        <p:spPr>
          <a:xfrm>
            <a:off x="320040" y="4187952"/>
            <a:ext cx="8503920" cy="685800"/>
          </a:xfrm>
          <a:prstGeom prst="rect">
            <a:avLst/>
          </a:prstGeom>
          <a:solidFill>
            <a:srgbClr val="FFFFFF"/>
          </a:solidFill>
          <a:ln w="6350">
            <a:solidFill>
              <a:srgbClr val="E2E8F0"/>
            </a:solidFill>
            <a:prstDash val="solid"/>
          </a:ln>
        </p:spPr>
        <p:txBody>
          <a:bodyPr/>
          <a:lstStyle/>
          <a:p>
            <a:endParaRPr lang="en-LU"/>
          </a:p>
        </p:txBody>
      </p:sp>
      <p:sp>
        <p:nvSpPr>
          <p:cNvPr id="27" name="Shape 25"/>
          <p:cNvSpPr/>
          <p:nvPr/>
        </p:nvSpPr>
        <p:spPr>
          <a:xfrm>
            <a:off x="320040" y="4187952"/>
            <a:ext cx="54864" cy="685800"/>
          </a:xfrm>
          <a:prstGeom prst="rect">
            <a:avLst/>
          </a:prstGeom>
          <a:solidFill>
            <a:srgbClr val="F59E0B"/>
          </a:solidFill>
          <a:ln w="12700">
            <a:solidFill>
              <a:srgbClr val="F59E0B"/>
            </a:solidFill>
            <a:prstDash val="solid"/>
          </a:ln>
        </p:spPr>
        <p:txBody>
          <a:bodyPr/>
          <a:lstStyle/>
          <a:p>
            <a:endParaRPr lang="en-LU"/>
          </a:p>
        </p:txBody>
      </p:sp>
      <p:sp>
        <p:nvSpPr>
          <p:cNvPr id="28" name="Text 26"/>
          <p:cNvSpPr/>
          <p:nvPr/>
        </p:nvSpPr>
        <p:spPr>
          <a:xfrm>
            <a:off x="502920" y="4242816"/>
            <a:ext cx="2560320" cy="274320"/>
          </a:xfrm>
          <a:prstGeom prst="rect">
            <a:avLst/>
          </a:prstGeom>
          <a:noFill/>
          <a:ln/>
        </p:spPr>
        <p:txBody>
          <a:bodyPr wrap="square" lIns="0" tIns="0" rIns="0" bIns="0" rtlCol="0" anchor="ctr"/>
          <a:lstStyle/>
          <a:p>
            <a:pPr marL="0" indent="0">
              <a:buNone/>
            </a:pPr>
            <a:r>
              <a:rPr lang="en-US" sz="1100" b="1" dirty="0">
                <a:solidFill>
                  <a:srgbClr val="F59E0B"/>
                </a:solidFill>
              </a:rPr>
              <a:t>Streaming (Flink / Kafka)</a:t>
            </a:r>
            <a:endParaRPr lang="en-US" sz="1100" dirty="0"/>
          </a:p>
        </p:txBody>
      </p:sp>
      <p:sp>
        <p:nvSpPr>
          <p:cNvPr id="29" name="Text 27"/>
          <p:cNvSpPr/>
          <p:nvPr/>
        </p:nvSpPr>
        <p:spPr>
          <a:xfrm>
            <a:off x="3017520" y="4242816"/>
            <a:ext cx="3657600" cy="409342"/>
          </a:xfrm>
          <a:prstGeom prst="rect">
            <a:avLst/>
          </a:prstGeom>
          <a:noFill/>
          <a:ln/>
        </p:spPr>
        <p:txBody>
          <a:bodyPr wrap="square" lIns="0" tIns="0" rIns="0" bIns="0" rtlCol="0" anchor="ctr"/>
          <a:lstStyle/>
          <a:p>
            <a:pPr marL="0" indent="0">
              <a:buNone/>
            </a:pPr>
            <a:r>
              <a:rPr lang="en-US" sz="900" dirty="0">
                <a:solidFill>
                  <a:srgbClr val="166534"/>
                </a:solidFill>
              </a:rPr>
              <a:t>✓ Continuous data processing</a:t>
            </a:r>
          </a:p>
          <a:p>
            <a:r>
              <a:rPr lang="en-US" sz="900" dirty="0">
                <a:solidFill>
                  <a:srgbClr val="166534"/>
                </a:solidFill>
              </a:rPr>
              <a:t>✓ Low-latency requirements</a:t>
            </a:r>
          </a:p>
          <a:p>
            <a:r>
              <a:rPr lang="en-US" sz="900" dirty="0">
                <a:solidFill>
                  <a:srgbClr val="166534"/>
                </a:solidFill>
              </a:rPr>
              <a:t>✓ Real-time decision systems</a:t>
            </a:r>
            <a:endParaRPr lang="en-US" sz="900" dirty="0"/>
          </a:p>
        </p:txBody>
      </p:sp>
      <p:sp>
        <p:nvSpPr>
          <p:cNvPr id="30" name="Text 28"/>
          <p:cNvSpPr/>
          <p:nvPr/>
        </p:nvSpPr>
        <p:spPr>
          <a:xfrm>
            <a:off x="3017520" y="4652158"/>
            <a:ext cx="5303520" cy="274320"/>
          </a:xfrm>
          <a:prstGeom prst="rect">
            <a:avLst/>
          </a:prstGeom>
          <a:noFill/>
          <a:ln/>
        </p:spPr>
        <p:txBody>
          <a:bodyPr wrap="square" lIns="0" tIns="0" rIns="0" bIns="0" rtlCol="0" anchor="ctr"/>
          <a:lstStyle/>
          <a:p>
            <a:pPr marL="0" indent="0">
              <a:buNone/>
            </a:pPr>
            <a:r>
              <a:rPr lang="en-US" sz="900" dirty="0">
                <a:solidFill>
                  <a:srgbClr val="991B1B"/>
                </a:solidFill>
              </a:rPr>
              <a:t>✗Not need for batch analysis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3A4B"/>
          </a:solidFill>
          <a:ln w="12700">
            <a:solidFill>
              <a:srgbClr val="1B3A4B"/>
            </a:solidFill>
            <a:prstDash val="solid"/>
          </a:ln>
        </p:spPr>
        <p:txBody>
          <a:bodyPr/>
          <a:lstStyle/>
          <a:p>
            <a:endParaRPr lang="en-LU"/>
          </a:p>
        </p:txBody>
      </p:sp>
      <p:sp>
        <p:nvSpPr>
          <p:cNvPr id="8" name="Text 6"/>
          <p:cNvSpPr/>
          <p:nvPr/>
        </p:nvSpPr>
        <p:spPr>
          <a:xfrm>
            <a:off x="2204357" y="1319350"/>
            <a:ext cx="5029200" cy="594360"/>
          </a:xfrm>
          <a:prstGeom prst="rect">
            <a:avLst/>
          </a:prstGeom>
          <a:noFill/>
          <a:ln/>
        </p:spPr>
        <p:txBody>
          <a:bodyPr wrap="square" lIns="0" tIns="0" rIns="0" bIns="0" rtlCol="0" anchor="ctr"/>
          <a:lstStyle/>
          <a:p>
            <a:pPr marL="0" indent="0">
              <a:buNone/>
            </a:pPr>
            <a:r>
              <a:rPr lang="en-US" sz="2800" b="1" dirty="0">
                <a:solidFill>
                  <a:srgbClr val="FFFFFF"/>
                </a:solidFill>
              </a:rPr>
              <a:t>Thank you</a:t>
            </a:r>
            <a:endParaRPr lang="en-US" sz="2800" dirty="0"/>
          </a:p>
        </p:txBody>
      </p:sp>
      <p:sp>
        <p:nvSpPr>
          <p:cNvPr id="10" name="Shape 8"/>
          <p:cNvSpPr/>
          <p:nvPr/>
        </p:nvSpPr>
        <p:spPr>
          <a:xfrm>
            <a:off x="2204357" y="2416630"/>
            <a:ext cx="5029200" cy="457200"/>
          </a:xfrm>
          <a:prstGeom prst="rect">
            <a:avLst/>
          </a:prstGeom>
          <a:solidFill>
            <a:srgbClr val="0D9488">
              <a:alpha val="10000"/>
            </a:srgbClr>
          </a:solidFill>
          <a:ln w="6350">
            <a:solidFill>
              <a:srgbClr val="0D9488"/>
            </a:solidFill>
            <a:prstDash val="solid"/>
          </a:ln>
        </p:spPr>
        <p:txBody>
          <a:bodyPr/>
          <a:lstStyle/>
          <a:p>
            <a:endParaRPr lang="en-LU"/>
          </a:p>
        </p:txBody>
      </p:sp>
      <p:sp>
        <p:nvSpPr>
          <p:cNvPr id="11" name="Text 9"/>
          <p:cNvSpPr/>
          <p:nvPr/>
        </p:nvSpPr>
        <p:spPr>
          <a:xfrm>
            <a:off x="2387237" y="2416630"/>
            <a:ext cx="4846320" cy="457200"/>
          </a:xfrm>
          <a:prstGeom prst="rect">
            <a:avLst/>
          </a:prstGeom>
          <a:noFill/>
          <a:ln/>
        </p:spPr>
        <p:txBody>
          <a:bodyPr wrap="square" lIns="0" tIns="0" rIns="0" bIns="0" rtlCol="0" anchor="ctr"/>
          <a:lstStyle/>
          <a:p>
            <a:pPr marL="0" indent="0">
              <a:buNone/>
            </a:pPr>
            <a:r>
              <a:rPr lang="en-US" sz="1100" dirty="0">
                <a:solidFill>
                  <a:srgbClr val="14B8A6"/>
                </a:solidFill>
              </a:rPr>
              <a:t>Introduction to HPDA  ·  Scynergy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1398</TotalTime>
  <Words>9377</Words>
  <Application>Microsoft Macintosh PowerPoint</Application>
  <PresentationFormat>On-screen Show (16:9)</PresentationFormat>
  <Paragraphs>765</Paragraphs>
  <Slides>25</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.AppleSystemUIFont</vt:lpstr>
      <vt:lpstr>Aptos</vt:lpstr>
      <vt:lpstr>Arial</vt:lpstr>
      <vt:lpstr>Calibri</vt:lpstr>
      <vt:lpstr>Consolas</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Aleksandra RANCIC</cp:lastModifiedBy>
  <cp:revision>63</cp:revision>
  <dcterms:created xsi:type="dcterms:W3CDTF">2013-01-27T09:14:16Z</dcterms:created>
  <dcterms:modified xsi:type="dcterms:W3CDTF">2026-07-10T09:17:03Z</dcterms:modified>
  <cp:category/>
</cp:coreProperties>
</file>