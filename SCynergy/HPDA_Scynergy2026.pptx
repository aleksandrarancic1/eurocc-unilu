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91" r:id="rId7"/>
    <p:sldId id="261" r:id="rId8"/>
    <p:sldId id="263" r:id="rId9"/>
    <p:sldId id="265" r:id="rId10"/>
    <p:sldId id="266" r:id="rId11"/>
    <p:sldId id="267" r:id="rId12"/>
    <p:sldId id="269" r:id="rId13"/>
    <p:sldId id="292" r:id="rId14"/>
    <p:sldId id="293" r:id="rId15"/>
    <p:sldId id="271" r:id="rId16"/>
    <p:sldId id="294" r:id="rId17"/>
    <p:sldId id="295" r:id="rId18"/>
    <p:sldId id="275" r:id="rId19"/>
    <p:sldId id="281" r:id="rId20"/>
    <p:sldId id="284" r:id="rId21"/>
    <p:sldId id="285" r:id="rId22"/>
    <p:sldId id="290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B34F"/>
    <a:srgbClr val="FED855"/>
    <a:srgbClr val="F4D1A5"/>
    <a:srgbClr val="36DAD4"/>
    <a:srgbClr val="94A3B8"/>
    <a:srgbClr val="7F7F7F"/>
    <a:srgbClr val="000000"/>
    <a:srgbClr val="117F88"/>
    <a:srgbClr val="4C8C7A"/>
    <a:srgbClr val="72A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78"/>
    <p:restoredTop sz="91487"/>
  </p:normalViewPr>
  <p:slideViewPr>
    <p:cSldViewPr snapToGrid="0" snapToObjects="1">
      <p:cViewPr>
        <p:scale>
          <a:sx n="66" d="100"/>
          <a:sy n="66" d="100"/>
        </p:scale>
        <p:origin x="424" y="8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1" i="0" u="none" strike="noStrike" kern="1200" cap="none" spc="20" baseline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GB" sz="1600" b="1" dirty="0"/>
              <a:t>Pipeline Execution Time: CSV vs Parquet (50M rows)</a:t>
            </a:r>
          </a:p>
        </c:rich>
      </c:tx>
      <c:layout>
        <c:manualLayout>
          <c:xMode val="edge"/>
          <c:yMode val="edge"/>
          <c:x val="0.1177614237354492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1" i="0" u="none" strike="noStrike" kern="1200" cap="none" spc="20" baseline="0">
              <a:solidFill>
                <a:prstClr val="black">
                  <a:lumMod val="50000"/>
                  <a:lumOff val="50000"/>
                </a:prstClr>
              </a:solidFill>
              <a:latin typeface="+mn-lt"/>
              <a:ea typeface="+mn-ea"/>
              <a:cs typeface="+mn-cs"/>
            </a:defRPr>
          </a:pPr>
          <a:endParaRPr lang="en-L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CSV (s)</c:v>
                </c:pt>
              </c:strCache>
            </c:strRef>
          </c:tx>
          <c:spPr>
            <a:solidFill>
              <a:srgbClr val="D9534F"/>
            </a:solidFill>
            <a:ln w="9525" cap="flat" cmpd="sng" algn="ctr">
              <a:solidFill>
                <a:srgbClr val="C00000"/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L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Load</c:v>
                </c:pt>
                <c:pt idx="1">
                  <c:v>Compute (B-E)</c:v>
                </c:pt>
                <c:pt idx="2">
                  <c:v>TOTAL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867.09</c:v>
                </c:pt>
                <c:pt idx="1">
                  <c:v>9.5299999999999994</c:v>
                </c:pt>
                <c:pt idx="2">
                  <c:v>876.62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03-2045-91AF-F4A708FF89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Parquet (s)</c:v>
                </c:pt>
              </c:strCache>
            </c:strRef>
          </c:tx>
          <c:spPr>
            <a:solidFill>
              <a:srgbClr val="4C8C7A"/>
            </a:solidFill>
            <a:ln w="9525" cap="flat" cmpd="sng" algn="ctr">
              <a:solidFill>
                <a:srgbClr val="2F7F7A"/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L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Load</c:v>
                </c:pt>
                <c:pt idx="1">
                  <c:v>Compute (B-E)</c:v>
                </c:pt>
                <c:pt idx="2">
                  <c:v>TOTAL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8.01</c:v>
                </c:pt>
                <c:pt idx="1">
                  <c:v>6.6</c:v>
                </c:pt>
                <c:pt idx="2">
                  <c:v>14.61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03-2045-91AF-F4A708FF893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12072511"/>
        <c:axId val="1112044223"/>
      </c:barChart>
      <c:catAx>
        <c:axId val="1112072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LU"/>
          </a:p>
        </c:txPr>
        <c:crossAx val="1112044223"/>
        <c:crosses val="autoZero"/>
        <c:auto val="1"/>
        <c:lblAlgn val="ctr"/>
        <c:lblOffset val="100"/>
        <c:noMultiLvlLbl val="0"/>
      </c:catAx>
      <c:valAx>
        <c:axId val="1112044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LU"/>
          </a:p>
        </c:txPr>
        <c:crossAx val="1112072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L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L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600" dirty="0"/>
              <a:t>Pipeline execution</a:t>
            </a:r>
            <a:r>
              <a:rPr lang="en-GB" sz="1600" baseline="0" dirty="0"/>
              <a:t> time</a:t>
            </a:r>
          </a:p>
          <a:p>
            <a:pPr>
              <a:defRPr sz="1600"/>
            </a:pPr>
            <a:r>
              <a:rPr lang="en-GB" sz="1600" baseline="0" dirty="0"/>
              <a:t>Same pipeline · 32 cores · Parquet input </a:t>
            </a:r>
            <a:endParaRPr lang="en-GB" sz="1600" dirty="0"/>
          </a:p>
        </c:rich>
      </c:tx>
      <c:layout>
        <c:manualLayout>
          <c:xMode val="edge"/>
          <c:yMode val="edge"/>
          <c:x val="0.16267383134917393"/>
          <c:y val="3.26695666266228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L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pandas (s)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~128 MB</c:v>
                </c:pt>
                <c:pt idx="1">
                  <c:v>~1278 MB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0.54</c:v>
                </c:pt>
                <c:pt idx="1">
                  <c:v>4.62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F2-804D-A9D6-4CACAA256C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Dask (s)</c:v>
                </c:pt>
              </c:strCache>
            </c:strRef>
          </c:tx>
          <c:spPr>
            <a:solidFill>
              <a:schemeClr val="accent2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~128 MB</c:v>
                </c:pt>
                <c:pt idx="1">
                  <c:v>~1278 MB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2.02</c:v>
                </c:pt>
                <c:pt idx="1">
                  <c:v>3.71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F2-804D-A9D6-4CACAA256C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80307519"/>
        <c:axId val="1080299903"/>
      </c:barChart>
      <c:catAx>
        <c:axId val="1080307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LU"/>
          </a:p>
        </c:txPr>
        <c:crossAx val="1080299903"/>
        <c:crosses val="autoZero"/>
        <c:auto val="1"/>
        <c:lblAlgn val="ctr"/>
        <c:lblOffset val="100"/>
        <c:noMultiLvlLbl val="0"/>
      </c:catAx>
      <c:valAx>
        <c:axId val="1080299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LU"/>
          </a:p>
        </c:txPr>
        <c:crossAx val="10803075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L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L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600" dirty="0"/>
              <a:t>Execution</a:t>
            </a:r>
            <a:r>
              <a:rPr lang="en-GB" sz="1600" baseline="0" dirty="0"/>
              <a:t> Time (s) by Scheduler (smaller vs larger dataset)</a:t>
            </a:r>
            <a:endParaRPr lang="en-GB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Small dataset (~128 MB)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synchronous</c:v>
                </c:pt>
                <c:pt idx="1">
                  <c:v>threads</c:v>
                </c:pt>
                <c:pt idx="2">
                  <c:v>processes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1.48</c:v>
                </c:pt>
                <c:pt idx="1">
                  <c:v>0.92</c:v>
                </c:pt>
                <c:pt idx="2">
                  <c:v>34.32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9B-8D4A-B1A6-F0BFB5B428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Larger dataset (1278 MB)</c:v>
                </c:pt>
              </c:strCache>
            </c:strRef>
          </c:tx>
          <c:spPr>
            <a:solidFill>
              <a:schemeClr val="accent4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synchronous</c:v>
                </c:pt>
                <c:pt idx="1">
                  <c:v>threads</c:v>
                </c:pt>
                <c:pt idx="2">
                  <c:v>processes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13.86</c:v>
                </c:pt>
                <c:pt idx="1">
                  <c:v>3.31</c:v>
                </c:pt>
                <c:pt idx="2">
                  <c:v>50.43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9B-8D4A-B1A6-F0BFB5B428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67956223"/>
        <c:axId val="1067952191"/>
      </c:barChart>
      <c:catAx>
        <c:axId val="1067956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LU"/>
          </a:p>
        </c:txPr>
        <c:crossAx val="1067952191"/>
        <c:crosses val="autoZero"/>
        <c:auto val="1"/>
        <c:lblAlgn val="ctr"/>
        <c:lblOffset val="100"/>
        <c:noMultiLvlLbl val="0"/>
      </c:catAx>
      <c:valAx>
        <c:axId val="1067952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LU"/>
          </a:p>
        </c:txPr>
        <c:crossAx val="1067956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L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L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Effect of Partition Count on Execution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L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Small dataset (~128 MB)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2.37</c:v>
                </c:pt>
                <c:pt idx="1">
                  <c:v>1.37</c:v>
                </c:pt>
                <c:pt idx="2">
                  <c:v>1.39</c:v>
                </c:pt>
                <c:pt idx="3">
                  <c:v>2.15</c:v>
                </c:pt>
                <c:pt idx="4">
                  <c:v>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8D-EF4D-9590-4C9232F58E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Larger dataset (~1278 MB)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12.09</c:v>
                </c:pt>
                <c:pt idx="1">
                  <c:v>3.56</c:v>
                </c:pt>
                <c:pt idx="2">
                  <c:v>2.99</c:v>
                </c:pt>
                <c:pt idx="3">
                  <c:v>3.89</c:v>
                </c:pt>
                <c:pt idx="4">
                  <c:v>6.24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8D-EF4D-9590-4C9232F58E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2088895"/>
        <c:axId val="1252281407"/>
      </c:lineChart>
      <c:catAx>
        <c:axId val="1112088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LU"/>
          </a:p>
        </c:txPr>
        <c:crossAx val="1252281407"/>
        <c:crosses val="autoZero"/>
        <c:auto val="1"/>
        <c:lblAlgn val="ctr"/>
        <c:lblOffset val="100"/>
        <c:noMultiLvlLbl val="0"/>
      </c:catAx>
      <c:valAx>
        <c:axId val="1252281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LU"/>
          </a:p>
        </c:txPr>
        <c:crossAx val="1112088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L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L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59871-E47D-E44F-A1DB-7FA53C501ACE}" type="datetimeFigureOut">
              <a:rPr lang="en-LU" smtClean="0"/>
              <a:t>15/04/2026</a:t>
            </a:fld>
            <a:endParaRPr lang="en-L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8CBE3-8885-9F42-A1AF-D0A0D7B6B611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583310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8CBE3-8885-9F42-A1AF-D0A0D7B6B611}" type="slidenum">
              <a:rPr lang="en-LU" smtClean="0"/>
              <a:t>3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420651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8CBE3-8885-9F42-A1AF-D0A0D7B6B611}" type="slidenum">
              <a:rPr lang="en-LU" smtClean="0"/>
              <a:t>5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3088855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8CBE3-8885-9F42-A1AF-D0A0D7B6B611}" type="slidenum">
              <a:rPr lang="en-LU" smtClean="0"/>
              <a:t>20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3916028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8CBE3-8885-9F42-A1AF-D0A0D7B6B611}" type="slidenum">
              <a:rPr lang="en-LU" smtClean="0"/>
              <a:t>21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00193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3931920"/>
            <a:ext cx="5943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4B8A6"/>
                </a:solidFill>
              </a:rPr>
              <a:t>INTRODUCTION 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High-Performance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Data Analytics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94A3B8"/>
                </a:solidFill>
              </a:rPr>
              <a:t>SCynergy</a:t>
            </a:r>
            <a:r>
              <a:rPr lang="en-US" sz="1300" dirty="0">
                <a:solidFill>
                  <a:srgbClr val="94A3B8"/>
                </a:solidFill>
              </a:rPr>
              <a:t>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Session 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</a:rPr>
              <a:t>From Pandas bottlenecks to scalable analytics on a single node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64382"/>
            <a:ext cx="8503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6" name="Shape 4"/>
          <p:cNvSpPr/>
          <p:nvPr/>
        </p:nvSpPr>
        <p:spPr>
          <a:xfrm>
            <a:off x="320040" y="1364382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7" name="Shape 5"/>
          <p:cNvSpPr/>
          <p:nvPr/>
        </p:nvSpPr>
        <p:spPr>
          <a:xfrm>
            <a:off x="320040" y="1364382"/>
            <a:ext cx="1188720" cy="5486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8" name="Text 6"/>
          <p:cNvSpPr/>
          <p:nvPr/>
        </p:nvSpPr>
        <p:spPr>
          <a:xfrm>
            <a:off x="384048" y="1364382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0–10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72768" y="141010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Why Performance Matters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72768" y="163870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scale, latency, cost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95318"/>
            <a:ext cx="8503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14" name="Shape 12"/>
          <p:cNvSpPr/>
          <p:nvPr/>
        </p:nvSpPr>
        <p:spPr>
          <a:xfrm>
            <a:off x="320040" y="1995318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5" name="Shape 13"/>
          <p:cNvSpPr/>
          <p:nvPr/>
        </p:nvSpPr>
        <p:spPr>
          <a:xfrm>
            <a:off x="320040" y="1995318"/>
            <a:ext cx="118872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6" name="Text 14"/>
          <p:cNvSpPr/>
          <p:nvPr/>
        </p:nvSpPr>
        <p:spPr>
          <a:xfrm>
            <a:off x="384048" y="199531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10–40 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72768" y="204103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is HPDA?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72768" y="226963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Where Pandas breaks at scale? </a:t>
            </a:r>
            <a:r>
              <a:rPr lang="en-US" sz="1000" b="1" dirty="0">
                <a:solidFill>
                  <a:srgbClr val="94A3B8"/>
                </a:solidFill>
              </a:rPr>
              <a:t>Exercise 1: Baseline &amp; profiling</a:t>
            </a:r>
            <a:endParaRPr lang="en-US" sz="1000" b="1" dirty="0"/>
          </a:p>
        </p:txBody>
      </p:sp>
      <p:sp>
        <p:nvSpPr>
          <p:cNvPr id="21" name="Shape 19"/>
          <p:cNvSpPr/>
          <p:nvPr/>
        </p:nvSpPr>
        <p:spPr>
          <a:xfrm>
            <a:off x="320040" y="2626254"/>
            <a:ext cx="8503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22" name="Shape 20"/>
          <p:cNvSpPr/>
          <p:nvPr/>
        </p:nvSpPr>
        <p:spPr>
          <a:xfrm>
            <a:off x="320040" y="2626254"/>
            <a:ext cx="54864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3" name="Shape 21"/>
          <p:cNvSpPr/>
          <p:nvPr/>
        </p:nvSpPr>
        <p:spPr>
          <a:xfrm>
            <a:off x="320040" y="2626254"/>
            <a:ext cx="1188720" cy="54864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4" name="Text 22"/>
          <p:cNvSpPr/>
          <p:nvPr/>
        </p:nvSpPr>
        <p:spPr>
          <a:xfrm>
            <a:off x="384048" y="2626254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40–70 min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72768" y="267197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Parallelism: When it helps?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72768" y="290057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Data </a:t>
            </a:r>
            <a:r>
              <a:rPr lang="en-US" sz="1000" dirty="0">
                <a:solidFill>
                  <a:srgbClr val="94A3B8"/>
                </a:solidFill>
                <a:sym typeface="Wingdings" pitchFamily="2" charset="2"/>
              </a:rPr>
              <a:t> Compute  Parallel execution model. </a:t>
            </a:r>
            <a:r>
              <a:rPr lang="en-US" sz="1000" b="1" dirty="0">
                <a:solidFill>
                  <a:srgbClr val="94A3B8"/>
                </a:solidFill>
                <a:sym typeface="Wingdings" pitchFamily="2" charset="2"/>
              </a:rPr>
              <a:t>Exercise 2: Parallelism with </a:t>
            </a:r>
            <a:r>
              <a:rPr lang="en-US" sz="1000" b="1" dirty="0" err="1">
                <a:solidFill>
                  <a:srgbClr val="94A3B8"/>
                </a:solidFill>
                <a:sym typeface="Wingdings" pitchFamily="2" charset="2"/>
              </a:rPr>
              <a:t>Dask</a:t>
            </a:r>
            <a:endParaRPr lang="en-US" sz="1000" b="1" dirty="0">
              <a:solidFill>
                <a:srgbClr val="94A3B8"/>
              </a:solidFill>
              <a:sym typeface="Wingdings" pitchFamily="2" charset="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" y="3257190"/>
            <a:ext cx="8503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30" name="Shape 28"/>
          <p:cNvSpPr/>
          <p:nvPr/>
        </p:nvSpPr>
        <p:spPr>
          <a:xfrm>
            <a:off x="320040" y="3257190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1" name="Shape 29"/>
          <p:cNvSpPr/>
          <p:nvPr/>
        </p:nvSpPr>
        <p:spPr>
          <a:xfrm>
            <a:off x="320040" y="3257190"/>
            <a:ext cx="1188720" cy="54864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2" name="Text 30"/>
          <p:cNvSpPr/>
          <p:nvPr/>
        </p:nvSpPr>
        <p:spPr>
          <a:xfrm>
            <a:off x="384048" y="325719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70–80 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72768" y="330291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From results to decision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572768" y="353151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When to use pandas vs </a:t>
            </a:r>
            <a:r>
              <a:rPr lang="en-US" sz="1000" dirty="0" err="1">
                <a:solidFill>
                  <a:srgbClr val="94A3B8"/>
                </a:solidFill>
              </a:rPr>
              <a:t>Dask</a:t>
            </a:r>
            <a:r>
              <a:rPr lang="en-US" sz="1000" dirty="0">
                <a:solidFill>
                  <a:srgbClr val="94A3B8"/>
                </a:solidFill>
              </a:rPr>
              <a:t>, partitioning intuition, bottleneck thinking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888126"/>
            <a:ext cx="8503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41" name="Text 39"/>
          <p:cNvSpPr/>
          <p:nvPr/>
        </p:nvSpPr>
        <p:spPr>
          <a:xfrm>
            <a:off x="1572768" y="3993221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Takeaways &amp; Practical Rules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20040" y="3887533"/>
            <a:ext cx="54864" cy="548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47" name="Shape 45"/>
          <p:cNvSpPr/>
          <p:nvPr/>
        </p:nvSpPr>
        <p:spPr>
          <a:xfrm>
            <a:off x="320040" y="3888126"/>
            <a:ext cx="1188720" cy="548640"/>
          </a:xfrm>
          <a:prstGeom prst="rect">
            <a:avLst/>
          </a:prstGeom>
          <a:solidFill>
            <a:srgbClr val="334155">
              <a:alpha val="12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48" name="Text 46"/>
          <p:cNvSpPr/>
          <p:nvPr/>
        </p:nvSpPr>
        <p:spPr>
          <a:xfrm>
            <a:off x="384048" y="3888126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85–90 min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High-Performance Data Analytics?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5216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</a:rPr>
              <a:t>The analytics spectrum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1417320"/>
            <a:ext cx="2926080" cy="71323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8" name="Text 16"/>
          <p:cNvSpPr/>
          <p:nvPr/>
        </p:nvSpPr>
        <p:spPr>
          <a:xfrm>
            <a:off x="5989320" y="1481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Spreadsheet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89320" y="1719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Fits in memory, manual analysis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2286000"/>
            <a:ext cx="2926080" cy="71323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1" name="Text 19"/>
          <p:cNvSpPr/>
          <p:nvPr/>
        </p:nvSpPr>
        <p:spPr>
          <a:xfrm>
            <a:off x="5989320" y="2350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</a:rPr>
              <a:t>RDBMS / BI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89320" y="26400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</a:rPr>
              <a:t>Single-node SQL, performance handled by the database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3154680"/>
            <a:ext cx="2926080" cy="713232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4" name="Text 22"/>
          <p:cNvSpPr/>
          <p:nvPr/>
        </p:nvSpPr>
        <p:spPr>
          <a:xfrm>
            <a:off x="5989320" y="3218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HPDA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89320" y="3495621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Single-node limit reached </a:t>
            </a:r>
            <a:r>
              <a:rPr lang="en-US" sz="1000" dirty="0">
                <a:solidFill>
                  <a:srgbClr val="FFFFFF"/>
                </a:solidFill>
                <a:sym typeface="Wingdings" pitchFamily="2" charset="2"/>
              </a:rPr>
              <a:t> parallel execution required</a:t>
            </a:r>
            <a:endParaRPr lang="en-US" sz="10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0D500E5-B9C0-A09F-EDC0-03F3A95DA104}"/>
              </a:ext>
            </a:extLst>
          </p:cNvPr>
          <p:cNvGrpSpPr/>
          <p:nvPr/>
        </p:nvGrpSpPr>
        <p:grpSpPr>
          <a:xfrm>
            <a:off x="5852160" y="4023360"/>
            <a:ext cx="2926080" cy="713232"/>
            <a:chOff x="5852160" y="4023360"/>
            <a:chExt cx="2926080" cy="713232"/>
          </a:xfrm>
          <a:gradFill>
            <a:gsLst>
              <a:gs pos="33000">
                <a:srgbClr val="E1E4EC"/>
              </a:gs>
              <a:gs pos="33000">
                <a:schemeClr val="bg1">
                  <a:lumMod val="75000"/>
                  <a:alpha val="59844"/>
                </a:schemeClr>
              </a:gs>
              <a:gs pos="83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</p:grpSpPr>
        <p:sp>
          <p:nvSpPr>
            <p:cNvPr id="26" name="Shape 24"/>
            <p:cNvSpPr/>
            <p:nvPr/>
          </p:nvSpPr>
          <p:spPr>
            <a:xfrm>
              <a:off x="5852160" y="4023360"/>
              <a:ext cx="2926080" cy="713232"/>
            </a:xfrm>
            <a:prstGeom prst="rect">
              <a:avLst/>
            </a:prstGeom>
            <a:grpFill/>
            <a:ln w="6350">
              <a:solidFill>
                <a:srgbClr val="E2E8F0">
                  <a:alpha val="54865"/>
                </a:srgbClr>
              </a:solidFill>
              <a:prstDash val="solid"/>
            </a:ln>
          </p:spPr>
          <p:txBody>
            <a:bodyPr/>
            <a:lstStyle/>
            <a:p>
              <a:endParaRPr lang="en-LU">
                <a:solidFill>
                  <a:schemeClr val="tx1">
                    <a:lumMod val="65000"/>
                    <a:lumOff val="35000"/>
                    <a:alpha val="69000"/>
                  </a:schemeClr>
                </a:solidFill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5989320" y="4087368"/>
              <a:ext cx="2651760" cy="2743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tx1">
                      <a:lumMod val="65000"/>
                      <a:lumOff val="35000"/>
                      <a:alpha val="69000"/>
                    </a:schemeClr>
                  </a:solidFill>
                </a:rPr>
                <a:t>Real-time / AI</a:t>
              </a:r>
              <a:endParaRPr lang="en-US" sz="1300" dirty="0">
                <a:solidFill>
                  <a:schemeClr val="tx1">
                    <a:lumMod val="65000"/>
                    <a:lumOff val="35000"/>
                    <a:alpha val="69000"/>
                  </a:schemeClr>
                </a:solidFill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5989320" y="4364301"/>
              <a:ext cx="2651760" cy="2743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  <a:alpha val="69000"/>
                    </a:schemeClr>
                  </a:solidFill>
                </a:rPr>
                <a:t>Continuous processing, strict latency constraints</a:t>
              </a:r>
            </a:p>
            <a:p>
              <a:pPr marL="0" indent="0">
                <a:buNone/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  <a:alpha val="69000"/>
                    </a:schemeClr>
                  </a:solidFill>
                </a:rPr>
                <a:t>(beyond this session)</a:t>
              </a:r>
            </a:p>
          </p:txBody>
        </p:sp>
      </p:grpSp>
      <p:sp>
        <p:nvSpPr>
          <p:cNvPr id="5" name="Text 3"/>
          <p:cNvSpPr/>
          <p:nvPr/>
        </p:nvSpPr>
        <p:spPr>
          <a:xfrm>
            <a:off x="365760" y="1084217"/>
            <a:ext cx="5212081" cy="338328"/>
          </a:xfrm>
          <a:prstGeom prst="rect">
            <a:avLst/>
          </a:prstGeom>
          <a:solidFill>
            <a:srgbClr val="0E8078"/>
          </a:solidFill>
          <a:ln>
            <a:solidFill>
              <a:srgbClr val="0E807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HPDA = Analytics under scale and performance constraints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863349-EFA5-57B1-7E10-A76EA484532C}"/>
              </a:ext>
            </a:extLst>
          </p:cNvPr>
          <p:cNvSpPr txBox="1"/>
          <p:nvPr/>
        </p:nvSpPr>
        <p:spPr>
          <a:xfrm>
            <a:off x="365761" y="1376446"/>
            <a:ext cx="5212080" cy="1674754"/>
          </a:xfrm>
          <a:prstGeom prst="rect">
            <a:avLst/>
          </a:prstGeom>
          <a:noFill/>
          <a:ln>
            <a:solidFill>
              <a:srgbClr val="0E807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08079"/>
              </a:buClr>
              <a:buFont typeface="Arial" panose="020B0604020202020204" pitchFamily="34" charset="0"/>
              <a:buChar char="•"/>
            </a:pPr>
            <a:r>
              <a:rPr lang="en-LU" sz="1400" b="1" dirty="0"/>
              <a:t>Large data </a:t>
            </a:r>
            <a:r>
              <a:rPr lang="en-LU" sz="1400" dirty="0"/>
              <a:t>that no longer fits in memory</a:t>
            </a:r>
          </a:p>
          <a:p>
            <a:pPr marL="285750" indent="-285750">
              <a:lnSpc>
                <a:spcPct val="150000"/>
              </a:lnSpc>
              <a:buClr>
                <a:srgbClr val="108079"/>
              </a:buClr>
              <a:buFont typeface="Arial" panose="020B0604020202020204" pitchFamily="34" charset="0"/>
              <a:buChar char="•"/>
            </a:pPr>
            <a:r>
              <a:rPr lang="en-LU" sz="1400" b="1" dirty="0"/>
              <a:t>Execution time </a:t>
            </a:r>
            <a:r>
              <a:rPr lang="en-LU" sz="1400" dirty="0"/>
              <a:t>must be reduced via </a:t>
            </a:r>
            <a:r>
              <a:rPr lang="en-LU" sz="1400" b="1" dirty="0"/>
              <a:t>parallelism</a:t>
            </a:r>
          </a:p>
          <a:p>
            <a:pPr marL="285750" indent="-285750">
              <a:lnSpc>
                <a:spcPct val="150000"/>
              </a:lnSpc>
              <a:buClr>
                <a:srgbClr val="108079"/>
              </a:buClr>
              <a:buFont typeface="Arial" panose="020B0604020202020204" pitchFamily="34" charset="0"/>
              <a:buChar char="•"/>
            </a:pPr>
            <a:r>
              <a:rPr lang="en-LU" sz="1400" b="1" dirty="0"/>
              <a:t>I/O</a:t>
            </a:r>
            <a:r>
              <a:rPr lang="en-LU" sz="1400" dirty="0"/>
              <a:t> and </a:t>
            </a:r>
            <a:r>
              <a:rPr lang="en-LU" sz="1400" b="1" dirty="0"/>
              <a:t>data movement </a:t>
            </a:r>
            <a:r>
              <a:rPr lang="en-LU" sz="1400" dirty="0"/>
              <a:t>dominate performance</a:t>
            </a:r>
          </a:p>
          <a:p>
            <a:pPr marL="285750" indent="-285750">
              <a:lnSpc>
                <a:spcPct val="150000"/>
              </a:lnSpc>
              <a:buClr>
                <a:srgbClr val="108079"/>
              </a:buClr>
              <a:buFont typeface="Arial" panose="020B0604020202020204" pitchFamily="34" charset="0"/>
              <a:buChar char="•"/>
            </a:pPr>
            <a:r>
              <a:rPr lang="en-LU" sz="1400" dirty="0"/>
              <a:t>Workloads must be </a:t>
            </a:r>
            <a:r>
              <a:rPr lang="en-LU" sz="1400" b="1" dirty="0"/>
              <a:t>explicitly optimized </a:t>
            </a:r>
            <a:r>
              <a:rPr lang="en-LU" sz="1400" dirty="0"/>
              <a:t>(format, partitioning, execution)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F41D32B-A02C-5FE2-68DD-AB7AC9B3222C}"/>
              </a:ext>
            </a:extLst>
          </p:cNvPr>
          <p:cNvGrpSpPr/>
          <p:nvPr/>
        </p:nvGrpSpPr>
        <p:grpSpPr>
          <a:xfrm>
            <a:off x="365761" y="3249990"/>
            <a:ext cx="2560321" cy="1501475"/>
            <a:chOff x="293912" y="3392197"/>
            <a:chExt cx="2815046" cy="128373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BBB56EC-83D5-78ED-8076-1785143B4EB2}"/>
                </a:ext>
              </a:extLst>
            </p:cNvPr>
            <p:cNvSpPr txBox="1"/>
            <p:nvPr/>
          </p:nvSpPr>
          <p:spPr>
            <a:xfrm>
              <a:off x="293912" y="3675601"/>
              <a:ext cx="2815046" cy="1000329"/>
            </a:xfrm>
            <a:prstGeom prst="rect">
              <a:avLst/>
            </a:prstGeom>
            <a:solidFill>
              <a:srgbClr val="F7F3F1"/>
            </a:solidFill>
            <a:ln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F3CA7F"/>
                </a:buClr>
                <a:buFont typeface="Arial" panose="020B0604020202020204" pitchFamily="34" charset="0"/>
                <a:buChar char="•"/>
              </a:pPr>
              <a:r>
                <a:rPr lang="en-LU" sz="1400" dirty="0"/>
                <a:t>Single machine</a:t>
              </a:r>
            </a:p>
            <a:p>
              <a:pPr marL="285750" indent="-285750">
                <a:buClr>
                  <a:srgbClr val="F3CA7F"/>
                </a:buClr>
                <a:buFont typeface="Arial" panose="020B0604020202020204" pitchFamily="34" charset="0"/>
                <a:buChar char="•"/>
              </a:pPr>
              <a:r>
                <a:rPr lang="en-GB" sz="1400" dirty="0"/>
                <a:t>D</a:t>
              </a:r>
              <a:r>
                <a:rPr lang="en-LU" sz="1400" dirty="0"/>
                <a:t>ata fits in memory</a:t>
              </a:r>
            </a:p>
            <a:p>
              <a:pPr marL="285750" indent="-285750">
                <a:buClr>
                  <a:srgbClr val="F3CA7F"/>
                </a:buClr>
                <a:buFont typeface="Arial" panose="020B0604020202020204" pitchFamily="34" charset="0"/>
                <a:buChar char="•"/>
              </a:pPr>
              <a:r>
                <a:rPr lang="en-GB" sz="1400" dirty="0"/>
                <a:t>P</a:t>
              </a:r>
              <a:r>
                <a:rPr lang="en-LU" sz="1400" dirty="0"/>
                <a:t>erformance is acceptable by default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386DA98-55BF-B974-83FB-F0CBCAD913A1}"/>
                </a:ext>
              </a:extLst>
            </p:cNvPr>
            <p:cNvSpPr txBox="1"/>
            <p:nvPr/>
          </p:nvSpPr>
          <p:spPr>
            <a:xfrm>
              <a:off x="293913" y="3392197"/>
              <a:ext cx="2815045" cy="289326"/>
            </a:xfrm>
            <a:prstGeom prst="rect">
              <a:avLst/>
            </a:prstGeom>
            <a:solidFill>
              <a:srgbClr val="F3CA7F"/>
            </a:solidFill>
            <a:ln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LU" sz="1600" dirty="0"/>
                <a:t>TRADITIONAL ANALYTICS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7E0687-F8BD-A46F-BB03-DBDC7683F491}"/>
              </a:ext>
            </a:extLst>
          </p:cNvPr>
          <p:cNvGrpSpPr/>
          <p:nvPr/>
        </p:nvGrpSpPr>
        <p:grpSpPr>
          <a:xfrm>
            <a:off x="3017520" y="3249993"/>
            <a:ext cx="2560321" cy="1501027"/>
            <a:chOff x="293912" y="3392197"/>
            <a:chExt cx="2815046" cy="128334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998176A-7893-DD95-6497-D8962C5AEEB9}"/>
                </a:ext>
              </a:extLst>
            </p:cNvPr>
            <p:cNvSpPr txBox="1"/>
            <p:nvPr/>
          </p:nvSpPr>
          <p:spPr>
            <a:xfrm>
              <a:off x="293912" y="3675602"/>
              <a:ext cx="2815046" cy="999944"/>
            </a:xfrm>
            <a:prstGeom prst="rect">
              <a:avLst/>
            </a:prstGeom>
            <a:solidFill>
              <a:srgbClr val="DAF3F1"/>
            </a:solidFill>
            <a:ln>
              <a:solidFill>
                <a:srgbClr val="0E8078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0E8078"/>
                </a:buClr>
                <a:buFont typeface="Arial" panose="020B0604020202020204" pitchFamily="34" charset="0"/>
                <a:buChar char="•"/>
              </a:pPr>
              <a:r>
                <a:rPr lang="en-LU" sz="1400" dirty="0"/>
                <a:t>Multi-core / distributed execution</a:t>
              </a:r>
            </a:p>
            <a:p>
              <a:pPr marL="285750" indent="-285750">
                <a:buClr>
                  <a:srgbClr val="0E8078"/>
                </a:buClr>
                <a:buFont typeface="Arial" panose="020B0604020202020204" pitchFamily="34" charset="0"/>
                <a:buChar char="•"/>
              </a:pPr>
              <a:r>
                <a:rPr lang="en-GB" sz="1400" dirty="0"/>
                <a:t>D</a:t>
              </a:r>
              <a:r>
                <a:rPr lang="en-LU" sz="1400" dirty="0"/>
                <a:t>ata may exceed memory</a:t>
              </a:r>
            </a:p>
            <a:p>
              <a:pPr marL="285750" indent="-285750">
                <a:buClr>
                  <a:srgbClr val="0E8078"/>
                </a:buClr>
                <a:buFont typeface="Arial" panose="020B0604020202020204" pitchFamily="34" charset="0"/>
                <a:buChar char="•"/>
              </a:pPr>
              <a:r>
                <a:rPr lang="en-GB" sz="1400" dirty="0"/>
                <a:t>P</a:t>
              </a:r>
              <a:r>
                <a:rPr lang="en-LU" sz="1400" dirty="0"/>
                <a:t>erformance must be engineered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47C26D4-3060-47E3-16D8-A88FDBD9D3ED}"/>
                </a:ext>
              </a:extLst>
            </p:cNvPr>
            <p:cNvSpPr txBox="1"/>
            <p:nvPr/>
          </p:nvSpPr>
          <p:spPr>
            <a:xfrm>
              <a:off x="293913" y="3392197"/>
              <a:ext cx="2815045" cy="289457"/>
            </a:xfrm>
            <a:prstGeom prst="rect">
              <a:avLst/>
            </a:prstGeom>
            <a:solidFill>
              <a:srgbClr val="0E8078"/>
            </a:solidFill>
            <a:ln>
              <a:solidFill>
                <a:srgbClr val="0E8078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LU" sz="1600" dirty="0">
                  <a:solidFill>
                    <a:schemeClr val="bg1"/>
                  </a:solidFill>
                </a:rPr>
                <a:t>HPDA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011" y="26123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</a:rPr>
              <a:t>The Limits of Traditional Analytics</a:t>
            </a:r>
            <a:endParaRPr lang="en-US" sz="3000" dirty="0">
              <a:solidFill>
                <a:srgbClr val="0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74763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7F7A"/>
                </a:solidFill>
              </a:rPr>
              <a:t>Scale and complexity as system constraints</a:t>
            </a:r>
          </a:p>
        </p:txBody>
      </p:sp>
      <p:sp>
        <p:nvSpPr>
          <p:cNvPr id="6" name="Text 4"/>
          <p:cNvSpPr/>
          <p:nvPr/>
        </p:nvSpPr>
        <p:spPr>
          <a:xfrm>
            <a:off x="329185" y="110511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7F7A"/>
                </a:solidFill>
              </a:rPr>
              <a:t> Volume (memory constraint)</a:t>
            </a:r>
            <a:endParaRPr lang="en-US" sz="1600" dirty="0">
              <a:solidFill>
                <a:srgbClr val="2F7F7A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79475" y="1631871"/>
            <a:ext cx="2354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F7F7A"/>
                </a:solidFill>
              </a:rPr>
              <a:t>More data than RAM can hold</a:t>
            </a:r>
            <a:endParaRPr lang="en-US" sz="1400" dirty="0">
              <a:solidFill>
                <a:srgbClr val="2F7F7A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79475" y="23434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</a:rPr>
              <a:t>→ A single day of trading: ~4 TB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31559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</a:rPr>
              <a:t>Impact: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8930" y="3391267"/>
            <a:ext cx="1984249" cy="94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Cannot fit in memory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itchFamily="2" charset="2"/>
              </a:rPr>
              <a:t> failure or swapping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78123" y="1104513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8A2B"/>
                </a:solidFill>
              </a:rPr>
              <a:t>Velocity (latency pressure)</a:t>
            </a:r>
            <a:endParaRPr lang="en-US" sz="1600" dirty="0">
              <a:solidFill>
                <a:srgbClr val="D88A2B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64407" y="17661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88A2B"/>
                </a:solidFill>
              </a:rPr>
              <a:t>Data arriving faster than you can process</a:t>
            </a:r>
            <a:endParaRPr lang="en-US" sz="1400" dirty="0">
              <a:solidFill>
                <a:srgbClr val="D88A2B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28415" y="2345435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3A2A"/>
                </a:solidFill>
              </a:rPr>
              <a:t>→ Fraud decision: &lt;300 ms</a:t>
            </a:r>
          </a:p>
        </p:txBody>
      </p:sp>
      <p:sp>
        <p:nvSpPr>
          <p:cNvPr id="28" name="Text 26"/>
          <p:cNvSpPr/>
          <p:nvPr/>
        </p:nvSpPr>
        <p:spPr>
          <a:xfrm>
            <a:off x="3271265" y="31559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</a:rPr>
              <a:t>Impact: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01567" y="3345919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Batch processing becomes too slow.</a:t>
            </a:r>
          </a:p>
        </p:txBody>
      </p:sp>
      <p:sp>
        <p:nvSpPr>
          <p:cNvPr id="32" name="Text 30"/>
          <p:cNvSpPr/>
          <p:nvPr/>
        </p:nvSpPr>
        <p:spPr>
          <a:xfrm>
            <a:off x="6224451" y="1102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B4A"/>
                </a:solidFill>
              </a:rPr>
              <a:t>Variety (data complexity)</a:t>
            </a:r>
            <a:endParaRPr lang="en-US" sz="1600" dirty="0">
              <a:solidFill>
                <a:srgbClr val="2E2B4A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206162" y="164662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2B4A"/>
                </a:solidFill>
              </a:rPr>
              <a:t>Data in multiple formats</a:t>
            </a:r>
            <a:endParaRPr lang="en-US" sz="1400" dirty="0">
              <a:solidFill>
                <a:srgbClr val="2E2B4A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6224451" y="23434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3A2A"/>
                </a:solidFill>
              </a:rPr>
              <a:t>→ Tables + JSON + logs</a:t>
            </a:r>
          </a:p>
        </p:txBody>
      </p:sp>
      <p:sp>
        <p:nvSpPr>
          <p:cNvPr id="41" name="Text 39"/>
          <p:cNvSpPr/>
          <p:nvPr/>
        </p:nvSpPr>
        <p:spPr>
          <a:xfrm>
            <a:off x="6185915" y="3152063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2B4A"/>
                </a:solidFill>
              </a:rPr>
              <a:t>Impact:</a:t>
            </a:r>
            <a:endParaRPr lang="en-US" dirty="0">
              <a:solidFill>
                <a:srgbClr val="2E2B4A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44697" y="3345919"/>
            <a:ext cx="256750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Requires transformation before analysis</a:t>
            </a:r>
          </a:p>
        </p:txBody>
      </p:sp>
      <p:sp>
        <p:nvSpPr>
          <p:cNvPr id="44" name="Text 42"/>
          <p:cNvSpPr/>
          <p:nvPr/>
        </p:nvSpPr>
        <p:spPr>
          <a:xfrm>
            <a:off x="1247175" y="4728008"/>
            <a:ext cx="6741087" cy="358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78"/>
                </a:solidFill>
              </a:rPr>
              <a:t>HPDA addresses all three through parallelism, columnar storage, and optimized execution.</a:t>
            </a:r>
            <a:endParaRPr lang="en-US" sz="1400" dirty="0">
              <a:solidFill>
                <a:srgbClr val="2E8B78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1B41EFE-A726-E536-80D8-04D614A2077A}"/>
              </a:ext>
            </a:extLst>
          </p:cNvPr>
          <p:cNvSpPr/>
          <p:nvPr/>
        </p:nvSpPr>
        <p:spPr>
          <a:xfrm>
            <a:off x="223047" y="1102632"/>
            <a:ext cx="2714461" cy="3466105"/>
          </a:xfrm>
          <a:prstGeom prst="rect">
            <a:avLst/>
          </a:prstGeom>
          <a:noFill/>
          <a:ln>
            <a:solidFill>
              <a:srgbClr val="2F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05A57C-AA94-96DD-DAA7-0611EC5F2EF7}"/>
              </a:ext>
            </a:extLst>
          </p:cNvPr>
          <p:cNvSpPr/>
          <p:nvPr/>
        </p:nvSpPr>
        <p:spPr>
          <a:xfrm>
            <a:off x="3064546" y="1102632"/>
            <a:ext cx="2714461" cy="3466105"/>
          </a:xfrm>
          <a:prstGeom prst="rect">
            <a:avLst/>
          </a:prstGeom>
          <a:noFill/>
          <a:ln>
            <a:solidFill>
              <a:srgbClr val="D88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32F9DCD-3144-5F62-32D6-C318B232859B}"/>
              </a:ext>
            </a:extLst>
          </p:cNvPr>
          <p:cNvSpPr/>
          <p:nvPr/>
        </p:nvSpPr>
        <p:spPr>
          <a:xfrm>
            <a:off x="5972339" y="1102631"/>
            <a:ext cx="2714461" cy="3466105"/>
          </a:xfrm>
          <a:prstGeom prst="rect">
            <a:avLst/>
          </a:prstGeom>
          <a:noFill/>
          <a:ln>
            <a:solidFill>
              <a:srgbClr val="2E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</a:rPr>
              <a:t>Why Scale Became a Real Constraint?</a:t>
            </a:r>
            <a:endParaRPr lang="en-US" sz="3200" dirty="0">
              <a:solidFill>
                <a:srgbClr val="0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7F7A"/>
                </a:solidFill>
              </a:rPr>
              <a:t>Data scale and complexity are unavoidable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60520" cy="1508760"/>
          </a:xfrm>
          <a:prstGeom prst="rect">
            <a:avLst/>
          </a:prstGeom>
          <a:noFill/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5" name="Text 3"/>
          <p:cNvSpPr/>
          <p:nvPr/>
        </p:nvSpPr>
        <p:spPr>
          <a:xfrm>
            <a:off x="530352" y="1545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IoT &amp; connected devices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0352" y="18562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Continuous, high-frequency data streams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 Billions of events per hour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4160520" cy="1508760"/>
          </a:xfrm>
          <a:prstGeom prst="rect">
            <a:avLst/>
          </a:prstGeom>
          <a:noFill/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8" name="Text 6"/>
          <p:cNvSpPr/>
          <p:nvPr/>
        </p:nvSpPr>
        <p:spPr>
          <a:xfrm>
            <a:off x="4965192" y="1545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Customer behavior data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65192" y="18562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Every interaction generates data at scale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 Terabytes per day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4160520" cy="1508760"/>
          </a:xfrm>
          <a:prstGeom prst="rect">
            <a:avLst/>
          </a:prstGeom>
          <a:noFill/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1" name="Text 9"/>
          <p:cNvSpPr/>
          <p:nvPr/>
        </p:nvSpPr>
        <p:spPr>
          <a:xfrm>
            <a:off x="530352" y="3236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ML &amp; AI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" y="354787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Models require full-history data processing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 Sub-second inference + repeated training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00600" y="3108960"/>
            <a:ext cx="4160520" cy="1508760"/>
          </a:xfrm>
          <a:prstGeom prst="rect">
            <a:avLst/>
          </a:prstGeom>
          <a:noFill/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4" name="Text 12"/>
          <p:cNvSpPr/>
          <p:nvPr/>
        </p:nvSpPr>
        <p:spPr>
          <a:xfrm>
            <a:off x="4965192" y="3236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Regulation &amp; compliance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65192" y="354787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must be traceable and real-time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 Real-time reporting requirements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D946C6-9D47-806B-1BA0-D193F0F8BFC0}"/>
              </a:ext>
            </a:extLst>
          </p:cNvPr>
          <p:cNvSpPr txBox="1"/>
          <p:nvPr/>
        </p:nvSpPr>
        <p:spPr>
          <a:xfrm>
            <a:off x="1659888" y="4669766"/>
            <a:ext cx="5824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four increase pressure on memory, compute, and latency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2D0672-62EC-43B2-C0D5-7150358FF218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4EE35C-A858-B9C6-4AE7-D5FE9701CEA7}"/>
              </a:ext>
            </a:extLst>
          </p:cNvPr>
          <p:cNvSpPr/>
          <p:nvPr/>
        </p:nvSpPr>
        <p:spPr>
          <a:xfrm>
            <a:off x="365760" y="160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Exercise 1: Where is the bottleneck? </a:t>
            </a: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374F5D-E114-2B61-F79A-28DDF4118587}"/>
              </a:ext>
            </a:extLst>
          </p:cNvPr>
          <p:cNvSpPr txBox="1"/>
          <p:nvPr/>
        </p:nvSpPr>
        <p:spPr>
          <a:xfrm>
            <a:off x="215900" y="1295400"/>
            <a:ext cx="5410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Large transactions dataset (~5M rows)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Pandas pipeline becomes slow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LU" dirty="0"/>
          </a:p>
          <a:p>
            <a:endParaRPr lang="en-LU" dirty="0"/>
          </a:p>
          <a:p>
            <a:r>
              <a:rPr lang="en-LU" b="1" dirty="0">
                <a:solidFill>
                  <a:srgbClr val="0D9488"/>
                </a:solidFill>
              </a:rPr>
              <a:t>Task:</a:t>
            </a:r>
          </a:p>
          <a:p>
            <a:endParaRPr lang="en-LU" b="1" dirty="0">
              <a:solidFill>
                <a:srgbClr val="0D94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Identify </a:t>
            </a:r>
            <a:r>
              <a:rPr lang="en-LU" b="1" dirty="0"/>
              <a:t>where time is spent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Identify </a:t>
            </a:r>
            <a:r>
              <a:rPr lang="en-LU" b="1" dirty="0"/>
              <a:t>what limits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Estimate </a:t>
            </a:r>
            <a:r>
              <a:rPr lang="en-LU" b="1" dirty="0"/>
              <a:t>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3030FD-B62C-9921-BFFC-E65244A5D96A}"/>
              </a:ext>
            </a:extLst>
          </p:cNvPr>
          <p:cNvSpPr txBox="1"/>
          <p:nvPr/>
        </p:nvSpPr>
        <p:spPr>
          <a:xfrm>
            <a:off x="5956300" y="1993900"/>
            <a:ext cx="3200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b="1" dirty="0">
                <a:solidFill>
                  <a:srgbClr val="0D9488"/>
                </a:solidFill>
              </a:rPr>
              <a:t>Focus:</a:t>
            </a:r>
          </a:p>
          <a:p>
            <a:endParaRPr lang="en-LU" b="1" dirty="0">
              <a:solidFill>
                <a:srgbClr val="0D94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Think in terms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U" dirty="0"/>
              <a:t>CPU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U" dirty="0"/>
              <a:t>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U" dirty="0"/>
              <a:t>I/O</a:t>
            </a:r>
          </a:p>
        </p:txBody>
      </p:sp>
    </p:spTree>
    <p:extLst>
      <p:ext uri="{BB962C8B-B14F-4D97-AF65-F5344CB8AC3E}">
        <p14:creationId xmlns:p14="http://schemas.microsoft.com/office/powerpoint/2010/main" val="878317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/>
          <p:cNvSpPr/>
          <p:nvPr/>
        </p:nvSpPr>
        <p:spPr>
          <a:xfrm>
            <a:off x="365760" y="160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CSV &amp; Pandas Hit a Wall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 1 · BOTTLENECK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9" name="Text 7"/>
          <p:cNvSpPr/>
          <p:nvPr/>
        </p:nvSpPr>
        <p:spPr>
          <a:xfrm>
            <a:off x="502920" y="1216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</a:rPr>
              <a:t>Single-threaded parsing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2920" y="14721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pd.read_csv reads character by character on ONE CPU core. On a 64-core node you waste 63/64 of your compute.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3" name="Text 11"/>
          <p:cNvSpPr/>
          <p:nvPr/>
        </p:nvSpPr>
        <p:spPr>
          <a:xfrm>
            <a:off x="502920" y="2130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</a:rPr>
              <a:t>Row-based text format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2920" y="23865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CSV stores every column of every row, even if your query only needs 2 of 50 columns. All bytes must be read.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7" name="Text 15"/>
          <p:cNvSpPr/>
          <p:nvPr/>
        </p:nvSpPr>
        <p:spPr>
          <a:xfrm>
            <a:off x="502920" y="30449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</a:rPr>
              <a:t>No type information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920" y="33009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Every field is a string on disk. Pandas must infer or cast types, burning CPU on every read operation.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1" name="Text 19"/>
          <p:cNvSpPr/>
          <p:nvPr/>
        </p:nvSpPr>
        <p:spPr>
          <a:xfrm>
            <a:off x="502920" y="3959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</a:rPr>
              <a:t>Full in-memory load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2920" y="42153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The entire dataset must fit in RAM before any processing. A 5 GB CSV needs ~15 GB RAM after parse overhead.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1143000"/>
            <a:ext cx="32004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U" sz="2400"/>
          </a:p>
        </p:txBody>
      </p:sp>
      <p:sp>
        <p:nvSpPr>
          <p:cNvPr id="24" name="Text 22"/>
          <p:cNvSpPr/>
          <p:nvPr/>
        </p:nvSpPr>
        <p:spPr>
          <a:xfrm>
            <a:off x="580644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Single-threaded system at scale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17373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 worker for millions of tasks</a:t>
            </a:r>
          </a:p>
        </p:txBody>
      </p:sp>
      <p:sp>
        <p:nvSpPr>
          <p:cNvPr id="26" name="Text 24"/>
          <p:cNvSpPr/>
          <p:nvPr/>
        </p:nvSpPr>
        <p:spPr>
          <a:xfrm>
            <a:off x="5806440" y="24083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Reads everything, not what is needed</a:t>
            </a:r>
          </a:p>
        </p:txBody>
      </p:sp>
      <p:sp>
        <p:nvSpPr>
          <p:cNvPr id="27" name="Text 25"/>
          <p:cNvSpPr/>
          <p:nvPr/>
        </p:nvSpPr>
        <p:spPr>
          <a:xfrm>
            <a:off x="5806440" y="31318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Recomputes types every time</a:t>
            </a:r>
          </a:p>
        </p:txBody>
      </p:sp>
      <p:sp>
        <p:nvSpPr>
          <p:cNvPr id="28" name="Text 26"/>
          <p:cNvSpPr/>
          <p:nvPr/>
        </p:nvSpPr>
        <p:spPr>
          <a:xfrm>
            <a:off x="5806440" y="3749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Requires full dataset in memory</a:t>
            </a:r>
          </a:p>
        </p:txBody>
      </p:sp>
      <p:sp>
        <p:nvSpPr>
          <p:cNvPr id="30" name="Text 28"/>
          <p:cNvSpPr/>
          <p:nvPr/>
        </p:nvSpPr>
        <p:spPr>
          <a:xfrm>
            <a:off x="571500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HPDA: parallel execution, columnar reads, typed schema, out-of-core processing</a:t>
            </a:r>
            <a:endParaRPr lang="en-US" sz="1400" dirty="0">
              <a:solidFill>
                <a:srgbClr val="0D9488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0F862E-3656-AE4B-227D-296B19EA0E0B}"/>
              </a:ext>
            </a:extLst>
          </p:cNvPr>
          <p:cNvCxnSpPr/>
          <p:nvPr/>
        </p:nvCxnSpPr>
        <p:spPr>
          <a:xfrm>
            <a:off x="5669280" y="4343400"/>
            <a:ext cx="320040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Measuring Performance: CPU, Memory &amp; I/O Profiling</a:t>
            </a:r>
            <a:endParaRPr lang="en-US" sz="2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D361F0-2703-539F-84B6-5D0C18B2AA23}"/>
              </a:ext>
            </a:extLst>
          </p:cNvPr>
          <p:cNvGrpSpPr/>
          <p:nvPr/>
        </p:nvGrpSpPr>
        <p:grpSpPr>
          <a:xfrm>
            <a:off x="320040" y="976884"/>
            <a:ext cx="1645920" cy="256032"/>
            <a:chOff x="365760" y="1078992"/>
            <a:chExt cx="1645920" cy="256032"/>
          </a:xfrm>
        </p:grpSpPr>
        <p:sp>
          <p:nvSpPr>
            <p:cNvPr id="4" name="Shape 2"/>
            <p:cNvSpPr/>
            <p:nvPr/>
          </p:nvSpPr>
          <p:spPr>
            <a:xfrm>
              <a:off x="365760" y="1078992"/>
              <a:ext cx="1645920" cy="256032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LU"/>
            </a:p>
          </p:txBody>
        </p:sp>
        <p:sp>
          <p:nvSpPr>
            <p:cNvPr id="5" name="Text 3"/>
            <p:cNvSpPr/>
            <p:nvPr/>
          </p:nvSpPr>
          <p:spPr>
            <a:xfrm>
              <a:off x="365760" y="1092073"/>
              <a:ext cx="1645920" cy="2212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PROFILING</a:t>
              </a:r>
              <a:endParaRPr lang="en-US" sz="14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320040" y="1229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You cannot optimize what you cannot measure. Three dimensions matter: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61592"/>
            <a:ext cx="8503920" cy="100584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 sz="2000"/>
          </a:p>
        </p:txBody>
      </p:sp>
      <p:sp>
        <p:nvSpPr>
          <p:cNvPr id="8" name="Shape 6"/>
          <p:cNvSpPr/>
          <p:nvPr/>
        </p:nvSpPr>
        <p:spPr>
          <a:xfrm>
            <a:off x="320040" y="1561592"/>
            <a:ext cx="100584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CPU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76680" y="229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Tools: </a:t>
            </a:r>
            <a:r>
              <a:rPr lang="en-US" sz="1400" b="1" dirty="0" err="1">
                <a:solidFill>
                  <a:srgbClr val="7C3AED"/>
                </a:solidFill>
              </a:rPr>
              <a:t>cProfile</a:t>
            </a:r>
            <a:r>
              <a:rPr lang="en-US" sz="1400" b="1" dirty="0">
                <a:solidFill>
                  <a:srgbClr val="7C3AED"/>
                </a:solidFill>
              </a:rPr>
              <a:t> / py-spy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573784"/>
            <a:ext cx="7132320" cy="735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4155"/>
                </a:solidFill>
              </a:rPr>
              <a:t>Where is time spent?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Reveals which pandas function dominates. Caveat: cannot see inside C-extension calls (numpy internals).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670048"/>
            <a:ext cx="850392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3" name="Shape 11"/>
          <p:cNvSpPr/>
          <p:nvPr/>
        </p:nvSpPr>
        <p:spPr>
          <a:xfrm>
            <a:off x="320040" y="2670048"/>
            <a:ext cx="100584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4" name="Text 12"/>
          <p:cNvSpPr/>
          <p:nvPr/>
        </p:nvSpPr>
        <p:spPr>
          <a:xfrm>
            <a:off x="320040" y="26700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Memory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71600" y="341452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Tools: </a:t>
            </a:r>
            <a:r>
              <a:rPr lang="en-US" sz="1400" b="1" dirty="0" err="1">
                <a:solidFill>
                  <a:srgbClr val="2563EB"/>
                </a:solidFill>
              </a:rPr>
              <a:t>tracemalloc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79273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4155"/>
                </a:solidFill>
              </a:rPr>
              <a:t>How much memory is used?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Peak memory during each pipeline step. A merge can spike 3–5× the file size. Critical on shared HPC nodes.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765804"/>
            <a:ext cx="8503920" cy="100584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8" name="Shape 16"/>
          <p:cNvSpPr/>
          <p:nvPr/>
        </p:nvSpPr>
        <p:spPr>
          <a:xfrm>
            <a:off x="320040" y="3765804"/>
            <a:ext cx="10058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9" name="Text 17"/>
          <p:cNvSpPr/>
          <p:nvPr/>
        </p:nvSpPr>
        <p:spPr>
          <a:xfrm>
            <a:off x="320040" y="3803904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I/O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71600" y="3767328"/>
            <a:ext cx="2613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4"/>
                </a:solidFill>
              </a:rPr>
              <a:t>How much data is read/written?</a:t>
            </a:r>
            <a:endParaRPr lang="en-US" sz="1400" dirty="0">
              <a:solidFill>
                <a:srgbClr val="334154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71600" y="404164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Bandwidth consumed reading from disk. Single biggest bottleneck — often not visible in CPU profilers.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4819650"/>
            <a:ext cx="8503920" cy="3083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3" name="Text 21"/>
          <p:cNvSpPr/>
          <p:nvPr/>
        </p:nvSpPr>
        <p:spPr>
          <a:xfrm>
            <a:off x="914400" y="477443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Key insight: the single biggest bottleneck is almost always I/O — not CPU. Fix storage format first.</a:t>
            </a:r>
            <a:endParaRPr lang="en-US" sz="14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164B0DC9-2E70-B9A7-4AB2-DF39F2A916E4}"/>
              </a:ext>
            </a:extLst>
          </p:cNvPr>
          <p:cNvSpPr/>
          <p:nvPr/>
        </p:nvSpPr>
        <p:spPr>
          <a:xfrm>
            <a:off x="1371600" y="449554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Measure: time + file size</a:t>
            </a:r>
            <a:endParaRPr lang="en-US" sz="1400" dirty="0">
              <a:solidFill>
                <a:srgbClr val="0D948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Columnar Storage: What Parquet Changes &amp; Why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 1 · PARQUET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88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Row-based (CSV)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92040" y="1088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Columnar (Parquet)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914400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9" name="Text 7"/>
          <p:cNvSpPr/>
          <p:nvPr/>
        </p:nvSpPr>
        <p:spPr>
          <a:xfrm>
            <a:off x="320040" y="14447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1444752"/>
            <a:ext cx="914400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1" name="Text 9"/>
          <p:cNvSpPr/>
          <p:nvPr/>
        </p:nvSpPr>
        <p:spPr>
          <a:xfrm>
            <a:off x="1280160" y="14447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</a:rPr>
              <a:t>North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40280" y="1444752"/>
            <a:ext cx="914400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3" name="Text 11"/>
          <p:cNvSpPr/>
          <p:nvPr/>
        </p:nvSpPr>
        <p:spPr>
          <a:xfrm>
            <a:off x="2240280" y="14447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</a:rPr>
              <a:t>54.2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444752"/>
            <a:ext cx="914400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5" name="Text 13"/>
          <p:cNvSpPr/>
          <p:nvPr/>
        </p:nvSpPr>
        <p:spPr>
          <a:xfrm>
            <a:off x="3200400" y="14447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810512"/>
            <a:ext cx="914400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7" name="Text 15"/>
          <p:cNvSpPr/>
          <p:nvPr/>
        </p:nvSpPr>
        <p:spPr>
          <a:xfrm>
            <a:off x="320040" y="1810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1810512"/>
            <a:ext cx="914400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9" name="Text 17"/>
          <p:cNvSpPr/>
          <p:nvPr/>
        </p:nvSpPr>
        <p:spPr>
          <a:xfrm>
            <a:off x="1280160" y="1810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</a:rPr>
              <a:t>South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40280" y="1810512"/>
            <a:ext cx="914400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1" name="Text 19"/>
          <p:cNvSpPr/>
          <p:nvPr/>
        </p:nvSpPr>
        <p:spPr>
          <a:xfrm>
            <a:off x="2240280" y="1810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</a:rPr>
              <a:t>12.8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1810512"/>
            <a:ext cx="914400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3" name="Text 21"/>
          <p:cNvSpPr/>
          <p:nvPr/>
        </p:nvSpPr>
        <p:spPr>
          <a:xfrm>
            <a:off x="3200400" y="1810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</a:rPr>
              <a:t>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176272"/>
            <a:ext cx="914400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5" name="Text 23"/>
          <p:cNvSpPr/>
          <p:nvPr/>
        </p:nvSpPr>
        <p:spPr>
          <a:xfrm>
            <a:off x="32004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80160" y="2176272"/>
            <a:ext cx="914400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7" name="Text 25"/>
          <p:cNvSpPr/>
          <p:nvPr/>
        </p:nvSpPr>
        <p:spPr>
          <a:xfrm>
            <a:off x="128016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</a:rPr>
              <a:t>East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40280" y="2176272"/>
            <a:ext cx="914400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9" name="Text 27"/>
          <p:cNvSpPr/>
          <p:nvPr/>
        </p:nvSpPr>
        <p:spPr>
          <a:xfrm>
            <a:off x="224028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</a:rPr>
              <a:t>99.0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2176272"/>
            <a:ext cx="914400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1" name="Text 29"/>
          <p:cNvSpPr/>
          <p:nvPr/>
        </p:nvSpPr>
        <p:spPr>
          <a:xfrm>
            <a:off x="320040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</a:rPr>
              <a:t>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444"/>
                </a:solidFill>
              </a:rPr>
              <a:t>→ To get 'amount': read ALL columns of ALL rows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92040" y="1444752"/>
            <a:ext cx="914400" cy="109728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4" name="Text 32"/>
          <p:cNvSpPr/>
          <p:nvPr/>
        </p:nvSpPr>
        <p:spPr>
          <a:xfrm>
            <a:off x="4892040" y="1444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id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52160" y="1444752"/>
            <a:ext cx="914400" cy="1097280"/>
          </a:xfrm>
          <a:prstGeom prst="rect">
            <a:avLst/>
          </a:prstGeom>
          <a:solidFill>
            <a:srgbClr val="99F6E4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9" name="Text 37"/>
          <p:cNvSpPr/>
          <p:nvPr/>
        </p:nvSpPr>
        <p:spPr>
          <a:xfrm>
            <a:off x="5852160" y="1444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region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5216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North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5216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South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5216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East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12280" y="1444752"/>
            <a:ext cx="914400" cy="1097280"/>
          </a:xfrm>
          <a:prstGeom prst="rect">
            <a:avLst/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44" name="Text 42"/>
          <p:cNvSpPr/>
          <p:nvPr/>
        </p:nvSpPr>
        <p:spPr>
          <a:xfrm>
            <a:off x="6812280" y="1444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amount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1228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54.2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1228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12.8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1228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99.0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72400" y="1444752"/>
            <a:ext cx="914400" cy="1097280"/>
          </a:xfrm>
          <a:prstGeom prst="rect">
            <a:avLst/>
          </a:prstGeom>
          <a:solidFill>
            <a:srgbClr val="5EEAD4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49" name="Text 47"/>
          <p:cNvSpPr/>
          <p:nvPr/>
        </p:nvSpPr>
        <p:spPr>
          <a:xfrm>
            <a:off x="7772400" y="1444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</a:rPr>
              <a:t>qty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7240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40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92040" y="2606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→ 'amount' query reads ONLY the amount column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3035808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55" name="Shape 53"/>
          <p:cNvSpPr/>
          <p:nvPr/>
        </p:nvSpPr>
        <p:spPr>
          <a:xfrm>
            <a:off x="320040" y="3035808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56" name="Text 54"/>
          <p:cNvSpPr/>
          <p:nvPr/>
        </p:nvSpPr>
        <p:spPr>
          <a:xfrm>
            <a:off x="484632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Projection pushdown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84632" y="3383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Only columns needed by the query are read from disk. A 50-column table with a 3-column query reads 94% less data.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54880" y="3035808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59" name="Shape 57"/>
          <p:cNvSpPr/>
          <p:nvPr/>
        </p:nvSpPr>
        <p:spPr>
          <a:xfrm>
            <a:off x="4754880" y="3035808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60" name="Text 58"/>
          <p:cNvSpPr/>
          <p:nvPr/>
        </p:nvSpPr>
        <p:spPr>
          <a:xfrm>
            <a:off x="4919472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Predicate pushdown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919472" y="3383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Row-group statistics (min/max) let the reader skip entire blocks. A WHERE clause can skip 80%+ of the file.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0040" y="3968496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63" name="Shape 61"/>
          <p:cNvSpPr/>
          <p:nvPr/>
        </p:nvSpPr>
        <p:spPr>
          <a:xfrm>
            <a:off x="320040" y="3968496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64" name="Text 62"/>
          <p:cNvSpPr/>
          <p:nvPr/>
        </p:nvSpPr>
        <p:spPr>
          <a:xfrm>
            <a:off x="484632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Snappy/ZSTD compression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84632" y="4315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Columnar data compresses 5–10× better than CSV because values in the same column have similar patterns.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754880" y="3968496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67" name="Shape 65"/>
          <p:cNvSpPr/>
          <p:nvPr/>
        </p:nvSpPr>
        <p:spPr>
          <a:xfrm>
            <a:off x="4754880" y="3968496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68" name="Text 66"/>
          <p:cNvSpPr/>
          <p:nvPr/>
        </p:nvSpPr>
        <p:spPr>
          <a:xfrm>
            <a:off x="4919472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Typed schema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919472" y="4315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int32 is stored as int32. No character-by-character parsing overhead on read. Types are guaranteed.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1049A-589C-CBE3-D1AC-A75A2642940C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5A3B389-AFB0-A77E-5552-8E52B77EA92D}"/>
              </a:ext>
            </a:extLst>
          </p:cNvPr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Exercise 1 Results — CSV vs Parquet Benchmark</a:t>
            </a:r>
            <a:endParaRPr lang="en-US" sz="22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00C07D9-1B5B-E70D-9BC3-52A263E270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7276821"/>
              </p:ext>
            </p:extLst>
          </p:nvPr>
        </p:nvGraphicFramePr>
        <p:xfrm>
          <a:off x="182880" y="960120"/>
          <a:ext cx="5925820" cy="3522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15CFAE-0A87-E569-8281-44A57F308A97}"/>
              </a:ext>
            </a:extLst>
          </p:cNvPr>
          <p:cNvSpPr txBox="1"/>
          <p:nvPr/>
        </p:nvSpPr>
        <p:spPr>
          <a:xfrm>
            <a:off x="274320" y="4562856"/>
            <a:ext cx="604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rgbClr val="0E0E0E"/>
                </a:solidFill>
                <a:effectLst/>
                <a:latin typeface=".AppleSystemUIFont"/>
              </a:rPr>
              <a:t>This is not a compute problem. This is a storage format problem.</a:t>
            </a:r>
          </a:p>
        </p:txBody>
      </p:sp>
      <p:sp>
        <p:nvSpPr>
          <p:cNvPr id="9" name="Shape 43">
            <a:extLst>
              <a:ext uri="{FF2B5EF4-FFF2-40B4-BE49-F238E27FC236}">
                <a16:creationId xmlns:a16="http://schemas.microsoft.com/office/drawing/2014/main" id="{0BD92C4C-6F94-3BCC-0BB7-E47B0270ABD4}"/>
              </a:ext>
            </a:extLst>
          </p:cNvPr>
          <p:cNvSpPr/>
          <p:nvPr/>
        </p:nvSpPr>
        <p:spPr>
          <a:xfrm>
            <a:off x="5852160" y="1115568"/>
            <a:ext cx="3017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10" name="Shape 44">
            <a:extLst>
              <a:ext uri="{FF2B5EF4-FFF2-40B4-BE49-F238E27FC236}">
                <a16:creationId xmlns:a16="http://schemas.microsoft.com/office/drawing/2014/main" id="{27A2500C-6BBD-72B6-51E9-3B34849A48E0}"/>
              </a:ext>
            </a:extLst>
          </p:cNvPr>
          <p:cNvSpPr/>
          <p:nvPr/>
        </p:nvSpPr>
        <p:spPr>
          <a:xfrm>
            <a:off x="5852160" y="1115568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1" name="Text 45">
            <a:extLst>
              <a:ext uri="{FF2B5EF4-FFF2-40B4-BE49-F238E27FC236}">
                <a16:creationId xmlns:a16="http://schemas.microsoft.com/office/drawing/2014/main" id="{AE6F1EF8-725B-3ACB-52C5-015B59787ECC}"/>
              </a:ext>
            </a:extLst>
          </p:cNvPr>
          <p:cNvSpPr/>
          <p:nvPr/>
        </p:nvSpPr>
        <p:spPr>
          <a:xfrm>
            <a:off x="5989320" y="11612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</a:rPr>
              <a:t>1.9×</a:t>
            </a:r>
            <a:endParaRPr lang="en-US" sz="2800" dirty="0"/>
          </a:p>
        </p:txBody>
      </p:sp>
      <p:sp>
        <p:nvSpPr>
          <p:cNvPr id="12" name="Text 46">
            <a:extLst>
              <a:ext uri="{FF2B5EF4-FFF2-40B4-BE49-F238E27FC236}">
                <a16:creationId xmlns:a16="http://schemas.microsoft.com/office/drawing/2014/main" id="{8DDC1413-1CD4-6D72-B8BE-B3A935DEB6AC}"/>
              </a:ext>
            </a:extLst>
          </p:cNvPr>
          <p:cNvSpPr/>
          <p:nvPr/>
        </p:nvSpPr>
        <p:spPr>
          <a:xfrm>
            <a:off x="5989320" y="15910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smaller file (Parquet vs CSV)</a:t>
            </a:r>
            <a:endParaRPr lang="en-US" sz="1100" dirty="0"/>
          </a:p>
        </p:txBody>
      </p:sp>
      <p:sp>
        <p:nvSpPr>
          <p:cNvPr id="13" name="Shape 47">
            <a:extLst>
              <a:ext uri="{FF2B5EF4-FFF2-40B4-BE49-F238E27FC236}">
                <a16:creationId xmlns:a16="http://schemas.microsoft.com/office/drawing/2014/main" id="{03B58502-A8C5-2C4F-5B65-74F19CF54194}"/>
              </a:ext>
            </a:extLst>
          </p:cNvPr>
          <p:cNvSpPr/>
          <p:nvPr/>
        </p:nvSpPr>
        <p:spPr>
          <a:xfrm>
            <a:off x="5852160" y="2212848"/>
            <a:ext cx="3017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14" name="Shape 48">
            <a:extLst>
              <a:ext uri="{FF2B5EF4-FFF2-40B4-BE49-F238E27FC236}">
                <a16:creationId xmlns:a16="http://schemas.microsoft.com/office/drawing/2014/main" id="{1A4DAFD1-074F-D70F-3500-F88B19EEFFBB}"/>
              </a:ext>
            </a:extLst>
          </p:cNvPr>
          <p:cNvSpPr/>
          <p:nvPr/>
        </p:nvSpPr>
        <p:spPr>
          <a:xfrm>
            <a:off x="5852160" y="2212848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5" name="Text 49">
            <a:extLst>
              <a:ext uri="{FF2B5EF4-FFF2-40B4-BE49-F238E27FC236}">
                <a16:creationId xmlns:a16="http://schemas.microsoft.com/office/drawing/2014/main" id="{6E13186B-F66E-7AB9-924C-151BA06C5206}"/>
              </a:ext>
            </a:extLst>
          </p:cNvPr>
          <p:cNvSpPr/>
          <p:nvPr/>
        </p:nvSpPr>
        <p:spPr>
          <a:xfrm>
            <a:off x="5989320" y="22585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</a:rPr>
              <a:t>60×</a:t>
            </a:r>
            <a:endParaRPr lang="en-US" sz="2800" dirty="0"/>
          </a:p>
        </p:txBody>
      </p:sp>
      <p:sp>
        <p:nvSpPr>
          <p:cNvPr id="16" name="Text 50">
            <a:extLst>
              <a:ext uri="{FF2B5EF4-FFF2-40B4-BE49-F238E27FC236}">
                <a16:creationId xmlns:a16="http://schemas.microsoft.com/office/drawing/2014/main" id="{65FD4FC4-AA8B-720B-564E-6AEF19422C91}"/>
              </a:ext>
            </a:extLst>
          </p:cNvPr>
          <p:cNvSpPr/>
          <p:nvPr/>
        </p:nvSpPr>
        <p:spPr>
          <a:xfrm>
            <a:off x="5989320" y="2688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faster total pipeline</a:t>
            </a:r>
            <a:endParaRPr lang="en-US" sz="1100" dirty="0"/>
          </a:p>
        </p:txBody>
      </p:sp>
      <p:sp>
        <p:nvSpPr>
          <p:cNvPr id="17" name="Shape 51">
            <a:extLst>
              <a:ext uri="{FF2B5EF4-FFF2-40B4-BE49-F238E27FC236}">
                <a16:creationId xmlns:a16="http://schemas.microsoft.com/office/drawing/2014/main" id="{D68B4EBD-B3CA-B12E-6955-120A503956F2}"/>
              </a:ext>
            </a:extLst>
          </p:cNvPr>
          <p:cNvSpPr/>
          <p:nvPr/>
        </p:nvSpPr>
        <p:spPr>
          <a:xfrm>
            <a:off x="5852160" y="3310128"/>
            <a:ext cx="3017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18" name="Shape 52">
            <a:extLst>
              <a:ext uri="{FF2B5EF4-FFF2-40B4-BE49-F238E27FC236}">
                <a16:creationId xmlns:a16="http://schemas.microsoft.com/office/drawing/2014/main" id="{971E3779-1BE7-E56C-F450-5A9E61E7B497}"/>
              </a:ext>
            </a:extLst>
          </p:cNvPr>
          <p:cNvSpPr/>
          <p:nvPr/>
        </p:nvSpPr>
        <p:spPr>
          <a:xfrm>
            <a:off x="5852160" y="3310128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9" name="Text 53">
            <a:extLst>
              <a:ext uri="{FF2B5EF4-FFF2-40B4-BE49-F238E27FC236}">
                <a16:creationId xmlns:a16="http://schemas.microsoft.com/office/drawing/2014/main" id="{82488016-6B21-EA0D-4E4E-B0059D77FE8E}"/>
              </a:ext>
            </a:extLst>
          </p:cNvPr>
          <p:cNvSpPr/>
          <p:nvPr/>
        </p:nvSpPr>
        <p:spPr>
          <a:xfrm>
            <a:off x="5989320" y="33558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 LOC</a:t>
            </a:r>
            <a:endParaRPr lang="en-US" sz="2800" dirty="0"/>
          </a:p>
        </p:txBody>
      </p:sp>
      <p:sp>
        <p:nvSpPr>
          <p:cNvPr id="20" name="Text 54">
            <a:extLst>
              <a:ext uri="{FF2B5EF4-FFF2-40B4-BE49-F238E27FC236}">
                <a16:creationId xmlns:a16="http://schemas.microsoft.com/office/drawing/2014/main" id="{1F7AE373-9CB7-DB3A-ED92-9749E1B70EBE}"/>
              </a:ext>
            </a:extLst>
          </p:cNvPr>
          <p:cNvSpPr/>
          <p:nvPr/>
        </p:nvSpPr>
        <p:spPr>
          <a:xfrm>
            <a:off x="5989320" y="37856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code changes required</a:t>
            </a:r>
            <a:endParaRPr lang="en-US" sz="1100" dirty="0"/>
          </a:p>
        </p:txBody>
      </p:sp>
      <p:sp>
        <p:nvSpPr>
          <p:cNvPr id="21" name="Shape 55">
            <a:extLst>
              <a:ext uri="{FF2B5EF4-FFF2-40B4-BE49-F238E27FC236}">
                <a16:creationId xmlns:a16="http://schemas.microsoft.com/office/drawing/2014/main" id="{93E65FB2-B983-D656-281F-55FFF7CA8574}"/>
              </a:ext>
            </a:extLst>
          </p:cNvPr>
          <p:cNvSpPr/>
          <p:nvPr/>
        </p:nvSpPr>
        <p:spPr>
          <a:xfrm>
            <a:off x="5852160" y="4407408"/>
            <a:ext cx="30175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2" name="Text 56">
            <a:extLst>
              <a:ext uri="{FF2B5EF4-FFF2-40B4-BE49-F238E27FC236}">
                <a16:creationId xmlns:a16="http://schemas.microsoft.com/office/drawing/2014/main" id="{6A2AB919-1351-D868-8382-187E33557442}"/>
              </a:ext>
            </a:extLst>
          </p:cNvPr>
          <p:cNvSpPr/>
          <p:nvPr/>
        </p:nvSpPr>
        <p:spPr>
          <a:xfrm>
            <a:off x="5943600" y="440740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Switching to Parquet is the cheapest performance win available.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HPDA Stack — Four Layers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</a:rPr>
              <a:t>Every HPDA system, regardless of technology, has this structure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80010"/>
            <a:ext cx="8503920" cy="768096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8" name="Shape 6"/>
          <p:cNvSpPr/>
          <p:nvPr/>
        </p:nvSpPr>
        <p:spPr>
          <a:xfrm>
            <a:off x="320040" y="1188719"/>
            <a:ext cx="475488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9" name="Text 7"/>
          <p:cNvSpPr/>
          <p:nvPr/>
        </p:nvSpPr>
        <p:spPr>
          <a:xfrm>
            <a:off x="320040" y="1188719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24358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Consumption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508759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Business users &amp; systems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89022" y="1271015"/>
            <a:ext cx="2834640" cy="566928"/>
          </a:xfrm>
          <a:prstGeom prst="rect">
            <a:avLst/>
          </a:prstGeom>
          <a:solidFill>
            <a:srgbClr val="FFFFFF">
              <a:alpha val="50000"/>
            </a:srgbClr>
          </a:solidFill>
          <a:ln w="381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3" name="Text 11"/>
          <p:cNvSpPr/>
          <p:nvPr/>
        </p:nvSpPr>
        <p:spPr>
          <a:xfrm>
            <a:off x="5912031" y="1308463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Dashboards · BI tools · ML models · REST APIs · Notebooks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1956815"/>
            <a:ext cx="109728" cy="9144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6" name="Shape 14"/>
          <p:cNvSpPr/>
          <p:nvPr/>
        </p:nvSpPr>
        <p:spPr>
          <a:xfrm>
            <a:off x="320040" y="2048255"/>
            <a:ext cx="8503920" cy="768096"/>
          </a:xfrm>
          <a:prstGeom prst="rect">
            <a:avLst/>
          </a:prstGeom>
          <a:solidFill>
            <a:srgbClr val="EDE9FE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7" name="Shape 15"/>
          <p:cNvSpPr/>
          <p:nvPr/>
        </p:nvSpPr>
        <p:spPr>
          <a:xfrm>
            <a:off x="320040" y="2048255"/>
            <a:ext cx="475488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8" name="Text 16"/>
          <p:cNvSpPr/>
          <p:nvPr/>
        </p:nvSpPr>
        <p:spPr>
          <a:xfrm>
            <a:off x="320040" y="2048255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10311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Compute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368295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Distributed processing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89022" y="2157983"/>
            <a:ext cx="2834640" cy="566928"/>
          </a:xfrm>
          <a:prstGeom prst="rect">
            <a:avLst/>
          </a:prstGeom>
          <a:solidFill>
            <a:srgbClr val="FFFFFF">
              <a:alpha val="50000"/>
            </a:srgbClr>
          </a:solidFill>
          <a:ln w="38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2" name="Text 20"/>
          <p:cNvSpPr/>
          <p:nvPr/>
        </p:nvSpPr>
        <p:spPr>
          <a:xfrm>
            <a:off x="5880462" y="2194559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Dask · Apache Spark · Flink · Ray · SQL engines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2816351"/>
            <a:ext cx="109728" cy="91440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5" name="Shape 23"/>
          <p:cNvSpPr/>
          <p:nvPr/>
        </p:nvSpPr>
        <p:spPr>
          <a:xfrm>
            <a:off x="320040" y="2907791"/>
            <a:ext cx="8503920" cy="768096"/>
          </a:xfrm>
          <a:prstGeom prst="rect">
            <a:avLst/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6" name="Shape 24"/>
          <p:cNvSpPr/>
          <p:nvPr/>
        </p:nvSpPr>
        <p:spPr>
          <a:xfrm>
            <a:off x="320040" y="2907791"/>
            <a:ext cx="475488" cy="7680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7" name="Text 25"/>
          <p:cNvSpPr/>
          <p:nvPr/>
        </p:nvSpPr>
        <p:spPr>
          <a:xfrm>
            <a:off x="320040" y="2907791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296265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Storage layer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227831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Data lake / warehouse / lakehouse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86845" y="2993570"/>
            <a:ext cx="2834640" cy="566928"/>
          </a:xfrm>
          <a:prstGeom prst="rect">
            <a:avLst/>
          </a:prstGeom>
          <a:solidFill>
            <a:srgbClr val="FFFFFF">
              <a:alpha val="50000"/>
            </a:srgbClr>
          </a:solidFill>
          <a:ln w="38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1" name="Text 29"/>
          <p:cNvSpPr/>
          <p:nvPr/>
        </p:nvSpPr>
        <p:spPr>
          <a:xfrm>
            <a:off x="5878285" y="303014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Parquet files · Delta Lake · Apache Iceberg · Object stores (S3, MinIO) · Lustre FS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" y="3675887"/>
            <a:ext cx="109728" cy="91440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4" name="Shape 32"/>
          <p:cNvSpPr/>
          <p:nvPr/>
        </p:nvSpPr>
        <p:spPr>
          <a:xfrm>
            <a:off x="320040" y="3767327"/>
            <a:ext cx="8503920" cy="768096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5" name="Shape 33"/>
          <p:cNvSpPr/>
          <p:nvPr/>
        </p:nvSpPr>
        <p:spPr>
          <a:xfrm>
            <a:off x="320040" y="3767327"/>
            <a:ext cx="475488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6" name="Text 34"/>
          <p:cNvSpPr/>
          <p:nvPr/>
        </p:nvSpPr>
        <p:spPr>
          <a:xfrm>
            <a:off x="320040" y="3767327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14400" y="382219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Ingestion layer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4087367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How data enters the system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86845" y="3893601"/>
            <a:ext cx="2834640" cy="566928"/>
          </a:xfrm>
          <a:prstGeom prst="rect">
            <a:avLst/>
          </a:prstGeom>
          <a:solidFill>
            <a:srgbClr val="FFFFFF">
              <a:alpha val="50000"/>
            </a:srgbClr>
          </a:solidFill>
          <a:ln w="381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40" name="Text 38"/>
          <p:cNvSpPr/>
          <p:nvPr/>
        </p:nvSpPr>
        <p:spPr>
          <a:xfrm>
            <a:off x="5878285" y="3930177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Kafka · Flink CDC · Airbyte · Batch loaders · APIs · Event streams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4571999"/>
            <a:ext cx="8503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46" name="Text 44"/>
          <p:cNvSpPr/>
          <p:nvPr/>
        </p:nvSpPr>
        <p:spPr>
          <a:xfrm>
            <a:off x="457200" y="4571999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34F"/>
                </a:solidFill>
              </a:rPr>
              <a:t>Data flows bottom to top: </a:t>
            </a:r>
            <a:r>
              <a:rPr lang="en-US" sz="1000" b="1" dirty="0">
                <a:solidFill>
                  <a:srgbClr val="72A8A1"/>
                </a:solidFill>
              </a:rPr>
              <a:t>ingested → stored → processed → consumed.</a:t>
            </a:r>
            <a:r>
              <a:rPr lang="en-US" sz="1000" b="1" dirty="0">
                <a:solidFill>
                  <a:srgbClr val="F59E0B"/>
                </a:solidFill>
              </a:rPr>
              <a:t> </a:t>
            </a:r>
            <a:r>
              <a:rPr lang="en-US" sz="1000" b="1" dirty="0">
                <a:solidFill>
                  <a:srgbClr val="F0B34F"/>
                </a:solidFill>
              </a:rPr>
              <a:t>Bottlenecks cascade downward.</a:t>
            </a:r>
            <a:endParaRPr lang="en-US" sz="1000" dirty="0">
              <a:solidFill>
                <a:srgbClr val="F0B34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From 1 Core to N Cores: </a:t>
            </a:r>
            <a:r>
              <a:rPr lang="en-US" sz="2200" b="1" dirty="0" err="1">
                <a:solidFill>
                  <a:srgbClr val="FFFFFF"/>
                </a:solidFill>
              </a:rPr>
              <a:t>Dask</a:t>
            </a:r>
            <a:r>
              <a:rPr lang="en-US" sz="2200" b="1" dirty="0">
                <a:solidFill>
                  <a:srgbClr val="FFFFFF"/>
                </a:solidFill>
              </a:rPr>
              <a:t> Execution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 2 · DASK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6070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Pandas uses 1 core </a:t>
            </a:r>
            <a:r>
              <a:rPr lang="en-US" sz="1200" b="1" dirty="0">
                <a:solidFill>
                  <a:srgbClr val="0D1B2A"/>
                </a:solidFill>
                <a:sym typeface="Wingdings" pitchFamily="2" charset="2"/>
              </a:rPr>
              <a:t> </a:t>
            </a:r>
            <a:r>
              <a:rPr lang="en-US" sz="1200" b="1" dirty="0" err="1">
                <a:solidFill>
                  <a:srgbClr val="0D1B2A"/>
                </a:solidFill>
                <a:sym typeface="Wingdings" pitchFamily="2" charset="2"/>
              </a:rPr>
              <a:t>Dask</a:t>
            </a:r>
            <a:r>
              <a:rPr lang="en-US" sz="1200" b="1" dirty="0">
                <a:solidFill>
                  <a:srgbClr val="0D1B2A"/>
                </a:solidFill>
                <a:sym typeface="Wingdings" pitchFamily="2" charset="2"/>
              </a:rPr>
              <a:t> uses all cores available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sym typeface="Wingdings" pitchFamily="2" charset="2"/>
              </a:rPr>
              <a:t>Same pandas code  parallel execution  faster runtime</a:t>
            </a:r>
            <a:endParaRPr lang="en-US" sz="1200" b="1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9" name="Text 7"/>
          <p:cNvSpPr/>
          <p:nvPr/>
        </p:nvSpPr>
        <p:spPr>
          <a:xfrm>
            <a:off x="484632" y="1709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 Partitions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05740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Dask splits your DataFrame into N chunks. Each chunk is a regular pandas DataFrame processed independently.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3" name="Text 11"/>
          <p:cNvSpPr/>
          <p:nvPr/>
        </p:nvSpPr>
        <p:spPr>
          <a:xfrm>
            <a:off x="4919472" y="1709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Thinking ahead (Lazy evaluation)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05740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Dask builds a task graph but executes NOTHING until .compute() is called. This enables optimization before execution.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172968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16" name="Shape 14"/>
          <p:cNvSpPr/>
          <p:nvPr/>
        </p:nvSpPr>
        <p:spPr>
          <a:xfrm>
            <a:off x="320040" y="3172968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7" name="Text 15"/>
          <p:cNvSpPr/>
          <p:nvPr/>
        </p:nvSpPr>
        <p:spPr>
          <a:xfrm>
            <a:off x="484632" y="3282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Task graph (DAG)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630168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A directed acyclic graph describing every operation. Dask can fuse, reorder, and parallelize tasks automatically.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172968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20" name="Shape 18"/>
          <p:cNvSpPr/>
          <p:nvPr/>
        </p:nvSpPr>
        <p:spPr>
          <a:xfrm>
            <a:off x="4754880" y="3172968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1" name="Text 19"/>
          <p:cNvSpPr/>
          <p:nvPr/>
        </p:nvSpPr>
        <p:spPr>
          <a:xfrm>
            <a:off x="4919472" y="3282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Scheduler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9472" y="3630168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The engine that executes the graph. Choice of scheduler (threads/processes/distributed) is critical for performance.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4" name="Text 22"/>
          <p:cNvSpPr/>
          <p:nvPr/>
        </p:nvSpPr>
        <p:spPr>
          <a:xfrm>
            <a:off x="457200" y="464515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stays almost identical to pandas — migration cost is low. import dask.dataframe as dd replaces import pandas as pd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6444E7-A90D-D403-EC28-48E7F3A3E8FC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F87BC2-14BB-F8A9-CEAA-AE9AC8995B6C}"/>
              </a:ext>
            </a:extLst>
          </p:cNvPr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Exercise 2: Parallelizing with </a:t>
            </a:r>
            <a:r>
              <a:rPr lang="en-US" sz="2200" b="1" dirty="0" err="1">
                <a:solidFill>
                  <a:srgbClr val="FFFFFF"/>
                </a:solidFill>
              </a:rPr>
              <a:t>Dask</a:t>
            </a: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6B04C2-C184-F433-4D95-390EFDA466E1}"/>
              </a:ext>
            </a:extLst>
          </p:cNvPr>
          <p:cNvSpPr txBox="1"/>
          <p:nvPr/>
        </p:nvSpPr>
        <p:spPr>
          <a:xfrm>
            <a:off x="365760" y="1349828"/>
            <a:ext cx="54951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b="1" dirty="0">
                <a:solidFill>
                  <a:srgbClr val="117F88"/>
                </a:solidFill>
              </a:rPr>
              <a:t>Goal: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Use all CPU cores instead of 1</a:t>
            </a:r>
          </a:p>
          <a:p>
            <a:endParaRPr lang="en-LU" dirty="0"/>
          </a:p>
          <a:p>
            <a:r>
              <a:rPr lang="en-LU" b="1" dirty="0">
                <a:solidFill>
                  <a:srgbClr val="117F88"/>
                </a:solidFill>
              </a:rPr>
              <a:t>Starting point: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</a:t>
            </a:r>
            <a:r>
              <a:rPr lang="en-LU" dirty="0"/>
              <a:t>ame dataset (parquet from Exercise 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</a:t>
            </a:r>
            <a:r>
              <a:rPr lang="en-LU" dirty="0"/>
              <a:t>ame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LU" b="1" dirty="0"/>
          </a:p>
          <a:p>
            <a:r>
              <a:rPr lang="en-LU" b="1" dirty="0">
                <a:solidFill>
                  <a:srgbClr val="117F88"/>
                </a:solidFill>
              </a:rPr>
              <a:t>What changes: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</a:t>
            </a:r>
            <a:r>
              <a:rPr lang="en-LU" dirty="0"/>
              <a:t>andas </a:t>
            </a:r>
            <a:r>
              <a:rPr lang="en-LU" dirty="0">
                <a:sym typeface="Wingdings" pitchFamily="2" charset="2"/>
              </a:rPr>
              <a:t> Dask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>
                <a:sym typeface="Wingdings" pitchFamily="2" charset="2"/>
              </a:rPr>
              <a:t>Sequential  parallel execution</a:t>
            </a:r>
          </a:p>
          <a:p>
            <a:endParaRPr lang="en-LU" dirty="0">
              <a:sym typeface="Wingdings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C14A4-233D-E3FA-D32E-B6CF5FBB76BB}"/>
              </a:ext>
            </a:extLst>
          </p:cNvPr>
          <p:cNvSpPr txBox="1"/>
          <p:nvPr/>
        </p:nvSpPr>
        <p:spPr>
          <a:xfrm>
            <a:off x="5791200" y="2180824"/>
            <a:ext cx="28215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b="1" dirty="0">
                <a:solidFill>
                  <a:srgbClr val="117F88"/>
                </a:solidFill>
              </a:rPr>
              <a:t>Workload: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Read Parquet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Compute new column (“Revenue”)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U" dirty="0"/>
              <a:t>GroupBy aggregation </a:t>
            </a:r>
          </a:p>
        </p:txBody>
      </p:sp>
    </p:spTree>
    <p:extLst>
      <p:ext uri="{BB962C8B-B14F-4D97-AF65-F5344CB8AC3E}">
        <p14:creationId xmlns:p14="http://schemas.microsoft.com/office/powerpoint/2010/main" val="966834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F985CB-84E0-EDF1-A68F-9C850167A9F9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FE411C-DCBD-0E37-B58D-E695225C65E7}"/>
              </a:ext>
            </a:extLst>
          </p:cNvPr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Exercise 2 Results – parallelism helps but only when data is large enough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4F2A800-9BB3-94A4-489A-C27C4EF7F7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8697194"/>
              </p:ext>
            </p:extLst>
          </p:nvPr>
        </p:nvGraphicFramePr>
        <p:xfrm>
          <a:off x="287383" y="1404256"/>
          <a:ext cx="4772298" cy="3498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2D14954-CF5E-892A-896A-05EED5EB67A4}"/>
              </a:ext>
            </a:extLst>
          </p:cNvPr>
          <p:cNvSpPr txBox="1"/>
          <p:nvPr/>
        </p:nvSpPr>
        <p:spPr>
          <a:xfrm>
            <a:off x="5425440" y="2553425"/>
            <a:ext cx="3718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dirty="0"/>
              <a:t>Small data </a:t>
            </a:r>
            <a:r>
              <a:rPr lang="en-LU" dirty="0">
                <a:sym typeface="Wingdings" pitchFamily="2" charset="2"/>
              </a:rPr>
              <a:t> overhead dominates (Dask slower)</a:t>
            </a:r>
          </a:p>
          <a:p>
            <a:endParaRPr lang="en-LU" dirty="0">
              <a:sym typeface="Wingdings" pitchFamily="2" charset="2"/>
            </a:endParaRPr>
          </a:p>
          <a:p>
            <a:r>
              <a:rPr lang="en-LU" dirty="0">
                <a:sym typeface="Wingdings" pitchFamily="2" charset="2"/>
              </a:rPr>
              <a:t>Large data  parallelism matters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783194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/>
          <p:cNvSpPr/>
          <p:nvPr/>
        </p:nvSpPr>
        <p:spPr>
          <a:xfrm>
            <a:off x="365760" y="12213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Choosing the Right Scheduler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6052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16052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9" name="Text 7"/>
          <p:cNvSpPr/>
          <p:nvPr/>
        </p:nvSpPr>
        <p:spPr>
          <a:xfrm>
            <a:off x="429768" y="1298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synchronous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Best for: Debugging only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No parallelism overhead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Easy to debug errors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1984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 Zero performance gain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 Never use in production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298448"/>
            <a:ext cx="416052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6" name="Shape 14"/>
          <p:cNvSpPr/>
          <p:nvPr/>
        </p:nvSpPr>
        <p:spPr>
          <a:xfrm>
            <a:off x="4754880" y="1298448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7" name="Text 15"/>
          <p:cNvSpPr/>
          <p:nvPr/>
        </p:nvSpPr>
        <p:spPr>
          <a:xfrm>
            <a:off x="4864608" y="1298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4608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Best for: pandas / numpy workloads 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984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Shared memory → zero copy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numpy releases the GIL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496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Low overhead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12280" y="1984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 Pure-Python code still GIL-bound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228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 Not for CPU-bound Python loops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127248"/>
            <a:ext cx="416052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5" name="Shape 23"/>
          <p:cNvSpPr/>
          <p:nvPr/>
        </p:nvSpPr>
        <p:spPr>
          <a:xfrm>
            <a:off x="320040" y="3127248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6" name="Text 24"/>
          <p:cNvSpPr/>
          <p:nvPr/>
        </p:nvSpPr>
        <p:spPr>
          <a:xfrm>
            <a:off x="429768" y="31272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Best for: Pure-Python CPU-bound code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813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True CPU isolation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069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No GIL limitation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77440" y="3813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 Pickle overhead on every call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4069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 Often SLOWER for pandas/numpy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127248"/>
            <a:ext cx="416052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3" name="Shape 31"/>
          <p:cNvSpPr/>
          <p:nvPr/>
        </p:nvSpPr>
        <p:spPr>
          <a:xfrm>
            <a:off x="4754880" y="3127248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4" name="Text 32"/>
          <p:cNvSpPr/>
          <p:nvPr/>
        </p:nvSpPr>
        <p:spPr>
          <a:xfrm>
            <a:off x="4864607" y="3127248"/>
            <a:ext cx="35565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Distributed (beyond this session)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64608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Best for: Multi-node HPC clusters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813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Scales to 1000s of nodes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4069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Dashboard + fault tolerance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2280" y="3813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 Overhead for small datasets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12280" y="4069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 Requires cluster setup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2C6C6D-62A0-9F24-6CF4-E7FB1715EF61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0D1B54-CE24-6153-80E0-1527D806DEAF}"/>
              </a:ext>
            </a:extLst>
          </p:cNvPr>
          <p:cNvSpPr/>
          <p:nvPr/>
        </p:nvSpPr>
        <p:spPr>
          <a:xfrm>
            <a:off x="365760" y="12213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Scheduler choice results</a:t>
            </a:r>
            <a:endParaRPr lang="en-US" sz="22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A992545-3B31-7FDE-5CFE-8861AD8731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6662557"/>
              </p:ext>
            </p:extLst>
          </p:nvPr>
        </p:nvGraphicFramePr>
        <p:xfrm>
          <a:off x="156755" y="1084435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303FCD-BB9B-353D-CD8D-5098385588B6}"/>
              </a:ext>
            </a:extLst>
          </p:cNvPr>
          <p:cNvSpPr txBox="1"/>
          <p:nvPr/>
        </p:nvSpPr>
        <p:spPr>
          <a:xfrm>
            <a:off x="6531429" y="1925419"/>
            <a:ext cx="2525486" cy="646331"/>
          </a:xfrm>
          <a:prstGeom prst="rect">
            <a:avLst/>
          </a:prstGeom>
          <a:solidFill>
            <a:srgbClr val="F4D1A5"/>
          </a:solidFill>
        </p:spPr>
        <p:txBody>
          <a:bodyPr wrap="square" rtlCol="0">
            <a:spAutoFit/>
          </a:bodyPr>
          <a:lstStyle/>
          <a:p>
            <a:r>
              <a:rPr lang="en-LU" dirty="0"/>
              <a:t>Wrong scheduler = Dask slower than pandas</a:t>
            </a:r>
          </a:p>
        </p:txBody>
      </p:sp>
    </p:spTree>
    <p:extLst>
      <p:ext uri="{BB962C8B-B14F-4D97-AF65-F5344CB8AC3E}">
        <p14:creationId xmlns:p14="http://schemas.microsoft.com/office/powerpoint/2010/main" val="3445842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76E341-BB57-871B-1938-6A3E97378F55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91C479-5805-4B84-1CCD-12E85E031D8D}"/>
              </a:ext>
            </a:extLst>
          </p:cNvPr>
          <p:cNvSpPr/>
          <p:nvPr/>
        </p:nvSpPr>
        <p:spPr>
          <a:xfrm>
            <a:off x="365760" y="12213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Partition vs Performance</a:t>
            </a:r>
            <a:endParaRPr lang="en-US" sz="22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95ECC5D-9884-F1F4-E72F-7FBD3D38C3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9403553"/>
              </p:ext>
            </p:extLst>
          </p:nvPr>
        </p:nvGraphicFramePr>
        <p:xfrm>
          <a:off x="217714" y="1283426"/>
          <a:ext cx="4162697" cy="3474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4">
            <a:extLst>
              <a:ext uri="{FF2B5EF4-FFF2-40B4-BE49-F238E27FC236}">
                <a16:creationId xmlns:a16="http://schemas.microsoft.com/office/drawing/2014/main" id="{5F759EF8-FF71-403C-CF8C-C7A995361E33}"/>
              </a:ext>
            </a:extLst>
          </p:cNvPr>
          <p:cNvSpPr/>
          <p:nvPr/>
        </p:nvSpPr>
        <p:spPr>
          <a:xfrm>
            <a:off x="95795" y="4758327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npartitions has a U-shaped effect on performance. Tuning is essential.</a:t>
            </a:r>
            <a:endParaRPr lang="en-US" sz="1200" dirty="0"/>
          </a:p>
        </p:txBody>
      </p:sp>
      <p:sp>
        <p:nvSpPr>
          <p:cNvPr id="6" name="Shape 45">
            <a:extLst>
              <a:ext uri="{FF2B5EF4-FFF2-40B4-BE49-F238E27FC236}">
                <a16:creationId xmlns:a16="http://schemas.microsoft.com/office/drawing/2014/main" id="{5C191532-1A46-36B7-012F-3A9C68375220}"/>
              </a:ext>
            </a:extLst>
          </p:cNvPr>
          <p:cNvSpPr/>
          <p:nvPr/>
        </p:nvSpPr>
        <p:spPr>
          <a:xfrm>
            <a:off x="5669280" y="1444752"/>
            <a:ext cx="3200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F4444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7" name="Shape 46">
            <a:extLst>
              <a:ext uri="{FF2B5EF4-FFF2-40B4-BE49-F238E27FC236}">
                <a16:creationId xmlns:a16="http://schemas.microsoft.com/office/drawing/2014/main" id="{D44D75A6-A395-5283-1D11-585D365A4874}"/>
              </a:ext>
            </a:extLst>
          </p:cNvPr>
          <p:cNvSpPr/>
          <p:nvPr/>
        </p:nvSpPr>
        <p:spPr>
          <a:xfrm>
            <a:off x="5669280" y="1444752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8" name="Text 47">
            <a:extLst>
              <a:ext uri="{FF2B5EF4-FFF2-40B4-BE49-F238E27FC236}">
                <a16:creationId xmlns:a16="http://schemas.microsoft.com/office/drawing/2014/main" id="{E7C2E7B3-7418-46F1-41C5-EDDDDBBDAD99}"/>
              </a:ext>
            </a:extLst>
          </p:cNvPr>
          <p:cNvSpPr/>
          <p:nvPr/>
        </p:nvSpPr>
        <p:spPr>
          <a:xfrm>
            <a:off x="5806440" y="1499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Too few partitions</a:t>
            </a:r>
            <a:endParaRPr lang="en-US" sz="1100" dirty="0"/>
          </a:p>
        </p:txBody>
      </p:sp>
      <p:sp>
        <p:nvSpPr>
          <p:cNvPr id="9" name="Text 48">
            <a:extLst>
              <a:ext uri="{FF2B5EF4-FFF2-40B4-BE49-F238E27FC236}">
                <a16:creationId xmlns:a16="http://schemas.microsoft.com/office/drawing/2014/main" id="{54F211A7-4D90-CCD7-207F-48A651776C0B}"/>
              </a:ext>
            </a:extLst>
          </p:cNvPr>
          <p:cNvSpPr/>
          <p:nvPr/>
        </p:nvSpPr>
        <p:spPr>
          <a:xfrm>
            <a:off x="580644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Cores sit idle. Not enough work to parallelise. Linear runtime, not parallel.</a:t>
            </a:r>
            <a:endParaRPr lang="en-US" sz="950" dirty="0"/>
          </a:p>
        </p:txBody>
      </p:sp>
      <p:sp>
        <p:nvSpPr>
          <p:cNvPr id="10" name="Shape 49">
            <a:extLst>
              <a:ext uri="{FF2B5EF4-FFF2-40B4-BE49-F238E27FC236}">
                <a16:creationId xmlns:a16="http://schemas.microsoft.com/office/drawing/2014/main" id="{827B7434-90F8-1B71-CBAA-776ADC6641F8}"/>
              </a:ext>
            </a:extLst>
          </p:cNvPr>
          <p:cNvSpPr/>
          <p:nvPr/>
        </p:nvSpPr>
        <p:spPr>
          <a:xfrm>
            <a:off x="5669280" y="2359152"/>
            <a:ext cx="3200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11" name="Shape 50">
            <a:extLst>
              <a:ext uri="{FF2B5EF4-FFF2-40B4-BE49-F238E27FC236}">
                <a16:creationId xmlns:a16="http://schemas.microsoft.com/office/drawing/2014/main" id="{52873C76-3416-242B-632A-82AD97B0395B}"/>
              </a:ext>
            </a:extLst>
          </p:cNvPr>
          <p:cNvSpPr/>
          <p:nvPr/>
        </p:nvSpPr>
        <p:spPr>
          <a:xfrm>
            <a:off x="5669280" y="2359152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2" name="Text 51">
            <a:extLst>
              <a:ext uri="{FF2B5EF4-FFF2-40B4-BE49-F238E27FC236}">
                <a16:creationId xmlns:a16="http://schemas.microsoft.com/office/drawing/2014/main" id="{9C5B64EA-2556-AB37-FABC-D2A2ECF95AAF}"/>
              </a:ext>
            </a:extLst>
          </p:cNvPr>
          <p:cNvSpPr/>
          <p:nvPr/>
        </p:nvSpPr>
        <p:spPr>
          <a:xfrm>
            <a:off x="5806440" y="24140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Sweet spot</a:t>
            </a:r>
            <a:endParaRPr lang="en-US" sz="1100" dirty="0"/>
          </a:p>
        </p:txBody>
      </p:sp>
      <p:sp>
        <p:nvSpPr>
          <p:cNvPr id="13" name="Text 52">
            <a:extLst>
              <a:ext uri="{FF2B5EF4-FFF2-40B4-BE49-F238E27FC236}">
                <a16:creationId xmlns:a16="http://schemas.microsoft.com/office/drawing/2014/main" id="{44950E8A-12AC-4B75-AF85-EF3F04D29606}"/>
              </a:ext>
            </a:extLst>
          </p:cNvPr>
          <p:cNvSpPr/>
          <p:nvPr/>
        </p:nvSpPr>
        <p:spPr>
          <a:xfrm>
            <a:off x="580644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2–4× n_cores. Each task ~100ms–1s. All cores busy, low scheduler overhead.</a:t>
            </a:r>
            <a:endParaRPr lang="en-US" sz="950" dirty="0"/>
          </a:p>
        </p:txBody>
      </p:sp>
      <p:sp>
        <p:nvSpPr>
          <p:cNvPr id="14" name="Shape 53">
            <a:extLst>
              <a:ext uri="{FF2B5EF4-FFF2-40B4-BE49-F238E27FC236}">
                <a16:creationId xmlns:a16="http://schemas.microsoft.com/office/drawing/2014/main" id="{CDF23A0E-8A15-88AE-8714-AA43B5A7180A}"/>
              </a:ext>
            </a:extLst>
          </p:cNvPr>
          <p:cNvSpPr/>
          <p:nvPr/>
        </p:nvSpPr>
        <p:spPr>
          <a:xfrm>
            <a:off x="5669280" y="3273552"/>
            <a:ext cx="3200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15" name="Shape 54">
            <a:extLst>
              <a:ext uri="{FF2B5EF4-FFF2-40B4-BE49-F238E27FC236}">
                <a16:creationId xmlns:a16="http://schemas.microsoft.com/office/drawing/2014/main" id="{A9F17453-E4CA-E484-58BC-566FB0371AF5}"/>
              </a:ext>
            </a:extLst>
          </p:cNvPr>
          <p:cNvSpPr/>
          <p:nvPr/>
        </p:nvSpPr>
        <p:spPr>
          <a:xfrm>
            <a:off x="5669280" y="3273552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6" name="Text 55">
            <a:extLst>
              <a:ext uri="{FF2B5EF4-FFF2-40B4-BE49-F238E27FC236}">
                <a16:creationId xmlns:a16="http://schemas.microsoft.com/office/drawing/2014/main" id="{4292DED4-19C6-8938-1681-0D4CADA8D1F9}"/>
              </a:ext>
            </a:extLst>
          </p:cNvPr>
          <p:cNvSpPr/>
          <p:nvPr/>
        </p:nvSpPr>
        <p:spPr>
          <a:xfrm>
            <a:off x="5806440" y="3328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Too many partitions</a:t>
            </a:r>
            <a:endParaRPr lang="en-US" sz="1100" dirty="0"/>
          </a:p>
        </p:txBody>
      </p:sp>
      <p:sp>
        <p:nvSpPr>
          <p:cNvPr id="17" name="Text 56">
            <a:extLst>
              <a:ext uri="{FF2B5EF4-FFF2-40B4-BE49-F238E27FC236}">
                <a16:creationId xmlns:a16="http://schemas.microsoft.com/office/drawing/2014/main" id="{653C6708-62C3-17C2-1E7F-72BB6CBB6848}"/>
              </a:ext>
            </a:extLst>
          </p:cNvPr>
          <p:cNvSpPr/>
          <p:nvPr/>
        </p:nvSpPr>
        <p:spPr>
          <a:xfrm>
            <a:off x="580644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Scheduler overhead dominates. Thousands of tiny tasks cost more than they save.</a:t>
            </a:r>
            <a:endParaRPr lang="en-US" sz="950" dirty="0"/>
          </a:p>
        </p:txBody>
      </p:sp>
      <p:sp>
        <p:nvSpPr>
          <p:cNvPr id="18" name="Shape 57">
            <a:extLst>
              <a:ext uri="{FF2B5EF4-FFF2-40B4-BE49-F238E27FC236}">
                <a16:creationId xmlns:a16="http://schemas.microsoft.com/office/drawing/2014/main" id="{510DDEA9-D78E-B478-659C-54782EF1D5E4}"/>
              </a:ext>
            </a:extLst>
          </p:cNvPr>
          <p:cNvSpPr/>
          <p:nvPr/>
        </p:nvSpPr>
        <p:spPr>
          <a:xfrm>
            <a:off x="5669280" y="4187952"/>
            <a:ext cx="3200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LU"/>
          </a:p>
        </p:txBody>
      </p:sp>
      <p:sp>
        <p:nvSpPr>
          <p:cNvPr id="19" name="Shape 58">
            <a:extLst>
              <a:ext uri="{FF2B5EF4-FFF2-40B4-BE49-F238E27FC236}">
                <a16:creationId xmlns:a16="http://schemas.microsoft.com/office/drawing/2014/main" id="{238D465F-58FD-9C20-8577-B8FF86E84C3A}"/>
              </a:ext>
            </a:extLst>
          </p:cNvPr>
          <p:cNvSpPr/>
          <p:nvPr/>
        </p:nvSpPr>
        <p:spPr>
          <a:xfrm>
            <a:off x="5669280" y="4187952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0" name="Text 59">
            <a:extLst>
              <a:ext uri="{FF2B5EF4-FFF2-40B4-BE49-F238E27FC236}">
                <a16:creationId xmlns:a16="http://schemas.microsoft.com/office/drawing/2014/main" id="{C4496FCB-4EAC-1435-3F80-F595EBE4BF95}"/>
              </a:ext>
            </a:extLst>
          </p:cNvPr>
          <p:cNvSpPr/>
          <p:nvPr/>
        </p:nvSpPr>
        <p:spPr>
          <a:xfrm>
            <a:off x="5806440" y="4242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Rule of thumb</a:t>
            </a:r>
            <a:endParaRPr lang="en-US" sz="1100" dirty="0"/>
          </a:p>
        </p:txBody>
      </p:sp>
      <p:sp>
        <p:nvSpPr>
          <p:cNvPr id="21" name="Text 60">
            <a:extLst>
              <a:ext uri="{FF2B5EF4-FFF2-40B4-BE49-F238E27FC236}">
                <a16:creationId xmlns:a16="http://schemas.microsoft.com/office/drawing/2014/main" id="{B6ACC587-8422-2863-55AC-36774BD9D708}"/>
              </a:ext>
            </a:extLst>
          </p:cNvPr>
          <p:cNvSpPr/>
          <p:nvPr/>
        </p:nvSpPr>
        <p:spPr>
          <a:xfrm>
            <a:off x="580644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target chunk = 256–512 MB. npartitions = ceil(file_MB / target_MB). Min: 2×n_cores.</a:t>
            </a:r>
            <a:endParaRPr lang="en-US" sz="9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6F7A20-F0EA-67C7-B10C-6738BF22E72D}"/>
              </a:ext>
            </a:extLst>
          </p:cNvPr>
          <p:cNvSpPr txBox="1"/>
          <p:nvPr/>
        </p:nvSpPr>
        <p:spPr>
          <a:xfrm>
            <a:off x="1594357" y="952496"/>
            <a:ext cx="59552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U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Partition = a chunk of the dataset processed independently in parallel</a:t>
            </a:r>
          </a:p>
        </p:txBody>
      </p:sp>
    </p:spTree>
    <p:extLst>
      <p:ext uri="{BB962C8B-B14F-4D97-AF65-F5344CB8AC3E}">
        <p14:creationId xmlns:p14="http://schemas.microsoft.com/office/powerpoint/2010/main" val="3226562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From One Node to Multi-Node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06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36DAD4"/>
                </a:solidFill>
              </a:rPr>
              <a:t>Dask</a:t>
            </a:r>
            <a:r>
              <a:rPr lang="en-US" sz="1400" dirty="0">
                <a:solidFill>
                  <a:srgbClr val="36DAD4"/>
                </a:solidFill>
              </a:rPr>
              <a:t> distributes partitions across many workers on multiple nodes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053D997-200C-8451-1971-2F2CB27235D1}"/>
              </a:ext>
            </a:extLst>
          </p:cNvPr>
          <p:cNvGrpSpPr/>
          <p:nvPr/>
        </p:nvGrpSpPr>
        <p:grpSpPr>
          <a:xfrm>
            <a:off x="1455094" y="1261872"/>
            <a:ext cx="4548141" cy="3783801"/>
            <a:chOff x="2401299" y="1289305"/>
            <a:chExt cx="4548141" cy="3783801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D30B5B3-B0EE-287D-F9C3-784F4BED2CAF}"/>
                </a:ext>
              </a:extLst>
            </p:cNvPr>
            <p:cNvGrpSpPr/>
            <p:nvPr/>
          </p:nvGrpSpPr>
          <p:grpSpPr>
            <a:xfrm>
              <a:off x="2401299" y="1289305"/>
              <a:ext cx="4548141" cy="749806"/>
              <a:chOff x="365760" y="1417320"/>
              <a:chExt cx="2377440" cy="1508760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365760" y="1417320"/>
                <a:ext cx="2377440" cy="1508760"/>
              </a:xfrm>
              <a:prstGeom prst="rect">
                <a:avLst/>
              </a:prstGeom>
              <a:solidFill>
                <a:srgbClr val="1B3A4B"/>
              </a:solidFill>
              <a:ln w="10160">
                <a:solidFill>
                  <a:srgbClr val="0D9488"/>
                </a:solidFill>
                <a:prstDash val="solid"/>
              </a:ln>
            </p:spPr>
            <p:txBody>
              <a:bodyPr/>
              <a:lstStyle/>
              <a:p>
                <a:endParaRPr lang="en-LU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457200" y="1600200"/>
                <a:ext cx="219456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bg1"/>
                    </a:solidFill>
                  </a:rPr>
                  <a:t>Client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457200" y="2011680"/>
                <a:ext cx="2194560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400" dirty="0">
                    <a:solidFill>
                      <a:srgbClr val="94A3B8"/>
                    </a:solidFill>
                  </a:rPr>
                  <a:t>Python script / notebook</a:t>
                </a:r>
                <a:endParaRPr lang="en-US" sz="1400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79DC765-0F30-A3FF-56DC-7BD0007E507C}"/>
                </a:ext>
              </a:extLst>
            </p:cNvPr>
            <p:cNvGrpSpPr/>
            <p:nvPr/>
          </p:nvGrpSpPr>
          <p:grpSpPr>
            <a:xfrm>
              <a:off x="2401299" y="2285723"/>
              <a:ext cx="4546800" cy="748800"/>
              <a:chOff x="2971800" y="1417320"/>
              <a:chExt cx="2377440" cy="1508760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2971800" y="1417320"/>
                <a:ext cx="2377440" cy="1508760"/>
              </a:xfrm>
              <a:prstGeom prst="rect">
                <a:avLst/>
              </a:prstGeom>
              <a:solidFill>
                <a:srgbClr val="1B3A4B"/>
              </a:solidFill>
              <a:ln w="10160">
                <a:solidFill>
                  <a:srgbClr val="0D9488"/>
                </a:solidFill>
                <a:prstDash val="solid"/>
              </a:ln>
            </p:spPr>
            <p:txBody>
              <a:bodyPr/>
              <a:lstStyle/>
              <a:p>
                <a:endParaRPr lang="en-LU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3063240" y="1600200"/>
                <a:ext cx="219456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bg1"/>
                    </a:solidFill>
                  </a:rPr>
                  <a:t>Scheduler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3063240" y="2011680"/>
                <a:ext cx="2194560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400" dirty="0">
                    <a:solidFill>
                      <a:srgbClr val="94A3B8"/>
                    </a:solidFill>
                  </a:rPr>
                  <a:t>Coordinates tasks</a:t>
                </a:r>
                <a:r>
                  <a:rPr lang="en-US" sz="1400" dirty="0"/>
                  <a:t> </a:t>
                </a:r>
                <a:r>
                  <a:rPr lang="en-US" sz="1400" dirty="0">
                    <a:solidFill>
                      <a:srgbClr val="94A3B8"/>
                    </a:solidFill>
                  </a:rPr>
                  <a:t>across all workers</a:t>
                </a:r>
                <a:endParaRPr lang="en-US" sz="1400" dirty="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88C6782-2B2E-2942-522B-03DA455BE1CF}"/>
                </a:ext>
              </a:extLst>
            </p:cNvPr>
            <p:cNvGrpSpPr/>
            <p:nvPr/>
          </p:nvGrpSpPr>
          <p:grpSpPr>
            <a:xfrm>
              <a:off x="2401299" y="3325342"/>
              <a:ext cx="4546800" cy="748800"/>
              <a:chOff x="2971800" y="1417320"/>
              <a:chExt cx="2377440" cy="1508760"/>
            </a:xfrm>
          </p:grpSpPr>
          <p:sp>
            <p:nvSpPr>
              <p:cNvPr id="31" name="Shape 5">
                <a:extLst>
                  <a:ext uri="{FF2B5EF4-FFF2-40B4-BE49-F238E27FC236}">
                    <a16:creationId xmlns:a16="http://schemas.microsoft.com/office/drawing/2014/main" id="{B5E1D7B6-C978-C451-F5ED-93993F9396D8}"/>
                  </a:ext>
                </a:extLst>
              </p:cNvPr>
              <p:cNvSpPr/>
              <p:nvPr/>
            </p:nvSpPr>
            <p:spPr>
              <a:xfrm>
                <a:off x="2971800" y="1417320"/>
                <a:ext cx="2377440" cy="1508760"/>
              </a:xfrm>
              <a:prstGeom prst="rect">
                <a:avLst/>
              </a:prstGeom>
              <a:solidFill>
                <a:srgbClr val="1B3A4B"/>
              </a:solidFill>
              <a:ln w="10160">
                <a:solidFill>
                  <a:srgbClr val="0D9488"/>
                </a:solidFill>
                <a:prstDash val="solid"/>
              </a:ln>
            </p:spPr>
            <p:txBody>
              <a:bodyPr/>
              <a:lstStyle/>
              <a:p>
                <a:endParaRPr lang="en-LU" dirty="0"/>
              </a:p>
            </p:txBody>
          </p:sp>
          <p:sp>
            <p:nvSpPr>
              <p:cNvPr id="32" name="Text 6">
                <a:extLst>
                  <a:ext uri="{FF2B5EF4-FFF2-40B4-BE49-F238E27FC236}">
                    <a16:creationId xmlns:a16="http://schemas.microsoft.com/office/drawing/2014/main" id="{6BA51F08-0D7B-A3E4-3023-C2BDCFBC0526}"/>
                  </a:ext>
                </a:extLst>
              </p:cNvPr>
              <p:cNvSpPr/>
              <p:nvPr/>
            </p:nvSpPr>
            <p:spPr>
              <a:xfrm>
                <a:off x="3063240" y="1600201"/>
                <a:ext cx="219456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bg1"/>
                    </a:solidFill>
                  </a:rPr>
                  <a:t>Workers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 7">
                <a:extLst>
                  <a:ext uri="{FF2B5EF4-FFF2-40B4-BE49-F238E27FC236}">
                    <a16:creationId xmlns:a16="http://schemas.microsoft.com/office/drawing/2014/main" id="{3B9007A1-7F97-803F-350B-8FCF26D9B26E}"/>
                  </a:ext>
                </a:extLst>
              </p:cNvPr>
              <p:cNvSpPr/>
              <p:nvPr/>
            </p:nvSpPr>
            <p:spPr>
              <a:xfrm>
                <a:off x="3063240" y="2011680"/>
                <a:ext cx="2194560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400" dirty="0">
                    <a:solidFill>
                      <a:srgbClr val="94A3B8"/>
                    </a:solidFill>
                  </a:rPr>
                  <a:t>Execute partitions in parallel (one per core / node)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2466EB9-9B42-649B-D3E0-146B3D0B21EB}"/>
                </a:ext>
              </a:extLst>
            </p:cNvPr>
            <p:cNvGrpSpPr/>
            <p:nvPr/>
          </p:nvGrpSpPr>
          <p:grpSpPr>
            <a:xfrm>
              <a:off x="2401299" y="4324306"/>
              <a:ext cx="4546800" cy="748800"/>
              <a:chOff x="2971800" y="1417320"/>
              <a:chExt cx="2377440" cy="1508760"/>
            </a:xfrm>
          </p:grpSpPr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90DE6BA1-9D72-80E0-EB82-30524EFB3B58}"/>
                  </a:ext>
                </a:extLst>
              </p:cNvPr>
              <p:cNvSpPr/>
              <p:nvPr/>
            </p:nvSpPr>
            <p:spPr>
              <a:xfrm>
                <a:off x="2971800" y="1417320"/>
                <a:ext cx="2377440" cy="1508760"/>
              </a:xfrm>
              <a:prstGeom prst="rect">
                <a:avLst/>
              </a:prstGeom>
              <a:solidFill>
                <a:srgbClr val="1B3A4B"/>
              </a:solidFill>
              <a:ln w="10160">
                <a:solidFill>
                  <a:srgbClr val="0D9488"/>
                </a:solidFill>
                <a:prstDash val="solid"/>
              </a:ln>
            </p:spPr>
            <p:txBody>
              <a:bodyPr/>
              <a:lstStyle/>
              <a:p>
                <a:endParaRPr lang="en-LU"/>
              </a:p>
            </p:txBody>
          </p:sp>
          <p:sp>
            <p:nvSpPr>
              <p:cNvPr id="36" name="Text 6">
                <a:extLst>
                  <a:ext uri="{FF2B5EF4-FFF2-40B4-BE49-F238E27FC236}">
                    <a16:creationId xmlns:a16="http://schemas.microsoft.com/office/drawing/2014/main" id="{17122110-C650-1F90-770F-343F6CBB4622}"/>
                  </a:ext>
                </a:extLst>
              </p:cNvPr>
              <p:cNvSpPr/>
              <p:nvPr/>
            </p:nvSpPr>
            <p:spPr>
              <a:xfrm>
                <a:off x="3063240" y="1600200"/>
                <a:ext cx="219456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bg1"/>
                    </a:solidFill>
                  </a:rPr>
                  <a:t>Shared storage (</a:t>
                </a:r>
                <a:r>
                  <a:rPr lang="en-US" b="1" dirty="0" err="1">
                    <a:solidFill>
                      <a:schemeClr val="bg1"/>
                    </a:solidFill>
                  </a:rPr>
                  <a:t>Lustre</a:t>
                </a:r>
                <a:r>
                  <a:rPr lang="en-US" b="1" dirty="0">
                    <a:solidFill>
                      <a:schemeClr val="bg1"/>
                    </a:solidFill>
                  </a:rPr>
                  <a:t> FS)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Text 7">
                <a:extLst>
                  <a:ext uri="{FF2B5EF4-FFF2-40B4-BE49-F238E27FC236}">
                    <a16:creationId xmlns:a16="http://schemas.microsoft.com/office/drawing/2014/main" id="{B6A3AC94-64F6-FF3F-C6F6-8AE4E8821A9F}"/>
                  </a:ext>
                </a:extLst>
              </p:cNvPr>
              <p:cNvSpPr/>
              <p:nvPr/>
            </p:nvSpPr>
            <p:spPr>
              <a:xfrm>
                <a:off x="3063240" y="2011680"/>
                <a:ext cx="2194560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400" dirty="0">
                    <a:solidFill>
                      <a:srgbClr val="94A3B8"/>
                    </a:solidFill>
                  </a:rPr>
                  <a:t>Parallel file system shared across all nodes</a:t>
                </a:r>
                <a:endParaRPr lang="en-US" sz="1400" dirty="0"/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BCEB4B42-A417-34BF-242F-24B5E089B0CD}"/>
              </a:ext>
            </a:extLst>
          </p:cNvPr>
          <p:cNvSpPr txBox="1"/>
          <p:nvPr/>
        </p:nvSpPr>
        <p:spPr>
          <a:xfrm>
            <a:off x="6058893" y="3210644"/>
            <a:ext cx="3085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U" dirty="0">
                <a:solidFill>
                  <a:srgbClr val="FED855"/>
                </a:solidFill>
              </a:rPr>
              <a:t>Scaling = more workers </a:t>
            </a:r>
            <a:r>
              <a:rPr lang="en-LU" dirty="0">
                <a:solidFill>
                  <a:srgbClr val="FED855"/>
                </a:solidFill>
                <a:sym typeface="Wingdings" pitchFamily="2" charset="2"/>
              </a:rPr>
              <a:t> more partitions processed in parallel.</a:t>
            </a:r>
            <a:endParaRPr lang="en-LU" dirty="0">
              <a:solidFill>
                <a:srgbClr val="FED855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74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HPDA in the Real 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3109"/>
            <a:ext cx="4754880" cy="1536192"/>
          </a:xfrm>
          <a:prstGeom prst="rect">
            <a:avLst/>
          </a:prstGeom>
          <a:solidFill>
            <a:srgbClr val="1B3A4B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 sz="2800"/>
          </a:p>
        </p:txBody>
      </p:sp>
      <p:sp>
        <p:nvSpPr>
          <p:cNvPr id="5" name="Shape 3"/>
          <p:cNvSpPr/>
          <p:nvPr/>
        </p:nvSpPr>
        <p:spPr>
          <a:xfrm>
            <a:off x="365760" y="1003109"/>
            <a:ext cx="47548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 sz="2800"/>
          </a:p>
        </p:txBody>
      </p:sp>
      <p:sp>
        <p:nvSpPr>
          <p:cNvPr id="6" name="Text 4"/>
          <p:cNvSpPr/>
          <p:nvPr/>
        </p:nvSpPr>
        <p:spPr>
          <a:xfrm>
            <a:off x="475488" y="1003109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Finance / Insurance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" y="144202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Real-time fraud scoring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5488" y="1716341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 payment network processes 40,000 transactions/second. Each must be scored by an ML model within 300ms or the transaction is rejected. A 3-second delay = €2M/day in losses.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003108"/>
            <a:ext cx="3383280" cy="1536192"/>
          </a:xfrm>
          <a:prstGeom prst="rect">
            <a:avLst/>
          </a:prstGeom>
          <a:solidFill>
            <a:srgbClr val="0A2236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 sz="2800"/>
          </a:p>
        </p:txBody>
      </p:sp>
      <p:sp>
        <p:nvSpPr>
          <p:cNvPr id="10" name="Text 8"/>
          <p:cNvSpPr/>
          <p:nvPr/>
        </p:nvSpPr>
        <p:spPr>
          <a:xfrm>
            <a:off x="5532120" y="12317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Key question: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506028"/>
            <a:ext cx="3108960" cy="879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</a:rPr>
              <a:t>What happens if I/O is 10x slower?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</a:rPr>
              <a:t>Slow I/O = delayed data processing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694749"/>
            <a:ext cx="4754880" cy="1536192"/>
          </a:xfrm>
          <a:prstGeom prst="rect">
            <a:avLst/>
          </a:prstGeom>
          <a:solidFill>
            <a:srgbClr val="1B3A4B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 sz="2800"/>
          </a:p>
        </p:txBody>
      </p:sp>
      <p:sp>
        <p:nvSpPr>
          <p:cNvPr id="13" name="Shape 11"/>
          <p:cNvSpPr/>
          <p:nvPr/>
        </p:nvSpPr>
        <p:spPr>
          <a:xfrm>
            <a:off x="365760" y="2694749"/>
            <a:ext cx="47548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 sz="2800"/>
          </a:p>
        </p:txBody>
      </p:sp>
      <p:sp>
        <p:nvSpPr>
          <p:cNvPr id="14" name="Text 12"/>
          <p:cNvSpPr/>
          <p:nvPr/>
        </p:nvSpPr>
        <p:spPr>
          <a:xfrm>
            <a:off x="475488" y="2694749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Healthcare / Operations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" y="313366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Predictive maintenance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5488" y="3407981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An industrial plant monitors 10,000 sensors on 200 machines. HPDA detects vibration anomalies 72 hours before failure. False negatives cost €500K per unplanned shutdown.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2694748"/>
            <a:ext cx="3383280" cy="1536192"/>
          </a:xfrm>
          <a:prstGeom prst="rect">
            <a:avLst/>
          </a:prstGeom>
          <a:solidFill>
            <a:srgbClr val="0A2236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 sz="2800"/>
          </a:p>
        </p:txBody>
      </p:sp>
      <p:sp>
        <p:nvSpPr>
          <p:cNvPr id="18" name="Text 16"/>
          <p:cNvSpPr/>
          <p:nvPr/>
        </p:nvSpPr>
        <p:spPr>
          <a:xfrm>
            <a:off x="5532120" y="28687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Key question: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3247752"/>
            <a:ext cx="3108960" cy="728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</a:rPr>
              <a:t>What happens if we don’t parallelize?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</a:rPr>
              <a:t>Limited parallelism = cannot keep up with incoming data</a:t>
            </a:r>
          </a:p>
        </p:txBody>
      </p:sp>
      <p:sp>
        <p:nvSpPr>
          <p:cNvPr id="20" name="Shape 18"/>
          <p:cNvSpPr/>
          <p:nvPr/>
        </p:nvSpPr>
        <p:spPr>
          <a:xfrm>
            <a:off x="365760" y="4385024"/>
            <a:ext cx="8412480" cy="566928"/>
          </a:xfrm>
          <a:prstGeom prst="rect">
            <a:avLst/>
          </a:prstGeom>
          <a:solidFill>
            <a:schemeClr val="accent6">
              <a:lumMod val="60000"/>
              <a:lumOff val="40000"/>
              <a:alpha val="85000"/>
            </a:scheme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1" name="Text 19"/>
          <p:cNvSpPr/>
          <p:nvPr/>
        </p:nvSpPr>
        <p:spPr>
          <a:xfrm>
            <a:off x="475488" y="4494888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Retail/Logistics – Batch analytics | Large volume of data processed overnight (strict deadline) | Throughput (I/O + parallelism) is critical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Questions to Ask Before Any HPDA Project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 4 · QUESTIONS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6052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LU" dirty="0"/>
          </a:p>
          <a:p>
            <a:endParaRPr lang="en-LU" dirty="0"/>
          </a:p>
          <a:p>
            <a:pPr marL="285750" indent="-285750">
              <a:buFont typeface="Wingdings" pitchFamily="2" charset="2"/>
              <a:buChar char="à"/>
            </a:pPr>
            <a:r>
              <a:rPr lang="en-LU" dirty="0">
                <a:sym typeface="Wingdings" pitchFamily="2" charset="2"/>
              </a:rPr>
              <a:t>CSV vs Parquet showed: I/O can dominate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LU" dirty="0">
                <a:sym typeface="Wingdings" pitchFamily="2" charset="2"/>
              </a:rPr>
              <a:t>Parallelism will not fix slow storage</a:t>
            </a:r>
            <a:endParaRPr lang="en-LU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8" name="Text 6"/>
          <p:cNvSpPr/>
          <p:nvPr/>
        </p:nvSpPr>
        <p:spPr>
          <a:xfrm>
            <a:off x="429768" y="1261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Is this an I/O or compute problem?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54880" y="1261872"/>
            <a:ext cx="416052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LU" dirty="0"/>
          </a:p>
          <a:p>
            <a:endParaRPr lang="en-LU" dirty="0"/>
          </a:p>
          <a:p>
            <a:pPr marL="285750" indent="-285750"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P</a:t>
            </a:r>
            <a:r>
              <a:rPr lang="en-LU" dirty="0">
                <a:sym typeface="Wingdings" pitchFamily="2" charset="2"/>
              </a:rPr>
              <a:t>andas was fast on small data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LU" dirty="0">
                <a:sym typeface="Wingdings" pitchFamily="2" charset="2"/>
              </a:rPr>
              <a:t>Dask usefull for larger datasets</a:t>
            </a:r>
            <a:endParaRPr lang="en-LU" dirty="0"/>
          </a:p>
        </p:txBody>
      </p:sp>
      <p:sp>
        <p:nvSpPr>
          <p:cNvPr id="13" name="Shape 11"/>
          <p:cNvSpPr/>
          <p:nvPr/>
        </p:nvSpPr>
        <p:spPr>
          <a:xfrm>
            <a:off x="4754880" y="1261872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4" name="Text 12"/>
          <p:cNvSpPr/>
          <p:nvPr/>
        </p:nvSpPr>
        <p:spPr>
          <a:xfrm>
            <a:off x="4864608" y="1261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Do we need parallelism?</a:t>
            </a:r>
          </a:p>
        </p:txBody>
      </p:sp>
      <p:sp>
        <p:nvSpPr>
          <p:cNvPr id="18" name="Shape 16"/>
          <p:cNvSpPr/>
          <p:nvPr/>
        </p:nvSpPr>
        <p:spPr>
          <a:xfrm>
            <a:off x="320040" y="3079629"/>
            <a:ext cx="4160520" cy="1802921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LU" dirty="0"/>
          </a:p>
          <a:p>
            <a:endParaRPr lang="en-LU" dirty="0"/>
          </a:p>
          <a:p>
            <a:pPr marL="285750" indent="-2857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Heavy computations -&gt; parallelism helps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Simple operations -&gt; overhead dominates</a:t>
            </a:r>
            <a:endParaRPr lang="en-LU" dirty="0"/>
          </a:p>
        </p:txBody>
      </p:sp>
      <p:sp>
        <p:nvSpPr>
          <p:cNvPr id="19" name="Shape 17"/>
          <p:cNvSpPr/>
          <p:nvPr/>
        </p:nvSpPr>
        <p:spPr>
          <a:xfrm>
            <a:off x="320040" y="3096882"/>
            <a:ext cx="4160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0" name="Text 18"/>
          <p:cNvSpPr/>
          <p:nvPr/>
        </p:nvSpPr>
        <p:spPr>
          <a:xfrm>
            <a:off x="429768" y="3114135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Will the workload scale?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4160520" cy="1475117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LU" dirty="0"/>
          </a:p>
          <a:p>
            <a:endParaRPr lang="en-LU" dirty="0"/>
          </a:p>
          <a:p>
            <a:endParaRPr lang="en-LU" dirty="0"/>
          </a:p>
          <a:p>
            <a:pPr marL="285750" indent="-285750"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G</a:t>
            </a:r>
            <a:r>
              <a:rPr lang="en-LU" dirty="0">
                <a:sym typeface="Wingdings" pitchFamily="2" charset="2"/>
              </a:rPr>
              <a:t>ood partitioning -&gt; speedup</a:t>
            </a:r>
          </a:p>
        </p:txBody>
      </p:sp>
      <p:sp>
        <p:nvSpPr>
          <p:cNvPr id="25" name="Shape 23"/>
          <p:cNvSpPr/>
          <p:nvPr/>
        </p:nvSpPr>
        <p:spPr>
          <a:xfrm>
            <a:off x="4754880" y="3200400"/>
            <a:ext cx="4160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Can the data be partitioned effectively?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Different problems require different tools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SYNTHESIS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54864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Spreadsheet / 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small, simple, interactive analysis</a:t>
            </a:r>
          </a:p>
          <a:p>
            <a:r>
              <a:rPr lang="en-US" sz="900" dirty="0">
                <a:solidFill>
                  <a:srgbClr val="166534"/>
                </a:solidFill>
              </a:rPr>
              <a:t>✓ manual querying, dashboard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1463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 Not suitable for large-scale or automated pipelines 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883664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2" name="Shape 10"/>
          <p:cNvSpPr/>
          <p:nvPr/>
        </p:nvSpPr>
        <p:spPr>
          <a:xfrm>
            <a:off x="320040" y="1883664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3" name="Text 11"/>
          <p:cNvSpPr/>
          <p:nvPr/>
        </p:nvSpPr>
        <p:spPr>
          <a:xfrm>
            <a:off x="502920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pandas (single-node)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Data fits in memory</a:t>
            </a:r>
          </a:p>
          <a:p>
            <a:r>
              <a:rPr lang="en-US" sz="900" dirty="0">
                <a:solidFill>
                  <a:srgbClr val="166534"/>
                </a:solidFill>
              </a:rPr>
              <a:t>✓ Fast iteration, exploration</a:t>
            </a:r>
          </a:p>
          <a:p>
            <a:r>
              <a:rPr lang="en-US" sz="900" dirty="0">
                <a:solidFill>
                  <a:srgbClr val="166534"/>
                </a:solidFill>
              </a:rPr>
              <a:t>✓ Low overhead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23362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✗Limited by RAM and single machine</a:t>
            </a:r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8" name="Text 16"/>
          <p:cNvSpPr/>
          <p:nvPr/>
        </p:nvSpPr>
        <p:spPr>
          <a:xfrm>
            <a:off x="502920" y="2706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9488"/>
                </a:solidFill>
              </a:rPr>
              <a:t>Dask</a:t>
            </a:r>
            <a:r>
              <a:rPr lang="en-US" sz="1100" b="1" dirty="0">
                <a:solidFill>
                  <a:srgbClr val="0D9488"/>
                </a:solidFill>
              </a:rPr>
              <a:t> (single-node)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7066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Data larger than RAM</a:t>
            </a:r>
          </a:p>
          <a:p>
            <a:r>
              <a:rPr lang="en-US" sz="900" dirty="0">
                <a:solidFill>
                  <a:srgbClr val="166534"/>
                </a:solidFill>
              </a:rPr>
              <a:t>✓ Need multi core processing</a:t>
            </a:r>
          </a:p>
          <a:p>
            <a:r>
              <a:rPr lang="en-US" sz="900" dirty="0">
                <a:solidFill>
                  <a:srgbClr val="166534"/>
                </a:solidFill>
              </a:rPr>
              <a:t>✓ Same workflow as pandas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30867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 Overhead -&gt; not efficient for small/simple tasks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419856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2" name="Shape 20"/>
          <p:cNvSpPr/>
          <p:nvPr/>
        </p:nvSpPr>
        <p:spPr>
          <a:xfrm>
            <a:off x="320040" y="3419856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3" name="Text 21"/>
          <p:cNvSpPr/>
          <p:nvPr/>
        </p:nvSpPr>
        <p:spPr>
          <a:xfrm>
            <a:off x="50292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7C3AED"/>
                </a:solidFill>
              </a:rPr>
              <a:t>Dask</a:t>
            </a:r>
            <a:r>
              <a:rPr lang="en-US" sz="1100" b="1" dirty="0">
                <a:solidFill>
                  <a:srgbClr val="7C3AED"/>
                </a:solidFill>
              </a:rPr>
              <a:t> Distributed / Spark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3474720"/>
            <a:ext cx="36576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66534"/>
                </a:solidFill>
              </a:rPr>
              <a:t>✓ Very large datasets</a:t>
            </a:r>
          </a:p>
          <a:p>
            <a:r>
              <a:rPr lang="en-US" sz="900" dirty="0">
                <a:solidFill>
                  <a:srgbClr val="166534"/>
                </a:solidFill>
              </a:rPr>
              <a:t>✓ Multi-node processing</a:t>
            </a:r>
          </a:p>
          <a:p>
            <a:r>
              <a:rPr lang="en-US" sz="900" dirty="0">
                <a:solidFill>
                  <a:srgbClr val="166534"/>
                </a:solidFill>
              </a:rPr>
              <a:t>✓ Shuffle-heavy operations (joins, </a:t>
            </a:r>
            <a:r>
              <a:rPr lang="en-US" sz="900" dirty="0" err="1">
                <a:solidFill>
                  <a:srgbClr val="166534"/>
                </a:solidFill>
              </a:rPr>
              <a:t>groupby</a:t>
            </a:r>
            <a:r>
              <a:rPr lang="en-US" sz="900" dirty="0">
                <a:solidFill>
                  <a:srgbClr val="166534"/>
                </a:solidFill>
              </a:rPr>
              <a:t> at scale)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17520" y="3886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✗Requires cluster + careful tuning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187952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7" name="Shape 25"/>
          <p:cNvSpPr/>
          <p:nvPr/>
        </p:nvSpPr>
        <p:spPr>
          <a:xfrm>
            <a:off x="320040" y="4187952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28" name="Text 26"/>
          <p:cNvSpPr/>
          <p:nvPr/>
        </p:nvSpPr>
        <p:spPr>
          <a:xfrm>
            <a:off x="502920" y="4242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Streaming (Flink / Kafka)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0" y="4242816"/>
            <a:ext cx="3657600" cy="409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</a:rPr>
              <a:t>✓ Continuous data processing</a:t>
            </a:r>
          </a:p>
          <a:p>
            <a:r>
              <a:rPr lang="en-US" sz="900" dirty="0">
                <a:solidFill>
                  <a:srgbClr val="166534"/>
                </a:solidFill>
              </a:rPr>
              <a:t>✓ Low-latency requirements</a:t>
            </a:r>
          </a:p>
          <a:p>
            <a:r>
              <a:rPr lang="en-US" sz="900" dirty="0">
                <a:solidFill>
                  <a:srgbClr val="166534"/>
                </a:solidFill>
              </a:rPr>
              <a:t>✓ Real-time decision systems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17520" y="465215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✗Not need for batch analysis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0588"/>
            <a:ext cx="9144000" cy="51435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3" name="Shape 1"/>
          <p:cNvSpPr/>
          <p:nvPr/>
        </p:nvSpPr>
        <p:spPr>
          <a:xfrm>
            <a:off x="0" y="230588"/>
            <a:ext cx="32004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4" name="Shape 2"/>
          <p:cNvSpPr/>
          <p:nvPr/>
        </p:nvSpPr>
        <p:spPr>
          <a:xfrm>
            <a:off x="0" y="2286000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D9488"/>
                </a:solidFill>
              </a:rPr>
              <a:t>Q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4B8A6"/>
                </a:solidFill>
              </a:rPr>
              <a:t>&amp;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/>
                </a:solidFill>
              </a:rPr>
              <a:t>A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3657600" y="731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0" y="1828800"/>
            <a:ext cx="5029200" cy="457200"/>
          </a:xfrm>
          <a:prstGeom prst="rect">
            <a:avLst/>
          </a:prstGeom>
          <a:solidFill>
            <a:srgbClr val="0D9488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U"/>
          </a:p>
        </p:txBody>
      </p:sp>
      <p:sp>
        <p:nvSpPr>
          <p:cNvPr id="11" name="Text 9"/>
          <p:cNvSpPr/>
          <p:nvPr/>
        </p:nvSpPr>
        <p:spPr>
          <a:xfrm>
            <a:off x="37490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Introduction to HPDA  ·  Scynergy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2031</Words>
  <Application>Microsoft Macintosh PowerPoint</Application>
  <PresentationFormat>On-screen Show (16:9)</PresentationFormat>
  <Paragraphs>353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.AppleSystemUIFont</vt:lpstr>
      <vt:lpstr>Aptos</vt:lpstr>
      <vt:lpstr>Arial</vt:lpstr>
      <vt:lpstr>Calibri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Aleksandra RANCIC</cp:lastModifiedBy>
  <cp:revision>52</cp:revision>
  <dcterms:created xsi:type="dcterms:W3CDTF">2013-01-27T09:14:16Z</dcterms:created>
  <dcterms:modified xsi:type="dcterms:W3CDTF">2026-04-15T07:55:27Z</dcterms:modified>
  <cp:category/>
</cp:coreProperties>
</file>