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sldIdLst>
    <p:sldId id="312" r:id="rId2"/>
    <p:sldId id="256" r:id="rId3"/>
    <p:sldId id="296" r:id="rId4"/>
    <p:sldId id="300" r:id="rId5"/>
    <p:sldId id="302" r:id="rId6"/>
    <p:sldId id="303" r:id="rId7"/>
    <p:sldId id="304" r:id="rId8"/>
    <p:sldId id="311" r:id="rId9"/>
    <p:sldId id="305" r:id="rId10"/>
    <p:sldId id="306" r:id="rId11"/>
    <p:sldId id="331" r:id="rId12"/>
    <p:sldId id="330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345" r:id="rId27"/>
    <p:sldId id="316" r:id="rId28"/>
    <p:sldId id="346" r:id="rId29"/>
    <p:sldId id="347" r:id="rId30"/>
    <p:sldId id="348" r:id="rId31"/>
    <p:sldId id="349" r:id="rId32"/>
    <p:sldId id="350" r:id="rId33"/>
    <p:sldId id="351" r:id="rId34"/>
    <p:sldId id="352" r:id="rId35"/>
    <p:sldId id="353" r:id="rId36"/>
    <p:sldId id="317" r:id="rId37"/>
    <p:sldId id="318" r:id="rId38"/>
    <p:sldId id="319" r:id="rId39"/>
    <p:sldId id="313" r:id="rId40"/>
    <p:sldId id="356" r:id="rId41"/>
    <p:sldId id="357" r:id="rId42"/>
    <p:sldId id="354" r:id="rId43"/>
    <p:sldId id="355" r:id="rId44"/>
    <p:sldId id="320" r:id="rId45"/>
    <p:sldId id="358" r:id="rId46"/>
    <p:sldId id="359" r:id="rId47"/>
    <p:sldId id="321" r:id="rId48"/>
    <p:sldId id="360" r:id="rId49"/>
    <p:sldId id="361" r:id="rId50"/>
    <p:sldId id="322" r:id="rId51"/>
    <p:sldId id="362" r:id="rId52"/>
    <p:sldId id="363" r:id="rId53"/>
    <p:sldId id="364" r:id="rId54"/>
    <p:sldId id="323" r:id="rId55"/>
    <p:sldId id="314" r:id="rId56"/>
    <p:sldId id="315" r:id="rId57"/>
    <p:sldId id="365" r:id="rId58"/>
    <p:sldId id="366" r:id="rId59"/>
    <p:sldId id="327" r:id="rId60"/>
    <p:sldId id="328" r:id="rId61"/>
    <p:sldId id="367" r:id="rId62"/>
  </p:sldIdLst>
  <p:sldSz cx="12192000" cy="6858000"/>
  <p:notesSz cx="6858000" cy="9144000"/>
  <p:defaultTextStyle>
    <a:defPPr>
      <a:defRPr lang="en-L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A3B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89"/>
    <p:restoredTop sz="94645"/>
  </p:normalViewPr>
  <p:slideViewPr>
    <p:cSldViewPr snapToGrid="0">
      <p:cViewPr varScale="1">
        <p:scale>
          <a:sx n="89" d="100"/>
          <a:sy n="89" d="100"/>
        </p:scale>
        <p:origin x="168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L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D227B-A419-1045-A481-C466DB9A9623}" type="datetimeFigureOut">
              <a:rPr lang="en-LU" smtClean="0"/>
              <a:t>10/06/2025</a:t>
            </a:fld>
            <a:endParaRPr lang="en-L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L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L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0A500C-FC2E-FB44-BC60-937B657DB779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1368348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A500C-FC2E-FB44-BC60-937B657DB779}" type="slidenum">
              <a:rPr lang="en-LU" smtClean="0"/>
              <a:t>56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4169179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5FE18-826A-65CD-6CAF-3A320661B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09E840-809E-226E-4ABE-6295292D3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L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ADFD1-4D1A-B03C-3778-3391DF06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1615-D4C8-DE49-A015-CABBC8FA504E}" type="datetimeFigureOut">
              <a:rPr lang="en-LU" smtClean="0"/>
              <a:t>10/06/2025</a:t>
            </a:fld>
            <a:endParaRPr lang="en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2F7CB-F49F-94B4-7CED-C4042684B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62E93-32C0-687E-4143-AA12BB838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B0FE-8FA9-6E40-981C-4E3CE5B55ACD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2926673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438CA-9274-2405-B3FA-6CD677B06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071C9-421C-6990-4D82-530656261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60906-9AE9-1B6D-AAB8-74F6A20EB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1615-D4C8-DE49-A015-CABBC8FA504E}" type="datetimeFigureOut">
              <a:rPr lang="en-LU" smtClean="0"/>
              <a:t>10/06/2025</a:t>
            </a:fld>
            <a:endParaRPr lang="en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F4FDB-847C-2A19-FE50-B33F6BCEB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AB1A1-51EB-73C8-8BD3-E602EFED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B0FE-8FA9-6E40-981C-4E3CE5B55ACD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3736791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BA7FE-1322-3BCC-9DAF-64F7ED58B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38AEC-8B39-12A3-5761-AE7E6C1AE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FC3EC-0019-8892-E47A-E588866F8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1615-D4C8-DE49-A015-CABBC8FA504E}" type="datetimeFigureOut">
              <a:rPr lang="en-LU" smtClean="0"/>
              <a:t>10/06/2025</a:t>
            </a:fld>
            <a:endParaRPr lang="en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25A5A-9047-56E6-0D4E-C9C4B7A9B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7ABEE-070B-1DF6-00EA-BC02F75D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B0FE-8FA9-6E40-981C-4E3CE5B55ACD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2616537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90CC2-477B-8F1A-E0FD-70A6FE52D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B15F5-015D-012A-480B-F204AD0AB8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C73057-DE1D-0820-1FCB-FF04060F63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EFA7E-43B7-EBB9-8165-C0622AA62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1615-D4C8-DE49-A015-CABBC8FA504E}" type="datetimeFigureOut">
              <a:rPr lang="en-LU" smtClean="0"/>
              <a:t>10/06/2025</a:t>
            </a:fld>
            <a:endParaRPr lang="en-L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DB9A1-3383-9CE9-50B1-121B4748D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B767B-CEA5-25C8-F602-DF8DABEF8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B0FE-8FA9-6E40-981C-4E3CE5B55ACD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1973404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F9807-3D0E-615C-908C-E0105FE13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AE901-8E7E-BD9C-3492-13E760CBC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D11A49-3458-4A94-519B-F500690C5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A95BC0-3E9D-A16E-BFFC-2213094DF0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7598E4-85E3-1A6C-A2F5-B89CE58486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71D40B-B797-70B4-C8D6-694E33FB8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1615-D4C8-DE49-A015-CABBC8FA504E}" type="datetimeFigureOut">
              <a:rPr lang="en-LU" smtClean="0"/>
              <a:t>10/06/2025</a:t>
            </a:fld>
            <a:endParaRPr lang="en-L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0C7427-30EB-CB98-A69F-134FBEF0F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304CE6-55D6-2BE1-5D7B-690C9E66B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B0FE-8FA9-6E40-981C-4E3CE5B55ACD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1017786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2C96D-E4A9-A239-CFEE-28DBDCEE8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84B7A7-886C-2E76-0D80-4A6D77B91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1615-D4C8-DE49-A015-CABBC8FA504E}" type="datetimeFigureOut">
              <a:rPr lang="en-LU" smtClean="0"/>
              <a:t>10/06/2025</a:t>
            </a:fld>
            <a:endParaRPr lang="en-L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3E7080-D6D2-6C54-EEC6-073A7C7B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E2BF20-A21B-800B-2432-B14885048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B0FE-8FA9-6E40-981C-4E3CE5B55ACD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707143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57E738-5A89-0AF6-3AEA-F4558C2A4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1615-D4C8-DE49-A015-CABBC8FA504E}" type="datetimeFigureOut">
              <a:rPr lang="en-LU" smtClean="0"/>
              <a:t>10/06/2025</a:t>
            </a:fld>
            <a:endParaRPr lang="en-L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30C64F-4EA9-E0D3-D3A7-6555AB8D2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4C095-33BD-663C-6235-1BDE89571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B0FE-8FA9-6E40-981C-4E3CE5B55ACD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1310172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45716-899D-31F2-CC56-74640BC69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F4336-0AE9-D3AE-A221-0393E7B3C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D7AF6-E4FF-8749-09C4-F2F070FA3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E85EC-5C10-C542-193D-EB4994918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1615-D4C8-DE49-A015-CABBC8FA504E}" type="datetimeFigureOut">
              <a:rPr lang="en-LU" smtClean="0"/>
              <a:t>10/06/2025</a:t>
            </a:fld>
            <a:endParaRPr lang="en-L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08981-A989-5DA8-A18F-610EF97A6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87711-2CE2-3B14-32AE-ECE17B88E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B0FE-8FA9-6E40-981C-4E3CE5B55ACD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934400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57378-38F8-3F24-57E9-C35E2BCD5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2B2AAE-8866-21BD-96C3-BAF5DF9125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CEDB6-BEC3-258C-10A0-7F4682969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B8962-3A8F-6D1D-CF77-5B996A560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1615-D4C8-DE49-A015-CABBC8FA504E}" type="datetimeFigureOut">
              <a:rPr lang="en-LU" smtClean="0"/>
              <a:t>10/06/2025</a:t>
            </a:fld>
            <a:endParaRPr lang="en-L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B4A1E-4939-686D-6BF9-3FBF253CB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EDAB5-D825-EBC0-D9ED-5D33CF69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B0FE-8FA9-6E40-981C-4E3CE5B55ACD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3643645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45CC1-9966-1696-73C0-6B048567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B5F2B-99D7-5ACA-85F5-B9FDA733A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303D8-3EC5-A2EF-5B0C-C28BFEE5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1615-D4C8-DE49-A015-CABBC8FA504E}" type="datetimeFigureOut">
              <a:rPr lang="en-LU" smtClean="0"/>
              <a:t>10/06/2025</a:t>
            </a:fld>
            <a:endParaRPr lang="en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3E9D8-49AE-7081-70A2-B2EC7078E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23354-5144-0CB3-231F-2FE1762A1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B0FE-8FA9-6E40-981C-4E3CE5B55ACD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2783107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93F67C-57AC-C090-3286-83859F3E38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C69AD-9714-6A94-8CD0-42C70A592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38940-966F-FD03-BFE7-4A335AB74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1615-D4C8-DE49-A015-CABBC8FA504E}" type="datetimeFigureOut">
              <a:rPr lang="en-LU" smtClean="0"/>
              <a:t>10/06/2025</a:t>
            </a:fld>
            <a:endParaRPr lang="en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D08D9-EDBD-A67D-FB6B-974D7BF84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34955-792B-06EB-3815-F3FB758BB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B0FE-8FA9-6E40-981C-4E3CE5B55ACD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3531914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FFB644-C88E-D214-549E-92B51D20F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FCE03-5752-DF97-F7C2-548EA9610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8823F-300B-C6F2-9E34-6E39478C8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A1615-D4C8-DE49-A015-CABBC8FA504E}" type="datetimeFigureOut">
              <a:rPr lang="en-LU" smtClean="0"/>
              <a:t>10/06/2025</a:t>
            </a:fld>
            <a:endParaRPr lang="en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57CEC-98A0-3F61-F63E-AB56BA0D9B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A610F-1FBB-C5F5-C818-3ABB0C06F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3B0FE-8FA9-6E40-981C-4E3CE5B55ACD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197968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" Type="http://schemas.openxmlformats.org/officeDocument/2006/relationships/image" Target="../media/image61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59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2" Type="http://schemas.openxmlformats.org/officeDocument/2006/relationships/image" Target="../media/image94.png"/><Relationship Id="rId16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eezy.com/vector-art/26381419-rounded-modern-check-mark-icon-done-vector-rounded-modern-check-mark-icon-done-vector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text on it&#10;&#10;AI-generated content may be incorrect.">
            <a:extLst>
              <a:ext uri="{FF2B5EF4-FFF2-40B4-BE49-F238E27FC236}">
                <a16:creationId xmlns:a16="http://schemas.microsoft.com/office/drawing/2014/main" id="{E85223C3-8B9B-F930-DD56-1421DD272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24" y="486713"/>
            <a:ext cx="2596242" cy="20461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F8D4B4-DCE0-6C90-1D1A-D76228859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6371" y="2431608"/>
            <a:ext cx="10367476" cy="2387600"/>
          </a:xfrm>
        </p:spPr>
        <p:txBody>
          <a:bodyPr>
            <a:normAutofit/>
          </a:bodyPr>
          <a:lstStyle/>
          <a:p>
            <a:r>
              <a:rPr lang="en-LU" b="1" dirty="0">
                <a:solidFill>
                  <a:srgbClr val="01A3B0"/>
                </a:solidFill>
              </a:rPr>
              <a:t>Scalable Deep Learning with CNN on HPC Infrastructure</a:t>
            </a:r>
          </a:p>
        </p:txBody>
      </p:sp>
      <p:pic>
        <p:nvPicPr>
          <p:cNvPr id="7" name="Picture 6" descr="Blue text on a white background&#10;&#10;AI-generated content may be incorrect.">
            <a:extLst>
              <a:ext uri="{FF2B5EF4-FFF2-40B4-BE49-F238E27FC236}">
                <a16:creationId xmlns:a16="http://schemas.microsoft.com/office/drawing/2014/main" id="{686E2D70-8A07-C8DC-C711-206F3DCDE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045" y="592850"/>
            <a:ext cx="2997200" cy="1155700"/>
          </a:xfrm>
          <a:prstGeom prst="rect">
            <a:avLst/>
          </a:prstGeom>
        </p:spPr>
      </p:pic>
      <p:pic>
        <p:nvPicPr>
          <p:cNvPr id="9" name="Picture 8" descr="A logo for a university&#10;&#10;AI-generated content may be incorrect.">
            <a:extLst>
              <a:ext uri="{FF2B5EF4-FFF2-40B4-BE49-F238E27FC236}">
                <a16:creationId xmlns:a16="http://schemas.microsoft.com/office/drawing/2014/main" id="{71909416-05EF-FE08-65E0-CD418489C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6705" y="189009"/>
            <a:ext cx="2273300" cy="2641600"/>
          </a:xfrm>
          <a:prstGeom prst="rect">
            <a:avLst/>
          </a:prstGeom>
        </p:spPr>
      </p:pic>
      <p:pic>
        <p:nvPicPr>
          <p:cNvPr id="11" name="Picture 10" descr="A blue and red logo&#10;&#10;AI-generated content may be incorrect.">
            <a:extLst>
              <a:ext uri="{FF2B5EF4-FFF2-40B4-BE49-F238E27FC236}">
                <a16:creationId xmlns:a16="http://schemas.microsoft.com/office/drawing/2014/main" id="{C0249968-6C5E-FDD8-614C-8ECD0ADFFE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8185" y="4470808"/>
            <a:ext cx="1881415" cy="21981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ACA33B-9F40-B363-EFA2-5E2ABBB37D24}"/>
              </a:ext>
            </a:extLst>
          </p:cNvPr>
          <p:cNvSpPr txBox="1"/>
          <p:nvPr/>
        </p:nvSpPr>
        <p:spPr>
          <a:xfrm>
            <a:off x="4856878" y="5645895"/>
            <a:ext cx="2478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b="1" dirty="0">
                <a:solidFill>
                  <a:srgbClr val="01A3B0"/>
                </a:solidFill>
              </a:rPr>
              <a:t>Dr. Aleksandra Rančić</a:t>
            </a:r>
          </a:p>
        </p:txBody>
      </p:sp>
    </p:spTree>
    <p:extLst>
      <p:ext uri="{BB962C8B-B14F-4D97-AF65-F5344CB8AC3E}">
        <p14:creationId xmlns:p14="http://schemas.microsoft.com/office/powerpoint/2010/main" val="2268849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88F58D-FB3D-EC73-A448-91ABA9BFEBC0}"/>
              </a:ext>
            </a:extLst>
          </p:cNvPr>
          <p:cNvSpPr txBox="1"/>
          <p:nvPr/>
        </p:nvSpPr>
        <p:spPr>
          <a:xfrm>
            <a:off x="95693" y="116958"/>
            <a:ext cx="77715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>
                <a:solidFill>
                  <a:srgbClr val="01A3B0"/>
                </a:solidFill>
              </a:rPr>
              <a:t>Session 1. Introduction to Convolutional Neural Networks (CNNs)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1721D5-CDDE-052C-BB0F-9438820AD6B2}"/>
              </a:ext>
            </a:extLst>
          </p:cNvPr>
          <p:cNvSpPr txBox="1"/>
          <p:nvPr/>
        </p:nvSpPr>
        <p:spPr>
          <a:xfrm>
            <a:off x="244549" y="486290"/>
            <a:ext cx="3855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/>
              <a:t>1. What are CNNs and their evolution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AFAE03-0ED7-65D6-743F-2D1825DD9C22}"/>
              </a:ext>
            </a:extLst>
          </p:cNvPr>
          <p:cNvSpPr txBox="1"/>
          <p:nvPr/>
        </p:nvSpPr>
        <p:spPr>
          <a:xfrm>
            <a:off x="244549" y="1040288"/>
            <a:ext cx="9542869" cy="2129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CNNs = a class of deep neural networks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Process grid-like structured data</a:t>
            </a:r>
            <a:r>
              <a:rPr lang="en-LU" dirty="0"/>
              <a:t>: images (2D grids) or time series (1D grids)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Use convolutional layers to automatically extract hierarchical spatial features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Inspired by the visual cortex = neurons respond to overlapping regions of the visual field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CNN architectue = input layer, Convolutional layer, Pooling layer, and fully connected layers.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C9E0D5-2E83-4A95-E0B9-55C0D095546B}"/>
              </a:ext>
            </a:extLst>
          </p:cNvPr>
          <p:cNvGrpSpPr/>
          <p:nvPr/>
        </p:nvGrpSpPr>
        <p:grpSpPr>
          <a:xfrm>
            <a:off x="1390296" y="3429000"/>
            <a:ext cx="9411408" cy="2977441"/>
            <a:chOff x="1534382" y="2461334"/>
            <a:chExt cx="9411408" cy="297744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06B9A85-D082-9F56-C93D-EF95CBA239E5}"/>
                </a:ext>
              </a:extLst>
            </p:cNvPr>
            <p:cNvGrpSpPr/>
            <p:nvPr/>
          </p:nvGrpSpPr>
          <p:grpSpPr>
            <a:xfrm>
              <a:off x="1534382" y="3038475"/>
              <a:ext cx="9123236" cy="2400300"/>
              <a:chOff x="628650" y="2828925"/>
              <a:chExt cx="9123236" cy="24003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60E2448-ECFF-0FB6-8227-111797EB44FB}"/>
                  </a:ext>
                </a:extLst>
              </p:cNvPr>
              <p:cNvSpPr/>
              <p:nvPr/>
            </p:nvSpPr>
            <p:spPr>
              <a:xfrm>
                <a:off x="628650" y="3429000"/>
                <a:ext cx="1390650" cy="120015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LU" sz="2000" dirty="0">
                    <a:solidFill>
                      <a:schemeClr val="tx1"/>
                    </a:solidFill>
                  </a:rPr>
                  <a:t>Image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337BDF9-7864-D914-D79F-5559A952371C}"/>
                  </a:ext>
                </a:extLst>
              </p:cNvPr>
              <p:cNvSpPr/>
              <p:nvPr/>
            </p:nvSpPr>
            <p:spPr>
              <a:xfrm>
                <a:off x="3181350" y="2828925"/>
                <a:ext cx="533400" cy="24003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13B3803-3751-6555-451F-4F9C56ED7D37}"/>
                  </a:ext>
                </a:extLst>
              </p:cNvPr>
              <p:cNvSpPr/>
              <p:nvPr/>
            </p:nvSpPr>
            <p:spPr>
              <a:xfrm>
                <a:off x="3889627" y="2828925"/>
                <a:ext cx="533400" cy="24003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998B222-289B-2131-450C-922EE9D2FF69}"/>
                  </a:ext>
                </a:extLst>
              </p:cNvPr>
              <p:cNvSpPr/>
              <p:nvPr/>
            </p:nvSpPr>
            <p:spPr>
              <a:xfrm>
                <a:off x="5562600" y="2828925"/>
                <a:ext cx="533400" cy="24003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76E5A97-BCF4-E71F-3B3B-581893B0019A}"/>
                  </a:ext>
                </a:extLst>
              </p:cNvPr>
              <p:cNvSpPr/>
              <p:nvPr/>
            </p:nvSpPr>
            <p:spPr>
              <a:xfrm>
                <a:off x="7235573" y="2828925"/>
                <a:ext cx="533400" cy="2400300"/>
              </a:xfrm>
              <a:prstGeom prst="rect">
                <a:avLst/>
              </a:prstGeom>
              <a:solidFill>
                <a:srgbClr val="FFF3CC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B88FB9-B73D-4E7B-E390-586E994CAC73}"/>
                  </a:ext>
                </a:extLst>
              </p:cNvPr>
              <p:cNvSpPr/>
              <p:nvPr/>
            </p:nvSpPr>
            <p:spPr>
              <a:xfrm>
                <a:off x="8908546" y="3633787"/>
                <a:ext cx="843340" cy="790575"/>
              </a:xfrm>
              <a:prstGeom prst="rect">
                <a:avLst/>
              </a:prstGeom>
              <a:solidFill>
                <a:srgbClr val="FFF3CC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BBF438F-9FE6-01D4-CFD2-3902F76EF7E9}"/>
                </a:ext>
              </a:extLst>
            </p:cNvPr>
            <p:cNvSpPr txBox="1"/>
            <p:nvPr/>
          </p:nvSpPr>
          <p:spPr>
            <a:xfrm>
              <a:off x="1612839" y="3028950"/>
              <a:ext cx="12337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Input layer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761797-3D64-1172-76DD-012BDB777FF3}"/>
                </a:ext>
              </a:extLst>
            </p:cNvPr>
            <p:cNvSpPr txBox="1"/>
            <p:nvPr/>
          </p:nvSpPr>
          <p:spPr>
            <a:xfrm>
              <a:off x="3566091" y="2461334"/>
              <a:ext cx="21087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Convolutional layer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E5AF3E-3D62-FCAD-C78A-3B0C42FDC422}"/>
                </a:ext>
              </a:extLst>
            </p:cNvPr>
            <p:cNvSpPr txBox="1"/>
            <p:nvPr/>
          </p:nvSpPr>
          <p:spPr>
            <a:xfrm>
              <a:off x="5782335" y="2461334"/>
              <a:ext cx="19053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Max pooling layer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09D4C06-3F37-1FE3-64AB-67EA57CF5D37}"/>
                </a:ext>
              </a:extLst>
            </p:cNvPr>
            <p:cNvSpPr txBox="1"/>
            <p:nvPr/>
          </p:nvSpPr>
          <p:spPr>
            <a:xfrm>
              <a:off x="7795190" y="2461334"/>
              <a:ext cx="13555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Dense layer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5453C7A-2EE0-AD91-9D3D-6F54E693BBDD}"/>
                </a:ext>
              </a:extLst>
            </p:cNvPr>
            <p:cNvSpPr txBox="1"/>
            <p:nvPr/>
          </p:nvSpPr>
          <p:spPr>
            <a:xfrm>
              <a:off x="9526106" y="3269218"/>
              <a:ext cx="14196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Output layer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C5A994C-69FE-1198-FDD5-AC8D9518EF6C}"/>
                </a:ext>
              </a:extLst>
            </p:cNvPr>
            <p:cNvCxnSpPr>
              <a:stCxn id="18" idx="3"/>
              <a:endCxn id="19" idx="1"/>
            </p:cNvCxnSpPr>
            <p:nvPr/>
          </p:nvCxnSpPr>
          <p:spPr>
            <a:xfrm>
              <a:off x="2925032" y="4238625"/>
              <a:ext cx="1162800" cy="0"/>
            </a:xfrm>
            <a:prstGeom prst="straightConnector1">
              <a:avLst/>
            </a:prstGeom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8991C8B-C2BB-6DCD-C37D-5E8B6DB64240}"/>
                </a:ext>
              </a:extLst>
            </p:cNvPr>
            <p:cNvCxnSpPr/>
            <p:nvPr/>
          </p:nvCxnSpPr>
          <p:spPr>
            <a:xfrm>
              <a:off x="5328759" y="4238624"/>
              <a:ext cx="1162800" cy="0"/>
            </a:xfrm>
            <a:prstGeom prst="straightConnector1">
              <a:avLst/>
            </a:prstGeom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71DF612-FA3B-DEEA-B1A7-58367BEAB04F}"/>
                </a:ext>
              </a:extLst>
            </p:cNvPr>
            <p:cNvCxnSpPr/>
            <p:nvPr/>
          </p:nvCxnSpPr>
          <p:spPr>
            <a:xfrm>
              <a:off x="6979255" y="4238624"/>
              <a:ext cx="1162800" cy="0"/>
            </a:xfrm>
            <a:prstGeom prst="straightConnector1">
              <a:avLst/>
            </a:prstGeom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CEC1FA2-99BD-FC09-E0EF-055B83ACC300}"/>
                </a:ext>
              </a:extLst>
            </p:cNvPr>
            <p:cNvCxnSpPr/>
            <p:nvPr/>
          </p:nvCxnSpPr>
          <p:spPr>
            <a:xfrm>
              <a:off x="8674705" y="4238624"/>
              <a:ext cx="1162800" cy="0"/>
            </a:xfrm>
            <a:prstGeom prst="straightConnector1">
              <a:avLst/>
            </a:prstGeom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22766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BA1FEF-EE13-FB40-9271-9890C1B0FB08}"/>
              </a:ext>
            </a:extLst>
          </p:cNvPr>
          <p:cNvSpPr txBox="1"/>
          <p:nvPr/>
        </p:nvSpPr>
        <p:spPr>
          <a:xfrm>
            <a:off x="0" y="756745"/>
            <a:ext cx="6645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/>
              <a:t>Neural Networks are the building blocks of deep learning systems.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B4D2FC-5DC4-E21A-12E4-7DD0B50E4E8B}"/>
              </a:ext>
            </a:extLst>
          </p:cNvPr>
          <p:cNvSpPr txBox="1"/>
          <p:nvPr/>
        </p:nvSpPr>
        <p:spPr>
          <a:xfrm>
            <a:off x="0" y="1138510"/>
            <a:ext cx="10042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/>
              <a:t>How do our brains subconsciously perform complex pattern recognition tasks each and every day?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4D84DA-5CBE-AC0B-1C37-DBDED6EE5F01}"/>
              </a:ext>
            </a:extLst>
          </p:cNvPr>
          <p:cNvSpPr txBox="1"/>
          <p:nvPr/>
        </p:nvSpPr>
        <p:spPr>
          <a:xfrm>
            <a:off x="0" y="1480770"/>
            <a:ext cx="12212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U" dirty="0"/>
              <a:t>We have a real-life biological neural network connected to our nervous systems, and it is made up of interconnected neurons.</a:t>
            </a:r>
          </a:p>
        </p:txBody>
      </p:sp>
      <p:pic>
        <p:nvPicPr>
          <p:cNvPr id="9" name="Picture 8" descr="A purple and white neuron&#10;&#10;AI-generated content may be incorrect.">
            <a:extLst>
              <a:ext uri="{FF2B5EF4-FFF2-40B4-BE49-F238E27FC236}">
                <a16:creationId xmlns:a16="http://schemas.microsoft.com/office/drawing/2014/main" id="{2CDF60BA-6298-544A-D431-2A3CD3440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799" y="2873136"/>
            <a:ext cx="5078448" cy="25550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F10603-ECDE-B9F6-944E-2E6A9F1AEE2F}"/>
              </a:ext>
            </a:extLst>
          </p:cNvPr>
          <p:cNvSpPr txBox="1"/>
          <p:nvPr/>
        </p:nvSpPr>
        <p:spPr>
          <a:xfrm>
            <a:off x="3815931" y="5422154"/>
            <a:ext cx="2883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Human neural cell - neuron</a:t>
            </a:r>
            <a:endParaRPr lang="en-L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9A87B5-919A-67AF-7639-F807264E9447}"/>
              </a:ext>
            </a:extLst>
          </p:cNvPr>
          <p:cNvSpPr txBox="1"/>
          <p:nvPr/>
        </p:nvSpPr>
        <p:spPr>
          <a:xfrm>
            <a:off x="1429670" y="2346710"/>
            <a:ext cx="25078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</a:t>
            </a:r>
            <a:r>
              <a:rPr lang="en-LU" dirty="0"/>
              <a:t>erminal buttons (connections to other neurons)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8BE1A6-9B48-D69E-4876-7ACD3B58B658}"/>
              </a:ext>
            </a:extLst>
          </p:cNvPr>
          <p:cNvSpPr txBox="1"/>
          <p:nvPr/>
        </p:nvSpPr>
        <p:spPr>
          <a:xfrm>
            <a:off x="3841687" y="3102710"/>
            <a:ext cx="1677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Axon (outputs) </a:t>
            </a:r>
            <a:endParaRPr lang="en-L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1CE548-DA91-E76E-439A-64E9D2297072}"/>
              </a:ext>
            </a:extLst>
          </p:cNvPr>
          <p:cNvSpPr txBox="1"/>
          <p:nvPr/>
        </p:nvSpPr>
        <p:spPr>
          <a:xfrm>
            <a:off x="7449851" y="4807797"/>
            <a:ext cx="3218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Soma (cell body – neuron</a:t>
            </a:r>
          </a:p>
          <a:p>
            <a:r>
              <a:rPr lang="en-GB" dirty="0"/>
              <a:t>computation; weighted sum + activation)</a:t>
            </a:r>
            <a:endParaRPr lang="en-L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540EF8-67E0-0B13-F303-980AD64A0D84}"/>
              </a:ext>
            </a:extLst>
          </p:cNvPr>
          <p:cNvSpPr txBox="1"/>
          <p:nvPr/>
        </p:nvSpPr>
        <p:spPr>
          <a:xfrm>
            <a:off x="7655313" y="3646472"/>
            <a:ext cx="3105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</a:t>
            </a:r>
            <a:r>
              <a:rPr lang="en-LU" dirty="0"/>
              <a:t>ucleus (activation function)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A4FD6A-694F-418B-00C4-A1F6747B4EC0}"/>
              </a:ext>
            </a:extLst>
          </p:cNvPr>
          <p:cNvSpPr txBox="1"/>
          <p:nvPr/>
        </p:nvSpPr>
        <p:spPr>
          <a:xfrm>
            <a:off x="6840860" y="2792703"/>
            <a:ext cx="1902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Dendrite (inputs) </a:t>
            </a:r>
            <a:endParaRPr lang="en-L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4C0F0-B589-15DD-8AEF-94974554576E}"/>
              </a:ext>
            </a:extLst>
          </p:cNvPr>
          <p:cNvSpPr txBox="1"/>
          <p:nvPr/>
        </p:nvSpPr>
        <p:spPr>
          <a:xfrm>
            <a:off x="0" y="6011095"/>
            <a:ext cx="12212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U" b="1" dirty="0"/>
              <a:t>Artificial Neural Network </a:t>
            </a:r>
            <a:r>
              <a:rPr lang="en-LU" dirty="0"/>
              <a:t>is a computation system that attempts to mimic the neural connection in our nervous system.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D5F6DAC-E9C4-9FB1-2C03-4CD2F455D846}"/>
              </a:ext>
            </a:extLst>
          </p:cNvPr>
          <p:cNvCxnSpPr>
            <a:cxnSpLocks/>
          </p:cNvCxnSpPr>
          <p:nvPr/>
        </p:nvCxnSpPr>
        <p:spPr>
          <a:xfrm>
            <a:off x="3004883" y="2939742"/>
            <a:ext cx="81312" cy="8698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F80E2B7-1E3E-55F7-68B0-3E0BCE6F5943}"/>
              </a:ext>
            </a:extLst>
          </p:cNvPr>
          <p:cNvCxnSpPr>
            <a:cxnSpLocks/>
          </p:cNvCxnSpPr>
          <p:nvPr/>
        </p:nvCxnSpPr>
        <p:spPr>
          <a:xfrm>
            <a:off x="3004883" y="2939742"/>
            <a:ext cx="384798" cy="311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1CD92C5-11A8-AA83-CE6C-E2798F9F176C}"/>
              </a:ext>
            </a:extLst>
          </p:cNvPr>
          <p:cNvCxnSpPr>
            <a:cxnSpLocks/>
          </p:cNvCxnSpPr>
          <p:nvPr/>
        </p:nvCxnSpPr>
        <p:spPr>
          <a:xfrm flipH="1">
            <a:off x="3942144" y="3405678"/>
            <a:ext cx="178131" cy="6101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5EABAB0-3A37-AF84-42D8-421A547C73C7}"/>
              </a:ext>
            </a:extLst>
          </p:cNvPr>
          <p:cNvCxnSpPr/>
          <p:nvPr/>
        </p:nvCxnSpPr>
        <p:spPr>
          <a:xfrm flipH="1">
            <a:off x="6890750" y="3050895"/>
            <a:ext cx="230095" cy="243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971469E-3F9D-2B92-1DD7-0C1B0762C828}"/>
              </a:ext>
            </a:extLst>
          </p:cNvPr>
          <p:cNvCxnSpPr>
            <a:cxnSpLocks/>
          </p:cNvCxnSpPr>
          <p:nvPr/>
        </p:nvCxnSpPr>
        <p:spPr>
          <a:xfrm>
            <a:off x="7120845" y="3050895"/>
            <a:ext cx="146542" cy="354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9172530-682F-1714-6D53-2FF389163E87}"/>
              </a:ext>
            </a:extLst>
          </p:cNvPr>
          <p:cNvCxnSpPr/>
          <p:nvPr/>
        </p:nvCxnSpPr>
        <p:spPr>
          <a:xfrm flipH="1">
            <a:off x="6615896" y="3831138"/>
            <a:ext cx="1156504" cy="235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D5B9DC9-75AE-1921-B59C-9BA69BAB802B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6615896" y="4265470"/>
            <a:ext cx="833955" cy="10039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3A3A44B-0482-C585-4A47-6FEEA1A47429}"/>
              </a:ext>
            </a:extLst>
          </p:cNvPr>
          <p:cNvSpPr txBox="1"/>
          <p:nvPr/>
        </p:nvSpPr>
        <p:spPr>
          <a:xfrm>
            <a:off x="95693" y="116958"/>
            <a:ext cx="39361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>
                <a:solidFill>
                  <a:srgbClr val="01A3B0"/>
                </a:solidFill>
              </a:rPr>
              <a:t>Introduction to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3799234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AC2F22-929F-C97A-5480-16CD4F77B526}"/>
              </a:ext>
            </a:extLst>
          </p:cNvPr>
          <p:cNvSpPr txBox="1"/>
          <p:nvPr/>
        </p:nvSpPr>
        <p:spPr>
          <a:xfrm>
            <a:off x="299804" y="254832"/>
            <a:ext cx="10355207" cy="42073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LU" dirty="0"/>
              <a:t>A </a:t>
            </a:r>
            <a:r>
              <a:rPr lang="en-LU" b="1" dirty="0"/>
              <a:t>Neural Network (NN) </a:t>
            </a:r>
            <a:r>
              <a:rPr lang="en-LU" dirty="0"/>
              <a:t>is like a connected system of points, where: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Each point (called a </a:t>
            </a:r>
            <a:r>
              <a:rPr lang="en-LU" b="1" dirty="0"/>
              <a:t>node or neuron</a:t>
            </a:r>
            <a:r>
              <a:rPr lang="en-LU" dirty="0"/>
              <a:t>) does a small calculation;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</a:t>
            </a:r>
            <a:r>
              <a:rPr lang="en-LU" dirty="0"/>
              <a:t>he </a:t>
            </a:r>
            <a:r>
              <a:rPr lang="en-LU" b="1" dirty="0"/>
              <a:t>connections</a:t>
            </a:r>
            <a:r>
              <a:rPr lang="en-LU" dirty="0"/>
              <a:t> (called </a:t>
            </a:r>
            <a:r>
              <a:rPr lang="en-LU" b="1" dirty="0"/>
              <a:t>edges</a:t>
            </a:r>
            <a:r>
              <a:rPr lang="en-LU" dirty="0"/>
              <a:t>) between them show which nodes send information to others.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The connections have </a:t>
            </a:r>
            <a:r>
              <a:rPr lang="en-LU" b="1" dirty="0"/>
              <a:t>directions </a:t>
            </a:r>
            <a:r>
              <a:rPr lang="en-LU" dirty="0"/>
              <a:t>–information flows from one node to the next.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</a:t>
            </a:r>
            <a:r>
              <a:rPr lang="en-LU" dirty="0"/>
              <a:t>his forms a directed graph – a structure made of connected parts where data flows in one direction.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LU" dirty="0"/>
          </a:p>
          <a:p>
            <a:pPr>
              <a:lnSpc>
                <a:spcPct val="150000"/>
              </a:lnSpc>
            </a:pPr>
            <a:r>
              <a:rPr lang="en-LU" dirty="0"/>
              <a:t>For something to be called a NN, it needs: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Nodes that do calculations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Connection showing how data flows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A structure that connects everything in layers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EF965-E156-C98C-7E23-4AAA0B162307}"/>
              </a:ext>
            </a:extLst>
          </p:cNvPr>
          <p:cNvSpPr txBox="1"/>
          <p:nvPr/>
        </p:nvSpPr>
        <p:spPr>
          <a:xfrm>
            <a:off x="7245246" y="3173048"/>
            <a:ext cx="4437088" cy="2817887"/>
          </a:xfrm>
          <a:prstGeom prst="rect">
            <a:avLst/>
          </a:prstGeom>
          <a:solidFill>
            <a:srgbClr val="FFE7B5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sz="2000" dirty="0"/>
              <a:t>Neural networks are built using concepts from </a:t>
            </a:r>
            <a:r>
              <a:rPr lang="en-LU" sz="2000" b="1" dirty="0"/>
              <a:t>graph theory</a:t>
            </a:r>
            <a:r>
              <a:rPr lang="en-LU" sz="2000" dirty="0"/>
              <a:t>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T</a:t>
            </a:r>
            <a:r>
              <a:rPr lang="en-LU" sz="2000" b="1" dirty="0"/>
              <a:t>hey are directed graphs where nodes (neurons) do computations and edges (connections) carry weighted signals;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4E77875-8601-3AE9-3A25-65417EA7D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2FFE3-EBCD-004D-B0F6-94C58CE35FF0}" type="slidenum">
              <a:rPr lang="en-LU" smtClean="0"/>
              <a:t>4</a:t>
            </a:fld>
            <a:endParaRPr lang="en-LU"/>
          </a:p>
        </p:txBody>
      </p:sp>
      <p:pic>
        <p:nvPicPr>
          <p:cNvPr id="2" name="Picture 1" descr="A diagram of a network&#10;&#10;AI-generated content may be incorrect.">
            <a:extLst>
              <a:ext uri="{FF2B5EF4-FFF2-40B4-BE49-F238E27FC236}">
                <a16:creationId xmlns:a16="http://schemas.microsoft.com/office/drawing/2014/main" id="{2240C838-8AAA-B566-7081-6087FF6C8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1" y="4501713"/>
            <a:ext cx="3663845" cy="221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423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E920E64-64AE-E90C-1C8D-79E52FBCD44B}"/>
                  </a:ext>
                </a:extLst>
              </p:cNvPr>
              <p:cNvSpPr txBox="1"/>
              <p:nvPr/>
            </p:nvSpPr>
            <p:spPr>
              <a:xfrm>
                <a:off x="6550702" y="456440"/>
                <a:ext cx="544142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L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L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L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L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LU" dirty="0"/>
                  <a:t> - 4 input nodes (represent features); each circle here is  a neuron that takes in one input feature.</a:t>
                </a:r>
              </a:p>
              <a:p>
                <a:endParaRPr lang="en-LU" dirty="0"/>
              </a:p>
              <a:p>
                <a:endParaRPr lang="en-LU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E920E64-64AE-E90C-1C8D-79E52FBCD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702" y="456440"/>
                <a:ext cx="5441429" cy="1200329"/>
              </a:xfrm>
              <a:prstGeom prst="rect">
                <a:avLst/>
              </a:prstGeom>
              <a:blipFill>
                <a:blip r:embed="rId2"/>
                <a:stretch>
                  <a:fillRect l="-1166" t="-3158" r="-1399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B8BE90A6-FD76-577C-F1C6-AAD3E6E24B59}"/>
              </a:ext>
            </a:extLst>
          </p:cNvPr>
          <p:cNvSpPr txBox="1"/>
          <p:nvPr/>
        </p:nvSpPr>
        <p:spPr>
          <a:xfrm>
            <a:off x="6550702" y="1240030"/>
            <a:ext cx="5696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U" dirty="0"/>
              <a:t>Each input node is connected to one square, showing 1:1 mapping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B930270-CC64-A53E-8186-7658673FF94D}"/>
                  </a:ext>
                </a:extLst>
              </p:cNvPr>
              <p:cNvSpPr txBox="1"/>
              <p:nvPr/>
            </p:nvSpPr>
            <p:spPr>
              <a:xfrm>
                <a:off x="6550702" y="2045460"/>
                <a:ext cx="569679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LU" dirty="0"/>
                  <a:t>Each connection (or link) between neurons is weighted = each one carries weight value that determines the strength and direction (positive or negative) of the signal being passed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L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LU" dirty="0"/>
                  <a:t>). The weights are trained during learning.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B930270-CC64-A53E-8186-7658673FF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702" y="2045460"/>
                <a:ext cx="5696794" cy="1477328"/>
              </a:xfrm>
              <a:prstGeom prst="rect">
                <a:avLst/>
              </a:prstGeom>
              <a:blipFill>
                <a:blip r:embed="rId3"/>
                <a:stretch>
                  <a:fillRect l="-1114" t="-2564" r="-1782" b="-5128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D3B25E4-9B04-6379-4BF3-CA5AFA19536B}"/>
                  </a:ext>
                </a:extLst>
              </p:cNvPr>
              <p:cNvSpPr txBox="1"/>
              <p:nvPr/>
            </p:nvSpPr>
            <p:spPr>
              <a:xfrm>
                <a:off x="6550702" y="3583607"/>
                <a:ext cx="569679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LU" dirty="0"/>
                  <a:t>The squares in the first layer can represent the weighted inputs or intermediate neurons (weighted units or projection from input to deeper layers;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L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LU" dirty="0"/>
                  <a:t>). 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D3B25E4-9B04-6379-4BF3-CA5AFA195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702" y="3583607"/>
                <a:ext cx="5696794" cy="923330"/>
              </a:xfrm>
              <a:prstGeom prst="rect">
                <a:avLst/>
              </a:prstGeom>
              <a:blipFill>
                <a:blip r:embed="rId4"/>
                <a:stretch>
                  <a:fillRect l="-1114" t="-4110" r="-668" b="-9589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8D8C60E2-048D-A37E-1827-69CF03F784B9}"/>
              </a:ext>
            </a:extLst>
          </p:cNvPr>
          <p:cNvSpPr txBox="1"/>
          <p:nvPr/>
        </p:nvSpPr>
        <p:spPr>
          <a:xfrm>
            <a:off x="6550702" y="4607555"/>
            <a:ext cx="56967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U" dirty="0"/>
              <a:t>The third column – the second hidden layer – three squares form a true hidden layer, where each node receives input from multiple previous nodes. In this layer, complex combinations of features are learned.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DAAD47E-68A3-5921-7775-539015F81920}"/>
              </a:ext>
            </a:extLst>
          </p:cNvPr>
          <p:cNvSpPr txBox="1"/>
          <p:nvPr/>
        </p:nvSpPr>
        <p:spPr>
          <a:xfrm>
            <a:off x="6550702" y="6036326"/>
            <a:ext cx="5696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U" dirty="0"/>
              <a:t>Output layer = the final prediction/output node, which gives the final results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05FEA3D-134A-AD21-5425-9CD7D1C419E8}"/>
              </a:ext>
            </a:extLst>
          </p:cNvPr>
          <p:cNvSpPr txBox="1"/>
          <p:nvPr/>
        </p:nvSpPr>
        <p:spPr>
          <a:xfrm>
            <a:off x="626019" y="4838387"/>
            <a:ext cx="4222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/>
              <a:t>A multi-layer feedforward neural network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F8585DA-2862-6891-C5D2-4093E1299525}"/>
              </a:ext>
            </a:extLst>
          </p:cNvPr>
          <p:cNvGrpSpPr/>
          <p:nvPr/>
        </p:nvGrpSpPr>
        <p:grpSpPr>
          <a:xfrm>
            <a:off x="734518" y="456440"/>
            <a:ext cx="4905725" cy="3958164"/>
            <a:chOff x="734518" y="456440"/>
            <a:chExt cx="4905725" cy="395816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C1A904D-AFEC-F52A-2483-3F1EA9AE15D2}"/>
                </a:ext>
              </a:extLst>
            </p:cNvPr>
            <p:cNvGrpSpPr/>
            <p:nvPr/>
          </p:nvGrpSpPr>
          <p:grpSpPr>
            <a:xfrm>
              <a:off x="734518" y="456440"/>
              <a:ext cx="4905725" cy="3958164"/>
              <a:chOff x="775547" y="2848531"/>
              <a:chExt cx="4905725" cy="3958164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3FB42C4-ADDD-58F7-C7CA-D4AB3D49D255}"/>
                  </a:ext>
                </a:extLst>
              </p:cNvPr>
              <p:cNvGrpSpPr/>
              <p:nvPr/>
            </p:nvGrpSpPr>
            <p:grpSpPr>
              <a:xfrm>
                <a:off x="893567" y="3429000"/>
                <a:ext cx="4787705" cy="2729260"/>
                <a:chOff x="893567" y="3429000"/>
                <a:chExt cx="4787705" cy="2729260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8E49351D-0E1C-92FB-B1D5-6935FBF01CF9}"/>
                    </a:ext>
                  </a:extLst>
                </p:cNvPr>
                <p:cNvGrpSpPr/>
                <p:nvPr/>
              </p:nvGrpSpPr>
              <p:grpSpPr>
                <a:xfrm>
                  <a:off x="893567" y="3429000"/>
                  <a:ext cx="4148661" cy="2729260"/>
                  <a:chOff x="1307451" y="2838818"/>
                  <a:chExt cx="4148661" cy="2729260"/>
                </a:xfrm>
              </p:grpSpPr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2766EFC5-3724-AD92-AC13-103A9368161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07451" y="2838818"/>
                    <a:ext cx="468000" cy="46800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F4740318-B446-30DC-6394-67DF73B4423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07451" y="3607667"/>
                    <a:ext cx="468000" cy="46800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354D5538-0A86-0EB7-D6B4-29BCE4B8A9D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07451" y="4344275"/>
                    <a:ext cx="468000" cy="46800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90CE1316-B1C5-62C1-25B1-885B6A3D7A0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07451" y="5100078"/>
                    <a:ext cx="468000" cy="46800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3D375C79-8591-A0C3-F013-646CE1CEB01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71898" y="3167105"/>
                    <a:ext cx="396000" cy="396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D2D17F5F-1A0F-2D3F-A42B-D3A9CE5F6A3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71898" y="3750472"/>
                    <a:ext cx="396000" cy="396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FBAFA24A-29EF-106C-EF84-B24A7EEAEFB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71898" y="4344275"/>
                    <a:ext cx="396000" cy="396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7D1EE087-63C9-7EEA-DF4F-1FC502CFFF0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71898" y="4938078"/>
                    <a:ext cx="396000" cy="396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3236EF6A-B5B0-C60A-A0FC-C3AA2038C60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764345" y="3376589"/>
                    <a:ext cx="396000" cy="396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1BE162FA-532D-3F7B-A25D-03C6D707A56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764345" y="4075667"/>
                    <a:ext cx="396000" cy="396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81871D59-B05C-1C65-EBF2-B03E3EC0C0F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764345" y="4740078"/>
                    <a:ext cx="396000" cy="396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91E779FE-E40D-E451-BC82-64BAB15A570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988112" y="4074275"/>
                    <a:ext cx="468000" cy="46800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</p:grp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B1068A20-6650-786E-C0E0-6D1CCF5F77A7}"/>
                    </a:ext>
                  </a:extLst>
                </p:cNvPr>
                <p:cNvCxnSpPr>
                  <a:cxnSpLocks/>
                  <a:endCxn id="35" idx="1"/>
                </p:cNvCxnSpPr>
                <p:nvPr/>
              </p:nvCxnSpPr>
              <p:spPr>
                <a:xfrm>
                  <a:off x="1361567" y="3714054"/>
                  <a:ext cx="796447" cy="24123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19D18E07-7404-C364-273F-8115BAC6F4E3}"/>
                    </a:ext>
                  </a:extLst>
                </p:cNvPr>
                <p:cNvCxnSpPr>
                  <a:cxnSpLocks/>
                  <a:endCxn id="36" idx="1"/>
                </p:cNvCxnSpPr>
                <p:nvPr/>
              </p:nvCxnSpPr>
              <p:spPr>
                <a:xfrm>
                  <a:off x="1361567" y="4443473"/>
                  <a:ext cx="796447" cy="95181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A7A97D03-1DA0-C7F4-224B-72F21187E7F6}"/>
                    </a:ext>
                  </a:extLst>
                </p:cNvPr>
                <p:cNvCxnSpPr>
                  <a:cxnSpLocks/>
                  <a:endCxn id="37" idx="1"/>
                </p:cNvCxnSpPr>
                <p:nvPr/>
              </p:nvCxnSpPr>
              <p:spPr>
                <a:xfrm flipV="1">
                  <a:off x="1361566" y="5132457"/>
                  <a:ext cx="796448" cy="52052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7AA4FA18-C180-EBCC-9C58-1E00BB476ECE}"/>
                    </a:ext>
                  </a:extLst>
                </p:cNvPr>
                <p:cNvCxnSpPr>
                  <a:cxnSpLocks/>
                  <a:endCxn id="38" idx="1"/>
                </p:cNvCxnSpPr>
                <p:nvPr/>
              </p:nvCxnSpPr>
              <p:spPr>
                <a:xfrm flipV="1">
                  <a:off x="1361566" y="5726260"/>
                  <a:ext cx="796448" cy="188619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C427C71D-2522-ECB7-0FC8-85BA94E6DD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69674" y="3956616"/>
                  <a:ext cx="796447" cy="24123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D259F58B-CD9E-13E9-3F49-BC38B59A9DF7}"/>
                    </a:ext>
                  </a:extLst>
                </p:cNvPr>
                <p:cNvCxnSpPr>
                  <a:cxnSpLocks/>
                  <a:endCxn id="40" idx="1"/>
                </p:cNvCxnSpPr>
                <p:nvPr/>
              </p:nvCxnSpPr>
              <p:spPr>
                <a:xfrm>
                  <a:off x="2569674" y="3955287"/>
                  <a:ext cx="780787" cy="90856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4EBA93EB-D2A2-932C-F23D-59E3FCCBFFE4}"/>
                    </a:ext>
                  </a:extLst>
                </p:cNvPr>
                <p:cNvCxnSpPr>
                  <a:cxnSpLocks/>
                  <a:endCxn id="41" idx="1"/>
                </p:cNvCxnSpPr>
                <p:nvPr/>
              </p:nvCxnSpPr>
              <p:spPr>
                <a:xfrm>
                  <a:off x="2569674" y="3948120"/>
                  <a:ext cx="780787" cy="158014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55E9E7AB-831D-5A6F-B7AE-11522AB7781B}"/>
                    </a:ext>
                  </a:extLst>
                </p:cNvPr>
                <p:cNvCxnSpPr>
                  <a:cxnSpLocks/>
                  <a:endCxn id="39" idx="1"/>
                </p:cNvCxnSpPr>
                <p:nvPr/>
              </p:nvCxnSpPr>
              <p:spPr>
                <a:xfrm flipV="1">
                  <a:off x="2556318" y="4164771"/>
                  <a:ext cx="794143" cy="37906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28397EA3-651F-2D03-1D01-13BA09F622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70249" y="4543840"/>
                  <a:ext cx="795296" cy="29045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4FCF544A-67D1-A541-5E99-7398401D1685}"/>
                    </a:ext>
                  </a:extLst>
                </p:cNvPr>
                <p:cNvCxnSpPr>
                  <a:cxnSpLocks/>
                  <a:endCxn id="41" idx="1"/>
                </p:cNvCxnSpPr>
                <p:nvPr/>
              </p:nvCxnSpPr>
              <p:spPr>
                <a:xfrm>
                  <a:off x="2571937" y="4536714"/>
                  <a:ext cx="778524" cy="99154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94046434-496E-9CB1-0440-FD357675B702}"/>
                    </a:ext>
                  </a:extLst>
                </p:cNvPr>
                <p:cNvCxnSpPr>
                  <a:cxnSpLocks/>
                  <a:endCxn id="39" idx="1"/>
                </p:cNvCxnSpPr>
                <p:nvPr/>
              </p:nvCxnSpPr>
              <p:spPr>
                <a:xfrm flipV="1">
                  <a:off x="2555165" y="4164771"/>
                  <a:ext cx="795296" cy="96768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0236E724-5E46-E2DE-8923-250AEE997143}"/>
                    </a:ext>
                  </a:extLst>
                </p:cNvPr>
                <p:cNvCxnSpPr>
                  <a:cxnSpLocks/>
                  <a:endCxn id="40" idx="1"/>
                </p:cNvCxnSpPr>
                <p:nvPr/>
              </p:nvCxnSpPr>
              <p:spPr>
                <a:xfrm flipV="1">
                  <a:off x="2587557" y="4863849"/>
                  <a:ext cx="762904" cy="26227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4F8A3F27-F9B6-0427-F717-4E3400EB3CB4}"/>
                    </a:ext>
                  </a:extLst>
                </p:cNvPr>
                <p:cNvCxnSpPr>
                  <a:cxnSpLocks/>
                  <a:endCxn id="41" idx="1"/>
                </p:cNvCxnSpPr>
                <p:nvPr/>
              </p:nvCxnSpPr>
              <p:spPr>
                <a:xfrm>
                  <a:off x="2554589" y="5126138"/>
                  <a:ext cx="795872" cy="40212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88F0BAC8-A579-D9F5-E3F6-9A2D1FF11598}"/>
                    </a:ext>
                  </a:extLst>
                </p:cNvPr>
                <p:cNvCxnSpPr>
                  <a:cxnSpLocks/>
                  <a:endCxn id="39" idx="1"/>
                </p:cNvCxnSpPr>
                <p:nvPr/>
              </p:nvCxnSpPr>
              <p:spPr>
                <a:xfrm flipV="1">
                  <a:off x="2569674" y="4164771"/>
                  <a:ext cx="780787" cy="156761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92A3899D-7F86-BF31-403B-FEBE58FCD9F2}"/>
                    </a:ext>
                  </a:extLst>
                </p:cNvPr>
                <p:cNvCxnSpPr>
                  <a:cxnSpLocks/>
                  <a:endCxn id="40" idx="1"/>
                </p:cNvCxnSpPr>
                <p:nvPr/>
              </p:nvCxnSpPr>
              <p:spPr>
                <a:xfrm flipV="1">
                  <a:off x="2538314" y="4863849"/>
                  <a:ext cx="812147" cy="86295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8FBE010D-4D7D-DB05-451F-637D7A23EA5F}"/>
                    </a:ext>
                  </a:extLst>
                </p:cNvPr>
                <p:cNvCxnSpPr>
                  <a:cxnSpLocks/>
                  <a:endCxn id="41" idx="1"/>
                </p:cNvCxnSpPr>
                <p:nvPr/>
              </p:nvCxnSpPr>
              <p:spPr>
                <a:xfrm flipV="1">
                  <a:off x="2536090" y="5528260"/>
                  <a:ext cx="814371" cy="18265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A44947E9-BFED-4ABB-7268-9D02A18F73EB}"/>
                    </a:ext>
                  </a:extLst>
                </p:cNvPr>
                <p:cNvCxnSpPr>
                  <a:cxnSpLocks/>
                  <a:endCxn id="42" idx="2"/>
                </p:cNvCxnSpPr>
                <p:nvPr/>
              </p:nvCxnSpPr>
              <p:spPr>
                <a:xfrm>
                  <a:off x="3746461" y="4153674"/>
                  <a:ext cx="827767" cy="74478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D658E2FB-AEF8-8F3C-664B-9BE9C56836D3}"/>
                    </a:ext>
                  </a:extLst>
                </p:cNvPr>
                <p:cNvCxnSpPr>
                  <a:cxnSpLocks/>
                  <a:endCxn id="42" idx="2"/>
                </p:cNvCxnSpPr>
                <p:nvPr/>
              </p:nvCxnSpPr>
              <p:spPr>
                <a:xfrm>
                  <a:off x="3759073" y="4873125"/>
                  <a:ext cx="815155" cy="2533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2E6DEF21-34A7-BCC2-7157-BD5E98227B1F}"/>
                    </a:ext>
                  </a:extLst>
                </p:cNvPr>
                <p:cNvCxnSpPr>
                  <a:cxnSpLocks/>
                  <a:endCxn id="42" idx="2"/>
                </p:cNvCxnSpPr>
                <p:nvPr/>
              </p:nvCxnSpPr>
              <p:spPr>
                <a:xfrm flipV="1">
                  <a:off x="3755188" y="4898457"/>
                  <a:ext cx="819040" cy="62980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C1B984AA-F1E8-EDCB-88F5-A5D94FA3B1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42228" y="4918898"/>
                  <a:ext cx="63904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AFD30D-2E9B-5AAC-07E7-FEF2602C0B0D}"/>
                  </a:ext>
                </a:extLst>
              </p:cNvPr>
              <p:cNvSpPr txBox="1"/>
              <p:nvPr/>
            </p:nvSpPr>
            <p:spPr>
              <a:xfrm>
                <a:off x="775547" y="2848531"/>
                <a:ext cx="7040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LU" dirty="0"/>
                  <a:t>Input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026D2D-7BBB-9611-90EA-24CE16E6D35E}"/>
                  </a:ext>
                </a:extLst>
              </p:cNvPr>
              <p:cNvSpPr txBox="1"/>
              <p:nvPr/>
            </p:nvSpPr>
            <p:spPr>
              <a:xfrm flipH="1">
                <a:off x="4375375" y="4310201"/>
                <a:ext cx="9367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LU" dirty="0"/>
                  <a:t>Output</a:t>
                </a:r>
              </a:p>
            </p:txBody>
          </p:sp>
          <p:sp>
            <p:nvSpPr>
              <p:cNvPr id="8" name="Right Brace 7">
                <a:extLst>
                  <a:ext uri="{FF2B5EF4-FFF2-40B4-BE49-F238E27FC236}">
                    <a16:creationId xmlns:a16="http://schemas.microsoft.com/office/drawing/2014/main" id="{ED63AB6E-FA21-5201-D6F5-0D4919306B29}"/>
                  </a:ext>
                </a:extLst>
              </p:cNvPr>
              <p:cNvSpPr/>
              <p:nvPr/>
            </p:nvSpPr>
            <p:spPr>
              <a:xfrm rot="5400000">
                <a:off x="2774899" y="5551824"/>
                <a:ext cx="332103" cy="1385202"/>
              </a:xfrm>
              <a:prstGeom prst="rightBrac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143F7C-DA61-6A98-8ACB-7A38326A31D8}"/>
                  </a:ext>
                </a:extLst>
              </p:cNvPr>
              <p:cNvSpPr txBox="1"/>
              <p:nvPr/>
            </p:nvSpPr>
            <p:spPr>
              <a:xfrm>
                <a:off x="2184822" y="6437363"/>
                <a:ext cx="155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LU" dirty="0"/>
                  <a:t>Hidden layers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43E1044-A9FA-F5B6-D42E-E3DDCB25B32F}"/>
                    </a:ext>
                  </a:extLst>
                </p:cNvPr>
                <p:cNvSpPr txBox="1"/>
                <p:nvPr/>
              </p:nvSpPr>
              <p:spPr>
                <a:xfrm>
                  <a:off x="883670" y="1068334"/>
                  <a:ext cx="45435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43E1044-A9FA-F5B6-D42E-E3DDCB25B3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670" y="1068334"/>
                  <a:ext cx="45435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1531B95-D622-EC45-8DCC-8D31F74DCDB1}"/>
                    </a:ext>
                  </a:extLst>
                </p:cNvPr>
                <p:cNvSpPr txBox="1"/>
                <p:nvPr/>
              </p:nvSpPr>
              <p:spPr>
                <a:xfrm>
                  <a:off x="883670" y="1850841"/>
                  <a:ext cx="4596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1531B95-D622-EC45-8DCC-8D31F74DC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670" y="1850841"/>
                  <a:ext cx="45967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8B140F7-39D6-1B3F-B76E-8F3854FC9AE4}"/>
                    </a:ext>
                  </a:extLst>
                </p:cNvPr>
                <p:cNvSpPr txBox="1"/>
                <p:nvPr/>
              </p:nvSpPr>
              <p:spPr>
                <a:xfrm>
                  <a:off x="881008" y="2578059"/>
                  <a:ext cx="4596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8B140F7-39D6-1B3F-B76E-8F3854FC9A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008" y="2578059"/>
                  <a:ext cx="45967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1D9FEBD-FEB6-2199-DA57-30ABF65ABC38}"/>
                    </a:ext>
                  </a:extLst>
                </p:cNvPr>
                <p:cNvSpPr txBox="1"/>
                <p:nvPr/>
              </p:nvSpPr>
              <p:spPr>
                <a:xfrm>
                  <a:off x="881008" y="3316950"/>
                  <a:ext cx="4596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1D9FEBD-FEB6-2199-DA57-30ABF65ABC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008" y="3316950"/>
                  <a:ext cx="45967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CF9628F-81DB-E245-A0A0-22D13C91A1D9}"/>
                    </a:ext>
                  </a:extLst>
                </p:cNvPr>
                <p:cNvSpPr txBox="1"/>
                <p:nvPr/>
              </p:nvSpPr>
              <p:spPr>
                <a:xfrm>
                  <a:off x="2096919" y="1355815"/>
                  <a:ext cx="4614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CF9628F-81DB-E245-A0A0-22D13C91A1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6919" y="1355815"/>
                  <a:ext cx="46140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6B9FF1E5-84F8-B04B-4B2F-844569100F25}"/>
                    </a:ext>
                  </a:extLst>
                </p:cNvPr>
                <p:cNvSpPr txBox="1"/>
                <p:nvPr/>
              </p:nvSpPr>
              <p:spPr>
                <a:xfrm>
                  <a:off x="2118689" y="1965417"/>
                  <a:ext cx="466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6B9FF1E5-84F8-B04B-4B2F-844569100F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8689" y="1965417"/>
                  <a:ext cx="466731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6C1F8B7-5C35-5A61-74FF-489CDBC100D9}"/>
                    </a:ext>
                  </a:extLst>
                </p:cNvPr>
                <p:cNvSpPr txBox="1"/>
                <p:nvPr/>
              </p:nvSpPr>
              <p:spPr>
                <a:xfrm>
                  <a:off x="2118690" y="2536912"/>
                  <a:ext cx="466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6C1F8B7-5C35-5A61-74FF-489CDBC100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8690" y="2536912"/>
                  <a:ext cx="46673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47F1B10-550C-4D58-6E03-72B72CE1C2CA}"/>
                    </a:ext>
                  </a:extLst>
                </p:cNvPr>
                <p:cNvSpPr txBox="1"/>
                <p:nvPr/>
              </p:nvSpPr>
              <p:spPr>
                <a:xfrm>
                  <a:off x="2102361" y="3157402"/>
                  <a:ext cx="466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47F1B10-550C-4D58-6E03-72B72CE1C2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2361" y="3157402"/>
                  <a:ext cx="466731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C270612A-864E-72A4-AE45-D482648294B5}"/>
                    </a:ext>
                  </a:extLst>
                </p:cNvPr>
                <p:cNvSpPr txBox="1"/>
                <p:nvPr/>
              </p:nvSpPr>
              <p:spPr>
                <a:xfrm>
                  <a:off x="3294351" y="1589860"/>
                  <a:ext cx="466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C270612A-864E-72A4-AE45-D482648294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4351" y="1589860"/>
                  <a:ext cx="466731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96E414A0-9050-8E3A-69C1-98F9557695C3}"/>
                    </a:ext>
                  </a:extLst>
                </p:cNvPr>
                <p:cNvSpPr txBox="1"/>
                <p:nvPr/>
              </p:nvSpPr>
              <p:spPr>
                <a:xfrm>
                  <a:off x="3294800" y="2292830"/>
                  <a:ext cx="466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96E414A0-9050-8E3A-69C1-98F9557695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4800" y="2292830"/>
                  <a:ext cx="466731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96ACF5B-4190-FFE0-47E3-C039B862AF1A}"/>
                    </a:ext>
                  </a:extLst>
                </p:cNvPr>
                <p:cNvSpPr txBox="1"/>
                <p:nvPr/>
              </p:nvSpPr>
              <p:spPr>
                <a:xfrm>
                  <a:off x="3291916" y="2960753"/>
                  <a:ext cx="466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96ACF5B-4190-FFE0-47E3-C039B862AF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916" y="2960753"/>
                  <a:ext cx="466731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A56CE449-EBC5-1056-FDD8-5284810ED5A1}"/>
                    </a:ext>
                  </a:extLst>
                </p:cNvPr>
                <p:cNvSpPr txBox="1"/>
                <p:nvPr/>
              </p:nvSpPr>
              <p:spPr>
                <a:xfrm>
                  <a:off x="4668023" y="2372639"/>
                  <a:ext cx="1803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A56CE449-EBC5-1056-FDD8-5284810ED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8023" y="2372639"/>
                  <a:ext cx="180306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33333" t="-13043" r="-33333" b="-26087"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D113340E-8744-A034-1EE5-8694D01CE669}"/>
                    </a:ext>
                  </a:extLst>
                </p:cNvPr>
                <p:cNvSpPr txBox="1"/>
                <p:nvPr/>
              </p:nvSpPr>
              <p:spPr>
                <a:xfrm>
                  <a:off x="1619530" y="1077162"/>
                  <a:ext cx="31072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D113340E-8744-A034-1EE5-8694D01CE6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9530" y="1077162"/>
                  <a:ext cx="310726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7692" r="-3846" b="-13043"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966A7E8-044D-54F2-EEC6-34CF5906765C}"/>
                    </a:ext>
                  </a:extLst>
                </p:cNvPr>
                <p:cNvSpPr txBox="1"/>
                <p:nvPr/>
              </p:nvSpPr>
              <p:spPr>
                <a:xfrm>
                  <a:off x="1560410" y="1719494"/>
                  <a:ext cx="316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966A7E8-044D-54F2-EEC6-34CF590676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0410" y="1719494"/>
                  <a:ext cx="316049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7692" r="-7692" b="-13043"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1" name="Slide Number Placeholder 70">
            <a:extLst>
              <a:ext uri="{FF2B5EF4-FFF2-40B4-BE49-F238E27FC236}">
                <a16:creationId xmlns:a16="http://schemas.microsoft.com/office/drawing/2014/main" id="{617F9175-5E10-2EC4-E663-67ACF5FD7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8931" y="6492875"/>
            <a:ext cx="2743200" cy="365125"/>
          </a:xfrm>
        </p:spPr>
        <p:txBody>
          <a:bodyPr/>
          <a:lstStyle/>
          <a:p>
            <a:fld id="{0642FFE3-EBCD-004D-B0F6-94C58CE35FF0}" type="slidenum">
              <a:rPr lang="en-LU" smtClean="0"/>
              <a:t>5</a:t>
            </a:fld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742415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14C8EF-04E7-ED1F-E6B9-38B2664E4E07}"/>
              </a:ext>
            </a:extLst>
          </p:cNvPr>
          <p:cNvSpPr txBox="1"/>
          <p:nvPr/>
        </p:nvSpPr>
        <p:spPr>
          <a:xfrm>
            <a:off x="474265" y="4756375"/>
            <a:ext cx="4222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/>
              <a:t>A multi-layer feedforward neural network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096485B-83DD-F05D-F628-83AA9ECD9FD2}"/>
              </a:ext>
            </a:extLst>
          </p:cNvPr>
          <p:cNvGrpSpPr/>
          <p:nvPr/>
        </p:nvGrpSpPr>
        <p:grpSpPr>
          <a:xfrm>
            <a:off x="734518" y="456440"/>
            <a:ext cx="4905725" cy="3958164"/>
            <a:chOff x="734518" y="456440"/>
            <a:chExt cx="4905725" cy="395816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0953B27-BDDE-9632-295E-52BD2A01E6FD}"/>
                </a:ext>
              </a:extLst>
            </p:cNvPr>
            <p:cNvGrpSpPr/>
            <p:nvPr/>
          </p:nvGrpSpPr>
          <p:grpSpPr>
            <a:xfrm>
              <a:off x="734518" y="456440"/>
              <a:ext cx="4905725" cy="3958164"/>
              <a:chOff x="775547" y="2848531"/>
              <a:chExt cx="4905725" cy="3958164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5505E61B-9D64-556C-D9AF-BA391D5C4ECD}"/>
                  </a:ext>
                </a:extLst>
              </p:cNvPr>
              <p:cNvGrpSpPr/>
              <p:nvPr/>
            </p:nvGrpSpPr>
            <p:grpSpPr>
              <a:xfrm>
                <a:off x="893567" y="3429000"/>
                <a:ext cx="4787705" cy="2729260"/>
                <a:chOff x="893567" y="3429000"/>
                <a:chExt cx="4787705" cy="2729260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D83F1C52-B4DA-F9FC-AD06-15CFC9CA9966}"/>
                    </a:ext>
                  </a:extLst>
                </p:cNvPr>
                <p:cNvGrpSpPr/>
                <p:nvPr/>
              </p:nvGrpSpPr>
              <p:grpSpPr>
                <a:xfrm>
                  <a:off x="893567" y="3429000"/>
                  <a:ext cx="4148661" cy="2729260"/>
                  <a:chOff x="1307451" y="2838818"/>
                  <a:chExt cx="4148661" cy="2729260"/>
                </a:xfrm>
              </p:grpSpPr>
              <p:sp>
                <p:nvSpPr>
                  <p:cNvPr id="47" name="Oval 46">
                    <a:extLst>
                      <a:ext uri="{FF2B5EF4-FFF2-40B4-BE49-F238E27FC236}">
                        <a16:creationId xmlns:a16="http://schemas.microsoft.com/office/drawing/2014/main" id="{22C4BD80-C140-3C75-42DC-10C39E482FC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07451" y="2838818"/>
                    <a:ext cx="468000" cy="46800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04BD0BE5-8ED2-B023-B23F-DDB4DFD5408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07451" y="3607667"/>
                    <a:ext cx="468000" cy="46800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2F6D0313-02C6-834D-835F-7A9489CDBC9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07451" y="4344275"/>
                    <a:ext cx="468000" cy="46800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B69A9ABA-613E-6F2B-F773-CF190F62A82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07451" y="5100078"/>
                    <a:ext cx="468000" cy="46800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1C708E79-02AC-DC9A-CB56-84C74F80E5B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71898" y="3167105"/>
                    <a:ext cx="396000" cy="396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07405BE4-5E96-7502-29F1-F85AD3C2915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71898" y="3750472"/>
                    <a:ext cx="396000" cy="396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4A570748-B44A-B570-05CF-F42780483F2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71898" y="4344275"/>
                    <a:ext cx="396000" cy="396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43D98835-C78F-6D77-6CAF-DAAE978D5D8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71898" y="4938078"/>
                    <a:ext cx="396000" cy="396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E6742D0F-A312-0D24-2A78-2BDEB06C51A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764345" y="3376589"/>
                    <a:ext cx="396000" cy="396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EF2F4166-14F6-4DF2-1338-A3B5559C9C2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764345" y="4075667"/>
                    <a:ext cx="396000" cy="396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3B12FA3B-3F1B-E7CF-C210-2593C0F0C70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764345" y="4740078"/>
                    <a:ext cx="396000" cy="396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58" name="Oval 57">
                    <a:extLst>
                      <a:ext uri="{FF2B5EF4-FFF2-40B4-BE49-F238E27FC236}">
                        <a16:creationId xmlns:a16="http://schemas.microsoft.com/office/drawing/2014/main" id="{77D3337C-127A-0F30-E617-C6F9F23932C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988112" y="4074275"/>
                    <a:ext cx="468000" cy="46800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</p:grp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F4E80366-83C5-95EC-D027-0143872C489C}"/>
                    </a:ext>
                  </a:extLst>
                </p:cNvPr>
                <p:cNvCxnSpPr>
                  <a:cxnSpLocks/>
                  <a:endCxn id="51" idx="1"/>
                </p:cNvCxnSpPr>
                <p:nvPr/>
              </p:nvCxnSpPr>
              <p:spPr>
                <a:xfrm>
                  <a:off x="1361567" y="3714054"/>
                  <a:ext cx="796447" cy="24123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25A3A26F-B9B8-3596-3EED-D7703653B43C}"/>
                    </a:ext>
                  </a:extLst>
                </p:cNvPr>
                <p:cNvCxnSpPr>
                  <a:cxnSpLocks/>
                  <a:endCxn id="52" idx="1"/>
                </p:cNvCxnSpPr>
                <p:nvPr/>
              </p:nvCxnSpPr>
              <p:spPr>
                <a:xfrm>
                  <a:off x="1361567" y="4443473"/>
                  <a:ext cx="796447" cy="95181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2B1AA6C6-7CA7-B47B-3AF7-BCE68B25FA95}"/>
                    </a:ext>
                  </a:extLst>
                </p:cNvPr>
                <p:cNvCxnSpPr>
                  <a:cxnSpLocks/>
                  <a:endCxn id="53" idx="1"/>
                </p:cNvCxnSpPr>
                <p:nvPr/>
              </p:nvCxnSpPr>
              <p:spPr>
                <a:xfrm flipV="1">
                  <a:off x="1361566" y="5132457"/>
                  <a:ext cx="796448" cy="52052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D0231A86-4581-8072-1D06-4A2381808633}"/>
                    </a:ext>
                  </a:extLst>
                </p:cNvPr>
                <p:cNvCxnSpPr>
                  <a:cxnSpLocks/>
                  <a:endCxn id="54" idx="1"/>
                </p:cNvCxnSpPr>
                <p:nvPr/>
              </p:nvCxnSpPr>
              <p:spPr>
                <a:xfrm flipV="1">
                  <a:off x="1361566" y="5726260"/>
                  <a:ext cx="796448" cy="188619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0318DB55-4017-76CE-6816-3A869E92F2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69674" y="3956616"/>
                  <a:ext cx="796447" cy="24123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4F30AA7B-A2EC-C305-E778-4A68F5D1B3DB}"/>
                    </a:ext>
                  </a:extLst>
                </p:cNvPr>
                <p:cNvCxnSpPr>
                  <a:cxnSpLocks/>
                  <a:endCxn id="56" idx="1"/>
                </p:cNvCxnSpPr>
                <p:nvPr/>
              </p:nvCxnSpPr>
              <p:spPr>
                <a:xfrm>
                  <a:off x="2569674" y="3955287"/>
                  <a:ext cx="780787" cy="90856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9B02ACA7-B2F9-E61B-67F5-4E4726ADFB47}"/>
                    </a:ext>
                  </a:extLst>
                </p:cNvPr>
                <p:cNvCxnSpPr>
                  <a:cxnSpLocks/>
                  <a:endCxn id="57" idx="1"/>
                </p:cNvCxnSpPr>
                <p:nvPr/>
              </p:nvCxnSpPr>
              <p:spPr>
                <a:xfrm>
                  <a:off x="2569674" y="3948120"/>
                  <a:ext cx="780787" cy="158014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1CE705D0-5382-8E39-138F-FDA11E3304F3}"/>
                    </a:ext>
                  </a:extLst>
                </p:cNvPr>
                <p:cNvCxnSpPr>
                  <a:cxnSpLocks/>
                  <a:endCxn id="55" idx="1"/>
                </p:cNvCxnSpPr>
                <p:nvPr/>
              </p:nvCxnSpPr>
              <p:spPr>
                <a:xfrm flipV="1">
                  <a:off x="2556318" y="4164771"/>
                  <a:ext cx="794143" cy="37906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1246585E-6757-7CC9-934E-3C4EE3046C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70249" y="4543840"/>
                  <a:ext cx="795296" cy="29045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E160175C-8480-B0FB-B0A8-216D44A8FD1B}"/>
                    </a:ext>
                  </a:extLst>
                </p:cNvPr>
                <p:cNvCxnSpPr>
                  <a:cxnSpLocks/>
                  <a:endCxn id="57" idx="1"/>
                </p:cNvCxnSpPr>
                <p:nvPr/>
              </p:nvCxnSpPr>
              <p:spPr>
                <a:xfrm>
                  <a:off x="2571937" y="4536714"/>
                  <a:ext cx="778524" cy="99154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DBB25562-5025-607B-D5A0-4F55D46F1F9A}"/>
                    </a:ext>
                  </a:extLst>
                </p:cNvPr>
                <p:cNvCxnSpPr>
                  <a:cxnSpLocks/>
                  <a:endCxn id="55" idx="1"/>
                </p:cNvCxnSpPr>
                <p:nvPr/>
              </p:nvCxnSpPr>
              <p:spPr>
                <a:xfrm flipV="1">
                  <a:off x="2555165" y="4164771"/>
                  <a:ext cx="795296" cy="96768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EDEE1603-86B6-7FF1-14AB-EF7013DE3A09}"/>
                    </a:ext>
                  </a:extLst>
                </p:cNvPr>
                <p:cNvCxnSpPr>
                  <a:cxnSpLocks/>
                  <a:endCxn id="56" idx="1"/>
                </p:cNvCxnSpPr>
                <p:nvPr/>
              </p:nvCxnSpPr>
              <p:spPr>
                <a:xfrm flipV="1">
                  <a:off x="2587557" y="4863849"/>
                  <a:ext cx="762904" cy="26227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007BCCF2-FCC7-1830-5AAB-E1AC57E8F108}"/>
                    </a:ext>
                  </a:extLst>
                </p:cNvPr>
                <p:cNvCxnSpPr>
                  <a:cxnSpLocks/>
                  <a:endCxn id="57" idx="1"/>
                </p:cNvCxnSpPr>
                <p:nvPr/>
              </p:nvCxnSpPr>
              <p:spPr>
                <a:xfrm>
                  <a:off x="2554589" y="5126138"/>
                  <a:ext cx="795872" cy="40212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1C2E9B2F-20B4-6823-8D65-4456C6E7795C}"/>
                    </a:ext>
                  </a:extLst>
                </p:cNvPr>
                <p:cNvCxnSpPr>
                  <a:cxnSpLocks/>
                  <a:endCxn id="55" idx="1"/>
                </p:cNvCxnSpPr>
                <p:nvPr/>
              </p:nvCxnSpPr>
              <p:spPr>
                <a:xfrm flipV="1">
                  <a:off x="2569674" y="4164771"/>
                  <a:ext cx="780787" cy="156761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E31ED3ED-C67B-D46C-9260-1AA84B122EFC}"/>
                    </a:ext>
                  </a:extLst>
                </p:cNvPr>
                <p:cNvCxnSpPr>
                  <a:cxnSpLocks/>
                  <a:endCxn id="56" idx="1"/>
                </p:cNvCxnSpPr>
                <p:nvPr/>
              </p:nvCxnSpPr>
              <p:spPr>
                <a:xfrm flipV="1">
                  <a:off x="2538314" y="4863849"/>
                  <a:ext cx="812147" cy="86295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638EBDE0-8A2C-AE2E-0345-706E370AD4D3}"/>
                    </a:ext>
                  </a:extLst>
                </p:cNvPr>
                <p:cNvCxnSpPr>
                  <a:cxnSpLocks/>
                  <a:endCxn id="57" idx="1"/>
                </p:cNvCxnSpPr>
                <p:nvPr/>
              </p:nvCxnSpPr>
              <p:spPr>
                <a:xfrm flipV="1">
                  <a:off x="2536090" y="5528260"/>
                  <a:ext cx="814371" cy="18265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DD95553D-486E-4505-795C-81DDC4B48891}"/>
                    </a:ext>
                  </a:extLst>
                </p:cNvPr>
                <p:cNvCxnSpPr>
                  <a:cxnSpLocks/>
                  <a:endCxn id="58" idx="2"/>
                </p:cNvCxnSpPr>
                <p:nvPr/>
              </p:nvCxnSpPr>
              <p:spPr>
                <a:xfrm>
                  <a:off x="3746461" y="4153674"/>
                  <a:ext cx="827767" cy="74478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F023581E-B865-A005-CA7B-157B354AF4F3}"/>
                    </a:ext>
                  </a:extLst>
                </p:cNvPr>
                <p:cNvCxnSpPr>
                  <a:cxnSpLocks/>
                  <a:endCxn id="58" idx="2"/>
                </p:cNvCxnSpPr>
                <p:nvPr/>
              </p:nvCxnSpPr>
              <p:spPr>
                <a:xfrm>
                  <a:off x="3759073" y="4873125"/>
                  <a:ext cx="815155" cy="2533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29D5C35D-38B5-FA10-F63F-B1FDC841D92D}"/>
                    </a:ext>
                  </a:extLst>
                </p:cNvPr>
                <p:cNvCxnSpPr>
                  <a:cxnSpLocks/>
                  <a:endCxn id="58" idx="2"/>
                </p:cNvCxnSpPr>
                <p:nvPr/>
              </p:nvCxnSpPr>
              <p:spPr>
                <a:xfrm flipV="1">
                  <a:off x="3755188" y="4898457"/>
                  <a:ext cx="819040" cy="62980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BAB63A12-CF4B-2B9C-7E1D-86C5A56C4A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42228" y="4918898"/>
                  <a:ext cx="63904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BD8974D-A6EC-2A23-198A-D3F207A20DF6}"/>
                  </a:ext>
                </a:extLst>
              </p:cNvPr>
              <p:cNvSpPr txBox="1"/>
              <p:nvPr/>
            </p:nvSpPr>
            <p:spPr>
              <a:xfrm>
                <a:off x="775547" y="2848531"/>
                <a:ext cx="7040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LU" dirty="0"/>
                  <a:t>Input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2BDFC4A-DB02-31D6-9BFB-DC76D74C3AD4}"/>
                  </a:ext>
                </a:extLst>
              </p:cNvPr>
              <p:cNvSpPr txBox="1"/>
              <p:nvPr/>
            </p:nvSpPr>
            <p:spPr>
              <a:xfrm flipH="1">
                <a:off x="4375375" y="4310201"/>
                <a:ext cx="9367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LU" dirty="0"/>
                  <a:t>Output</a:t>
                </a:r>
              </a:p>
            </p:txBody>
          </p:sp>
          <p:sp>
            <p:nvSpPr>
              <p:cNvPr id="24" name="Right Brace 23">
                <a:extLst>
                  <a:ext uri="{FF2B5EF4-FFF2-40B4-BE49-F238E27FC236}">
                    <a16:creationId xmlns:a16="http://schemas.microsoft.com/office/drawing/2014/main" id="{CF26BE7E-7E5D-5E22-FF14-B742E5667BC2}"/>
                  </a:ext>
                </a:extLst>
              </p:cNvPr>
              <p:cNvSpPr/>
              <p:nvPr/>
            </p:nvSpPr>
            <p:spPr>
              <a:xfrm rot="5400000">
                <a:off x="2774899" y="5551824"/>
                <a:ext cx="332103" cy="1385202"/>
              </a:xfrm>
              <a:prstGeom prst="rightBrac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BE8EB9-0F56-551D-0DD8-D1D8C45CB5A9}"/>
                  </a:ext>
                </a:extLst>
              </p:cNvPr>
              <p:cNvSpPr txBox="1"/>
              <p:nvPr/>
            </p:nvSpPr>
            <p:spPr>
              <a:xfrm>
                <a:off x="2184822" y="6437363"/>
                <a:ext cx="155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LU" dirty="0"/>
                  <a:t>Hidden layers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047F4FB-0468-4243-95D4-4008D3806DC5}"/>
                    </a:ext>
                  </a:extLst>
                </p:cNvPr>
                <p:cNvSpPr txBox="1"/>
                <p:nvPr/>
              </p:nvSpPr>
              <p:spPr>
                <a:xfrm>
                  <a:off x="883670" y="1068334"/>
                  <a:ext cx="45435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047F4FB-0468-4243-95D4-4008D3806D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670" y="1068334"/>
                  <a:ext cx="454355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8B80DA0-8AA2-FEDE-8096-AED87B4FF0B4}"/>
                    </a:ext>
                  </a:extLst>
                </p:cNvPr>
                <p:cNvSpPr txBox="1"/>
                <p:nvPr/>
              </p:nvSpPr>
              <p:spPr>
                <a:xfrm>
                  <a:off x="883670" y="1850841"/>
                  <a:ext cx="4596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8B80DA0-8AA2-FEDE-8096-AED87B4FF0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670" y="1850841"/>
                  <a:ext cx="459678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49CEF44-04A6-0691-9C01-F12DB9501A6B}"/>
                    </a:ext>
                  </a:extLst>
                </p:cNvPr>
                <p:cNvSpPr txBox="1"/>
                <p:nvPr/>
              </p:nvSpPr>
              <p:spPr>
                <a:xfrm>
                  <a:off x="881008" y="2578059"/>
                  <a:ext cx="4596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49CEF44-04A6-0691-9C01-F12DB9501A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008" y="2578059"/>
                  <a:ext cx="45967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12091F6-1D2B-D6B0-7071-506D8F780F42}"/>
                    </a:ext>
                  </a:extLst>
                </p:cNvPr>
                <p:cNvSpPr txBox="1"/>
                <p:nvPr/>
              </p:nvSpPr>
              <p:spPr>
                <a:xfrm>
                  <a:off x="881008" y="3316950"/>
                  <a:ext cx="4596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12091F6-1D2B-D6B0-7071-506D8F780F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008" y="3316950"/>
                  <a:ext cx="45967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7C58730-AC9A-E33F-5298-2EDE57438E00}"/>
                    </a:ext>
                  </a:extLst>
                </p:cNvPr>
                <p:cNvSpPr txBox="1"/>
                <p:nvPr/>
              </p:nvSpPr>
              <p:spPr>
                <a:xfrm>
                  <a:off x="2096919" y="1355815"/>
                  <a:ext cx="4614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7C58730-AC9A-E33F-5298-2EDE57438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6919" y="1355815"/>
                  <a:ext cx="46140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76AE815-411B-9BEE-6902-808017FBD871}"/>
                    </a:ext>
                  </a:extLst>
                </p:cNvPr>
                <p:cNvSpPr txBox="1"/>
                <p:nvPr/>
              </p:nvSpPr>
              <p:spPr>
                <a:xfrm>
                  <a:off x="2118689" y="1965417"/>
                  <a:ext cx="466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76AE815-411B-9BEE-6902-808017FBD8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8689" y="1965417"/>
                  <a:ext cx="466731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5DF3959-0C3C-5875-6FC7-6AB62FC2444F}"/>
                    </a:ext>
                  </a:extLst>
                </p:cNvPr>
                <p:cNvSpPr txBox="1"/>
                <p:nvPr/>
              </p:nvSpPr>
              <p:spPr>
                <a:xfrm>
                  <a:off x="2118690" y="2536912"/>
                  <a:ext cx="466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5DF3959-0C3C-5875-6FC7-6AB62FC244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8690" y="2536912"/>
                  <a:ext cx="466731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9784B31-8C2D-8709-8944-AFC04787B0CF}"/>
                    </a:ext>
                  </a:extLst>
                </p:cNvPr>
                <p:cNvSpPr txBox="1"/>
                <p:nvPr/>
              </p:nvSpPr>
              <p:spPr>
                <a:xfrm>
                  <a:off x="2102361" y="3157402"/>
                  <a:ext cx="466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9784B31-8C2D-8709-8944-AFC04787B0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2361" y="3157402"/>
                  <a:ext cx="46673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E5E593A-1A8B-9064-3209-30862BF1CAF5}"/>
                    </a:ext>
                  </a:extLst>
                </p:cNvPr>
                <p:cNvSpPr txBox="1"/>
                <p:nvPr/>
              </p:nvSpPr>
              <p:spPr>
                <a:xfrm>
                  <a:off x="3294351" y="1589860"/>
                  <a:ext cx="466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E5E593A-1A8B-9064-3209-30862BF1CA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4351" y="1589860"/>
                  <a:ext cx="466731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4A18FB2-E195-13EA-ED4C-5316502C2794}"/>
                    </a:ext>
                  </a:extLst>
                </p:cNvPr>
                <p:cNvSpPr txBox="1"/>
                <p:nvPr/>
              </p:nvSpPr>
              <p:spPr>
                <a:xfrm>
                  <a:off x="3294800" y="2292830"/>
                  <a:ext cx="466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4A18FB2-E195-13EA-ED4C-5316502C27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4800" y="2292830"/>
                  <a:ext cx="46673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6394AC2-613C-F2F7-3429-65D9E44BA1D5}"/>
                    </a:ext>
                  </a:extLst>
                </p:cNvPr>
                <p:cNvSpPr txBox="1"/>
                <p:nvPr/>
              </p:nvSpPr>
              <p:spPr>
                <a:xfrm>
                  <a:off x="3291916" y="2960753"/>
                  <a:ext cx="466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6394AC2-613C-F2F7-3429-65D9E44BA1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916" y="2960753"/>
                  <a:ext cx="466731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945A824-FC98-DECB-3CF2-BAA4E7965CAF}"/>
                    </a:ext>
                  </a:extLst>
                </p:cNvPr>
                <p:cNvSpPr txBox="1"/>
                <p:nvPr/>
              </p:nvSpPr>
              <p:spPr>
                <a:xfrm>
                  <a:off x="4668023" y="2372639"/>
                  <a:ext cx="1803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945A824-FC98-DECB-3CF2-BAA4E7965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8023" y="2372639"/>
                  <a:ext cx="180306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33333" t="-13043" r="-33333" b="-26087"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C2D2575-7056-7A58-70CC-B9AF90D4595C}"/>
                    </a:ext>
                  </a:extLst>
                </p:cNvPr>
                <p:cNvSpPr txBox="1"/>
                <p:nvPr/>
              </p:nvSpPr>
              <p:spPr>
                <a:xfrm>
                  <a:off x="1619530" y="1077162"/>
                  <a:ext cx="31072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C2D2575-7056-7A58-70CC-B9AF90D459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9530" y="1077162"/>
                  <a:ext cx="310726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7692" r="-3846" b="-13043"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8879A5E-7B2D-7D62-7E42-AF49F0EAD704}"/>
                    </a:ext>
                  </a:extLst>
                </p:cNvPr>
                <p:cNvSpPr txBox="1"/>
                <p:nvPr/>
              </p:nvSpPr>
              <p:spPr>
                <a:xfrm>
                  <a:off x="1560410" y="1719494"/>
                  <a:ext cx="316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8879A5E-7B2D-7D62-7E42-AF49F0EAD7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0410" y="1719494"/>
                  <a:ext cx="316049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7692" r="-7692" b="-13043"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318E2AA-4F74-AD77-75CE-EED3DB57250D}"/>
                  </a:ext>
                </a:extLst>
              </p:cNvPr>
              <p:cNvSpPr txBox="1"/>
              <p:nvPr/>
            </p:nvSpPr>
            <p:spPr>
              <a:xfrm>
                <a:off x="6382851" y="632699"/>
                <a:ext cx="4956611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LU" dirty="0"/>
                  <a:t>Each node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L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LU" dirty="0"/>
                  <a:t>) performs a simple computations.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LU" dirty="0"/>
                  <a:t>Each connection carries a signal, or the output of the computation from one node to another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LU" dirty="0"/>
                  <a:t>).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LU" dirty="0"/>
                  <a:t>Each connection is labeled by weight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L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LU" dirty="0"/>
                  <a:t>) indicating the extent to which the signal is amplified or diminished.</a:t>
                </a: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318E2AA-4F74-AD77-75CE-EED3DB572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2851" y="632699"/>
                <a:ext cx="4956611" cy="2308324"/>
              </a:xfrm>
              <a:prstGeom prst="rect">
                <a:avLst/>
              </a:prstGeom>
              <a:blipFill>
                <a:blip r:embed="rId16"/>
                <a:stretch>
                  <a:fillRect l="-767" t="-1093" b="-3279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21E59FB-1EA4-B301-2F94-3D26CB7B3F8A}"/>
                  </a:ext>
                </a:extLst>
              </p:cNvPr>
              <p:cNvSpPr txBox="1"/>
              <p:nvPr/>
            </p:nvSpPr>
            <p:spPr>
              <a:xfrm>
                <a:off x="7241000" y="3445256"/>
                <a:ext cx="3240311" cy="7350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LU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21E59FB-1EA4-B301-2F94-3D26CB7B3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000" y="3445256"/>
                <a:ext cx="3240311" cy="735009"/>
              </a:xfrm>
              <a:prstGeom prst="rect">
                <a:avLst/>
              </a:prstGeom>
              <a:blipFill>
                <a:blip r:embed="rId17"/>
                <a:stretch>
                  <a:fillRect l="-2734" t="-123729" r="-1953" b="-181356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7A6F972-EC64-1C7C-0A40-8209976D2B2C}"/>
                  </a:ext>
                </a:extLst>
              </p:cNvPr>
              <p:cNvSpPr txBox="1"/>
              <p:nvPr/>
            </p:nvSpPr>
            <p:spPr>
              <a:xfrm>
                <a:off x="6894078" y="4730328"/>
                <a:ext cx="393415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LU" dirty="0"/>
                  <a:t> – bias, a constant – a trainable value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LU" dirty="0"/>
                  <a:t> – activation function</a:t>
                </a: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7A6F972-EC64-1C7C-0A40-8209976D2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078" y="4730328"/>
                <a:ext cx="3934154" cy="646331"/>
              </a:xfrm>
              <a:prstGeom prst="rect">
                <a:avLst/>
              </a:prstGeom>
              <a:blipFill>
                <a:blip r:embed="rId18"/>
                <a:stretch>
                  <a:fillRect l="-322" t="-3846" r="-322" b="-13462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8BE7454D-72BA-2DF4-DA77-F538A88D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2FFE3-EBCD-004D-B0F6-94C58CE35FF0}" type="slidenum">
              <a:rPr lang="en-LU" smtClean="0"/>
              <a:t>6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1345515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94B77E-E408-2430-CE93-D7FCD9531B20}"/>
              </a:ext>
            </a:extLst>
          </p:cNvPr>
          <p:cNvSpPr txBox="1"/>
          <p:nvPr/>
        </p:nvSpPr>
        <p:spPr>
          <a:xfrm>
            <a:off x="23256" y="11277"/>
            <a:ext cx="2991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Activation functions</a:t>
            </a:r>
          </a:p>
        </p:txBody>
      </p:sp>
      <p:pic>
        <p:nvPicPr>
          <p:cNvPr id="8" name="Picture 7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B0AC66EC-FD0A-2881-06BF-F92946CA3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486" y="99780"/>
            <a:ext cx="8650514" cy="66584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FC5D2D-83CB-F3C4-10F6-6B27B1F5CC2E}"/>
              </a:ext>
            </a:extLst>
          </p:cNvPr>
          <p:cNvSpPr txBox="1"/>
          <p:nvPr/>
        </p:nvSpPr>
        <p:spPr>
          <a:xfrm>
            <a:off x="4212772" y="47294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1CD05B-6D4E-C534-E5BB-30B824D3FE0A}"/>
              </a:ext>
            </a:extLst>
          </p:cNvPr>
          <p:cNvSpPr txBox="1"/>
          <p:nvPr/>
        </p:nvSpPr>
        <p:spPr>
          <a:xfrm>
            <a:off x="8365672" y="47294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530B6A-C56C-0B19-792F-32FC333EC35B}"/>
              </a:ext>
            </a:extLst>
          </p:cNvPr>
          <p:cNvSpPr txBox="1"/>
          <p:nvPr/>
        </p:nvSpPr>
        <p:spPr>
          <a:xfrm>
            <a:off x="4212772" y="263375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470DC4-82B5-2F0F-F531-BFFE4A5E6446}"/>
              </a:ext>
            </a:extLst>
          </p:cNvPr>
          <p:cNvSpPr txBox="1"/>
          <p:nvPr/>
        </p:nvSpPr>
        <p:spPr>
          <a:xfrm>
            <a:off x="8365672" y="263375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EAE186-B1EF-6915-68A2-6F6914815CBD}"/>
              </a:ext>
            </a:extLst>
          </p:cNvPr>
          <p:cNvSpPr txBox="1"/>
          <p:nvPr/>
        </p:nvSpPr>
        <p:spPr>
          <a:xfrm>
            <a:off x="4212772" y="47945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0D8C9F-195C-5674-8641-A1DC862F401C}"/>
              </a:ext>
            </a:extLst>
          </p:cNvPr>
          <p:cNvSpPr txBox="1"/>
          <p:nvPr/>
        </p:nvSpPr>
        <p:spPr>
          <a:xfrm>
            <a:off x="8365672" y="47945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D3DC668-7CF0-8EAB-ADFB-EAB297EA7C27}"/>
                  </a:ext>
                </a:extLst>
              </p:cNvPr>
              <p:cNvSpPr txBox="1"/>
              <p:nvPr/>
            </p:nvSpPr>
            <p:spPr>
              <a:xfrm>
                <a:off x="169311" y="601082"/>
                <a:ext cx="2431371" cy="987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LU" dirty="0"/>
                  <a:t>1. Step function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&lt;0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L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D3DC668-7CF0-8EAB-ADFB-EAB297EA7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11" y="601082"/>
                <a:ext cx="2431371" cy="987193"/>
              </a:xfrm>
              <a:prstGeom prst="rect">
                <a:avLst/>
              </a:prstGeom>
              <a:blipFill>
                <a:blip r:embed="rId3"/>
                <a:stretch>
                  <a:fillRect l="-9375" t="-111392" b="-198734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FB1DBD1-5D79-6B2F-F1FD-30760EB222C9}"/>
                  </a:ext>
                </a:extLst>
              </p:cNvPr>
              <p:cNvSpPr txBox="1"/>
              <p:nvPr/>
            </p:nvSpPr>
            <p:spPr>
              <a:xfrm>
                <a:off x="169311" y="1568136"/>
                <a:ext cx="3586751" cy="8943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LU" dirty="0"/>
                  <a:t>2. Sigmoid function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FB1DBD1-5D79-6B2F-F1FD-30760EB22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11" y="1568136"/>
                <a:ext cx="3586751" cy="894347"/>
              </a:xfrm>
              <a:prstGeom prst="rect">
                <a:avLst/>
              </a:prstGeom>
              <a:blipFill>
                <a:blip r:embed="rId4"/>
                <a:stretch>
                  <a:fillRect l="-1413" t="-2817" b="-2817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84A3523-DC07-A194-B6F4-ADE14A3B29A8}"/>
                  </a:ext>
                </a:extLst>
              </p:cNvPr>
              <p:cNvSpPr txBox="1"/>
              <p:nvPr/>
            </p:nvSpPr>
            <p:spPr>
              <a:xfrm>
                <a:off x="169311" y="2464546"/>
                <a:ext cx="3870162" cy="11841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LU" dirty="0"/>
                  <a:t>3. Tanh function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(−1,1)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84A3523-DC07-A194-B6F4-ADE14A3B2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11" y="2464546"/>
                <a:ext cx="3870162" cy="1184170"/>
              </a:xfrm>
              <a:prstGeom prst="rect">
                <a:avLst/>
              </a:prstGeom>
              <a:blipFill>
                <a:blip r:embed="rId5"/>
                <a:stretch>
                  <a:fillRect l="-1307" t="-1053" b="-3158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2580E9C-DD40-E04A-A28B-FB5C305D9F6F}"/>
                  </a:ext>
                </a:extLst>
              </p:cNvPr>
              <p:cNvSpPr txBox="1"/>
              <p:nvPr/>
            </p:nvSpPr>
            <p:spPr>
              <a:xfrm>
                <a:off x="169311" y="3648716"/>
                <a:ext cx="2388411" cy="987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LU" dirty="0"/>
                  <a:t>4. ReLU function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2580E9C-DD40-E04A-A28B-FB5C305D9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11" y="3648716"/>
                <a:ext cx="2388411" cy="987193"/>
              </a:xfrm>
              <a:prstGeom prst="rect">
                <a:avLst/>
              </a:prstGeom>
              <a:blipFill>
                <a:blip r:embed="rId6"/>
                <a:stretch>
                  <a:fillRect l="-10582" t="-112821" b="-202564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CFBF84D-4EA2-D1BF-D67E-25CB558C20B4}"/>
                  </a:ext>
                </a:extLst>
              </p:cNvPr>
              <p:cNvSpPr txBox="1"/>
              <p:nvPr/>
            </p:nvSpPr>
            <p:spPr>
              <a:xfrm>
                <a:off x="169311" y="4634504"/>
                <a:ext cx="2478179" cy="987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LU" dirty="0"/>
                  <a:t>5. Leaky ReLU function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CFBF84D-4EA2-D1BF-D67E-25CB558C2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11" y="4634504"/>
                <a:ext cx="2478179" cy="987193"/>
              </a:xfrm>
              <a:prstGeom prst="rect">
                <a:avLst/>
              </a:prstGeom>
              <a:blipFill>
                <a:blip r:embed="rId7"/>
                <a:stretch>
                  <a:fillRect l="-11224" t="-110127" b="-198734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9D294AC-B8A0-F204-B31D-605C1F2A867B}"/>
                  </a:ext>
                </a:extLst>
              </p:cNvPr>
              <p:cNvSpPr txBox="1"/>
              <p:nvPr/>
            </p:nvSpPr>
            <p:spPr>
              <a:xfrm>
                <a:off x="169311" y="5563490"/>
                <a:ext cx="3196965" cy="987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LU" dirty="0"/>
                  <a:t>6. ELU function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−1)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9D294AC-B8A0-F204-B31D-605C1F2A8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11" y="5563490"/>
                <a:ext cx="3196965" cy="987193"/>
              </a:xfrm>
              <a:prstGeom prst="rect">
                <a:avLst/>
              </a:prstGeom>
              <a:blipFill>
                <a:blip r:embed="rId8"/>
                <a:stretch>
                  <a:fillRect l="-8730" t="-112821" b="-201282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E4D1B629-82F8-ADA7-0715-CCC1F1840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2FFE3-EBCD-004D-B0F6-94C58CE35FF0}" type="slidenum">
              <a:rPr lang="en-LU" smtClean="0"/>
              <a:t>7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72739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A2390-4B4D-1FC2-2AC5-459614FFC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E0B440-A045-1516-B221-14AA80A02B7A}"/>
              </a:ext>
            </a:extLst>
          </p:cNvPr>
          <p:cNvSpPr txBox="1"/>
          <p:nvPr/>
        </p:nvSpPr>
        <p:spPr>
          <a:xfrm>
            <a:off x="23256" y="11277"/>
            <a:ext cx="2991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Activation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A7F588-E947-806C-3DA4-38757E9E4B49}"/>
                  </a:ext>
                </a:extLst>
              </p:cNvPr>
              <p:cNvSpPr txBox="1"/>
              <p:nvPr/>
            </p:nvSpPr>
            <p:spPr>
              <a:xfrm>
                <a:off x="169311" y="601082"/>
                <a:ext cx="9137975" cy="987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LU" dirty="0"/>
                  <a:t>1. Step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&lt;0 </m:t>
                            </m:r>
                          </m:e>
                        </m:eqArr>
                      </m:e>
                    </m:d>
                  </m:oMath>
                </a14:m>
                <a:r>
                  <a:rPr lang="en-LU" dirty="0"/>
                  <a:t>, rarely used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A7F588-E947-806C-3DA4-38757E9E4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11" y="601082"/>
                <a:ext cx="9137975" cy="987193"/>
              </a:xfrm>
              <a:prstGeom prst="rect">
                <a:avLst/>
              </a:prstGeom>
              <a:blipFill>
                <a:blip r:embed="rId2"/>
                <a:stretch>
                  <a:fillRect l="-3056" t="-111392" b="-198734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1FEBB2-781F-2235-9FEF-0D8DF68D2090}"/>
                  </a:ext>
                </a:extLst>
              </p:cNvPr>
              <p:cNvSpPr txBox="1"/>
              <p:nvPr/>
            </p:nvSpPr>
            <p:spPr>
              <a:xfrm>
                <a:off x="23256" y="1588275"/>
                <a:ext cx="11853378" cy="761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LU" dirty="0"/>
                  <a:t>2. Sigmoid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b="0" dirty="0"/>
                  <a:t> ; When you want a probability between 0 and 1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1FEBB2-781F-2235-9FEF-0D8DF68D2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56" y="1588275"/>
                <a:ext cx="11853378" cy="761940"/>
              </a:xfrm>
              <a:prstGeom prst="rect">
                <a:avLst/>
              </a:prstGeom>
              <a:blipFill>
                <a:blip r:embed="rId3"/>
                <a:stretch>
                  <a:fillRect l="-428" t="-4918" b="-3279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EA3C8D-720D-C01D-006D-1FB946E56C4D}"/>
                  </a:ext>
                </a:extLst>
              </p:cNvPr>
              <p:cNvSpPr txBox="1"/>
              <p:nvPr/>
            </p:nvSpPr>
            <p:spPr>
              <a:xfrm>
                <a:off x="169310" y="2464546"/>
                <a:ext cx="11707324" cy="1065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LU" dirty="0"/>
                  <a:t>3. Tanh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used in hidden layers</a:t>
                </a:r>
                <a:endParaRPr lang="en-US" b="0" i="1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(−1,1)</m:t>
                    </m:r>
                  </m:oMath>
                </a14:m>
                <a:r>
                  <a:rPr lang="en-US" b="0" dirty="0"/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EA3C8D-720D-C01D-006D-1FB946E56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10" y="2464546"/>
                <a:ext cx="11707324" cy="1065613"/>
              </a:xfrm>
              <a:prstGeom prst="rect">
                <a:avLst/>
              </a:prstGeom>
              <a:blipFill>
                <a:blip r:embed="rId4"/>
                <a:stretch>
                  <a:fillRect l="-433" t="-1176" b="-4706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371AE14-A7D6-A952-847A-F0A47CD1A254}"/>
                  </a:ext>
                </a:extLst>
              </p:cNvPr>
              <p:cNvSpPr txBox="1"/>
              <p:nvPr/>
            </p:nvSpPr>
            <p:spPr>
              <a:xfrm>
                <a:off x="169311" y="3648716"/>
                <a:ext cx="11570932" cy="987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LU" dirty="0"/>
                  <a:t>4. ReLU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b="0" dirty="0"/>
                  <a:t>  default choice for hidden layers in most deep neural networks; good for CNN;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371AE14-A7D6-A952-847A-F0A47CD1A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11" y="3648716"/>
                <a:ext cx="11570932" cy="987193"/>
              </a:xfrm>
              <a:prstGeom prst="rect">
                <a:avLst/>
              </a:prstGeom>
              <a:blipFill>
                <a:blip r:embed="rId5"/>
                <a:stretch>
                  <a:fillRect l="-2851" t="-112821" b="-202564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83D4D2-E3CB-0600-BE2F-736C07429497}"/>
                  </a:ext>
                </a:extLst>
              </p:cNvPr>
              <p:cNvSpPr txBox="1"/>
              <p:nvPr/>
            </p:nvSpPr>
            <p:spPr>
              <a:xfrm>
                <a:off x="169311" y="4634504"/>
                <a:ext cx="11707323" cy="987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LU" dirty="0"/>
                  <a:t>5. Leaky ReLU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b="0" dirty="0"/>
                  <a:t> Alternative to </a:t>
                </a:r>
                <a:r>
                  <a:rPr lang="en-US" b="0" dirty="0" err="1"/>
                  <a:t>ReLU</a:t>
                </a:r>
                <a:r>
                  <a:rPr lang="en-US" b="0" dirty="0"/>
                  <a:t>, when training is slow or </a:t>
                </a:r>
                <a:r>
                  <a:rPr lang="en-US" b="0" dirty="0" err="1"/>
                  <a:t>Re</a:t>
                </a:r>
                <a:r>
                  <a:rPr lang="en-US" dirty="0" err="1"/>
                  <a:t>LU</a:t>
                </a:r>
                <a:r>
                  <a:rPr lang="en-US" dirty="0"/>
                  <a:t> seems unstable</a:t>
                </a:r>
                <a:endParaRPr lang="en-US" b="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83D4D2-E3CB-0600-BE2F-736C07429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11" y="4634504"/>
                <a:ext cx="11707323" cy="987193"/>
              </a:xfrm>
              <a:prstGeom prst="rect">
                <a:avLst/>
              </a:prstGeom>
              <a:blipFill>
                <a:blip r:embed="rId6"/>
                <a:stretch>
                  <a:fillRect l="-2817" t="-110127" b="-198734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C5A242C-D731-6986-096D-09AA34EED822}"/>
                  </a:ext>
                </a:extLst>
              </p:cNvPr>
              <p:cNvSpPr txBox="1"/>
              <p:nvPr/>
            </p:nvSpPr>
            <p:spPr>
              <a:xfrm>
                <a:off x="169311" y="5563490"/>
                <a:ext cx="11707323" cy="987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LU" dirty="0"/>
                  <a:t>6. ELU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−1)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b="0" dirty="0"/>
                  <a:t> For deep networks where faster and more stable training is needed;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C5A242C-D731-6986-096D-09AA34EED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11" y="5563490"/>
                <a:ext cx="11707323" cy="987193"/>
              </a:xfrm>
              <a:prstGeom prst="rect">
                <a:avLst/>
              </a:prstGeom>
              <a:blipFill>
                <a:blip r:embed="rId7"/>
                <a:stretch>
                  <a:fillRect l="-2817" t="-112821" b="-201282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743BD-A0A8-E275-015F-29885F6E6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2FFE3-EBCD-004D-B0F6-94C58CE35FF0}" type="slidenum">
              <a:rPr lang="en-LU" smtClean="0"/>
              <a:t>8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3181068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7E14E6B-334B-EE58-C31D-6D659BA3FC68}"/>
              </a:ext>
            </a:extLst>
          </p:cNvPr>
          <p:cNvGrpSpPr/>
          <p:nvPr/>
        </p:nvGrpSpPr>
        <p:grpSpPr>
          <a:xfrm>
            <a:off x="753238" y="1264223"/>
            <a:ext cx="4905725" cy="3958164"/>
            <a:chOff x="734518" y="456440"/>
            <a:chExt cx="4905725" cy="395816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A46B37D-1B7E-5139-D61D-39EE5B55D387}"/>
                </a:ext>
              </a:extLst>
            </p:cNvPr>
            <p:cNvGrpSpPr/>
            <p:nvPr/>
          </p:nvGrpSpPr>
          <p:grpSpPr>
            <a:xfrm>
              <a:off x="734518" y="456440"/>
              <a:ext cx="4905725" cy="3958164"/>
              <a:chOff x="775547" y="2848531"/>
              <a:chExt cx="4905725" cy="3958164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5ACE00B1-8BCB-1024-8115-CFA846FB4FC9}"/>
                  </a:ext>
                </a:extLst>
              </p:cNvPr>
              <p:cNvGrpSpPr/>
              <p:nvPr/>
            </p:nvGrpSpPr>
            <p:grpSpPr>
              <a:xfrm>
                <a:off x="893567" y="3429000"/>
                <a:ext cx="4787705" cy="2729260"/>
                <a:chOff x="893567" y="3429000"/>
                <a:chExt cx="4787705" cy="2729260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62662B73-E902-384F-A7D8-787A79A70BB3}"/>
                    </a:ext>
                  </a:extLst>
                </p:cNvPr>
                <p:cNvGrpSpPr/>
                <p:nvPr/>
              </p:nvGrpSpPr>
              <p:grpSpPr>
                <a:xfrm>
                  <a:off x="893567" y="3429000"/>
                  <a:ext cx="4148661" cy="2729260"/>
                  <a:chOff x="1307451" y="2838818"/>
                  <a:chExt cx="4148661" cy="2729260"/>
                </a:xfrm>
              </p:grpSpPr>
              <p:sp>
                <p:nvSpPr>
                  <p:cNvPr id="46" name="Oval 45">
                    <a:extLst>
                      <a:ext uri="{FF2B5EF4-FFF2-40B4-BE49-F238E27FC236}">
                        <a16:creationId xmlns:a16="http://schemas.microsoft.com/office/drawing/2014/main" id="{BB31013D-8D0B-2D77-6463-D04217CF818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07451" y="2838818"/>
                    <a:ext cx="468000" cy="46800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47" name="Oval 46">
                    <a:extLst>
                      <a:ext uri="{FF2B5EF4-FFF2-40B4-BE49-F238E27FC236}">
                        <a16:creationId xmlns:a16="http://schemas.microsoft.com/office/drawing/2014/main" id="{31A2BBB3-8D4F-418C-3A3B-C0E5D7EF8C1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07451" y="3607667"/>
                    <a:ext cx="468000" cy="46800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EAAE5ACC-A4C5-FD62-80C4-53F931388AD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07451" y="4344275"/>
                    <a:ext cx="468000" cy="46800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8FC75765-21CC-EC02-ED10-BAF71407D87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07451" y="5100078"/>
                    <a:ext cx="468000" cy="46800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96C7452F-2415-D332-818D-9A1B6EE5FF6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71898" y="3167105"/>
                    <a:ext cx="396000" cy="396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64B52257-01B3-5CCB-DA75-8C6A818EB1D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71898" y="3750472"/>
                    <a:ext cx="396000" cy="396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30E6D0F8-945E-526D-F6A2-AEE9A2B70BB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71898" y="4344275"/>
                    <a:ext cx="396000" cy="396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4D9015DE-CB56-3085-56B6-9DBDB4B5C44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71898" y="4938078"/>
                    <a:ext cx="396000" cy="396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D8E9B35A-441E-32EF-5026-931C345B279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764345" y="3376589"/>
                    <a:ext cx="396000" cy="396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69803E1F-D802-D28F-88EB-053C10D26F7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764345" y="4075667"/>
                    <a:ext cx="396000" cy="396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E826B227-7AEA-0698-D9EA-3B03F88C146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764345" y="4740078"/>
                    <a:ext cx="396000" cy="396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  <p:sp>
                <p:nvSpPr>
                  <p:cNvPr id="57" name="Oval 56">
                    <a:extLst>
                      <a:ext uri="{FF2B5EF4-FFF2-40B4-BE49-F238E27FC236}">
                        <a16:creationId xmlns:a16="http://schemas.microsoft.com/office/drawing/2014/main" id="{E9D92A9A-0D4F-627F-49C0-B79BE1284F9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988112" y="4074275"/>
                    <a:ext cx="468000" cy="46800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LU"/>
                  </a:p>
                </p:txBody>
              </p:sp>
            </p:grp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3F9DAF66-42C8-B518-29BD-5A28F3E439C5}"/>
                    </a:ext>
                  </a:extLst>
                </p:cNvPr>
                <p:cNvCxnSpPr>
                  <a:cxnSpLocks/>
                  <a:endCxn id="50" idx="1"/>
                </p:cNvCxnSpPr>
                <p:nvPr/>
              </p:nvCxnSpPr>
              <p:spPr>
                <a:xfrm>
                  <a:off x="1361567" y="3714054"/>
                  <a:ext cx="796447" cy="24123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91085207-6A3C-08AD-67F2-32ADF094DA6C}"/>
                    </a:ext>
                  </a:extLst>
                </p:cNvPr>
                <p:cNvCxnSpPr>
                  <a:cxnSpLocks/>
                  <a:endCxn id="51" idx="1"/>
                </p:cNvCxnSpPr>
                <p:nvPr/>
              </p:nvCxnSpPr>
              <p:spPr>
                <a:xfrm>
                  <a:off x="1361567" y="4443473"/>
                  <a:ext cx="796447" cy="95181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EC23EE1D-2BEB-04DD-07FA-BB383FE27B2B}"/>
                    </a:ext>
                  </a:extLst>
                </p:cNvPr>
                <p:cNvCxnSpPr>
                  <a:cxnSpLocks/>
                  <a:endCxn id="52" idx="1"/>
                </p:cNvCxnSpPr>
                <p:nvPr/>
              </p:nvCxnSpPr>
              <p:spPr>
                <a:xfrm flipV="1">
                  <a:off x="1361566" y="5132457"/>
                  <a:ext cx="796448" cy="52052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A3361E7F-239D-F5FF-6AA5-521719A6DE8B}"/>
                    </a:ext>
                  </a:extLst>
                </p:cNvPr>
                <p:cNvCxnSpPr>
                  <a:cxnSpLocks/>
                  <a:endCxn id="53" idx="1"/>
                </p:cNvCxnSpPr>
                <p:nvPr/>
              </p:nvCxnSpPr>
              <p:spPr>
                <a:xfrm flipV="1">
                  <a:off x="1361566" y="5726260"/>
                  <a:ext cx="796448" cy="188619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88781CB1-B8F7-0572-55D0-3EC291D6F9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69674" y="3956616"/>
                  <a:ext cx="796447" cy="24123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75C10E11-02A9-F483-B5B9-3FAFF2ABAF80}"/>
                    </a:ext>
                  </a:extLst>
                </p:cNvPr>
                <p:cNvCxnSpPr>
                  <a:cxnSpLocks/>
                  <a:endCxn id="55" idx="1"/>
                </p:cNvCxnSpPr>
                <p:nvPr/>
              </p:nvCxnSpPr>
              <p:spPr>
                <a:xfrm>
                  <a:off x="2569674" y="3955287"/>
                  <a:ext cx="780787" cy="90856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F4E22FB0-8074-A859-CEE5-F69524C413A9}"/>
                    </a:ext>
                  </a:extLst>
                </p:cNvPr>
                <p:cNvCxnSpPr>
                  <a:cxnSpLocks/>
                  <a:endCxn id="56" idx="1"/>
                </p:cNvCxnSpPr>
                <p:nvPr/>
              </p:nvCxnSpPr>
              <p:spPr>
                <a:xfrm>
                  <a:off x="2569674" y="3948120"/>
                  <a:ext cx="780787" cy="158014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4E5C1F4F-11FE-CF3A-E2E0-7E397AF9DA28}"/>
                    </a:ext>
                  </a:extLst>
                </p:cNvPr>
                <p:cNvCxnSpPr>
                  <a:cxnSpLocks/>
                  <a:endCxn id="54" idx="1"/>
                </p:cNvCxnSpPr>
                <p:nvPr/>
              </p:nvCxnSpPr>
              <p:spPr>
                <a:xfrm flipV="1">
                  <a:off x="2556318" y="4164771"/>
                  <a:ext cx="794143" cy="37906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C10B4CD0-E903-83D2-DAFB-04B1820254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70249" y="4543840"/>
                  <a:ext cx="795296" cy="29045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7A966E1D-649C-A3F9-7721-F09250F81440}"/>
                    </a:ext>
                  </a:extLst>
                </p:cNvPr>
                <p:cNvCxnSpPr>
                  <a:cxnSpLocks/>
                  <a:endCxn id="56" idx="1"/>
                </p:cNvCxnSpPr>
                <p:nvPr/>
              </p:nvCxnSpPr>
              <p:spPr>
                <a:xfrm>
                  <a:off x="2571937" y="4536714"/>
                  <a:ext cx="778524" cy="99154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68F8CE19-3009-21FC-FD8E-7EAA8D1534F1}"/>
                    </a:ext>
                  </a:extLst>
                </p:cNvPr>
                <p:cNvCxnSpPr>
                  <a:cxnSpLocks/>
                  <a:endCxn id="54" idx="1"/>
                </p:cNvCxnSpPr>
                <p:nvPr/>
              </p:nvCxnSpPr>
              <p:spPr>
                <a:xfrm flipV="1">
                  <a:off x="2555165" y="4164771"/>
                  <a:ext cx="795296" cy="96768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57746C56-2487-9388-33C5-ECFCB601C189}"/>
                    </a:ext>
                  </a:extLst>
                </p:cNvPr>
                <p:cNvCxnSpPr>
                  <a:cxnSpLocks/>
                  <a:endCxn id="55" idx="1"/>
                </p:cNvCxnSpPr>
                <p:nvPr/>
              </p:nvCxnSpPr>
              <p:spPr>
                <a:xfrm flipV="1">
                  <a:off x="2587557" y="4863849"/>
                  <a:ext cx="762904" cy="26227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0299C69C-633E-7D43-CAB6-2643F754932A}"/>
                    </a:ext>
                  </a:extLst>
                </p:cNvPr>
                <p:cNvCxnSpPr>
                  <a:cxnSpLocks/>
                  <a:endCxn id="56" idx="1"/>
                </p:cNvCxnSpPr>
                <p:nvPr/>
              </p:nvCxnSpPr>
              <p:spPr>
                <a:xfrm>
                  <a:off x="2554589" y="5126138"/>
                  <a:ext cx="795872" cy="40212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077923C6-1841-5FDE-319B-BAD1B920D6B2}"/>
                    </a:ext>
                  </a:extLst>
                </p:cNvPr>
                <p:cNvCxnSpPr>
                  <a:cxnSpLocks/>
                  <a:endCxn id="54" idx="1"/>
                </p:cNvCxnSpPr>
                <p:nvPr/>
              </p:nvCxnSpPr>
              <p:spPr>
                <a:xfrm flipV="1">
                  <a:off x="2569674" y="4164771"/>
                  <a:ext cx="780787" cy="156761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10EADC1A-857B-5B71-DC53-EC98578AFF35}"/>
                    </a:ext>
                  </a:extLst>
                </p:cNvPr>
                <p:cNvCxnSpPr>
                  <a:cxnSpLocks/>
                  <a:endCxn id="55" idx="1"/>
                </p:cNvCxnSpPr>
                <p:nvPr/>
              </p:nvCxnSpPr>
              <p:spPr>
                <a:xfrm flipV="1">
                  <a:off x="2538314" y="4863849"/>
                  <a:ext cx="812147" cy="86295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B57DA793-9A5E-CABE-E5C0-15E80172F51C}"/>
                    </a:ext>
                  </a:extLst>
                </p:cNvPr>
                <p:cNvCxnSpPr>
                  <a:cxnSpLocks/>
                  <a:endCxn id="56" idx="1"/>
                </p:cNvCxnSpPr>
                <p:nvPr/>
              </p:nvCxnSpPr>
              <p:spPr>
                <a:xfrm flipV="1">
                  <a:off x="2536090" y="5528260"/>
                  <a:ext cx="814371" cy="18265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019331CE-1AA2-34D9-AEE7-D646C31439A5}"/>
                    </a:ext>
                  </a:extLst>
                </p:cNvPr>
                <p:cNvCxnSpPr>
                  <a:cxnSpLocks/>
                  <a:endCxn id="57" idx="2"/>
                </p:cNvCxnSpPr>
                <p:nvPr/>
              </p:nvCxnSpPr>
              <p:spPr>
                <a:xfrm>
                  <a:off x="3746461" y="4153674"/>
                  <a:ext cx="827767" cy="74478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671D6F9F-2448-4334-8EDB-3C4FEF77358B}"/>
                    </a:ext>
                  </a:extLst>
                </p:cNvPr>
                <p:cNvCxnSpPr>
                  <a:cxnSpLocks/>
                  <a:endCxn id="57" idx="2"/>
                </p:cNvCxnSpPr>
                <p:nvPr/>
              </p:nvCxnSpPr>
              <p:spPr>
                <a:xfrm>
                  <a:off x="3759073" y="4873125"/>
                  <a:ext cx="815155" cy="2533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641499EE-136A-2892-9576-0355BCDFB12B}"/>
                    </a:ext>
                  </a:extLst>
                </p:cNvPr>
                <p:cNvCxnSpPr>
                  <a:cxnSpLocks/>
                  <a:endCxn id="57" idx="2"/>
                </p:cNvCxnSpPr>
                <p:nvPr/>
              </p:nvCxnSpPr>
              <p:spPr>
                <a:xfrm flipV="1">
                  <a:off x="3755188" y="4898457"/>
                  <a:ext cx="819040" cy="62980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C9FA7171-7157-1763-8ED0-49798D5EDE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42228" y="4918898"/>
                  <a:ext cx="63904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4A7D6A6-BAED-CFE2-6022-C86753B84572}"/>
                  </a:ext>
                </a:extLst>
              </p:cNvPr>
              <p:cNvSpPr txBox="1"/>
              <p:nvPr/>
            </p:nvSpPr>
            <p:spPr>
              <a:xfrm>
                <a:off x="775547" y="2848531"/>
                <a:ext cx="7040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LU" dirty="0"/>
                  <a:t>Input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B0F2EF-FA5C-5D68-8D92-1E990D6B1531}"/>
                  </a:ext>
                </a:extLst>
              </p:cNvPr>
              <p:cNvSpPr txBox="1"/>
              <p:nvPr/>
            </p:nvSpPr>
            <p:spPr>
              <a:xfrm flipH="1">
                <a:off x="4375375" y="4310201"/>
                <a:ext cx="9367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LU" dirty="0"/>
                  <a:t>Output</a:t>
                </a:r>
              </a:p>
            </p:txBody>
          </p:sp>
          <p:sp>
            <p:nvSpPr>
              <p:cNvPr id="23" name="Right Brace 22">
                <a:extLst>
                  <a:ext uri="{FF2B5EF4-FFF2-40B4-BE49-F238E27FC236}">
                    <a16:creationId xmlns:a16="http://schemas.microsoft.com/office/drawing/2014/main" id="{96666832-51F1-6B93-0CA2-3EB26C149CAA}"/>
                  </a:ext>
                </a:extLst>
              </p:cNvPr>
              <p:cNvSpPr/>
              <p:nvPr/>
            </p:nvSpPr>
            <p:spPr>
              <a:xfrm rot="5400000">
                <a:off x="2774899" y="5551824"/>
                <a:ext cx="332103" cy="1385202"/>
              </a:xfrm>
              <a:prstGeom prst="rightBrac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1F4416-7224-744F-26BB-6AC9A4243A01}"/>
                  </a:ext>
                </a:extLst>
              </p:cNvPr>
              <p:cNvSpPr txBox="1"/>
              <p:nvPr/>
            </p:nvSpPr>
            <p:spPr>
              <a:xfrm>
                <a:off x="2184822" y="6437363"/>
                <a:ext cx="155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LU" dirty="0"/>
                  <a:t>Hidden layers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95366DD-F372-5E8D-2E1F-52C23F49C0F0}"/>
                    </a:ext>
                  </a:extLst>
                </p:cNvPr>
                <p:cNvSpPr txBox="1"/>
                <p:nvPr/>
              </p:nvSpPr>
              <p:spPr>
                <a:xfrm>
                  <a:off x="883670" y="1068334"/>
                  <a:ext cx="45435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95366DD-F372-5E8D-2E1F-52C23F49C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670" y="1068334"/>
                  <a:ext cx="454355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62F77E6-E66B-9269-5BA6-86291DD8FB16}"/>
                    </a:ext>
                  </a:extLst>
                </p:cNvPr>
                <p:cNvSpPr txBox="1"/>
                <p:nvPr/>
              </p:nvSpPr>
              <p:spPr>
                <a:xfrm>
                  <a:off x="883670" y="1850841"/>
                  <a:ext cx="4596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62F77E6-E66B-9269-5BA6-86291DD8FB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670" y="1850841"/>
                  <a:ext cx="459678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3298983-70F3-CCE4-825F-4973DDB55824}"/>
                    </a:ext>
                  </a:extLst>
                </p:cNvPr>
                <p:cNvSpPr txBox="1"/>
                <p:nvPr/>
              </p:nvSpPr>
              <p:spPr>
                <a:xfrm>
                  <a:off x="881008" y="2578059"/>
                  <a:ext cx="4596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3298983-70F3-CCE4-825F-4973DDB558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008" y="2578059"/>
                  <a:ext cx="45967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54A8A35-3054-E7B1-E4BC-55BF1C918EEA}"/>
                    </a:ext>
                  </a:extLst>
                </p:cNvPr>
                <p:cNvSpPr txBox="1"/>
                <p:nvPr/>
              </p:nvSpPr>
              <p:spPr>
                <a:xfrm>
                  <a:off x="881008" y="3316950"/>
                  <a:ext cx="4596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54A8A35-3054-E7B1-E4BC-55BF1C918E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008" y="3316950"/>
                  <a:ext cx="45967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A1E0F7A-008B-C662-68E2-5DEBDEF8D672}"/>
                    </a:ext>
                  </a:extLst>
                </p:cNvPr>
                <p:cNvSpPr txBox="1"/>
                <p:nvPr/>
              </p:nvSpPr>
              <p:spPr>
                <a:xfrm>
                  <a:off x="2096919" y="1355815"/>
                  <a:ext cx="4614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A1E0F7A-008B-C662-68E2-5DEBDEF8D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6919" y="1355815"/>
                  <a:ext cx="46140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BFDD2BB-5FDD-C250-4368-DF8CEC361C9B}"/>
                    </a:ext>
                  </a:extLst>
                </p:cNvPr>
                <p:cNvSpPr txBox="1"/>
                <p:nvPr/>
              </p:nvSpPr>
              <p:spPr>
                <a:xfrm>
                  <a:off x="2118689" y="1965417"/>
                  <a:ext cx="466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BFDD2BB-5FDD-C250-4368-DF8CEC361C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8689" y="1965417"/>
                  <a:ext cx="466731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7EDBAD2-3FE3-9713-AFB6-00DF8EC33F0F}"/>
                    </a:ext>
                  </a:extLst>
                </p:cNvPr>
                <p:cNvSpPr txBox="1"/>
                <p:nvPr/>
              </p:nvSpPr>
              <p:spPr>
                <a:xfrm>
                  <a:off x="2118690" y="2536912"/>
                  <a:ext cx="466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7EDBAD2-3FE3-9713-AFB6-00DF8EC33F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8690" y="2536912"/>
                  <a:ext cx="466731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7773361-3179-2146-29EC-3F27C7945A59}"/>
                    </a:ext>
                  </a:extLst>
                </p:cNvPr>
                <p:cNvSpPr txBox="1"/>
                <p:nvPr/>
              </p:nvSpPr>
              <p:spPr>
                <a:xfrm>
                  <a:off x="2102361" y="3157402"/>
                  <a:ext cx="466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7773361-3179-2146-29EC-3F27C7945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2361" y="3157402"/>
                  <a:ext cx="46673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2C0BEDD-EF94-A347-7786-DD3F09030EB4}"/>
                    </a:ext>
                  </a:extLst>
                </p:cNvPr>
                <p:cNvSpPr txBox="1"/>
                <p:nvPr/>
              </p:nvSpPr>
              <p:spPr>
                <a:xfrm>
                  <a:off x="3294351" y="1589860"/>
                  <a:ext cx="466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2C0BEDD-EF94-A347-7786-DD3F09030E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4351" y="1589860"/>
                  <a:ext cx="466731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A263EF6-D3A2-3DB3-BAB0-B8F23C27D6B9}"/>
                    </a:ext>
                  </a:extLst>
                </p:cNvPr>
                <p:cNvSpPr txBox="1"/>
                <p:nvPr/>
              </p:nvSpPr>
              <p:spPr>
                <a:xfrm>
                  <a:off x="3294800" y="2292830"/>
                  <a:ext cx="466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A263EF6-D3A2-3DB3-BAB0-B8F23C27D6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4800" y="2292830"/>
                  <a:ext cx="46673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CAA79B2-A81A-24E8-CD2D-E71682DCC481}"/>
                    </a:ext>
                  </a:extLst>
                </p:cNvPr>
                <p:cNvSpPr txBox="1"/>
                <p:nvPr/>
              </p:nvSpPr>
              <p:spPr>
                <a:xfrm>
                  <a:off x="3291916" y="2960753"/>
                  <a:ext cx="466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CAA79B2-A81A-24E8-CD2D-E71682DCC4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916" y="2960753"/>
                  <a:ext cx="466731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BA9F8C5-ED58-E832-3B72-FB505C16A421}"/>
                    </a:ext>
                  </a:extLst>
                </p:cNvPr>
                <p:cNvSpPr txBox="1"/>
                <p:nvPr/>
              </p:nvSpPr>
              <p:spPr>
                <a:xfrm>
                  <a:off x="4668023" y="2372639"/>
                  <a:ext cx="1803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BA9F8C5-ED58-E832-3B72-FB505C16A4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8023" y="2372639"/>
                  <a:ext cx="180306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33333" t="-13043" r="-26667" b="-26087"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E2CDDC-D2A7-AD88-F1C7-A01A68012A32}"/>
                    </a:ext>
                  </a:extLst>
                </p:cNvPr>
                <p:cNvSpPr txBox="1"/>
                <p:nvPr/>
              </p:nvSpPr>
              <p:spPr>
                <a:xfrm>
                  <a:off x="1619530" y="1077162"/>
                  <a:ext cx="31072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E2CDDC-D2A7-AD88-F1C7-A01A68012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9530" y="1077162"/>
                  <a:ext cx="310726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2000" r="-8000" b="-13043"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AEDFEC9-9484-8BB9-3EFF-3686709964AA}"/>
                    </a:ext>
                  </a:extLst>
                </p:cNvPr>
                <p:cNvSpPr txBox="1"/>
                <p:nvPr/>
              </p:nvSpPr>
              <p:spPr>
                <a:xfrm>
                  <a:off x="1560410" y="1719494"/>
                  <a:ext cx="316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AEDFEC9-9484-8BB9-3EFF-3686709964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0410" y="1719494"/>
                  <a:ext cx="316049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11538" r="-3846" b="-13636"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22C4EB90-DDFB-C70B-0E46-55F5952A3419}"/>
              </a:ext>
            </a:extLst>
          </p:cNvPr>
          <p:cNvSpPr txBox="1"/>
          <p:nvPr/>
        </p:nvSpPr>
        <p:spPr>
          <a:xfrm>
            <a:off x="6662057" y="1755267"/>
            <a:ext cx="5027865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This type of neural network with multi layers has forward propagation;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Forward propagation is computationally straightforward;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Poor predictions, since the weights and biases are randomly initialized;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8BD05F6-009C-22D4-3558-D47B164FDC74}"/>
                  </a:ext>
                </a:extLst>
              </p:cNvPr>
              <p:cNvSpPr txBox="1"/>
              <p:nvPr/>
            </p:nvSpPr>
            <p:spPr>
              <a:xfrm>
                <a:off x="1298485" y="5735490"/>
                <a:ext cx="3240311" cy="7350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LU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8BD05F6-009C-22D4-3558-D47B164FD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485" y="5735490"/>
                <a:ext cx="3240311" cy="735009"/>
              </a:xfrm>
              <a:prstGeom prst="rect">
                <a:avLst/>
              </a:prstGeom>
              <a:blipFill>
                <a:blip r:embed="rId16"/>
                <a:stretch>
                  <a:fillRect l="-2734" t="-123729" r="-1953" b="-181356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Slide Number Placeholder 63">
            <a:extLst>
              <a:ext uri="{FF2B5EF4-FFF2-40B4-BE49-F238E27FC236}">
                <a16:creationId xmlns:a16="http://schemas.microsoft.com/office/drawing/2014/main" id="{71900A85-149E-4CC6-46D8-7141C95C6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2FFE3-EBCD-004D-B0F6-94C58CE35FF0}" type="slidenum">
              <a:rPr lang="en-LU" smtClean="0"/>
              <a:t>9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1533286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989942-0681-B888-EB2C-6B00546E93EE}"/>
              </a:ext>
            </a:extLst>
          </p:cNvPr>
          <p:cNvSpPr txBox="1"/>
          <p:nvPr/>
        </p:nvSpPr>
        <p:spPr>
          <a:xfrm>
            <a:off x="0" y="130628"/>
            <a:ext cx="5064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dirty="0"/>
              <a:t>Backward propagation – learning from errors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59B274-7480-A736-8F44-5F5DD11170C2}"/>
                  </a:ext>
                </a:extLst>
              </p:cNvPr>
              <p:cNvSpPr txBox="1"/>
              <p:nvPr/>
            </p:nvSpPr>
            <p:spPr>
              <a:xfrm>
                <a:off x="212271" y="408414"/>
                <a:ext cx="11511644" cy="6449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LU" dirty="0"/>
                  <a:t>Steps: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LU" dirty="0"/>
                  <a:t>We compute the predicted output (as previously described):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en-LU" dirty="0"/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LU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𝑎𝑐𝑡𝑖𝑣𝑎𝑡𝑖𝑜𝑛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LU" dirty="0"/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LU" dirty="0"/>
                  <a:t>Calculate the Loss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LU" dirty="0"/>
                  <a:t>, error): the difference between the predicted output and the actual target value; calculated using a loss function (e.g., Mean Squared Error, Cross-Entropy,….)</a:t>
                </a:r>
              </a:p>
              <a:p>
                <a:pPr lvl="1"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LU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+(1−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)∙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⁡(1−</m:t>
                        </m:r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LU" dirty="0"/>
                  <a:t> OR …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LU" dirty="0"/>
                  <a:t>Backward Pass – compute Gradients:</a:t>
                </a:r>
              </a:p>
              <a:p>
                <a:pPr lvl="1"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L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LU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LU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LU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num>
                      <m:den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; Where,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L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LU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LU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LU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LU" dirty="0"/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LU" dirty="0"/>
                  <a:t>Update weights:</a:t>
                </a:r>
              </a:p>
              <a:p>
                <a:pPr lvl="1"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LU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𝑜𝑙𝑑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LU" dirty="0"/>
                  <a:t>; where </a:t>
                </a:r>
                <a14:m>
                  <m:oMath xmlns:m="http://schemas.openxmlformats.org/officeDocument/2006/math">
                    <m:r>
                      <a:rPr lang="en-L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LU" sz="2000" dirty="0"/>
                  <a:t> – learning rate;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LU" dirty="0"/>
                  <a:t>Repeat for all training data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59B274-7480-A736-8F44-5F5DD1117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271" y="408414"/>
                <a:ext cx="11511644" cy="6449586"/>
              </a:xfrm>
              <a:prstGeom prst="rect">
                <a:avLst/>
              </a:prstGeom>
              <a:blipFill>
                <a:blip r:embed="rId2"/>
                <a:stretch>
                  <a:fillRect l="-441" b="-591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E59B4F-7F4F-0EB2-EA4A-879C0C92CC56}"/>
              </a:ext>
            </a:extLst>
          </p:cNvPr>
          <p:cNvSpPr/>
          <p:nvPr/>
        </p:nvSpPr>
        <p:spPr>
          <a:xfrm>
            <a:off x="9514114" y="322578"/>
            <a:ext cx="2465615" cy="979714"/>
          </a:xfrm>
          <a:prstGeom prst="roundRect">
            <a:avLst/>
          </a:prstGeom>
          <a:solidFill>
            <a:srgbClr val="FFE7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LU" sz="2000" dirty="0">
                <a:solidFill>
                  <a:schemeClr val="tx1"/>
                </a:solidFill>
              </a:rPr>
              <a:t>This is one EPOCH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B840E65-1AF4-DB0C-C6C1-4C019606C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2FFE3-EBCD-004D-B0F6-94C58CE35FF0}" type="slidenum">
              <a:rPr lang="en-LU" smtClean="0"/>
              <a:t>10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2074431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14479-FB96-6DAB-CBC3-49146CAA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2FFE3-EBCD-004D-B0F6-94C58CE35FF0}" type="slidenum">
              <a:rPr lang="en-LU" smtClean="0"/>
              <a:t>11</a:t>
            </a:fld>
            <a:endParaRPr lang="en-LU"/>
          </a:p>
        </p:txBody>
      </p:sp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2A7B2A3A-6679-B7A6-8869-5DA0FCBFC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251" y="709678"/>
            <a:ext cx="6413500" cy="5397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9C77C6-BDAE-B9F9-E8EC-13703EEC7702}"/>
              </a:ext>
            </a:extLst>
          </p:cNvPr>
          <p:cNvSpPr txBox="1"/>
          <p:nvPr/>
        </p:nvSpPr>
        <p:spPr>
          <a:xfrm>
            <a:off x="2988225" y="59040"/>
            <a:ext cx="6215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Neural Networks – A Multi-Level Perceptron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0BEA17-7B3E-957C-4881-7095570652C5}"/>
              </a:ext>
            </a:extLst>
          </p:cNvPr>
          <p:cNvSpPr txBox="1"/>
          <p:nvPr/>
        </p:nvSpPr>
        <p:spPr>
          <a:xfrm>
            <a:off x="2889249" y="5862469"/>
            <a:ext cx="15741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LU" dirty="0"/>
              <a:t>Input 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772A23-1743-1621-544F-B0A58C321C30}"/>
              </a:ext>
            </a:extLst>
          </p:cNvPr>
          <p:cNvSpPr txBox="1"/>
          <p:nvPr/>
        </p:nvSpPr>
        <p:spPr>
          <a:xfrm>
            <a:off x="4363657" y="5862469"/>
            <a:ext cx="173234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LU" dirty="0"/>
              <a:t>Hidden Layer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A5371C-03D1-1D79-C53E-48944DE4C1D0}"/>
              </a:ext>
            </a:extLst>
          </p:cNvPr>
          <p:cNvSpPr txBox="1"/>
          <p:nvPr/>
        </p:nvSpPr>
        <p:spPr>
          <a:xfrm>
            <a:off x="6195751" y="5862469"/>
            <a:ext cx="173234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LU" dirty="0"/>
              <a:t>Hidden Layer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DD9A61-9F90-D47C-05D0-DC4FB9FBC7D8}"/>
              </a:ext>
            </a:extLst>
          </p:cNvPr>
          <p:cNvSpPr txBox="1"/>
          <p:nvPr/>
        </p:nvSpPr>
        <p:spPr>
          <a:xfrm>
            <a:off x="7928095" y="5862469"/>
            <a:ext cx="173234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LU" dirty="0"/>
              <a:t>Output Layer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A9BBB253-B7E6-1724-0ED3-5CEFD08EE1B9}"/>
              </a:ext>
            </a:extLst>
          </p:cNvPr>
          <p:cNvSpPr/>
          <p:nvPr/>
        </p:nvSpPr>
        <p:spPr>
          <a:xfrm>
            <a:off x="4976646" y="585055"/>
            <a:ext cx="1825598" cy="11860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  <a:r>
              <a:rPr lang="en-LU" dirty="0"/>
              <a:t>orward propagation</a:t>
            </a:r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0FBB5829-0779-868F-44B5-04728D339412}"/>
              </a:ext>
            </a:extLst>
          </p:cNvPr>
          <p:cNvSpPr/>
          <p:nvPr/>
        </p:nvSpPr>
        <p:spPr>
          <a:xfrm>
            <a:off x="4976646" y="4616233"/>
            <a:ext cx="1825598" cy="115175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LU" dirty="0"/>
              <a:t>Backward propagation</a:t>
            </a:r>
          </a:p>
        </p:txBody>
      </p:sp>
    </p:spTree>
    <p:extLst>
      <p:ext uri="{BB962C8B-B14F-4D97-AF65-F5344CB8AC3E}">
        <p14:creationId xmlns:p14="http://schemas.microsoft.com/office/powerpoint/2010/main" val="4181982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9E8BF6-18D2-B937-DB73-973CD4BB3A8C}"/>
              </a:ext>
            </a:extLst>
          </p:cNvPr>
          <p:cNvSpPr txBox="1"/>
          <p:nvPr/>
        </p:nvSpPr>
        <p:spPr>
          <a:xfrm>
            <a:off x="95693" y="116958"/>
            <a:ext cx="5448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>
                <a:solidFill>
                  <a:srgbClr val="01A3B0"/>
                </a:solidFill>
              </a:rPr>
              <a:t>But what is happening in convolutional layer?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04B64A1-2280-6D76-E8A5-8DF12552E727}"/>
              </a:ext>
            </a:extLst>
          </p:cNvPr>
          <p:cNvGrpSpPr/>
          <p:nvPr/>
        </p:nvGrpSpPr>
        <p:grpSpPr>
          <a:xfrm>
            <a:off x="1390296" y="1785258"/>
            <a:ext cx="9411408" cy="2977441"/>
            <a:chOff x="1534382" y="2461334"/>
            <a:chExt cx="9411408" cy="297744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8992295-1E8B-779D-AE27-8A2C39D975EB}"/>
                </a:ext>
              </a:extLst>
            </p:cNvPr>
            <p:cNvGrpSpPr/>
            <p:nvPr/>
          </p:nvGrpSpPr>
          <p:grpSpPr>
            <a:xfrm>
              <a:off x="1534382" y="3038475"/>
              <a:ext cx="9123236" cy="2400300"/>
              <a:chOff x="628650" y="2828925"/>
              <a:chExt cx="9123236" cy="24003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27BC2CE-514A-550D-AC4C-9DED6F1C09C9}"/>
                  </a:ext>
                </a:extLst>
              </p:cNvPr>
              <p:cNvSpPr/>
              <p:nvPr/>
            </p:nvSpPr>
            <p:spPr>
              <a:xfrm>
                <a:off x="628650" y="3429000"/>
                <a:ext cx="1390650" cy="120015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LU" sz="2000" dirty="0">
                    <a:solidFill>
                      <a:schemeClr val="tx1"/>
                    </a:solidFill>
                  </a:rPr>
                  <a:t>Image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4EB47F0-DF23-9725-B764-16E1C36CD2D2}"/>
                  </a:ext>
                </a:extLst>
              </p:cNvPr>
              <p:cNvSpPr/>
              <p:nvPr/>
            </p:nvSpPr>
            <p:spPr>
              <a:xfrm>
                <a:off x="3181350" y="2828925"/>
                <a:ext cx="533400" cy="24003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31E5055-80C0-4362-19B8-D7602EB2EBA8}"/>
                  </a:ext>
                </a:extLst>
              </p:cNvPr>
              <p:cNvSpPr/>
              <p:nvPr/>
            </p:nvSpPr>
            <p:spPr>
              <a:xfrm>
                <a:off x="3889627" y="2828925"/>
                <a:ext cx="533400" cy="24003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CC3869-5F65-6B23-5436-CAB56944A08C}"/>
                  </a:ext>
                </a:extLst>
              </p:cNvPr>
              <p:cNvSpPr/>
              <p:nvPr/>
            </p:nvSpPr>
            <p:spPr>
              <a:xfrm>
                <a:off x="5562600" y="2828925"/>
                <a:ext cx="533400" cy="24003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275ADCF-FE9C-2FAA-D55B-3A76B925B298}"/>
                  </a:ext>
                </a:extLst>
              </p:cNvPr>
              <p:cNvSpPr/>
              <p:nvPr/>
            </p:nvSpPr>
            <p:spPr>
              <a:xfrm>
                <a:off x="7235573" y="2828925"/>
                <a:ext cx="533400" cy="2400300"/>
              </a:xfrm>
              <a:prstGeom prst="rect">
                <a:avLst/>
              </a:prstGeom>
              <a:solidFill>
                <a:srgbClr val="FFF3CC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6D14781-7C56-C48F-464B-DFB219FFAF04}"/>
                  </a:ext>
                </a:extLst>
              </p:cNvPr>
              <p:cNvSpPr/>
              <p:nvPr/>
            </p:nvSpPr>
            <p:spPr>
              <a:xfrm>
                <a:off x="8908546" y="3633787"/>
                <a:ext cx="843340" cy="790575"/>
              </a:xfrm>
              <a:prstGeom prst="rect">
                <a:avLst/>
              </a:prstGeom>
              <a:solidFill>
                <a:srgbClr val="FFF3CC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9D89B9D-DE9B-EA86-0C6C-3F353ADEA966}"/>
                </a:ext>
              </a:extLst>
            </p:cNvPr>
            <p:cNvSpPr txBox="1"/>
            <p:nvPr/>
          </p:nvSpPr>
          <p:spPr>
            <a:xfrm>
              <a:off x="1612839" y="3028950"/>
              <a:ext cx="12337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Input layer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832AFD7-96EE-2282-D7C5-EBF1FB66A8E5}"/>
                </a:ext>
              </a:extLst>
            </p:cNvPr>
            <p:cNvSpPr txBox="1"/>
            <p:nvPr/>
          </p:nvSpPr>
          <p:spPr>
            <a:xfrm>
              <a:off x="3566091" y="2461334"/>
              <a:ext cx="21087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Convolutional layer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A04066A-0793-3047-6A6A-8A268DAA692E}"/>
                </a:ext>
              </a:extLst>
            </p:cNvPr>
            <p:cNvSpPr txBox="1"/>
            <p:nvPr/>
          </p:nvSpPr>
          <p:spPr>
            <a:xfrm>
              <a:off x="5782335" y="2461334"/>
              <a:ext cx="19053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Max pooling layer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14B450D-AC9B-2051-7D5D-C6AB5B8A9C15}"/>
                </a:ext>
              </a:extLst>
            </p:cNvPr>
            <p:cNvSpPr txBox="1"/>
            <p:nvPr/>
          </p:nvSpPr>
          <p:spPr>
            <a:xfrm>
              <a:off x="7795190" y="2461334"/>
              <a:ext cx="13555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Dense layer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370BC82-370A-304E-84F7-76B4EAB9DFBF}"/>
                </a:ext>
              </a:extLst>
            </p:cNvPr>
            <p:cNvSpPr txBox="1"/>
            <p:nvPr/>
          </p:nvSpPr>
          <p:spPr>
            <a:xfrm>
              <a:off x="9526106" y="3269218"/>
              <a:ext cx="14196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Output layer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7D48023-C218-5D90-4C5B-918EE0DAA4AF}"/>
                </a:ext>
              </a:extLst>
            </p:cNvPr>
            <p:cNvCxnSpPr>
              <a:stCxn id="16" idx="3"/>
              <a:endCxn id="17" idx="1"/>
            </p:cNvCxnSpPr>
            <p:nvPr/>
          </p:nvCxnSpPr>
          <p:spPr>
            <a:xfrm>
              <a:off x="2925032" y="4238625"/>
              <a:ext cx="1162800" cy="0"/>
            </a:xfrm>
            <a:prstGeom prst="straightConnector1">
              <a:avLst/>
            </a:prstGeom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CF12873-99EA-1756-971C-CBEA27213EC5}"/>
                </a:ext>
              </a:extLst>
            </p:cNvPr>
            <p:cNvCxnSpPr/>
            <p:nvPr/>
          </p:nvCxnSpPr>
          <p:spPr>
            <a:xfrm>
              <a:off x="5328759" y="4238624"/>
              <a:ext cx="1162800" cy="0"/>
            </a:xfrm>
            <a:prstGeom prst="straightConnector1">
              <a:avLst/>
            </a:prstGeom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E5B80EE-2865-8678-FAB0-62A8579EE9DD}"/>
                </a:ext>
              </a:extLst>
            </p:cNvPr>
            <p:cNvCxnSpPr/>
            <p:nvPr/>
          </p:nvCxnSpPr>
          <p:spPr>
            <a:xfrm>
              <a:off x="6979255" y="4238624"/>
              <a:ext cx="1162800" cy="0"/>
            </a:xfrm>
            <a:prstGeom prst="straightConnector1">
              <a:avLst/>
            </a:prstGeom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30D3870-58BD-3A5E-20E7-C0B8751ED6AB}"/>
                </a:ext>
              </a:extLst>
            </p:cNvPr>
            <p:cNvCxnSpPr/>
            <p:nvPr/>
          </p:nvCxnSpPr>
          <p:spPr>
            <a:xfrm>
              <a:off x="8674705" y="4238624"/>
              <a:ext cx="1162800" cy="0"/>
            </a:xfrm>
            <a:prstGeom prst="straightConnector1">
              <a:avLst/>
            </a:prstGeom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86968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425C3F7C-49EB-01E3-F501-62CF92AB7EAF}"/>
              </a:ext>
            </a:extLst>
          </p:cNvPr>
          <p:cNvGrpSpPr/>
          <p:nvPr/>
        </p:nvGrpSpPr>
        <p:grpSpPr>
          <a:xfrm>
            <a:off x="472378" y="1492653"/>
            <a:ext cx="5895543" cy="5265138"/>
            <a:chOff x="201459" y="342256"/>
            <a:chExt cx="5895543" cy="526513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1F99A21-95A2-00A4-0EAF-4118B4D3051E}"/>
                </a:ext>
              </a:extLst>
            </p:cNvPr>
            <p:cNvGrpSpPr/>
            <p:nvPr/>
          </p:nvGrpSpPr>
          <p:grpSpPr>
            <a:xfrm>
              <a:off x="428016" y="447473"/>
              <a:ext cx="3740975" cy="3726379"/>
              <a:chOff x="1342416" y="525294"/>
              <a:chExt cx="2276063" cy="2335198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5C792A-A40C-CAED-64FD-4731DA0B2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42416" y="525294"/>
                <a:ext cx="1971263" cy="2030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B0109E7-8825-BA89-6AE2-56D4993077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94816" y="677691"/>
                <a:ext cx="1971262" cy="2030402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E8D7D31-C813-945A-4FC4-D6502388610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647216" y="830092"/>
                <a:ext cx="1971263" cy="20304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</p:grp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0B1F674-B0CB-2FA7-7ACB-CEF3B1FFA3C3}"/>
                </a:ext>
              </a:extLst>
            </p:cNvPr>
            <p:cNvCxnSpPr>
              <a:cxnSpLocks/>
            </p:cNvCxnSpPr>
            <p:nvPr/>
          </p:nvCxnSpPr>
          <p:spPr>
            <a:xfrm>
              <a:off x="3944038" y="357888"/>
              <a:ext cx="449902" cy="57596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71DF633-7AB6-AF81-651B-BA395311C7CC}"/>
                </a:ext>
              </a:extLst>
            </p:cNvPr>
            <p:cNvSpPr txBox="1"/>
            <p:nvPr/>
          </p:nvSpPr>
          <p:spPr>
            <a:xfrm>
              <a:off x="4392689" y="342256"/>
              <a:ext cx="1704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3 color chanels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8668EAA-E613-BDE9-25FD-E060BA667E22}"/>
                </a:ext>
              </a:extLst>
            </p:cNvPr>
            <p:cNvCxnSpPr>
              <a:cxnSpLocks/>
            </p:cNvCxnSpPr>
            <p:nvPr/>
          </p:nvCxnSpPr>
          <p:spPr>
            <a:xfrm>
              <a:off x="4369348" y="913618"/>
              <a:ext cx="23341" cy="330133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10797C0-D249-8B02-CDD5-8C5E8BA353E4}"/>
                </a:ext>
              </a:extLst>
            </p:cNvPr>
            <p:cNvSpPr txBox="1"/>
            <p:nvPr/>
          </p:nvSpPr>
          <p:spPr>
            <a:xfrm>
              <a:off x="4426922" y="2448475"/>
              <a:ext cx="83869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Height</a:t>
              </a:r>
            </a:p>
            <a:p>
              <a:r>
                <a:rPr lang="en-LU" dirty="0"/>
                <a:t>pixels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369C50E-BE3C-3B83-1CCD-4F1B59EFF4B7}"/>
                </a:ext>
              </a:extLst>
            </p:cNvPr>
            <p:cNvSpPr txBox="1"/>
            <p:nvPr/>
          </p:nvSpPr>
          <p:spPr>
            <a:xfrm>
              <a:off x="1849373" y="4461967"/>
              <a:ext cx="1399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Width pixels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C348BB3-C1AC-3D0D-8227-ECEC90068F36}"/>
                </a:ext>
              </a:extLst>
            </p:cNvPr>
            <p:cNvCxnSpPr>
              <a:cxnSpLocks/>
            </p:cNvCxnSpPr>
            <p:nvPr/>
          </p:nvCxnSpPr>
          <p:spPr>
            <a:xfrm>
              <a:off x="928988" y="4399778"/>
              <a:ext cx="324000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265E39A-722F-FE1B-00D8-8CCA3AE82005}"/>
                    </a:ext>
                  </a:extLst>
                </p:cNvPr>
                <p:cNvSpPr txBox="1"/>
                <p:nvPr/>
              </p:nvSpPr>
              <p:spPr>
                <a:xfrm>
                  <a:off x="201459" y="4684064"/>
                  <a:ext cx="2612767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a14:m>
                  <a:r>
                    <a:rPr lang="en-LU" dirty="0"/>
                    <a:t> = Height (e.g., 9)</a:t>
                  </a:r>
                </a:p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a14:m>
                  <a:r>
                    <a:rPr lang="en-LU" dirty="0"/>
                    <a:t> = Width (e.g., 9)</a:t>
                  </a:r>
                </a:p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a14:m>
                  <a:r>
                    <a:rPr lang="en-LU" dirty="0"/>
                    <a:t> = Channels (3 for RGB)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265E39A-722F-FE1B-00D8-8CCA3AE820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459" y="4684064"/>
                  <a:ext cx="2612767" cy="923330"/>
                </a:xfrm>
                <a:prstGeom prst="rect">
                  <a:avLst/>
                </a:prstGeom>
                <a:blipFill>
                  <a:blip r:embed="rId2"/>
                  <a:stretch>
                    <a:fillRect t="-2703" r="-966" b="-9459"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A43269-AD59-343E-D55C-3C205E65D044}"/>
                </a:ext>
              </a:extLst>
            </p:cNvPr>
            <p:cNvSpPr txBox="1"/>
            <p:nvPr/>
          </p:nvSpPr>
          <p:spPr>
            <a:xfrm>
              <a:off x="2843489" y="4893487"/>
              <a:ext cx="10807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(9 x 9 x 3)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2F62B23E-7EFC-961A-4D9D-11CF06266C8E}"/>
              </a:ext>
            </a:extLst>
          </p:cNvPr>
          <p:cNvSpPr txBox="1"/>
          <p:nvPr/>
        </p:nvSpPr>
        <p:spPr>
          <a:xfrm>
            <a:off x="1727145" y="930909"/>
            <a:ext cx="1358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/>
              <a:t>Input image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9A6ADA-6452-CBCA-971A-5265BE494301}"/>
              </a:ext>
            </a:extLst>
          </p:cNvPr>
          <p:cNvSpPr txBox="1"/>
          <p:nvPr/>
        </p:nvSpPr>
        <p:spPr>
          <a:xfrm>
            <a:off x="7290658" y="163620"/>
            <a:ext cx="93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/>
              <a:t>Kernels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A894954-2DEE-0812-9C5C-02CFE5F522DD}"/>
              </a:ext>
            </a:extLst>
          </p:cNvPr>
          <p:cNvGrpSpPr/>
          <p:nvPr/>
        </p:nvGrpSpPr>
        <p:grpSpPr>
          <a:xfrm>
            <a:off x="7211754" y="646653"/>
            <a:ext cx="1349405" cy="5007620"/>
            <a:chOff x="7478236" y="1294462"/>
            <a:chExt cx="1349405" cy="500762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7AB2D9F-B9A2-C713-E5FB-CDC1DF5EF95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478236" y="1294462"/>
              <a:ext cx="1299247" cy="1379437"/>
              <a:chOff x="5563055" y="1988754"/>
              <a:chExt cx="1672529" cy="1775753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0259B1D-1F57-D361-182C-73ACBBDE336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63055" y="1988754"/>
                <a:ext cx="1390291" cy="1390287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 b="1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4E46D6D-8B9F-BC32-8A62-69A27642E27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00000" y="2143933"/>
                <a:ext cx="1390291" cy="139028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 b="1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496A4B9-B0CD-7BBE-A240-D723D31CD4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45293" y="2374220"/>
                <a:ext cx="1390291" cy="139028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 b="1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6B7EE23-4F91-4A28-51D5-8160A1440A6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481479" y="3063481"/>
              <a:ext cx="1299247" cy="1379437"/>
              <a:chOff x="5563055" y="1988754"/>
              <a:chExt cx="1672529" cy="1775753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0AC5C7CE-D4A8-090B-7851-B4F883EBFC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63055" y="1988754"/>
                <a:ext cx="1390291" cy="1390287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7AE44BA-B0FF-CFEF-6773-E519B989AB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00000" y="2143933"/>
                <a:ext cx="1390291" cy="139028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9D4A6750-3C3A-5EA4-169C-A75101CA77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45293" y="2374220"/>
                <a:ext cx="1390291" cy="139028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60F396D-15D7-D5F5-3E67-7088B1ED4A2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528394" y="4922645"/>
              <a:ext cx="1299247" cy="1379437"/>
              <a:chOff x="5563055" y="1988754"/>
              <a:chExt cx="1672529" cy="1775753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0096F0C-3182-FDBA-7222-644E5318702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63055" y="1988754"/>
                <a:ext cx="1390291" cy="1390287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DAF5B9F1-49B7-F277-A67A-772B45FC2BD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00000" y="2143933"/>
                <a:ext cx="1390291" cy="139028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EAAC489-F5B5-ABE4-DC21-5E60CE7128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45293" y="2374220"/>
                <a:ext cx="1390291" cy="139028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</p:grpSp>
      </p:grpSp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B6CEC0E1-A3F9-CD57-2694-58F2F311167A}"/>
              </a:ext>
            </a:extLst>
          </p:cNvPr>
          <p:cNvGraphicFramePr>
            <a:graphicFrameLocks noGrp="1"/>
          </p:cNvGraphicFramePr>
          <p:nvPr/>
        </p:nvGraphicFramePr>
        <p:xfrm>
          <a:off x="9915922" y="646653"/>
          <a:ext cx="1439998" cy="14399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14">
                  <a:extLst>
                    <a:ext uri="{9D8B030D-6E8A-4147-A177-3AD203B41FA5}">
                      <a16:colId xmlns:a16="http://schemas.microsoft.com/office/drawing/2014/main" val="1056416096"/>
                    </a:ext>
                  </a:extLst>
                </a:gridCol>
                <a:gridCol w="205714">
                  <a:extLst>
                    <a:ext uri="{9D8B030D-6E8A-4147-A177-3AD203B41FA5}">
                      <a16:colId xmlns:a16="http://schemas.microsoft.com/office/drawing/2014/main" val="496234586"/>
                    </a:ext>
                  </a:extLst>
                </a:gridCol>
                <a:gridCol w="205714">
                  <a:extLst>
                    <a:ext uri="{9D8B030D-6E8A-4147-A177-3AD203B41FA5}">
                      <a16:colId xmlns:a16="http://schemas.microsoft.com/office/drawing/2014/main" val="3369833885"/>
                    </a:ext>
                  </a:extLst>
                </a:gridCol>
                <a:gridCol w="205714">
                  <a:extLst>
                    <a:ext uri="{9D8B030D-6E8A-4147-A177-3AD203B41FA5}">
                      <a16:colId xmlns:a16="http://schemas.microsoft.com/office/drawing/2014/main" val="2448024852"/>
                    </a:ext>
                  </a:extLst>
                </a:gridCol>
                <a:gridCol w="205714">
                  <a:extLst>
                    <a:ext uri="{9D8B030D-6E8A-4147-A177-3AD203B41FA5}">
                      <a16:colId xmlns:a16="http://schemas.microsoft.com/office/drawing/2014/main" val="1321424459"/>
                    </a:ext>
                  </a:extLst>
                </a:gridCol>
                <a:gridCol w="205714">
                  <a:extLst>
                    <a:ext uri="{9D8B030D-6E8A-4147-A177-3AD203B41FA5}">
                      <a16:colId xmlns:a16="http://schemas.microsoft.com/office/drawing/2014/main" val="1495638527"/>
                    </a:ext>
                  </a:extLst>
                </a:gridCol>
                <a:gridCol w="205714">
                  <a:extLst>
                    <a:ext uri="{9D8B030D-6E8A-4147-A177-3AD203B41FA5}">
                      <a16:colId xmlns:a16="http://schemas.microsoft.com/office/drawing/2014/main" val="2361380421"/>
                    </a:ext>
                  </a:extLst>
                </a:gridCol>
              </a:tblGrid>
              <a:tr h="205714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259999696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2138277365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277498648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3024364961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3232431580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3113794209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4062463905"/>
                  </a:ext>
                </a:extLst>
              </a:tr>
            </a:tbl>
          </a:graphicData>
        </a:graphic>
      </p:graphicFrame>
      <p:sp>
        <p:nvSpPr>
          <p:cNvPr id="83" name="TextBox 82">
            <a:extLst>
              <a:ext uri="{FF2B5EF4-FFF2-40B4-BE49-F238E27FC236}">
                <a16:creationId xmlns:a16="http://schemas.microsoft.com/office/drawing/2014/main" id="{0698750F-7C75-8855-73FF-28C434338B9D}"/>
              </a:ext>
            </a:extLst>
          </p:cNvPr>
          <p:cNvSpPr txBox="1"/>
          <p:nvPr/>
        </p:nvSpPr>
        <p:spPr>
          <a:xfrm>
            <a:off x="9858368" y="181259"/>
            <a:ext cx="1555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/>
              <a:t>Feature maps</a:t>
            </a:r>
          </a:p>
        </p:txBody>
      </p:sp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2F931FEC-FC4C-E27E-E66B-BEA9EE373D42}"/>
              </a:ext>
            </a:extLst>
          </p:cNvPr>
          <p:cNvGraphicFramePr>
            <a:graphicFrameLocks noGrp="1"/>
          </p:cNvGraphicFramePr>
          <p:nvPr/>
        </p:nvGraphicFramePr>
        <p:xfrm>
          <a:off x="1203508" y="2096480"/>
          <a:ext cx="3236400" cy="323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600">
                  <a:extLst>
                    <a:ext uri="{9D8B030D-6E8A-4147-A177-3AD203B41FA5}">
                      <a16:colId xmlns:a16="http://schemas.microsoft.com/office/drawing/2014/main" val="2417894052"/>
                    </a:ext>
                  </a:extLst>
                </a:gridCol>
                <a:gridCol w="359600">
                  <a:extLst>
                    <a:ext uri="{9D8B030D-6E8A-4147-A177-3AD203B41FA5}">
                      <a16:colId xmlns:a16="http://schemas.microsoft.com/office/drawing/2014/main" val="3226890944"/>
                    </a:ext>
                  </a:extLst>
                </a:gridCol>
                <a:gridCol w="359600">
                  <a:extLst>
                    <a:ext uri="{9D8B030D-6E8A-4147-A177-3AD203B41FA5}">
                      <a16:colId xmlns:a16="http://schemas.microsoft.com/office/drawing/2014/main" val="4015746373"/>
                    </a:ext>
                  </a:extLst>
                </a:gridCol>
                <a:gridCol w="359600">
                  <a:extLst>
                    <a:ext uri="{9D8B030D-6E8A-4147-A177-3AD203B41FA5}">
                      <a16:colId xmlns:a16="http://schemas.microsoft.com/office/drawing/2014/main" val="1022580293"/>
                    </a:ext>
                  </a:extLst>
                </a:gridCol>
                <a:gridCol w="359600">
                  <a:extLst>
                    <a:ext uri="{9D8B030D-6E8A-4147-A177-3AD203B41FA5}">
                      <a16:colId xmlns:a16="http://schemas.microsoft.com/office/drawing/2014/main" val="62436323"/>
                    </a:ext>
                  </a:extLst>
                </a:gridCol>
                <a:gridCol w="359600">
                  <a:extLst>
                    <a:ext uri="{9D8B030D-6E8A-4147-A177-3AD203B41FA5}">
                      <a16:colId xmlns:a16="http://schemas.microsoft.com/office/drawing/2014/main" val="4008372539"/>
                    </a:ext>
                  </a:extLst>
                </a:gridCol>
                <a:gridCol w="359600">
                  <a:extLst>
                    <a:ext uri="{9D8B030D-6E8A-4147-A177-3AD203B41FA5}">
                      <a16:colId xmlns:a16="http://schemas.microsoft.com/office/drawing/2014/main" val="1713685356"/>
                    </a:ext>
                  </a:extLst>
                </a:gridCol>
                <a:gridCol w="359600">
                  <a:extLst>
                    <a:ext uri="{9D8B030D-6E8A-4147-A177-3AD203B41FA5}">
                      <a16:colId xmlns:a16="http://schemas.microsoft.com/office/drawing/2014/main" val="2415550519"/>
                    </a:ext>
                  </a:extLst>
                </a:gridCol>
                <a:gridCol w="359600">
                  <a:extLst>
                    <a:ext uri="{9D8B030D-6E8A-4147-A177-3AD203B41FA5}">
                      <a16:colId xmlns:a16="http://schemas.microsoft.com/office/drawing/2014/main" val="2656255441"/>
                    </a:ext>
                  </a:extLst>
                </a:gridCol>
              </a:tblGrid>
              <a:tr h="404550"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158353"/>
                  </a:ext>
                </a:extLst>
              </a:tr>
              <a:tr h="404550"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380718"/>
                  </a:ext>
                </a:extLst>
              </a:tr>
              <a:tr h="404550"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401883"/>
                  </a:ext>
                </a:extLst>
              </a:tr>
              <a:tr h="404550"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84687"/>
                  </a:ext>
                </a:extLst>
              </a:tr>
              <a:tr h="404550"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564845"/>
                  </a:ext>
                </a:extLst>
              </a:tr>
              <a:tr h="404550"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060256"/>
                  </a:ext>
                </a:extLst>
              </a:tr>
              <a:tr h="404550"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85061"/>
                  </a:ext>
                </a:extLst>
              </a:tr>
              <a:tr h="404550"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094016"/>
                  </a:ext>
                </a:extLst>
              </a:tr>
            </a:tbl>
          </a:graphicData>
        </a:graphic>
      </p:graphicFrame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3ADE3254-9646-19B3-5385-CF89F20B9D1B}"/>
              </a:ext>
            </a:extLst>
          </p:cNvPr>
          <p:cNvGraphicFramePr>
            <a:graphicFrameLocks noGrp="1"/>
          </p:cNvGraphicFramePr>
          <p:nvPr/>
        </p:nvGraphicFramePr>
        <p:xfrm>
          <a:off x="9915922" y="2458660"/>
          <a:ext cx="1439998" cy="14399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14">
                  <a:extLst>
                    <a:ext uri="{9D8B030D-6E8A-4147-A177-3AD203B41FA5}">
                      <a16:colId xmlns:a16="http://schemas.microsoft.com/office/drawing/2014/main" val="1056416096"/>
                    </a:ext>
                  </a:extLst>
                </a:gridCol>
                <a:gridCol w="205714">
                  <a:extLst>
                    <a:ext uri="{9D8B030D-6E8A-4147-A177-3AD203B41FA5}">
                      <a16:colId xmlns:a16="http://schemas.microsoft.com/office/drawing/2014/main" val="496234586"/>
                    </a:ext>
                  </a:extLst>
                </a:gridCol>
                <a:gridCol w="205714">
                  <a:extLst>
                    <a:ext uri="{9D8B030D-6E8A-4147-A177-3AD203B41FA5}">
                      <a16:colId xmlns:a16="http://schemas.microsoft.com/office/drawing/2014/main" val="3369833885"/>
                    </a:ext>
                  </a:extLst>
                </a:gridCol>
                <a:gridCol w="205714">
                  <a:extLst>
                    <a:ext uri="{9D8B030D-6E8A-4147-A177-3AD203B41FA5}">
                      <a16:colId xmlns:a16="http://schemas.microsoft.com/office/drawing/2014/main" val="2448024852"/>
                    </a:ext>
                  </a:extLst>
                </a:gridCol>
                <a:gridCol w="205714">
                  <a:extLst>
                    <a:ext uri="{9D8B030D-6E8A-4147-A177-3AD203B41FA5}">
                      <a16:colId xmlns:a16="http://schemas.microsoft.com/office/drawing/2014/main" val="1321424459"/>
                    </a:ext>
                  </a:extLst>
                </a:gridCol>
                <a:gridCol w="205714">
                  <a:extLst>
                    <a:ext uri="{9D8B030D-6E8A-4147-A177-3AD203B41FA5}">
                      <a16:colId xmlns:a16="http://schemas.microsoft.com/office/drawing/2014/main" val="1495638527"/>
                    </a:ext>
                  </a:extLst>
                </a:gridCol>
                <a:gridCol w="205714">
                  <a:extLst>
                    <a:ext uri="{9D8B030D-6E8A-4147-A177-3AD203B41FA5}">
                      <a16:colId xmlns:a16="http://schemas.microsoft.com/office/drawing/2014/main" val="2361380421"/>
                    </a:ext>
                  </a:extLst>
                </a:gridCol>
              </a:tblGrid>
              <a:tr h="205714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259999696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2138277365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277498648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3024364961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3232431580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3113794209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4062463905"/>
                  </a:ext>
                </a:extLst>
              </a:tr>
            </a:tbl>
          </a:graphicData>
        </a:graphic>
      </p:graphicFrame>
      <p:graphicFrame>
        <p:nvGraphicFramePr>
          <p:cNvPr id="87" name="Table 86">
            <a:extLst>
              <a:ext uri="{FF2B5EF4-FFF2-40B4-BE49-F238E27FC236}">
                <a16:creationId xmlns:a16="http://schemas.microsoft.com/office/drawing/2014/main" id="{B3469FE7-2776-86B5-6ED5-7A387702A580}"/>
              </a:ext>
            </a:extLst>
          </p:cNvPr>
          <p:cNvGraphicFramePr>
            <a:graphicFrameLocks noGrp="1"/>
          </p:cNvGraphicFramePr>
          <p:nvPr/>
        </p:nvGraphicFramePr>
        <p:xfrm>
          <a:off x="9943165" y="4314477"/>
          <a:ext cx="1439998" cy="14399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14">
                  <a:extLst>
                    <a:ext uri="{9D8B030D-6E8A-4147-A177-3AD203B41FA5}">
                      <a16:colId xmlns:a16="http://schemas.microsoft.com/office/drawing/2014/main" val="1056416096"/>
                    </a:ext>
                  </a:extLst>
                </a:gridCol>
                <a:gridCol w="205714">
                  <a:extLst>
                    <a:ext uri="{9D8B030D-6E8A-4147-A177-3AD203B41FA5}">
                      <a16:colId xmlns:a16="http://schemas.microsoft.com/office/drawing/2014/main" val="496234586"/>
                    </a:ext>
                  </a:extLst>
                </a:gridCol>
                <a:gridCol w="205714">
                  <a:extLst>
                    <a:ext uri="{9D8B030D-6E8A-4147-A177-3AD203B41FA5}">
                      <a16:colId xmlns:a16="http://schemas.microsoft.com/office/drawing/2014/main" val="3369833885"/>
                    </a:ext>
                  </a:extLst>
                </a:gridCol>
                <a:gridCol w="205714">
                  <a:extLst>
                    <a:ext uri="{9D8B030D-6E8A-4147-A177-3AD203B41FA5}">
                      <a16:colId xmlns:a16="http://schemas.microsoft.com/office/drawing/2014/main" val="2448024852"/>
                    </a:ext>
                  </a:extLst>
                </a:gridCol>
                <a:gridCol w="205714">
                  <a:extLst>
                    <a:ext uri="{9D8B030D-6E8A-4147-A177-3AD203B41FA5}">
                      <a16:colId xmlns:a16="http://schemas.microsoft.com/office/drawing/2014/main" val="1321424459"/>
                    </a:ext>
                  </a:extLst>
                </a:gridCol>
                <a:gridCol w="205714">
                  <a:extLst>
                    <a:ext uri="{9D8B030D-6E8A-4147-A177-3AD203B41FA5}">
                      <a16:colId xmlns:a16="http://schemas.microsoft.com/office/drawing/2014/main" val="1495638527"/>
                    </a:ext>
                  </a:extLst>
                </a:gridCol>
                <a:gridCol w="205714">
                  <a:extLst>
                    <a:ext uri="{9D8B030D-6E8A-4147-A177-3AD203B41FA5}">
                      <a16:colId xmlns:a16="http://schemas.microsoft.com/office/drawing/2014/main" val="2361380421"/>
                    </a:ext>
                  </a:extLst>
                </a:gridCol>
              </a:tblGrid>
              <a:tr h="205714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259999696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2138277365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277498648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3024364961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3232431580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3113794209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40624639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C4D6050-F175-0ADC-F587-8A95BFF833D7}"/>
                  </a:ext>
                </a:extLst>
              </p:cNvPr>
              <p:cNvSpPr txBox="1"/>
              <p:nvPr/>
            </p:nvSpPr>
            <p:spPr>
              <a:xfrm>
                <a:off x="6640572" y="5881627"/>
                <a:ext cx="266085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LU" dirty="0"/>
                  <a:t> = Height (e.g., 3)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LU" dirty="0"/>
                  <a:t> = Width (e.g., 3)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LU" dirty="0"/>
                  <a:t> = Channels (3 for RGB)</a:t>
                </a: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C4D6050-F175-0ADC-F587-8A95BFF83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572" y="5881627"/>
                <a:ext cx="2660857" cy="923330"/>
              </a:xfrm>
              <a:prstGeom prst="rect">
                <a:avLst/>
              </a:prstGeom>
              <a:blipFill>
                <a:blip r:embed="rId3"/>
                <a:stretch>
                  <a:fillRect t="-4110" r="-948" b="-9589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459F1A5-A9EF-58F0-597F-FDF26C0A69F1}"/>
                  </a:ext>
                </a:extLst>
              </p:cNvPr>
              <p:cNvSpPr txBox="1"/>
              <p:nvPr/>
            </p:nvSpPr>
            <p:spPr>
              <a:xfrm>
                <a:off x="9689034" y="5905384"/>
                <a:ext cx="263751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en-LU" dirty="0"/>
                  <a:t> = Height (e.g., 7)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en-LU" dirty="0"/>
                  <a:t> = Width (e.g., 7)</a:t>
                </a: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459F1A5-A9EF-58F0-597F-FDF26C0A6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9034" y="5905384"/>
                <a:ext cx="2637516" cy="646331"/>
              </a:xfrm>
              <a:prstGeom prst="rect">
                <a:avLst/>
              </a:prstGeom>
              <a:blipFill>
                <a:blip r:embed="rId4"/>
                <a:stretch>
                  <a:fillRect t="-5882" b="-13725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E8EB7CF-9315-57A5-A2FF-47EB4D4C4E41}"/>
              </a:ext>
            </a:extLst>
          </p:cNvPr>
          <p:cNvCxnSpPr/>
          <p:nvPr/>
        </p:nvCxnSpPr>
        <p:spPr>
          <a:xfrm flipV="1">
            <a:off x="5145437" y="1726653"/>
            <a:ext cx="1828800" cy="9884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3AA620-07C5-341D-6EF5-8EA7ED6A54C0}"/>
              </a:ext>
            </a:extLst>
          </p:cNvPr>
          <p:cNvCxnSpPr/>
          <p:nvPr/>
        </p:nvCxnSpPr>
        <p:spPr>
          <a:xfrm>
            <a:off x="5074136" y="3178659"/>
            <a:ext cx="20437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A499341-AD92-8D83-2D8E-2D15C995CFCD}"/>
              </a:ext>
            </a:extLst>
          </p:cNvPr>
          <p:cNvCxnSpPr/>
          <p:nvPr/>
        </p:nvCxnSpPr>
        <p:spPr>
          <a:xfrm>
            <a:off x="5050556" y="4318965"/>
            <a:ext cx="2090888" cy="540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C36B25C-711B-3EB3-82CD-2952BEB4A1AE}"/>
              </a:ext>
            </a:extLst>
          </p:cNvPr>
          <p:cNvCxnSpPr/>
          <p:nvPr/>
        </p:nvCxnSpPr>
        <p:spPr>
          <a:xfrm>
            <a:off x="8849532" y="1382891"/>
            <a:ext cx="8395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8B85F33-76A3-AE1D-4082-85A43A0ECF07}"/>
              </a:ext>
            </a:extLst>
          </p:cNvPr>
          <p:cNvCxnSpPr/>
          <p:nvPr/>
        </p:nvCxnSpPr>
        <p:spPr>
          <a:xfrm>
            <a:off x="8849532" y="3255109"/>
            <a:ext cx="8395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BAA6E48-773B-30A4-E3FA-9BBD89565FED}"/>
              </a:ext>
            </a:extLst>
          </p:cNvPr>
          <p:cNvCxnSpPr/>
          <p:nvPr/>
        </p:nvCxnSpPr>
        <p:spPr>
          <a:xfrm>
            <a:off x="8818398" y="5034476"/>
            <a:ext cx="8395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CF7BF04-CC85-BB33-14C8-BBF291562516}"/>
              </a:ext>
            </a:extLst>
          </p:cNvPr>
          <p:cNvSpPr txBox="1"/>
          <p:nvPr/>
        </p:nvSpPr>
        <p:spPr>
          <a:xfrm>
            <a:off x="112562" y="50028"/>
            <a:ext cx="1896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Convolution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ADE9E05A-2DF8-F785-437D-652253A36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1CE9-F581-4745-84E4-66242A61DF32}" type="slidenum">
              <a:rPr lang="en-LU" smtClean="0"/>
              <a:t>13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4207210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E181FB-FAFE-2EB4-6C34-9A91B1D018D3}"/>
              </a:ext>
            </a:extLst>
          </p:cNvPr>
          <p:cNvSpPr>
            <a:spLocks noChangeAspect="1"/>
          </p:cNvSpPr>
          <p:nvPr/>
        </p:nvSpPr>
        <p:spPr>
          <a:xfrm>
            <a:off x="1555509" y="360432"/>
            <a:ext cx="3240001" cy="3239999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2B3AD7-684D-788A-6F93-F96C51962BB1}"/>
              </a:ext>
            </a:extLst>
          </p:cNvPr>
          <p:cNvSpPr>
            <a:spLocks noChangeAspect="1"/>
          </p:cNvSpPr>
          <p:nvPr/>
        </p:nvSpPr>
        <p:spPr>
          <a:xfrm>
            <a:off x="1555508" y="365586"/>
            <a:ext cx="1080000" cy="10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b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B5C409-FD12-A74C-21A7-B10C015DA9EE}"/>
              </a:ext>
            </a:extLst>
          </p:cNvPr>
          <p:cNvSpPr>
            <a:spLocks noChangeAspect="1"/>
          </p:cNvSpPr>
          <p:nvPr/>
        </p:nvSpPr>
        <p:spPr>
          <a:xfrm>
            <a:off x="1915400" y="367090"/>
            <a:ext cx="1080000" cy="10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b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C57905-65FC-C997-161A-AEFAFE3675D0}"/>
              </a:ext>
            </a:extLst>
          </p:cNvPr>
          <p:cNvSpPr>
            <a:spLocks noChangeAspect="1"/>
          </p:cNvSpPr>
          <p:nvPr/>
        </p:nvSpPr>
        <p:spPr>
          <a:xfrm>
            <a:off x="2275289" y="365585"/>
            <a:ext cx="1080000" cy="10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b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54F44C-362A-D7D0-D93F-34365CDE7763}"/>
              </a:ext>
            </a:extLst>
          </p:cNvPr>
          <p:cNvSpPr>
            <a:spLocks noChangeAspect="1"/>
          </p:cNvSpPr>
          <p:nvPr/>
        </p:nvSpPr>
        <p:spPr>
          <a:xfrm>
            <a:off x="2641732" y="365585"/>
            <a:ext cx="1080000" cy="10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b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92B9F2-F501-0EB0-456A-F02A498E1902}"/>
              </a:ext>
            </a:extLst>
          </p:cNvPr>
          <p:cNvSpPr>
            <a:spLocks noChangeAspect="1"/>
          </p:cNvSpPr>
          <p:nvPr/>
        </p:nvSpPr>
        <p:spPr>
          <a:xfrm>
            <a:off x="3001623" y="358927"/>
            <a:ext cx="1080000" cy="10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b="1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B0C31EE-9946-6401-8124-FBAFB5D76350}"/>
              </a:ext>
            </a:extLst>
          </p:cNvPr>
          <p:cNvGraphicFramePr>
            <a:graphicFrameLocks noGrp="1"/>
          </p:cNvGraphicFramePr>
          <p:nvPr/>
        </p:nvGraphicFramePr>
        <p:xfrm>
          <a:off x="2635509" y="1440431"/>
          <a:ext cx="10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1126929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653796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24689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3754400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22384735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351970747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59988A7-AAED-5F7E-FFB4-4E2ECE168E6A}"/>
              </a:ext>
            </a:extLst>
          </p:cNvPr>
          <p:cNvGraphicFramePr>
            <a:graphicFrameLocks noGrp="1"/>
          </p:cNvGraphicFramePr>
          <p:nvPr/>
        </p:nvGraphicFramePr>
        <p:xfrm>
          <a:off x="3715508" y="1440431"/>
          <a:ext cx="10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1126929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653796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24689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3754400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22384735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351970747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7F78A39-86E8-B4E1-20D5-3E2EA8CA055A}"/>
              </a:ext>
            </a:extLst>
          </p:cNvPr>
          <p:cNvGraphicFramePr>
            <a:graphicFrameLocks noGrp="1"/>
          </p:cNvGraphicFramePr>
          <p:nvPr/>
        </p:nvGraphicFramePr>
        <p:xfrm>
          <a:off x="1555508" y="2520432"/>
          <a:ext cx="10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1126929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653796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24689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3754400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22384735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351970747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8C5E447-D9C8-1E47-7270-CC83DB9D76D1}"/>
              </a:ext>
            </a:extLst>
          </p:cNvPr>
          <p:cNvGraphicFramePr>
            <a:graphicFrameLocks noGrp="1"/>
          </p:cNvGraphicFramePr>
          <p:nvPr/>
        </p:nvGraphicFramePr>
        <p:xfrm>
          <a:off x="2635508" y="2520430"/>
          <a:ext cx="10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1126929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653796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24689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3754400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22384735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3519707473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BE5ACF76-2387-4B66-B9F5-17CE36E8AB15}"/>
              </a:ext>
            </a:extLst>
          </p:cNvPr>
          <p:cNvSpPr>
            <a:spLocks noChangeAspect="1"/>
          </p:cNvSpPr>
          <p:nvPr/>
        </p:nvSpPr>
        <p:spPr>
          <a:xfrm>
            <a:off x="3361843" y="361900"/>
            <a:ext cx="1080000" cy="10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b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1D406C-E07B-AB6D-2C71-1F2D91AD3B16}"/>
              </a:ext>
            </a:extLst>
          </p:cNvPr>
          <p:cNvSpPr>
            <a:spLocks noChangeAspect="1"/>
          </p:cNvSpPr>
          <p:nvPr/>
        </p:nvSpPr>
        <p:spPr>
          <a:xfrm>
            <a:off x="3710939" y="355242"/>
            <a:ext cx="1080000" cy="10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b="1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846B9EA-438E-12D1-4780-B76FFB302C1C}"/>
              </a:ext>
            </a:extLst>
          </p:cNvPr>
          <p:cNvGraphicFramePr>
            <a:graphicFrameLocks noGrp="1"/>
          </p:cNvGraphicFramePr>
          <p:nvPr/>
        </p:nvGraphicFramePr>
        <p:xfrm>
          <a:off x="2638618" y="361900"/>
          <a:ext cx="10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1126929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653796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24689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3754400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22384735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351970747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444E7DE-ADB8-69C3-D467-77E992C8A93C}"/>
              </a:ext>
            </a:extLst>
          </p:cNvPr>
          <p:cNvGraphicFramePr>
            <a:graphicFrameLocks noGrp="1"/>
          </p:cNvGraphicFramePr>
          <p:nvPr/>
        </p:nvGraphicFramePr>
        <p:xfrm>
          <a:off x="3717127" y="355242"/>
          <a:ext cx="10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1126929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653796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24689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3754400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r>
                        <a:rPr lang="en-LU" sz="200" dirty="0"/>
                        <a:t>0</a:t>
                      </a:r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22384735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351970747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5236EA5-B054-E94B-AF17-3FD8F274CA89}"/>
                  </a:ext>
                </a:extLst>
              </p:cNvPr>
              <p:cNvSpPr txBox="1"/>
              <p:nvPr/>
            </p:nvSpPr>
            <p:spPr>
              <a:xfrm>
                <a:off x="304891" y="4024498"/>
                <a:ext cx="5713209" cy="15508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L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LU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.8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.9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L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L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LU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.8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.9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.1∙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.2∙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.3∙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.3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.4∙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.4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.5∙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.5+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.6∙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.6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.7∙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.7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.8∙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.8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.9∙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.9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L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5236EA5-B054-E94B-AF17-3FD8F274C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91" y="4024498"/>
                <a:ext cx="5713209" cy="1550874"/>
              </a:xfrm>
              <a:prstGeom prst="rect">
                <a:avLst/>
              </a:prstGeom>
              <a:blipFill>
                <a:blip r:embed="rId2"/>
                <a:stretch>
                  <a:fillRect b="-1613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8DCD35BF-38B2-DA14-CC77-CCB0371DFF92}"/>
              </a:ext>
            </a:extLst>
          </p:cNvPr>
          <p:cNvSpPr>
            <a:spLocks noChangeAspect="1"/>
          </p:cNvSpPr>
          <p:nvPr/>
        </p:nvSpPr>
        <p:spPr>
          <a:xfrm>
            <a:off x="1561199" y="721053"/>
            <a:ext cx="1080000" cy="10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b="1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F0E8088-0323-9BF1-4BCB-83F116D37466}"/>
              </a:ext>
            </a:extLst>
          </p:cNvPr>
          <p:cNvGraphicFramePr>
            <a:graphicFrameLocks noGrp="1"/>
          </p:cNvGraphicFramePr>
          <p:nvPr/>
        </p:nvGraphicFramePr>
        <p:xfrm>
          <a:off x="1553224" y="1435242"/>
          <a:ext cx="10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1126929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653796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24689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3754400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22384735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351970747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9CC251A-55C3-0920-5030-44084F430462}"/>
              </a:ext>
            </a:extLst>
          </p:cNvPr>
          <p:cNvGraphicFramePr>
            <a:graphicFrameLocks noGrp="1"/>
          </p:cNvGraphicFramePr>
          <p:nvPr/>
        </p:nvGraphicFramePr>
        <p:xfrm>
          <a:off x="1558622" y="361900"/>
          <a:ext cx="10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1126929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653796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24689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3754400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22384735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351970747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14773E-DBD4-204D-89E4-153B66E91360}"/>
                  </a:ext>
                </a:extLst>
              </p:cNvPr>
              <p:cNvSpPr txBox="1"/>
              <p:nvPr/>
            </p:nvSpPr>
            <p:spPr>
              <a:xfrm>
                <a:off x="5749585" y="5827438"/>
                <a:ext cx="6174254" cy="533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𝑂𝑢𝑡𝑝𝑢𝑡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𝑆𝑖𝑧𝑒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𝐼𝑛𝑝𝑢𝑡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𝑆𝑖𝑧𝑒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𝐾𝑒𝑟𝑛𝑒𝑙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𝑆𝑖𝑧𝑒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+2×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𝑃𝑎𝑑𝑑𝑖𝑛𝑔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𝑆𝑡𝑟𝑖𝑑𝑒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LU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14773E-DBD4-204D-89E4-153B66E91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585" y="5827438"/>
                <a:ext cx="6174254" cy="533416"/>
              </a:xfrm>
              <a:prstGeom prst="rect">
                <a:avLst/>
              </a:prstGeom>
              <a:blipFill>
                <a:blip r:embed="rId3"/>
                <a:stretch>
                  <a:fillRect l="-821" t="-6977" r="-411" b="-13953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CCC5EE53-D526-E6AB-6787-7E5FE1F052CF}"/>
              </a:ext>
            </a:extLst>
          </p:cNvPr>
          <p:cNvGrpSpPr/>
          <p:nvPr/>
        </p:nvGrpSpPr>
        <p:grpSpPr>
          <a:xfrm>
            <a:off x="5980106" y="180240"/>
            <a:ext cx="5713209" cy="1778896"/>
            <a:chOff x="5980106" y="180240"/>
            <a:chExt cx="5713209" cy="17788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E0DC931-1DB9-4434-8F3D-C61302260AEF}"/>
                    </a:ext>
                  </a:extLst>
                </p:cNvPr>
                <p:cNvSpPr txBox="1"/>
                <p:nvPr/>
              </p:nvSpPr>
              <p:spPr>
                <a:xfrm>
                  <a:off x="5980106" y="180240"/>
                  <a:ext cx="5713209" cy="15508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LU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.2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.4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.5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.6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.7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.8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.9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L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en-L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LU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.2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.4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.5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.6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.7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.8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.9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.1∙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.2∙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.2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.3∙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.3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.4∙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.4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.5∙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.5+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.6∙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.6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.7∙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.7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.8∙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.8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.9∙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.9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E0DC931-1DB9-4434-8F3D-C61302260A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0106" y="180240"/>
                  <a:ext cx="5713209" cy="1550874"/>
                </a:xfrm>
                <a:prstGeom prst="rect">
                  <a:avLst/>
                </a:prstGeom>
                <a:blipFill>
                  <a:blip r:embed="rId4"/>
                  <a:stretch>
                    <a:fillRect t="-813" b="-1626"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CBA1D48-4B45-4D0B-4214-D9A6502BC01F}"/>
                </a:ext>
              </a:extLst>
            </p:cNvPr>
            <p:cNvSpPr txBox="1"/>
            <p:nvPr/>
          </p:nvSpPr>
          <p:spPr>
            <a:xfrm>
              <a:off x="8697798" y="1589804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…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2919F85-C679-EEF1-0478-D54F6570F110}"/>
              </a:ext>
            </a:extLst>
          </p:cNvPr>
          <p:cNvGrpSpPr/>
          <p:nvPr/>
        </p:nvGrpSpPr>
        <p:grpSpPr>
          <a:xfrm>
            <a:off x="6018100" y="2002702"/>
            <a:ext cx="5713209" cy="1778896"/>
            <a:chOff x="6018100" y="2002702"/>
            <a:chExt cx="5713209" cy="17788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33914298-38C8-37AE-BAFB-584870D9B4DC}"/>
                    </a:ext>
                  </a:extLst>
                </p:cNvPr>
                <p:cNvSpPr txBox="1"/>
                <p:nvPr/>
              </p:nvSpPr>
              <p:spPr>
                <a:xfrm>
                  <a:off x="6018100" y="2002702"/>
                  <a:ext cx="5713209" cy="15508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LU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.2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.4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.5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.6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.7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.8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.9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L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en-L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LU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.2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.4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.5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.6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.7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.8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.9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.1∙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.2∙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.2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.3∙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.3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.4∙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.4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.5∙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.5+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.6∙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.6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.7∙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.7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.8∙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.8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.9∙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.9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33914298-38C8-37AE-BAFB-584870D9B4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8100" y="2002702"/>
                  <a:ext cx="5713209" cy="1550874"/>
                </a:xfrm>
                <a:prstGeom prst="rect">
                  <a:avLst/>
                </a:prstGeom>
                <a:blipFill>
                  <a:blip r:embed="rId5"/>
                  <a:stretch>
                    <a:fillRect b="-1626"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EFDF14F-0978-A1A5-00AC-91BF349C968C}"/>
                </a:ext>
              </a:extLst>
            </p:cNvPr>
            <p:cNvSpPr txBox="1"/>
            <p:nvPr/>
          </p:nvSpPr>
          <p:spPr>
            <a:xfrm>
              <a:off x="8775698" y="3412266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…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2C76F04-8EA6-979E-AC7C-9F8775E0D365}"/>
                  </a:ext>
                </a:extLst>
              </p:cNvPr>
              <p:cNvSpPr txBox="1"/>
              <p:nvPr/>
            </p:nvSpPr>
            <p:spPr>
              <a:xfrm>
                <a:off x="6096000" y="3825164"/>
                <a:ext cx="5713209" cy="15508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L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LU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.8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.9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L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L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LU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.8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.9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.1∙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.2∙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.3∙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.3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.4∙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.4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.5∙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.5+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.6∙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.6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.7∙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.7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.8∙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.8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.9∙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.9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49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LU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2C76F04-8EA6-979E-AC7C-9F8775E0D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25164"/>
                <a:ext cx="5713209" cy="1550874"/>
              </a:xfrm>
              <a:prstGeom prst="rect">
                <a:avLst/>
              </a:prstGeom>
              <a:blipFill>
                <a:blip r:embed="rId6"/>
                <a:stretch>
                  <a:fillRect b="-1613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EA243729-F8BB-C459-E27E-3060C957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1CE9-F581-4745-84E4-66242A61DF32}" type="slidenum">
              <a:rPr lang="en-LU" smtClean="0"/>
              <a:t>14</a:t>
            </a:fld>
            <a:endParaRPr lang="en-L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8A98AD-5D5A-A9C2-C140-9B373FC72FD7}"/>
              </a:ext>
            </a:extLst>
          </p:cNvPr>
          <p:cNvSpPr>
            <a:spLocks noChangeAspect="1"/>
          </p:cNvSpPr>
          <p:nvPr/>
        </p:nvSpPr>
        <p:spPr>
          <a:xfrm>
            <a:off x="3718622" y="2521935"/>
            <a:ext cx="1080000" cy="10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b="1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74338E6-F141-4C8F-7001-8D5E2795B1F5}"/>
              </a:ext>
            </a:extLst>
          </p:cNvPr>
          <p:cNvGraphicFramePr>
            <a:graphicFrameLocks noGrp="1"/>
          </p:cNvGraphicFramePr>
          <p:nvPr/>
        </p:nvGraphicFramePr>
        <p:xfrm>
          <a:off x="3710939" y="2521935"/>
          <a:ext cx="10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1126929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653796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24689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3754400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22384735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/>
                    </a:p>
                  </a:txBody>
                  <a:tcPr marL="12150" marR="12150" marT="6075" marB="6075"/>
                </a:tc>
                <a:tc>
                  <a:txBody>
                    <a:bodyPr/>
                    <a:lstStyle/>
                    <a:p>
                      <a:endParaRPr lang="en-LU" sz="200" dirty="0"/>
                    </a:p>
                  </a:txBody>
                  <a:tcPr marL="12150" marR="12150" marT="6075" marB="6075"/>
                </a:tc>
                <a:extLst>
                  <a:ext uri="{0D108BD9-81ED-4DB2-BD59-A6C34878D82A}">
                    <a16:rowId xmlns:a16="http://schemas.microsoft.com/office/drawing/2014/main" val="3519707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4634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2" grpId="0" animBg="1"/>
      <p:bldP spid="22" grpId="1" animBg="1"/>
      <p:bldP spid="21" grpId="0" animBg="1"/>
      <p:bldP spid="21" grpId="1" animBg="1"/>
      <p:bldP spid="23" grpId="0" animBg="1"/>
      <p:bldP spid="23" grpId="1" animBg="1"/>
      <p:bldP spid="24" grpId="0"/>
      <p:bldP spid="38" grpId="0" animBg="1"/>
      <p:bldP spid="25" grpId="0"/>
      <p:bldP spid="41" grpId="0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84D933E-961E-B0C0-1AC5-FB88575D10F5}"/>
                  </a:ext>
                </a:extLst>
              </p:cNvPr>
              <p:cNvSpPr txBox="1"/>
              <p:nvPr/>
            </p:nvSpPr>
            <p:spPr>
              <a:xfrm>
                <a:off x="418168" y="638967"/>
                <a:ext cx="6122958" cy="533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𝑂𝑢𝑡𝑝𝑢𝑡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𝑆𝑖𝑧𝑒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𝐼𝑛𝑝𝑢𝑡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𝑆𝑖𝑧𝑒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𝐾𝑒𝑟𝑛𝑒𝑙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𝑆𝑖𝑧𝑒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+2×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𝑃𝑎𝑑𝑑𝑖𝑛𝑔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𝑆𝑡𝑟𝑖𝑑𝑒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L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84D933E-961E-B0C0-1AC5-FB88575D1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68" y="638967"/>
                <a:ext cx="6122958" cy="533416"/>
              </a:xfrm>
              <a:prstGeom prst="rect">
                <a:avLst/>
              </a:prstGeom>
              <a:blipFill>
                <a:blip r:embed="rId2"/>
                <a:stretch>
                  <a:fillRect l="-1035" t="-6977" r="-207" b="-11628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64B750-D079-2273-C13D-4FA0C9CF5CA5}"/>
                  </a:ext>
                </a:extLst>
              </p:cNvPr>
              <p:cNvSpPr txBox="1"/>
              <p:nvPr/>
            </p:nvSpPr>
            <p:spPr>
              <a:xfrm>
                <a:off x="271354" y="1627319"/>
                <a:ext cx="6416585" cy="49446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𝑶𝒖𝒕𝒑𝒖𝒕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𝑺𝒊𝒛𝒆</m:t>
                    </m:r>
                  </m:oMath>
                </a14:m>
                <a:r>
                  <a:rPr lang="en-LU" b="1" dirty="0"/>
                  <a:t> </a:t>
                </a:r>
                <a:r>
                  <a:rPr lang="en-LU" dirty="0"/>
                  <a:t>– Number of pixels (height OR width) of a feature map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𝑰𝒏𝒑𝒖𝒕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𝑺𝒊𝒛𝒆</m:t>
                    </m:r>
                  </m:oMath>
                </a14:m>
                <a:r>
                  <a:rPr lang="en-LU" b="1" dirty="0"/>
                  <a:t> </a:t>
                </a:r>
                <a:r>
                  <a:rPr lang="en-LU" dirty="0"/>
                  <a:t>– Size of the input image (height OR width)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𝑲𝒆𝒓𝒏𝒆𝒍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𝑺𝒊𝒛𝒆</m:t>
                    </m:r>
                  </m:oMath>
                </a14:m>
                <a:r>
                  <a:rPr lang="en-LU" b="1" dirty="0"/>
                  <a:t> </a:t>
                </a:r>
                <a:r>
                  <a:rPr lang="en-LU" dirty="0"/>
                  <a:t>– Size of the filter (height OR width)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𝑷𝒂𝒅𝒅𝒊𝒏𝒈</m:t>
                    </m:r>
                  </m:oMath>
                </a14:m>
                <a:r>
                  <a:rPr lang="en-LU" dirty="0"/>
                  <a:t> - Number of pixels added to the border.  It is useful when:</a:t>
                </a: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dirty="0"/>
                  <a:t>W</a:t>
                </a:r>
                <a:r>
                  <a:rPr lang="en-LU" dirty="0"/>
                  <a:t>e want to keep the output size the same as the input</a:t>
                </a: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dirty="0"/>
                  <a:t>W</a:t>
                </a:r>
                <a:r>
                  <a:rPr lang="en-LU" dirty="0"/>
                  <a:t>e want to capture edge information that otherwise gets lost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𝑺𝒕𝒓𝒊𝒅𝒆</m:t>
                    </m:r>
                  </m:oMath>
                </a14:m>
                <a:r>
                  <a:rPr lang="en-LU" dirty="0"/>
                  <a:t> – How many pixels the kernel moves at each step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LU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LU" dirty="0"/>
                  <a:t> - floor function (round down to nearest integer)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64B750-D079-2273-C13D-4FA0C9CF5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54" y="1627319"/>
                <a:ext cx="6416585" cy="4944623"/>
              </a:xfrm>
              <a:prstGeom prst="rect">
                <a:avLst/>
              </a:prstGeom>
              <a:blipFill>
                <a:blip r:embed="rId3"/>
                <a:stretch>
                  <a:fillRect l="-2174" r="-791" b="-2051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351AB9-B1C1-1D97-B8A7-6600C1FE9C82}"/>
                  </a:ext>
                </a:extLst>
              </p:cNvPr>
              <p:cNvSpPr txBox="1"/>
              <p:nvPr/>
            </p:nvSpPr>
            <p:spPr>
              <a:xfrm>
                <a:off x="7601785" y="45238"/>
                <a:ext cx="4318861" cy="6812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LU" dirty="0"/>
                  <a:t>Previous example: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𝐼𝑛𝑝𝑢𝑡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𝐼𝑚𝑎𝑔𝑒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×9×3</m:t>
                        </m:r>
                      </m:e>
                    </m:d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𝐼𝑛𝑝𝑢𝑡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𝑆𝑖𝑧𝑒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n-LU" dirty="0"/>
                  <a:t> (e.g., width)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𝐾𝑒𝑟𝑛𝑒𝑙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×3×3</m:t>
                        </m:r>
                      </m:e>
                    </m:d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𝐾𝑒𝑟𝑛𝑒𝑙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𝑆𝑖𝑧𝑒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LU" dirty="0"/>
                  <a:t> (width)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𝑃𝑎𝑑𝑑𝑖𝑛𝑔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LU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𝑆𝑡𝑟𝑖𝑑𝑒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LU" dirty="0"/>
                  <a:t> </a:t>
                </a:r>
              </a:p>
              <a:p>
                <a:endParaRPr lang="en-L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𝑂𝑢𝑡𝑝𝑢𝑡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𝑆𝑖𝑧𝑒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9−3+2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+1=7</m:t>
                      </m:r>
                    </m:oMath>
                  </m:oMathPara>
                </a14:m>
                <a:endParaRPr lang="en-LU" dirty="0"/>
              </a:p>
              <a:p>
                <a:endParaRPr lang="en-LU" dirty="0"/>
              </a:p>
              <a:p>
                <a:pPr>
                  <a:lnSpc>
                    <a:spcPct val="150000"/>
                  </a:lnSpc>
                </a:pPr>
                <a:r>
                  <a:rPr lang="en-LU" dirty="0"/>
                  <a:t>This is the width of the feature map and it has 7 pixel intensities (7 different dot products).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LU" dirty="0"/>
                  <a:t>The same proces is repeated for height, which will also have 7 pixel intensities (7 different dot products).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LU" dirty="0"/>
                  <a:t>The total number of pixel intensities in a feature map </a:t>
                </a:r>
                <a:r>
                  <a:rPr lang="en-GB" dirty="0"/>
                  <a:t>is the total number of dot products (7x7=49 in our case).</a:t>
                </a:r>
                <a:endParaRPr lang="en-L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351AB9-B1C1-1D97-B8A7-6600C1FE9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1785" y="45238"/>
                <a:ext cx="4318861" cy="6812762"/>
              </a:xfrm>
              <a:prstGeom prst="rect">
                <a:avLst/>
              </a:prstGeom>
              <a:blipFill>
                <a:blip r:embed="rId4"/>
                <a:stretch>
                  <a:fillRect l="-1173" t="-372" b="-559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C0EF4-A44C-855F-D622-877E54D5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1CE9-F581-4745-84E4-66242A61DF32}" type="slidenum">
              <a:rPr lang="en-LU" smtClean="0"/>
              <a:t>15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2915796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191C441-02E3-0B2B-726E-0E6989627333}"/>
              </a:ext>
            </a:extLst>
          </p:cNvPr>
          <p:cNvCxnSpPr>
            <a:cxnSpLocks/>
          </p:cNvCxnSpPr>
          <p:nvPr/>
        </p:nvCxnSpPr>
        <p:spPr>
          <a:xfrm>
            <a:off x="3984237" y="446818"/>
            <a:ext cx="1677175" cy="19567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B0DD3C2-45EE-5BAE-6970-CB8BF7F5627B}"/>
              </a:ext>
            </a:extLst>
          </p:cNvPr>
          <p:cNvSpPr txBox="1"/>
          <p:nvPr/>
        </p:nvSpPr>
        <p:spPr>
          <a:xfrm>
            <a:off x="4826277" y="991374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/>
              <a:t>3 color chanels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BC5D0C8-A25E-DB91-AF27-EDD1546A5DFA}"/>
              </a:ext>
            </a:extLst>
          </p:cNvPr>
          <p:cNvGrpSpPr/>
          <p:nvPr/>
        </p:nvGrpSpPr>
        <p:grpSpPr>
          <a:xfrm>
            <a:off x="249747" y="489158"/>
            <a:ext cx="5411665" cy="5415823"/>
            <a:chOff x="6061611" y="742664"/>
            <a:chExt cx="5411665" cy="541582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32A6B32-1D1F-3F00-D477-02AFDC823D31}"/>
                </a:ext>
              </a:extLst>
            </p:cNvPr>
            <p:cNvGrpSpPr/>
            <p:nvPr/>
          </p:nvGrpSpPr>
          <p:grpSpPr>
            <a:xfrm>
              <a:off x="6061611" y="742664"/>
              <a:ext cx="3241251" cy="3239999"/>
              <a:chOff x="5895767" y="1329669"/>
              <a:chExt cx="3241251" cy="323999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C7B76FC-B710-3B1E-06B4-7DACEF091EA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7018" y="1329669"/>
                <a:ext cx="3240000" cy="3239999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A23D20E-61AD-B2D1-546C-DB7445F9BE6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5767" y="1329669"/>
                <a:ext cx="1080000" cy="10800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 dirty="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402D7CD-7D1A-EF43-2C73-EB943F0BA02C}"/>
                </a:ext>
              </a:extLst>
            </p:cNvPr>
            <p:cNvGrpSpPr/>
            <p:nvPr/>
          </p:nvGrpSpPr>
          <p:grpSpPr>
            <a:xfrm>
              <a:off x="7136248" y="1838488"/>
              <a:ext cx="3240403" cy="3240002"/>
              <a:chOff x="7136248" y="1838488"/>
              <a:chExt cx="3240403" cy="3240002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85E824C-BE08-D9CA-A9DD-13422A47C7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36652" y="1838488"/>
                <a:ext cx="3239999" cy="3240002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3AB7EA-4AB8-9D55-1FB6-E55F199AB7E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36248" y="1838488"/>
                <a:ext cx="1080000" cy="10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 b="1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EC2632E-E215-B5AC-EF6E-E00FFE07A5F0}"/>
                </a:ext>
              </a:extLst>
            </p:cNvPr>
            <p:cNvGrpSpPr/>
            <p:nvPr/>
          </p:nvGrpSpPr>
          <p:grpSpPr>
            <a:xfrm>
              <a:off x="8233276" y="2918488"/>
              <a:ext cx="3240000" cy="3239999"/>
              <a:chOff x="8233276" y="2918488"/>
              <a:chExt cx="3240000" cy="323999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17E41B6-312B-B2E9-18CB-59A2D7650B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33276" y="2918488"/>
                <a:ext cx="3240000" cy="3239999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AD0DFC8-4B0F-66D6-2396-0BDC0D6F553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35255" y="2918489"/>
                <a:ext cx="1080000" cy="10800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 b="1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98739D8-C281-7D3D-19DE-F63358EC0C0A}"/>
                  </a:ext>
                </a:extLst>
              </p:cNvPr>
              <p:cNvSpPr txBox="1"/>
              <p:nvPr/>
            </p:nvSpPr>
            <p:spPr>
              <a:xfrm>
                <a:off x="7219277" y="97511"/>
                <a:ext cx="4365356" cy="6662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LU" dirty="0"/>
                  <a:t>One image with 3 color channels</a:t>
                </a:r>
              </a:p>
              <a:p>
                <a:r>
                  <a:rPr lang="en-LU" dirty="0"/>
                  <a:t>One kernel (filter) with the same number of channels as the input image.</a:t>
                </a:r>
              </a:p>
              <a:p>
                <a:r>
                  <a:rPr lang="en-LU" dirty="0"/>
                  <a:t>For each channel of the input image and the corresponding kernel, we have one dot product per stride. This means 7x7=49 dot products (pixel intensities) and they form 7x7 matrix. We have 3 matrices:</a:t>
                </a:r>
              </a:p>
              <a:p>
                <a:endParaRPr lang="en-L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49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LU" dirty="0"/>
              </a:p>
              <a:p>
                <a:endParaRPr lang="en-L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49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LU" dirty="0"/>
              </a:p>
              <a:p>
                <a:endParaRPr lang="en-L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′′′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′′′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′′′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49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′′′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LU" dirty="0"/>
              </a:p>
              <a:p>
                <a:endParaRPr lang="en-LU" dirty="0"/>
              </a:p>
              <a:p>
                <a:r>
                  <a:rPr lang="en-LU" dirty="0"/>
                  <a:t>The final feature map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𝐹𝑒𝑎𝑡𝑢𝑟𝑒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𝑚𝑎𝑝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LU" dirty="0"/>
              </a:p>
              <a:p>
                <a:r>
                  <a:rPr lang="en-LU" dirty="0"/>
                  <a:t>This is matrix addition.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98739D8-C281-7D3D-19DE-F63358EC0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277" y="97511"/>
                <a:ext cx="4365356" cy="6662978"/>
              </a:xfrm>
              <a:prstGeom prst="rect">
                <a:avLst/>
              </a:prstGeom>
              <a:blipFill>
                <a:blip r:embed="rId2"/>
                <a:stretch>
                  <a:fillRect l="-1159" t="-380" r="-1449" b="-380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746DEDF1-EB7D-80B8-6DDC-28721C004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1CE9-F581-4745-84E4-66242A61DF32}" type="slidenum">
              <a:rPr lang="en-LU" smtClean="0"/>
              <a:t>16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3520914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C9FE3-049C-AD2B-35B2-BFDA0EAFE141}"/>
              </a:ext>
            </a:extLst>
          </p:cNvPr>
          <p:cNvSpPr txBox="1"/>
          <p:nvPr/>
        </p:nvSpPr>
        <p:spPr>
          <a:xfrm>
            <a:off x="112562" y="50028"/>
            <a:ext cx="4169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Applying Activation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15B296-0239-3472-ED61-D2EB0636A7FB}"/>
                  </a:ext>
                </a:extLst>
              </p:cNvPr>
              <p:cNvSpPr txBox="1"/>
              <p:nvPr/>
            </p:nvSpPr>
            <p:spPr>
              <a:xfrm>
                <a:off x="112562" y="511693"/>
                <a:ext cx="11666150" cy="2545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LU" dirty="0"/>
                  <a:t>An activation function introduce non-linearity into the model.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LU" dirty="0"/>
                  <a:t>Without the activation function, the entire neural network would behave like a linear function (i.e., stacking matrix multiplications), which would not let the model learn complex patterns (e.g., edges, textures, shapes).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LU" dirty="0"/>
                  <a:t>The most commonly used activation function is Rectified Linear Unit (ReLU):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𝑹𝒆𝑳𝑼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𝐦𝐚𝐱</m:t>
                        </m:r>
                      </m:fName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func>
                  </m:oMath>
                </a14:m>
                <a:r>
                  <a:rPr lang="en-LU" dirty="0"/>
                  <a:t>; If the input is positive, it stays the same; if the input is negative, it becomes 0.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LU" dirty="0"/>
                  <a:t>The activation function is applied to each feature map.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15B296-0239-3472-ED61-D2EB0636A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62" y="511693"/>
                <a:ext cx="11666150" cy="2545377"/>
              </a:xfrm>
              <a:prstGeom prst="rect">
                <a:avLst/>
              </a:prstGeom>
              <a:blipFill>
                <a:blip r:embed="rId2"/>
                <a:stretch>
                  <a:fillRect l="-326" b="-2985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083EF8E-DCD0-9F7E-4F4E-1C9615504EC5}"/>
              </a:ext>
            </a:extLst>
          </p:cNvPr>
          <p:cNvSpPr txBox="1"/>
          <p:nvPr/>
        </p:nvSpPr>
        <p:spPr>
          <a:xfrm>
            <a:off x="112562" y="4490445"/>
            <a:ext cx="12079438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LU" dirty="0"/>
              <a:t>The shape of the matrix stays the same after applying the activation function;</a:t>
            </a:r>
          </a:p>
          <a:p>
            <a:pPr>
              <a:lnSpc>
                <a:spcPct val="150000"/>
              </a:lnSpc>
            </a:pPr>
            <a:r>
              <a:rPr lang="en-LU" dirty="0"/>
              <a:t>Negative values are converted to 0; This means ReLU removes negative noise (possibly irrelevant features are suppressed).</a:t>
            </a:r>
          </a:p>
          <a:p>
            <a:pPr>
              <a:lnSpc>
                <a:spcPct val="150000"/>
              </a:lnSpc>
            </a:pPr>
            <a:r>
              <a:rPr lang="en-GB" dirty="0"/>
              <a:t>P</a:t>
            </a:r>
            <a:r>
              <a:rPr lang="en-LU" dirty="0"/>
              <a:t>ositive values stay the same; ReLu function keeps important signls (strong positive activations are preserved).</a:t>
            </a:r>
          </a:p>
          <a:p>
            <a:pPr>
              <a:lnSpc>
                <a:spcPct val="150000"/>
              </a:lnSpc>
            </a:pPr>
            <a:r>
              <a:rPr lang="en-LU" dirty="0"/>
              <a:t>Each feature map from the convolution layer is passed through ReLU.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0E08105-508C-8820-A50A-C06FB908D92C}"/>
              </a:ext>
            </a:extLst>
          </p:cNvPr>
          <p:cNvGrpSpPr/>
          <p:nvPr/>
        </p:nvGrpSpPr>
        <p:grpSpPr>
          <a:xfrm>
            <a:off x="5879689" y="3427089"/>
            <a:ext cx="5769870" cy="898687"/>
            <a:chOff x="4990455" y="3386408"/>
            <a:chExt cx="5769870" cy="8986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60AD387-A22A-6CF1-04D8-55DAEE7A62DA}"/>
                    </a:ext>
                  </a:extLst>
                </p:cNvPr>
                <p:cNvSpPr txBox="1"/>
                <p:nvPr/>
              </p:nvSpPr>
              <p:spPr>
                <a:xfrm>
                  <a:off x="4990455" y="3386408"/>
                  <a:ext cx="3371371" cy="7746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𝑅𝑒𝐿𝑈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×7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60AD387-A22A-6CF1-04D8-55DAEE7A62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0455" y="3386408"/>
                  <a:ext cx="3371371" cy="774699"/>
                </a:xfrm>
                <a:prstGeom prst="rect">
                  <a:avLst/>
                </a:prstGeom>
                <a:blipFill>
                  <a:blip r:embed="rId3"/>
                  <a:stretch>
                    <a:fillRect l="-1504" t="-1613" b="-6452"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EB0D476-DE9A-EA54-FFF5-54D328EB8807}"/>
                </a:ext>
              </a:extLst>
            </p:cNvPr>
            <p:cNvSpPr/>
            <p:nvPr/>
          </p:nvSpPr>
          <p:spPr>
            <a:xfrm>
              <a:off x="7974233" y="3913135"/>
              <a:ext cx="356733" cy="37196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U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411016-ED43-685A-C7A3-BF37F567EF25}"/>
                </a:ext>
              </a:extLst>
            </p:cNvPr>
            <p:cNvSpPr txBox="1"/>
            <p:nvPr/>
          </p:nvSpPr>
          <p:spPr>
            <a:xfrm>
              <a:off x="8385251" y="3589091"/>
              <a:ext cx="23750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Activated feature map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3CB4E3-1F94-2431-99AB-98256371F273}"/>
              </a:ext>
            </a:extLst>
          </p:cNvPr>
          <p:cNvGrpSpPr/>
          <p:nvPr/>
        </p:nvGrpSpPr>
        <p:grpSpPr>
          <a:xfrm>
            <a:off x="1181106" y="3427089"/>
            <a:ext cx="3822315" cy="898686"/>
            <a:chOff x="542441" y="3386409"/>
            <a:chExt cx="3822315" cy="8986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FB40FEE-3694-FEC0-1A6F-3C89743A7E2B}"/>
                    </a:ext>
                  </a:extLst>
                </p:cNvPr>
                <p:cNvSpPr txBox="1"/>
                <p:nvPr/>
              </p:nvSpPr>
              <p:spPr>
                <a:xfrm>
                  <a:off x="542441" y="3386409"/>
                  <a:ext cx="2449004" cy="7746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L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−7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×7</m:t>
                            </m:r>
                          </m:sub>
                        </m:sSub>
                      </m:oMath>
                    </m:oMathPara>
                  </a14:m>
                  <a:endParaRPr lang="en-LU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FB40FEE-3694-FEC0-1A6F-3C89743A7E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441" y="3386409"/>
                  <a:ext cx="2449004" cy="774699"/>
                </a:xfrm>
                <a:prstGeom prst="rect">
                  <a:avLst/>
                </a:prstGeom>
                <a:blipFill>
                  <a:blip r:embed="rId4"/>
                  <a:stretch>
                    <a:fillRect l="-2073" t="-1613" r="-518" b="-6452"/>
                  </a:stretch>
                </a:blipFill>
              </p:spPr>
              <p:txBody>
                <a:bodyPr/>
                <a:lstStyle/>
                <a:p>
                  <a:r>
                    <a:rPr lang="en-L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2CD14F-9613-3F74-9A8D-D2B6EEC44840}"/>
                </a:ext>
              </a:extLst>
            </p:cNvPr>
            <p:cNvSpPr/>
            <p:nvPr/>
          </p:nvSpPr>
          <p:spPr>
            <a:xfrm>
              <a:off x="2619212" y="3913135"/>
              <a:ext cx="356733" cy="37196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U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3668E20-EE32-07D0-968E-9FB01CACDF70}"/>
                </a:ext>
              </a:extLst>
            </p:cNvPr>
            <p:cNvSpPr txBox="1"/>
            <p:nvPr/>
          </p:nvSpPr>
          <p:spPr>
            <a:xfrm>
              <a:off x="2921860" y="3589092"/>
              <a:ext cx="1442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Feature map</a:t>
              </a: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91DAFD9-49FB-E5E3-B2EA-DAAE5A01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1CE9-F581-4745-84E4-66242A61DF32}" type="slidenum">
              <a:rPr lang="en-LU" smtClean="0"/>
              <a:t>17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3818558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A4FBC-AFCC-86E5-2484-1B0C6B745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6CD716-F9B5-4E83-BCBD-B55FDBD3D118}"/>
              </a:ext>
            </a:extLst>
          </p:cNvPr>
          <p:cNvSpPr txBox="1"/>
          <p:nvPr/>
        </p:nvSpPr>
        <p:spPr>
          <a:xfrm>
            <a:off x="3889627" y="0"/>
            <a:ext cx="4412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Convolutional Neural Network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C653F-A9B9-CFBA-3E7D-F0B4B8C8B1E9}"/>
              </a:ext>
            </a:extLst>
          </p:cNvPr>
          <p:cNvSpPr txBox="1"/>
          <p:nvPr/>
        </p:nvSpPr>
        <p:spPr>
          <a:xfrm>
            <a:off x="0" y="723900"/>
            <a:ext cx="12192000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A type of DL neural network architecutre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U</a:t>
            </a:r>
            <a:r>
              <a:rPr lang="en-LU" dirty="0"/>
              <a:t>sed in Computer Vision – a field of AI that enables a computer to understand and interpret the image or visual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CNN architectue = input layer, Convolutional layer, Pooling layer, and fully connected layers.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0C824D3-9F51-24B1-3415-F2173501AE4D}"/>
              </a:ext>
            </a:extLst>
          </p:cNvPr>
          <p:cNvGrpSpPr/>
          <p:nvPr/>
        </p:nvGrpSpPr>
        <p:grpSpPr>
          <a:xfrm>
            <a:off x="1534382" y="2461334"/>
            <a:ext cx="9411408" cy="2977441"/>
            <a:chOff x="1534382" y="2461334"/>
            <a:chExt cx="9411408" cy="297744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77F3274-119B-F28E-5041-CAF419208497}"/>
                </a:ext>
              </a:extLst>
            </p:cNvPr>
            <p:cNvGrpSpPr/>
            <p:nvPr/>
          </p:nvGrpSpPr>
          <p:grpSpPr>
            <a:xfrm>
              <a:off x="1534382" y="3038475"/>
              <a:ext cx="9123236" cy="2400300"/>
              <a:chOff x="628650" y="2828925"/>
              <a:chExt cx="9123236" cy="240030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59B9B9A-A3C6-C438-55D3-C5337B4AA5AE}"/>
                  </a:ext>
                </a:extLst>
              </p:cNvPr>
              <p:cNvSpPr/>
              <p:nvPr/>
            </p:nvSpPr>
            <p:spPr>
              <a:xfrm>
                <a:off x="628650" y="3429000"/>
                <a:ext cx="1390650" cy="120015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LU" sz="2000" dirty="0">
                    <a:solidFill>
                      <a:schemeClr val="tx1"/>
                    </a:solidFill>
                  </a:rPr>
                  <a:t>Image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6815837-76F8-7CBB-1F88-A85A61366062}"/>
                  </a:ext>
                </a:extLst>
              </p:cNvPr>
              <p:cNvSpPr/>
              <p:nvPr/>
            </p:nvSpPr>
            <p:spPr>
              <a:xfrm>
                <a:off x="3181350" y="2828925"/>
                <a:ext cx="533400" cy="24003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D0FF0B5-CA28-2A5B-2243-F379271E2A83}"/>
                  </a:ext>
                </a:extLst>
              </p:cNvPr>
              <p:cNvSpPr/>
              <p:nvPr/>
            </p:nvSpPr>
            <p:spPr>
              <a:xfrm>
                <a:off x="3889627" y="2828925"/>
                <a:ext cx="533400" cy="24003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8A56A4F-D6FA-7B11-EB96-9E7FB4C4E670}"/>
                  </a:ext>
                </a:extLst>
              </p:cNvPr>
              <p:cNvSpPr/>
              <p:nvPr/>
            </p:nvSpPr>
            <p:spPr>
              <a:xfrm>
                <a:off x="5562600" y="2828925"/>
                <a:ext cx="533400" cy="24003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8319BCA-A398-E7B8-CCCB-0A1973D80819}"/>
                  </a:ext>
                </a:extLst>
              </p:cNvPr>
              <p:cNvSpPr/>
              <p:nvPr/>
            </p:nvSpPr>
            <p:spPr>
              <a:xfrm>
                <a:off x="7235573" y="2828925"/>
                <a:ext cx="533400" cy="2400300"/>
              </a:xfrm>
              <a:prstGeom prst="rect">
                <a:avLst/>
              </a:prstGeom>
              <a:solidFill>
                <a:srgbClr val="FFF3CC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856608E-08A6-6ADA-CA97-86102F1CD224}"/>
                  </a:ext>
                </a:extLst>
              </p:cNvPr>
              <p:cNvSpPr/>
              <p:nvPr/>
            </p:nvSpPr>
            <p:spPr>
              <a:xfrm>
                <a:off x="8908546" y="3633787"/>
                <a:ext cx="843340" cy="790575"/>
              </a:xfrm>
              <a:prstGeom prst="rect">
                <a:avLst/>
              </a:prstGeom>
              <a:solidFill>
                <a:srgbClr val="FFF3CC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AAECE40-B7C8-0CAC-AE34-A06F6B1F6F28}"/>
                </a:ext>
              </a:extLst>
            </p:cNvPr>
            <p:cNvSpPr txBox="1"/>
            <p:nvPr/>
          </p:nvSpPr>
          <p:spPr>
            <a:xfrm>
              <a:off x="1612839" y="3028950"/>
              <a:ext cx="12337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Input layer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05CCF01-5B8B-BE02-C7E3-859D2B95179C}"/>
                </a:ext>
              </a:extLst>
            </p:cNvPr>
            <p:cNvSpPr txBox="1"/>
            <p:nvPr/>
          </p:nvSpPr>
          <p:spPr>
            <a:xfrm>
              <a:off x="3566091" y="2461334"/>
              <a:ext cx="21087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Convolutional layer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3AE2DF5-F2FA-E746-810A-0C4877144912}"/>
                </a:ext>
              </a:extLst>
            </p:cNvPr>
            <p:cNvSpPr txBox="1"/>
            <p:nvPr/>
          </p:nvSpPr>
          <p:spPr>
            <a:xfrm>
              <a:off x="5782335" y="2461334"/>
              <a:ext cx="19053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Max pooling layer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F5D47DD-640C-033B-5BCD-2A83F8CE68E9}"/>
                </a:ext>
              </a:extLst>
            </p:cNvPr>
            <p:cNvSpPr txBox="1"/>
            <p:nvPr/>
          </p:nvSpPr>
          <p:spPr>
            <a:xfrm>
              <a:off x="7795190" y="2461334"/>
              <a:ext cx="13555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Dense layer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FF5B4C6-48D8-D6E1-38DE-D0797F74EFBB}"/>
                </a:ext>
              </a:extLst>
            </p:cNvPr>
            <p:cNvSpPr txBox="1"/>
            <p:nvPr/>
          </p:nvSpPr>
          <p:spPr>
            <a:xfrm>
              <a:off x="9526106" y="3269218"/>
              <a:ext cx="14196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U" dirty="0"/>
                <a:t>Output layer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DB93944-ED2F-FEA8-268B-9338A0329D9A}"/>
                </a:ext>
              </a:extLst>
            </p:cNvPr>
            <p:cNvCxnSpPr>
              <a:stCxn id="6" idx="3"/>
              <a:endCxn id="7" idx="1"/>
            </p:cNvCxnSpPr>
            <p:nvPr/>
          </p:nvCxnSpPr>
          <p:spPr>
            <a:xfrm>
              <a:off x="2925032" y="4238625"/>
              <a:ext cx="1162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E1938DB-C293-3CFD-A716-D4600221CF6A}"/>
                </a:ext>
              </a:extLst>
            </p:cNvPr>
            <p:cNvCxnSpPr/>
            <p:nvPr/>
          </p:nvCxnSpPr>
          <p:spPr>
            <a:xfrm>
              <a:off x="5328759" y="4238624"/>
              <a:ext cx="1162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AFFEAD4-8483-62B7-CC50-27FDE857CA60}"/>
                </a:ext>
              </a:extLst>
            </p:cNvPr>
            <p:cNvCxnSpPr/>
            <p:nvPr/>
          </p:nvCxnSpPr>
          <p:spPr>
            <a:xfrm>
              <a:off x="6979255" y="4238624"/>
              <a:ext cx="1162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DB58518-5565-2ECF-A040-9D2626D8A948}"/>
                </a:ext>
              </a:extLst>
            </p:cNvPr>
            <p:cNvCxnSpPr/>
            <p:nvPr/>
          </p:nvCxnSpPr>
          <p:spPr>
            <a:xfrm>
              <a:off x="8674705" y="4238624"/>
              <a:ext cx="1162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 descr="A green check mark on a white background&#10;&#10;AI-generated content may be incorrect.">
            <a:extLst>
              <a:ext uri="{FF2B5EF4-FFF2-40B4-BE49-F238E27FC236}">
                <a16:creationId xmlns:a16="http://schemas.microsoft.com/office/drawing/2014/main" id="{AD6B6FC4-BDA0-5F31-A5D4-474D59F2A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228996" y="5646584"/>
            <a:ext cx="782972" cy="782972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805DF173-60A7-A13E-00ED-CE5CDF1CCEB4}"/>
              </a:ext>
            </a:extLst>
          </p:cNvPr>
          <p:cNvSpPr/>
          <p:nvPr/>
        </p:nvSpPr>
        <p:spPr>
          <a:xfrm>
            <a:off x="6204953" y="2732526"/>
            <a:ext cx="1060159" cy="3012195"/>
          </a:xfrm>
          <a:prstGeom prst="ellipse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610EA94-CA0D-ABC3-F310-DF11DD4E8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1CE9-F581-4745-84E4-66242A61DF32}" type="slidenum">
              <a:rPr lang="en-LU" smtClean="0"/>
              <a:t>18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339505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956417-EE57-8A92-9F85-435C71EB26FE}"/>
              </a:ext>
            </a:extLst>
          </p:cNvPr>
          <p:cNvSpPr txBox="1"/>
          <p:nvPr/>
        </p:nvSpPr>
        <p:spPr>
          <a:xfrm>
            <a:off x="112562" y="50028"/>
            <a:ext cx="35617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Pooling (Downsampling)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3C3F02-D558-830B-732D-697957A4D1A1}"/>
              </a:ext>
            </a:extLst>
          </p:cNvPr>
          <p:cNvSpPr txBox="1"/>
          <p:nvPr/>
        </p:nvSpPr>
        <p:spPr>
          <a:xfrm>
            <a:off x="0" y="410108"/>
            <a:ext cx="11960037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Pooling reduces the spatial dimensions (height and width) of the activated feature map.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This makes the model computationally efficient, reduces overfitting, and keep the most important features.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The most common type is Max Pooling, which takes the maximum value from a small region (patch) of the feature map. This keeps the strongest signal/feature from each region.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This is not a mathematical transformation like a convolution, but it is a purely selection-based operation in which we take the maximum value from the image (matrix patch).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C4963D-E7C1-C26D-1B43-305CD9A72E28}"/>
              </a:ext>
            </a:extLst>
          </p:cNvPr>
          <p:cNvSpPr>
            <a:spLocks noChangeAspect="1"/>
          </p:cNvSpPr>
          <p:nvPr/>
        </p:nvSpPr>
        <p:spPr>
          <a:xfrm>
            <a:off x="6336145" y="3616153"/>
            <a:ext cx="720000" cy="720000"/>
          </a:xfrm>
          <a:prstGeom prst="rect">
            <a:avLst/>
          </a:prstGeom>
          <a:solidFill>
            <a:srgbClr val="FFF3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34E155-A857-7CA1-76BF-3B066EDFDDC7}"/>
              </a:ext>
            </a:extLst>
          </p:cNvPr>
          <p:cNvSpPr>
            <a:spLocks noChangeAspect="1"/>
          </p:cNvSpPr>
          <p:nvPr/>
        </p:nvSpPr>
        <p:spPr>
          <a:xfrm>
            <a:off x="7056145" y="3616153"/>
            <a:ext cx="720000" cy="720000"/>
          </a:xfrm>
          <a:prstGeom prst="rect">
            <a:avLst/>
          </a:prstGeom>
          <a:solidFill>
            <a:srgbClr val="FFF3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F83DA6-CA76-74FF-09A6-9BC211944D5C}"/>
              </a:ext>
            </a:extLst>
          </p:cNvPr>
          <p:cNvSpPr>
            <a:spLocks noChangeAspect="1"/>
          </p:cNvSpPr>
          <p:nvPr/>
        </p:nvSpPr>
        <p:spPr>
          <a:xfrm>
            <a:off x="7776145" y="3616153"/>
            <a:ext cx="720000" cy="720000"/>
          </a:xfrm>
          <a:prstGeom prst="rect">
            <a:avLst/>
          </a:prstGeom>
          <a:solidFill>
            <a:srgbClr val="FFF3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b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54F372-9670-C639-A720-BA180D35AD59}"/>
              </a:ext>
            </a:extLst>
          </p:cNvPr>
          <p:cNvSpPr>
            <a:spLocks noChangeAspect="1"/>
          </p:cNvSpPr>
          <p:nvPr/>
        </p:nvSpPr>
        <p:spPr>
          <a:xfrm>
            <a:off x="6336145" y="4336153"/>
            <a:ext cx="720000" cy="720000"/>
          </a:xfrm>
          <a:prstGeom prst="rect">
            <a:avLst/>
          </a:prstGeom>
          <a:solidFill>
            <a:srgbClr val="FFF3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D1E153-6AA9-6371-C8FC-381243C0BF88}"/>
              </a:ext>
            </a:extLst>
          </p:cNvPr>
          <p:cNvSpPr>
            <a:spLocks noChangeAspect="1"/>
          </p:cNvSpPr>
          <p:nvPr/>
        </p:nvSpPr>
        <p:spPr>
          <a:xfrm>
            <a:off x="7059685" y="4336153"/>
            <a:ext cx="720000" cy="720000"/>
          </a:xfrm>
          <a:prstGeom prst="rect">
            <a:avLst/>
          </a:prstGeom>
          <a:solidFill>
            <a:srgbClr val="FFF3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457D1E-CDA3-2E77-AD05-DEDB7E1BC035}"/>
              </a:ext>
            </a:extLst>
          </p:cNvPr>
          <p:cNvSpPr>
            <a:spLocks noChangeAspect="1"/>
          </p:cNvSpPr>
          <p:nvPr/>
        </p:nvSpPr>
        <p:spPr>
          <a:xfrm>
            <a:off x="7779685" y="4336153"/>
            <a:ext cx="720000" cy="720000"/>
          </a:xfrm>
          <a:prstGeom prst="rect">
            <a:avLst/>
          </a:prstGeom>
          <a:solidFill>
            <a:srgbClr val="FFF3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b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CF7221-903C-5149-2BC3-369B63BE311F}"/>
              </a:ext>
            </a:extLst>
          </p:cNvPr>
          <p:cNvSpPr>
            <a:spLocks noChangeAspect="1"/>
          </p:cNvSpPr>
          <p:nvPr/>
        </p:nvSpPr>
        <p:spPr>
          <a:xfrm>
            <a:off x="6334375" y="5056153"/>
            <a:ext cx="720000" cy="720000"/>
          </a:xfrm>
          <a:prstGeom prst="rect">
            <a:avLst/>
          </a:prstGeom>
          <a:solidFill>
            <a:srgbClr val="FFF3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b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059622-99EF-8CAC-C2F1-11A0851046D9}"/>
              </a:ext>
            </a:extLst>
          </p:cNvPr>
          <p:cNvSpPr>
            <a:spLocks noChangeAspect="1"/>
          </p:cNvSpPr>
          <p:nvPr/>
        </p:nvSpPr>
        <p:spPr>
          <a:xfrm>
            <a:off x="7052605" y="5056153"/>
            <a:ext cx="720000" cy="720000"/>
          </a:xfrm>
          <a:prstGeom prst="rect">
            <a:avLst/>
          </a:prstGeom>
          <a:solidFill>
            <a:srgbClr val="FFF3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b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BBC50A-2F1A-6E75-E2E2-7D9C3082468E}"/>
              </a:ext>
            </a:extLst>
          </p:cNvPr>
          <p:cNvSpPr>
            <a:spLocks noChangeAspect="1"/>
          </p:cNvSpPr>
          <p:nvPr/>
        </p:nvSpPr>
        <p:spPr>
          <a:xfrm>
            <a:off x="7769065" y="5056153"/>
            <a:ext cx="720000" cy="720000"/>
          </a:xfrm>
          <a:prstGeom prst="rect">
            <a:avLst/>
          </a:prstGeom>
          <a:solidFill>
            <a:srgbClr val="FFF3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b="1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2B1A4F-B04E-72A4-E523-D05B80CE61EC}"/>
              </a:ext>
            </a:extLst>
          </p:cNvPr>
          <p:cNvCxnSpPr>
            <a:cxnSpLocks/>
          </p:cNvCxnSpPr>
          <p:nvPr/>
        </p:nvCxnSpPr>
        <p:spPr>
          <a:xfrm>
            <a:off x="8951446" y="4876153"/>
            <a:ext cx="7749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EE67640-0DD5-50DB-48E7-F5E17C98F8E3}"/>
              </a:ext>
            </a:extLst>
          </p:cNvPr>
          <p:cNvGraphicFramePr>
            <a:graphicFrameLocks noGrp="1"/>
          </p:cNvGraphicFramePr>
          <p:nvPr/>
        </p:nvGraphicFramePr>
        <p:xfrm>
          <a:off x="9821661" y="4299189"/>
          <a:ext cx="1080000" cy="110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7058261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77773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49037635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LU" sz="12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09032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5063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0260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C05111C-4B0C-223F-203F-A712A32AB01E}"/>
                  </a:ext>
                </a:extLst>
              </p:cNvPr>
              <p:cNvSpPr txBox="1"/>
              <p:nvPr/>
            </p:nvSpPr>
            <p:spPr>
              <a:xfrm>
                <a:off x="87729" y="3092083"/>
                <a:ext cx="6131415" cy="37158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𝑂𝑢𝑡𝑝𝑢𝑡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𝑆𝑖𝑧𝑒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𝐼𝑛𝑝𝑢𝑡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𝑆𝑖𝑧𝑒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𝐹𝑖𝑙𝑡𝑒𝑟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𝑆𝑖𝑧𝑒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+2×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𝑃𝑎𝑑𝑑𝑖𝑛𝑔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𝑆𝑡𝑟𝑖𝑑𝑒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𝐼𝑛𝑝𝑢𝑡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𝑆𝑖𝑧𝑒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LU" dirty="0"/>
                  <a:t>– width OR height of the feature map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𝐹𝑖𝑙𝑡𝑒𝑟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𝑆𝑖𝑧𝑒</m:t>
                    </m:r>
                  </m:oMath>
                </a14:m>
                <a:r>
                  <a:rPr lang="en-LU" dirty="0"/>
                  <a:t> – width OR height of the filter</a:t>
                </a:r>
              </a:p>
              <a:p>
                <a:endParaRPr lang="en-LU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𝐹𝑒𝑎𝑡𝑢𝑟𝑒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×7</m:t>
                        </m:r>
                      </m:e>
                    </m:d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ea typeface="Cambria Math" panose="02040503050406030204" pitchFamily="18" charset="0"/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𝐹𝑒𝑎𝑡𝑢𝑟𝑒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𝑆𝑖𝑧𝑒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=7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𝐹𝑖𝑙𝑡𝑒𝑟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2×2</m:t>
                        </m:r>
                      </m:e>
                    </m:d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ea typeface="Cambria Math" panose="02040503050406030204" pitchFamily="18" charset="0"/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𝐹𝑖𝑙𝑡𝑒𝑟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𝑆𝑖𝑧𝑒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=2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𝑆𝑡𝑟𝑖𝑑𝑒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𝑃𝑎𝑑𝑑𝑖𝑛𝑔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𝑂𝑢𝑡𝑝𝑢𝑡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𝑆𝑖𝑧𝑒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7−2+0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3.5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LU" dirty="0"/>
                  <a:t> </a:t>
                </a:r>
              </a:p>
              <a:p>
                <a:r>
                  <a:rPr lang="en-LU" dirty="0"/>
                  <a:t>New feature map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L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=(3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×3)</m:t>
                    </m:r>
                  </m:oMath>
                </a14:m>
                <a:endParaRPr lang="en-LU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C05111C-4B0C-223F-203F-A712A32AB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29" y="3092083"/>
                <a:ext cx="6131415" cy="3715889"/>
              </a:xfrm>
              <a:prstGeom prst="rect">
                <a:avLst/>
              </a:prstGeom>
              <a:blipFill>
                <a:blip r:embed="rId2"/>
                <a:stretch>
                  <a:fillRect l="-2273" t="-1020" b="-2721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B1AA781-D2C8-F9D6-6D6B-8328015BFB86}"/>
              </a:ext>
            </a:extLst>
          </p:cNvPr>
          <p:cNvGraphicFramePr>
            <a:graphicFrameLocks noGrp="1"/>
          </p:cNvGraphicFramePr>
          <p:nvPr/>
        </p:nvGraphicFramePr>
        <p:xfrm>
          <a:off x="6336145" y="3616153"/>
          <a:ext cx="2520000" cy="25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0564160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96234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69833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80248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2142445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9563852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6138042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LU" sz="1800" dirty="0"/>
                        <a:t>1</a:t>
                      </a:r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U" sz="1800" dirty="0"/>
                        <a:t>5</a:t>
                      </a:r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259999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LU" sz="1800" dirty="0"/>
                        <a:t>11</a:t>
                      </a:r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U" sz="1800" dirty="0"/>
                        <a:t>7</a:t>
                      </a:r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213827736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2774986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302436496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32324315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3113794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4062463905"/>
                  </a:ext>
                </a:extLst>
              </a:tr>
            </a:tbl>
          </a:graphicData>
        </a:graphic>
      </p:graphicFrame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EE871F7-BD8D-57F2-EFA8-73AA0B29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1CE9-F581-4745-84E4-66242A61DF32}" type="slidenum">
              <a:rPr lang="en-LU" smtClean="0"/>
              <a:t>19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2914477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EAB5F-A7F4-9FFF-91D7-BB557BEDB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1CE9-F581-4745-84E4-66242A61DF32}" type="slidenum">
              <a:rPr lang="en-LU" smtClean="0"/>
              <a:t>20</a:t>
            </a:fld>
            <a:endParaRPr lang="en-LU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84B021A-8BA2-B925-8934-78DE88B7458F}"/>
              </a:ext>
            </a:extLst>
          </p:cNvPr>
          <p:cNvGrpSpPr>
            <a:grpSpLocks noChangeAspect="1"/>
          </p:cNvGrpSpPr>
          <p:nvPr/>
        </p:nvGrpSpPr>
        <p:grpSpPr>
          <a:xfrm>
            <a:off x="439619" y="1760814"/>
            <a:ext cx="2171763" cy="2537038"/>
            <a:chOff x="428016" y="447473"/>
            <a:chExt cx="3740975" cy="437019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567E9D2-43A7-86D0-6815-F7CB4F95D6BE}"/>
                </a:ext>
              </a:extLst>
            </p:cNvPr>
            <p:cNvGrpSpPr/>
            <p:nvPr/>
          </p:nvGrpSpPr>
          <p:grpSpPr>
            <a:xfrm>
              <a:off x="428016" y="447473"/>
              <a:ext cx="3740975" cy="3726379"/>
              <a:chOff x="1342416" y="525294"/>
              <a:chExt cx="2276063" cy="2335198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E6C5655-D2AB-C5E6-5C37-5160E5A507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42416" y="525294"/>
                <a:ext cx="1971263" cy="2030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0E390AB-D28A-2733-4E49-75DC49529F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94816" y="677691"/>
                <a:ext cx="1971262" cy="2030402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7968AAB-23C1-0DD4-4E61-1BB7DCC2974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647216" y="830092"/>
                <a:ext cx="1971263" cy="20304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6072ED-6DC7-8B92-9485-BDE9D3B48A81}"/>
                </a:ext>
              </a:extLst>
            </p:cNvPr>
            <p:cNvSpPr txBox="1"/>
            <p:nvPr/>
          </p:nvSpPr>
          <p:spPr>
            <a:xfrm>
              <a:off x="1564024" y="4181472"/>
              <a:ext cx="2002088" cy="636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LU" dirty="0"/>
                <a:t>(9 x 9 x 3)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9DE4BB-B788-796D-5248-D73BDA8F09E1}"/>
              </a:ext>
            </a:extLst>
          </p:cNvPr>
          <p:cNvGrpSpPr>
            <a:grpSpLocks noChangeAspect="1"/>
          </p:cNvGrpSpPr>
          <p:nvPr/>
        </p:nvGrpSpPr>
        <p:grpSpPr>
          <a:xfrm>
            <a:off x="3378047" y="1601044"/>
            <a:ext cx="720000" cy="2671912"/>
            <a:chOff x="7478236" y="1294462"/>
            <a:chExt cx="1349405" cy="500762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559B887-32B8-9D07-8549-95C24D99E33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478236" y="1294462"/>
              <a:ext cx="1299247" cy="1379437"/>
              <a:chOff x="5563055" y="1988754"/>
              <a:chExt cx="1672529" cy="1775753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6318C87-4684-96C2-0C93-F8B96A7423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63055" y="1988754"/>
                <a:ext cx="1390291" cy="1390287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 b="1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26577A9-384C-2707-576E-278326D37CD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00000" y="2143933"/>
                <a:ext cx="1390291" cy="139028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 b="1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9AD76A7-B114-6B6E-BEA3-E1FC0F53C4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45293" y="2374220"/>
                <a:ext cx="1390291" cy="139028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 b="1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6586946-8D3B-20CE-9DC1-0B4D15BADB4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481479" y="3063481"/>
              <a:ext cx="1299247" cy="1379437"/>
              <a:chOff x="5563055" y="1988754"/>
              <a:chExt cx="1672529" cy="1775753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5A0EE9B-AD40-93E0-877B-6A462EF5E1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63055" y="1988754"/>
                <a:ext cx="1390291" cy="1390287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F8D1E2C-54D9-F706-A397-FFFF88F51C8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00000" y="2143933"/>
                <a:ext cx="1390291" cy="139028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3551913-3F76-A04B-CC6B-11C2A32A9B8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45293" y="2374220"/>
                <a:ext cx="1390291" cy="139028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ED87FA1-72DC-BD93-B7C7-673EA7749AB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528394" y="4922645"/>
              <a:ext cx="1299247" cy="1379437"/>
              <a:chOff x="5563055" y="1988754"/>
              <a:chExt cx="1672529" cy="1775753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23BBD1D-6C11-FB59-8433-A4AB3538A1A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63055" y="1988754"/>
                <a:ext cx="1390291" cy="1390287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77682E8-7DC5-D66E-224F-57D91F99B01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00000" y="2143933"/>
                <a:ext cx="1390291" cy="139028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968147C-E273-30E8-2FE6-07EC8400C34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45293" y="2374220"/>
                <a:ext cx="1390291" cy="139028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U"/>
              </a:p>
            </p:txBody>
          </p:sp>
        </p:grp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816EF2F-7FF3-9AA8-A50C-CA9D0FA92B53}"/>
              </a:ext>
            </a:extLst>
          </p:cNvPr>
          <p:cNvCxnSpPr>
            <a:cxnSpLocks/>
          </p:cNvCxnSpPr>
          <p:nvPr/>
        </p:nvCxnSpPr>
        <p:spPr>
          <a:xfrm flipV="1">
            <a:off x="2727701" y="1897656"/>
            <a:ext cx="479372" cy="2881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5608589-AF9E-FF02-56BB-33BB2F3792A1}"/>
              </a:ext>
            </a:extLst>
          </p:cNvPr>
          <p:cNvCxnSpPr/>
          <p:nvPr/>
        </p:nvCxnSpPr>
        <p:spPr>
          <a:xfrm>
            <a:off x="2727701" y="2937000"/>
            <a:ext cx="4793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02A1210-D2C9-EE71-3BDA-65BAA2328D1B}"/>
              </a:ext>
            </a:extLst>
          </p:cNvPr>
          <p:cNvCxnSpPr>
            <a:cxnSpLocks/>
          </p:cNvCxnSpPr>
          <p:nvPr/>
        </p:nvCxnSpPr>
        <p:spPr>
          <a:xfrm>
            <a:off x="2725250" y="3640866"/>
            <a:ext cx="479372" cy="2881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CE8A9E6-B3C0-4F87-5A38-2EB6CBC02449}"/>
              </a:ext>
            </a:extLst>
          </p:cNvPr>
          <p:cNvCxnSpPr>
            <a:cxnSpLocks/>
          </p:cNvCxnSpPr>
          <p:nvPr/>
        </p:nvCxnSpPr>
        <p:spPr>
          <a:xfrm flipV="1">
            <a:off x="4293030" y="1665364"/>
            <a:ext cx="480448" cy="288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D56564C-4218-7426-1FFF-964CF7EAA6F1}"/>
              </a:ext>
            </a:extLst>
          </p:cNvPr>
          <p:cNvCxnSpPr/>
          <p:nvPr/>
        </p:nvCxnSpPr>
        <p:spPr>
          <a:xfrm>
            <a:off x="4293029" y="3031435"/>
            <a:ext cx="3564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52D51FA-AC22-AFF3-93FF-517A6C813961}"/>
              </a:ext>
            </a:extLst>
          </p:cNvPr>
          <p:cNvCxnSpPr>
            <a:cxnSpLocks/>
          </p:cNvCxnSpPr>
          <p:nvPr/>
        </p:nvCxnSpPr>
        <p:spPr>
          <a:xfrm>
            <a:off x="4293029" y="3954528"/>
            <a:ext cx="356461" cy="419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D3FA574D-5814-B2C7-AFCD-F851C673A04E}"/>
              </a:ext>
            </a:extLst>
          </p:cNvPr>
          <p:cNvGraphicFramePr>
            <a:graphicFrameLocks noGrp="1"/>
          </p:cNvGraphicFramePr>
          <p:nvPr/>
        </p:nvGraphicFramePr>
        <p:xfrm>
          <a:off x="5011799" y="959764"/>
          <a:ext cx="1411200" cy="1411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600">
                  <a:extLst>
                    <a:ext uri="{9D8B030D-6E8A-4147-A177-3AD203B41FA5}">
                      <a16:colId xmlns:a16="http://schemas.microsoft.com/office/drawing/2014/main" val="1056416096"/>
                    </a:ext>
                  </a:extLst>
                </a:gridCol>
                <a:gridCol w="201600">
                  <a:extLst>
                    <a:ext uri="{9D8B030D-6E8A-4147-A177-3AD203B41FA5}">
                      <a16:colId xmlns:a16="http://schemas.microsoft.com/office/drawing/2014/main" val="496234586"/>
                    </a:ext>
                  </a:extLst>
                </a:gridCol>
                <a:gridCol w="201600">
                  <a:extLst>
                    <a:ext uri="{9D8B030D-6E8A-4147-A177-3AD203B41FA5}">
                      <a16:colId xmlns:a16="http://schemas.microsoft.com/office/drawing/2014/main" val="3369833885"/>
                    </a:ext>
                  </a:extLst>
                </a:gridCol>
                <a:gridCol w="201600">
                  <a:extLst>
                    <a:ext uri="{9D8B030D-6E8A-4147-A177-3AD203B41FA5}">
                      <a16:colId xmlns:a16="http://schemas.microsoft.com/office/drawing/2014/main" val="2448024852"/>
                    </a:ext>
                  </a:extLst>
                </a:gridCol>
                <a:gridCol w="201600">
                  <a:extLst>
                    <a:ext uri="{9D8B030D-6E8A-4147-A177-3AD203B41FA5}">
                      <a16:colId xmlns:a16="http://schemas.microsoft.com/office/drawing/2014/main" val="1321424459"/>
                    </a:ext>
                  </a:extLst>
                </a:gridCol>
                <a:gridCol w="201600">
                  <a:extLst>
                    <a:ext uri="{9D8B030D-6E8A-4147-A177-3AD203B41FA5}">
                      <a16:colId xmlns:a16="http://schemas.microsoft.com/office/drawing/2014/main" val="1495638527"/>
                    </a:ext>
                  </a:extLst>
                </a:gridCol>
                <a:gridCol w="201600">
                  <a:extLst>
                    <a:ext uri="{9D8B030D-6E8A-4147-A177-3AD203B41FA5}">
                      <a16:colId xmlns:a16="http://schemas.microsoft.com/office/drawing/2014/main" val="2361380421"/>
                    </a:ext>
                  </a:extLst>
                </a:gridCol>
              </a:tblGrid>
              <a:tr h="2016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259999696"/>
                  </a:ext>
                </a:extLst>
              </a:tr>
              <a:tr h="2016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2138277365"/>
                  </a:ext>
                </a:extLst>
              </a:tr>
              <a:tr h="2016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277498648"/>
                  </a:ext>
                </a:extLst>
              </a:tr>
              <a:tr h="2016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3024364961"/>
                  </a:ext>
                </a:extLst>
              </a:tr>
              <a:tr h="2016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3232431580"/>
                  </a:ext>
                </a:extLst>
              </a:tr>
              <a:tr h="2016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3113794209"/>
                  </a:ext>
                </a:extLst>
              </a:tr>
              <a:tr h="2016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4062463905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14946F5E-1C9B-40D1-4EE3-AC59A7DCD823}"/>
              </a:ext>
            </a:extLst>
          </p:cNvPr>
          <p:cNvGraphicFramePr>
            <a:graphicFrameLocks noGrp="1"/>
          </p:cNvGraphicFramePr>
          <p:nvPr/>
        </p:nvGraphicFramePr>
        <p:xfrm>
          <a:off x="5011799" y="2448070"/>
          <a:ext cx="1411200" cy="1411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600">
                  <a:extLst>
                    <a:ext uri="{9D8B030D-6E8A-4147-A177-3AD203B41FA5}">
                      <a16:colId xmlns:a16="http://schemas.microsoft.com/office/drawing/2014/main" val="1056416096"/>
                    </a:ext>
                  </a:extLst>
                </a:gridCol>
                <a:gridCol w="201600">
                  <a:extLst>
                    <a:ext uri="{9D8B030D-6E8A-4147-A177-3AD203B41FA5}">
                      <a16:colId xmlns:a16="http://schemas.microsoft.com/office/drawing/2014/main" val="496234586"/>
                    </a:ext>
                  </a:extLst>
                </a:gridCol>
                <a:gridCol w="201600">
                  <a:extLst>
                    <a:ext uri="{9D8B030D-6E8A-4147-A177-3AD203B41FA5}">
                      <a16:colId xmlns:a16="http://schemas.microsoft.com/office/drawing/2014/main" val="3369833885"/>
                    </a:ext>
                  </a:extLst>
                </a:gridCol>
                <a:gridCol w="201600">
                  <a:extLst>
                    <a:ext uri="{9D8B030D-6E8A-4147-A177-3AD203B41FA5}">
                      <a16:colId xmlns:a16="http://schemas.microsoft.com/office/drawing/2014/main" val="2448024852"/>
                    </a:ext>
                  </a:extLst>
                </a:gridCol>
                <a:gridCol w="201600">
                  <a:extLst>
                    <a:ext uri="{9D8B030D-6E8A-4147-A177-3AD203B41FA5}">
                      <a16:colId xmlns:a16="http://schemas.microsoft.com/office/drawing/2014/main" val="1321424459"/>
                    </a:ext>
                  </a:extLst>
                </a:gridCol>
                <a:gridCol w="201600">
                  <a:extLst>
                    <a:ext uri="{9D8B030D-6E8A-4147-A177-3AD203B41FA5}">
                      <a16:colId xmlns:a16="http://schemas.microsoft.com/office/drawing/2014/main" val="1495638527"/>
                    </a:ext>
                  </a:extLst>
                </a:gridCol>
                <a:gridCol w="201600">
                  <a:extLst>
                    <a:ext uri="{9D8B030D-6E8A-4147-A177-3AD203B41FA5}">
                      <a16:colId xmlns:a16="http://schemas.microsoft.com/office/drawing/2014/main" val="2361380421"/>
                    </a:ext>
                  </a:extLst>
                </a:gridCol>
              </a:tblGrid>
              <a:tr h="2016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259999696"/>
                  </a:ext>
                </a:extLst>
              </a:tr>
              <a:tr h="2016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2138277365"/>
                  </a:ext>
                </a:extLst>
              </a:tr>
              <a:tr h="2016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277498648"/>
                  </a:ext>
                </a:extLst>
              </a:tr>
              <a:tr h="2016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3024364961"/>
                  </a:ext>
                </a:extLst>
              </a:tr>
              <a:tr h="2016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3232431580"/>
                  </a:ext>
                </a:extLst>
              </a:tr>
              <a:tr h="2016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3113794209"/>
                  </a:ext>
                </a:extLst>
              </a:tr>
              <a:tr h="2016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406246390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33635BFF-1D89-E322-FF9D-D61FF12DD6A9}"/>
              </a:ext>
            </a:extLst>
          </p:cNvPr>
          <p:cNvGraphicFramePr>
            <a:graphicFrameLocks noGrp="1"/>
          </p:cNvGraphicFramePr>
          <p:nvPr/>
        </p:nvGraphicFramePr>
        <p:xfrm>
          <a:off x="5011799" y="3936376"/>
          <a:ext cx="1411200" cy="1411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600">
                  <a:extLst>
                    <a:ext uri="{9D8B030D-6E8A-4147-A177-3AD203B41FA5}">
                      <a16:colId xmlns:a16="http://schemas.microsoft.com/office/drawing/2014/main" val="1056416096"/>
                    </a:ext>
                  </a:extLst>
                </a:gridCol>
                <a:gridCol w="201600">
                  <a:extLst>
                    <a:ext uri="{9D8B030D-6E8A-4147-A177-3AD203B41FA5}">
                      <a16:colId xmlns:a16="http://schemas.microsoft.com/office/drawing/2014/main" val="496234586"/>
                    </a:ext>
                  </a:extLst>
                </a:gridCol>
                <a:gridCol w="201600">
                  <a:extLst>
                    <a:ext uri="{9D8B030D-6E8A-4147-A177-3AD203B41FA5}">
                      <a16:colId xmlns:a16="http://schemas.microsoft.com/office/drawing/2014/main" val="3369833885"/>
                    </a:ext>
                  </a:extLst>
                </a:gridCol>
                <a:gridCol w="201600">
                  <a:extLst>
                    <a:ext uri="{9D8B030D-6E8A-4147-A177-3AD203B41FA5}">
                      <a16:colId xmlns:a16="http://schemas.microsoft.com/office/drawing/2014/main" val="2448024852"/>
                    </a:ext>
                  </a:extLst>
                </a:gridCol>
                <a:gridCol w="201600">
                  <a:extLst>
                    <a:ext uri="{9D8B030D-6E8A-4147-A177-3AD203B41FA5}">
                      <a16:colId xmlns:a16="http://schemas.microsoft.com/office/drawing/2014/main" val="1321424459"/>
                    </a:ext>
                  </a:extLst>
                </a:gridCol>
                <a:gridCol w="201600">
                  <a:extLst>
                    <a:ext uri="{9D8B030D-6E8A-4147-A177-3AD203B41FA5}">
                      <a16:colId xmlns:a16="http://schemas.microsoft.com/office/drawing/2014/main" val="1495638527"/>
                    </a:ext>
                  </a:extLst>
                </a:gridCol>
                <a:gridCol w="201600">
                  <a:extLst>
                    <a:ext uri="{9D8B030D-6E8A-4147-A177-3AD203B41FA5}">
                      <a16:colId xmlns:a16="http://schemas.microsoft.com/office/drawing/2014/main" val="2361380421"/>
                    </a:ext>
                  </a:extLst>
                </a:gridCol>
              </a:tblGrid>
              <a:tr h="2016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259999696"/>
                  </a:ext>
                </a:extLst>
              </a:tr>
              <a:tr h="2016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2138277365"/>
                  </a:ext>
                </a:extLst>
              </a:tr>
              <a:tr h="2016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277498648"/>
                  </a:ext>
                </a:extLst>
              </a:tr>
              <a:tr h="2016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3024364961"/>
                  </a:ext>
                </a:extLst>
              </a:tr>
              <a:tr h="2016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3232431580"/>
                  </a:ext>
                </a:extLst>
              </a:tr>
              <a:tr h="2016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3113794209"/>
                  </a:ext>
                </a:extLst>
              </a:tr>
              <a:tr h="201600"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/>
                    </a:p>
                  </a:txBody>
                  <a:tcPr marL="47746" marR="47746" marT="23874" marB="23874"/>
                </a:tc>
                <a:tc>
                  <a:txBody>
                    <a:bodyPr/>
                    <a:lstStyle/>
                    <a:p>
                      <a:endParaRPr lang="en-LU" sz="1000" dirty="0"/>
                    </a:p>
                  </a:txBody>
                  <a:tcPr marL="47746" marR="47746" marT="23874" marB="23874"/>
                </a:tc>
                <a:extLst>
                  <a:ext uri="{0D108BD9-81ED-4DB2-BD59-A6C34878D82A}">
                    <a16:rowId xmlns:a16="http://schemas.microsoft.com/office/drawing/2014/main" val="4062463905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700C769C-B26D-8B77-74AD-551069AE1DE6}"/>
              </a:ext>
            </a:extLst>
          </p:cNvPr>
          <p:cNvSpPr txBox="1"/>
          <p:nvPr/>
        </p:nvSpPr>
        <p:spPr>
          <a:xfrm>
            <a:off x="3077557" y="4423782"/>
            <a:ext cx="14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U" dirty="0"/>
              <a:t>3 x (3 x 3 x 3)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1473E73-862E-FDDC-285A-88D0D302DAA7}"/>
              </a:ext>
            </a:extLst>
          </p:cNvPr>
          <p:cNvSpPr txBox="1"/>
          <p:nvPr/>
        </p:nvSpPr>
        <p:spPr>
          <a:xfrm>
            <a:off x="5224376" y="5347576"/>
            <a:ext cx="986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U" dirty="0"/>
              <a:t>3 x (7x7)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EFE70E1-8E00-3CF1-ACC1-D4F74F1F25F1}"/>
              </a:ext>
            </a:extLst>
          </p:cNvPr>
          <p:cNvCxnSpPr/>
          <p:nvPr/>
        </p:nvCxnSpPr>
        <p:spPr>
          <a:xfrm>
            <a:off x="6537700" y="1665364"/>
            <a:ext cx="3564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F226917-BF1A-A96F-4237-CB6A1D4690C9}"/>
              </a:ext>
            </a:extLst>
          </p:cNvPr>
          <p:cNvCxnSpPr/>
          <p:nvPr/>
        </p:nvCxnSpPr>
        <p:spPr>
          <a:xfrm>
            <a:off x="6537700" y="3185513"/>
            <a:ext cx="3564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D6229BC-D719-EFD3-2F5B-EFB519C562DA}"/>
              </a:ext>
            </a:extLst>
          </p:cNvPr>
          <p:cNvCxnSpPr/>
          <p:nvPr/>
        </p:nvCxnSpPr>
        <p:spPr>
          <a:xfrm>
            <a:off x="6537700" y="4609679"/>
            <a:ext cx="3564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C5F148B6-1DC7-0113-B31A-351B6104B1E1}"/>
              </a:ext>
            </a:extLst>
          </p:cNvPr>
          <p:cNvGraphicFramePr>
            <a:graphicFrameLocks noGrp="1"/>
          </p:cNvGraphicFramePr>
          <p:nvPr/>
        </p:nvGraphicFramePr>
        <p:xfrm>
          <a:off x="7173895" y="1114564"/>
          <a:ext cx="1080000" cy="110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7058261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77773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49037635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09032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5063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026010"/>
                  </a:ext>
                </a:extLst>
              </a:tr>
            </a:tbl>
          </a:graphicData>
        </a:graphic>
      </p:graphicFrame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C608A5F7-BD4A-3194-0B3D-532E29E6C216}"/>
              </a:ext>
            </a:extLst>
          </p:cNvPr>
          <p:cNvGraphicFramePr>
            <a:graphicFrameLocks noGrp="1"/>
          </p:cNvGraphicFramePr>
          <p:nvPr/>
        </p:nvGraphicFramePr>
        <p:xfrm>
          <a:off x="7173895" y="2634713"/>
          <a:ext cx="1080000" cy="110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7058261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77773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49037635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09032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5063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026010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9AD7D68D-5ADD-8AA3-709D-5BDC753FD5F6}"/>
              </a:ext>
            </a:extLst>
          </p:cNvPr>
          <p:cNvGraphicFramePr>
            <a:graphicFrameLocks noGrp="1"/>
          </p:cNvGraphicFramePr>
          <p:nvPr/>
        </p:nvGraphicFramePr>
        <p:xfrm>
          <a:off x="7173895" y="4148687"/>
          <a:ext cx="1080000" cy="110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7058261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77773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49037635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09032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5063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endParaRPr lang="en-L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L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026010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45DB8FA2-F2F9-49D1-EC89-841EF6A52688}"/>
              </a:ext>
            </a:extLst>
          </p:cNvPr>
          <p:cNvSpPr txBox="1"/>
          <p:nvPr/>
        </p:nvSpPr>
        <p:spPr>
          <a:xfrm>
            <a:off x="7220872" y="5347576"/>
            <a:ext cx="986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U" dirty="0"/>
              <a:t>3 x (3x3)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F9887A4-5EFA-B79A-5437-4197DF732604}"/>
                  </a:ext>
                </a:extLst>
              </p:cNvPr>
              <p:cNvSpPr txBox="1"/>
              <p:nvPr/>
            </p:nvSpPr>
            <p:spPr>
              <a:xfrm>
                <a:off x="8533629" y="1114564"/>
                <a:ext cx="2962606" cy="13150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1,3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2,3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3,1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3,2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3,3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LU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F9887A4-5EFA-B79A-5437-4197DF732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3629" y="1114564"/>
                <a:ext cx="2962606" cy="1315040"/>
              </a:xfrm>
              <a:prstGeom prst="rect">
                <a:avLst/>
              </a:prstGeom>
              <a:blipFill>
                <a:blip r:embed="rId2"/>
                <a:stretch>
                  <a:fillRect l="-855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EC61F3E-69BB-209C-7B56-DB70B3365B33}"/>
                  </a:ext>
                </a:extLst>
              </p:cNvPr>
              <p:cNvSpPr txBox="1"/>
              <p:nvPr/>
            </p:nvSpPr>
            <p:spPr>
              <a:xfrm>
                <a:off x="8533629" y="2612474"/>
                <a:ext cx="2962606" cy="13150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1,3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2,3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3,1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3,2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3,3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LU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EC61F3E-69BB-209C-7B56-DB70B3365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3629" y="2612474"/>
                <a:ext cx="2962606" cy="1315040"/>
              </a:xfrm>
              <a:prstGeom prst="rect">
                <a:avLst/>
              </a:prstGeom>
              <a:blipFill>
                <a:blip r:embed="rId3"/>
                <a:stretch>
                  <a:fillRect l="-855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79D969-BF0A-D99D-B669-EAF2CB2E3CAC}"/>
                  </a:ext>
                </a:extLst>
              </p:cNvPr>
              <p:cNvSpPr txBox="1"/>
              <p:nvPr/>
            </p:nvSpPr>
            <p:spPr>
              <a:xfrm>
                <a:off x="8533629" y="4041967"/>
                <a:ext cx="2962606" cy="13150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1,3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2,3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3,1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3,2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3,3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LU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79D969-BF0A-D99D-B669-EAF2CB2E3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3629" y="4041967"/>
                <a:ext cx="2962606" cy="1315040"/>
              </a:xfrm>
              <a:prstGeom prst="rect">
                <a:avLst/>
              </a:prstGeom>
              <a:blipFill>
                <a:blip r:embed="rId4"/>
                <a:stretch>
                  <a:fillRect l="-855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ight Brace 60">
            <a:extLst>
              <a:ext uri="{FF2B5EF4-FFF2-40B4-BE49-F238E27FC236}">
                <a16:creationId xmlns:a16="http://schemas.microsoft.com/office/drawing/2014/main" id="{00ED59FB-717B-D276-84B2-15A9C300BC5D}"/>
              </a:ext>
            </a:extLst>
          </p:cNvPr>
          <p:cNvSpPr/>
          <p:nvPr/>
        </p:nvSpPr>
        <p:spPr>
          <a:xfrm rot="5400000">
            <a:off x="4661226" y="4547515"/>
            <a:ext cx="419869" cy="333307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LU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169BA1-15DF-B9B2-0689-163DE18B93F1}"/>
              </a:ext>
            </a:extLst>
          </p:cNvPr>
          <p:cNvSpPr txBox="1"/>
          <p:nvPr/>
        </p:nvSpPr>
        <p:spPr>
          <a:xfrm>
            <a:off x="3487401" y="6436214"/>
            <a:ext cx="2608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/>
              <a:t>Convolution + Activation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6553288-BFAD-1DD5-BCA6-410AE70D62BD}"/>
              </a:ext>
            </a:extLst>
          </p:cNvPr>
          <p:cNvSpPr txBox="1"/>
          <p:nvPr/>
        </p:nvSpPr>
        <p:spPr>
          <a:xfrm>
            <a:off x="6875683" y="6029388"/>
            <a:ext cx="167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/>
              <a:t>Downsampling</a:t>
            </a:r>
          </a:p>
        </p:txBody>
      </p:sp>
    </p:spTree>
    <p:extLst>
      <p:ext uri="{BB962C8B-B14F-4D97-AF65-F5344CB8AC3E}">
        <p14:creationId xmlns:p14="http://schemas.microsoft.com/office/powerpoint/2010/main" val="134933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0E16D94-1493-E0A9-F040-E7B3F887B66C}"/>
              </a:ext>
            </a:extLst>
          </p:cNvPr>
          <p:cNvSpPr/>
          <p:nvPr/>
        </p:nvSpPr>
        <p:spPr>
          <a:xfrm>
            <a:off x="112562" y="2132106"/>
            <a:ext cx="11512171" cy="2355228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239BE-AAEA-1FCA-C251-EC5E710A0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1CE9-F581-4745-84E4-66242A61DF32}" type="slidenum">
              <a:rPr lang="en-LU" smtClean="0"/>
              <a:t>21</a:t>
            </a:fld>
            <a:endParaRPr lang="en-L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8DAC50-B83F-64CE-D940-C705930F7BC5}"/>
              </a:ext>
            </a:extLst>
          </p:cNvPr>
          <p:cNvSpPr txBox="1"/>
          <p:nvPr/>
        </p:nvSpPr>
        <p:spPr>
          <a:xfrm>
            <a:off x="112562" y="50028"/>
            <a:ext cx="6048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Flattening (Vectorization + Concatenation)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9F62B7-E47C-2AF2-E0FB-D26420939D81}"/>
              </a:ext>
            </a:extLst>
          </p:cNvPr>
          <p:cNvSpPr txBox="1"/>
          <p:nvPr/>
        </p:nvSpPr>
        <p:spPr>
          <a:xfrm>
            <a:off x="0" y="413059"/>
            <a:ext cx="11815482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Fully connected (dense) layers expect a vector (1D input).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This layer converts a 3D layer in the network into a 1D vector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Since we had three 2D feature maps each 3x3 dimension, after flattening we will have 1D vector with 3x3x3=27 real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6D1C52-56C1-1308-9695-013D16B7B13E}"/>
                  </a:ext>
                </a:extLst>
              </p:cNvPr>
              <p:cNvSpPr txBox="1"/>
              <p:nvPr/>
            </p:nvSpPr>
            <p:spPr>
              <a:xfrm>
                <a:off x="112562" y="2392524"/>
                <a:ext cx="2725361" cy="13150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1,3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2,3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3,1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3,2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3,3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L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6D1C52-56C1-1308-9695-013D16B7B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62" y="2392524"/>
                <a:ext cx="2725361" cy="1315040"/>
              </a:xfrm>
              <a:prstGeom prst="rect">
                <a:avLst/>
              </a:prstGeom>
              <a:blipFill>
                <a:blip r:embed="rId2"/>
                <a:stretch>
                  <a:fillRect l="-1389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417328-87F1-FD10-F9CD-EC9F8A1177BE}"/>
                  </a:ext>
                </a:extLst>
              </p:cNvPr>
              <p:cNvSpPr txBox="1"/>
              <p:nvPr/>
            </p:nvSpPr>
            <p:spPr>
              <a:xfrm>
                <a:off x="868056" y="3996455"/>
                <a:ext cx="1214371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L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L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L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L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3×3</m:t>
                          </m:r>
                        </m:sup>
                      </m:sSup>
                    </m:oMath>
                  </m:oMathPara>
                </a14:m>
                <a:endParaRPr lang="en-LU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417328-87F1-FD10-F9CD-EC9F8A117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56" y="3996455"/>
                <a:ext cx="1214371" cy="288477"/>
              </a:xfrm>
              <a:prstGeom prst="rect">
                <a:avLst/>
              </a:prstGeom>
              <a:blipFill>
                <a:blip r:embed="rId3"/>
                <a:stretch>
                  <a:fillRect l="-4124" t="-8333" r="-1031" b="-4167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C7A702-E160-B4FA-2DC7-EA608CD25720}"/>
                  </a:ext>
                </a:extLst>
              </p:cNvPr>
              <p:cNvSpPr txBox="1"/>
              <p:nvPr/>
            </p:nvSpPr>
            <p:spPr>
              <a:xfrm>
                <a:off x="3136723" y="2132105"/>
                <a:ext cx="3183628" cy="21813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𝑣𝑒𝑐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1,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(1)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,1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(1)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…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9×1</m:t>
                          </m:r>
                        </m:sup>
                      </m:sSup>
                    </m:oMath>
                  </m:oMathPara>
                </a14:m>
                <a:endParaRPr lang="en-L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C7A702-E160-B4FA-2DC7-EA608CD25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723" y="2132105"/>
                <a:ext cx="3183628" cy="2181303"/>
              </a:xfrm>
              <a:prstGeom prst="rect">
                <a:avLst/>
              </a:prstGeom>
              <a:blipFill>
                <a:blip r:embed="rId4"/>
                <a:stretch>
                  <a:fillRect l="-797" t="-581" r="-398" b="-2907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CBF9FE-840A-A16B-E87C-EDC688DDFEB7}"/>
                  </a:ext>
                </a:extLst>
              </p:cNvPr>
              <p:cNvSpPr txBox="1"/>
              <p:nvPr/>
            </p:nvSpPr>
            <p:spPr>
              <a:xfrm>
                <a:off x="6619151" y="3016513"/>
                <a:ext cx="4925516" cy="4124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L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,1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(1)</m:t>
                                                </m:r>
                                              </m:sup>
                                            </m:sSubSup>
                                          </m:e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…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</m:oMath>
                  </m:oMathPara>
                </a14:m>
                <a:endParaRPr lang="en-L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CBF9FE-840A-A16B-E87C-EDC688DDF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151" y="3016513"/>
                <a:ext cx="4925516" cy="412485"/>
              </a:xfrm>
              <a:prstGeom prst="rect">
                <a:avLst/>
              </a:prstGeom>
              <a:blipFill>
                <a:blip r:embed="rId5"/>
                <a:stretch>
                  <a:fillRect l="-771" b="-15152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E4A5B9A-0751-0BBA-0EE4-64A2CA2E6556}"/>
              </a:ext>
            </a:extLst>
          </p:cNvPr>
          <p:cNvSpPr txBox="1"/>
          <p:nvPr/>
        </p:nvSpPr>
        <p:spPr>
          <a:xfrm>
            <a:off x="8610600" y="3617820"/>
            <a:ext cx="1136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/>
              <a:t>1D vector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5F3663-7AA5-6CC1-2BF4-8B202B262EBE}"/>
              </a:ext>
            </a:extLst>
          </p:cNvPr>
          <p:cNvSpPr txBox="1"/>
          <p:nvPr/>
        </p:nvSpPr>
        <p:spPr>
          <a:xfrm>
            <a:off x="112562" y="2087219"/>
            <a:ext cx="1489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/>
              <a:t>Vectorization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F671352-7E4C-0C96-31AB-483640F6AB30}"/>
                  </a:ext>
                </a:extLst>
              </p:cNvPr>
              <p:cNvSpPr txBox="1"/>
              <p:nvPr/>
            </p:nvSpPr>
            <p:spPr>
              <a:xfrm>
                <a:off x="2138661" y="5058825"/>
                <a:ext cx="8427243" cy="10030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1,1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Sup>
                                                  <m:sSubSup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𝑓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1,1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(</m:t>
                                                    </m:r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)</m:t>
                                                    </m:r>
                                                  </m:sup>
                                                </m:sSubSup>
                                              </m:e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…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1,1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…</m:t>
                                                </m:r>
                                              </m:e>
                                              <m:e>
                                                <m:sSubSup>
                                                  <m:sSubSup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𝑓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3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,</m:t>
                                                    </m:r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3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(</m:t>
                                                    </m:r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3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)</m:t>
                                                    </m:r>
                                                  </m:sup>
                                                </m:sSubSup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1×27</m:t>
                          </m:r>
                        </m:sub>
                      </m:sSub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L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LU" dirty="0"/>
                  <a:t> - Concatenating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LU" dirty="0"/>
                  <a:t> – flattened feature vector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F671352-7E4C-0C96-31AB-483640F6A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8661" y="5058825"/>
                <a:ext cx="8427243" cy="1003031"/>
              </a:xfrm>
              <a:prstGeom prst="rect">
                <a:avLst/>
              </a:prstGeom>
              <a:blipFill>
                <a:blip r:embed="rId6"/>
                <a:stretch>
                  <a:fillRect l="-904" b="-12500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747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E9ACE-E988-99E8-86C3-ABE31235E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1CE9-F581-4745-84E4-66242A61DF32}" type="slidenum">
              <a:rPr lang="en-LU" smtClean="0"/>
              <a:t>22</a:t>
            </a:fld>
            <a:endParaRPr lang="en-L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04D73-68FF-38B5-826D-2FE48989EC22}"/>
              </a:ext>
            </a:extLst>
          </p:cNvPr>
          <p:cNvSpPr txBox="1"/>
          <p:nvPr/>
        </p:nvSpPr>
        <p:spPr>
          <a:xfrm>
            <a:off x="112562" y="50028"/>
            <a:ext cx="4443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Fully Connected (Dense)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6394D5-ACA2-126C-835F-364203415370}"/>
                  </a:ext>
                </a:extLst>
              </p:cNvPr>
              <p:cNvSpPr txBox="1"/>
              <p:nvPr/>
            </p:nvSpPr>
            <p:spPr>
              <a:xfrm>
                <a:off x="0" y="511693"/>
                <a:ext cx="9149812" cy="4205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en-LU" dirty="0"/>
                  <a:t>Linear Transformation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dirty="0"/>
                  <a:t>T</a:t>
                </a:r>
                <a:r>
                  <a:rPr lang="en-LU" dirty="0"/>
                  <a:t>his is a fully connected layer (also called dense layer).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LU" dirty="0"/>
                  <a:t>It combines all the extracted features and maps them to the final prediction space.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LU" dirty="0"/>
                  <a:t>This is the final learned transformation before making predictions.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LU" dirty="0"/>
                  <a:t>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LU" dirty="0"/>
                  <a:t> – output vector of raw logits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LU" dirty="0"/>
                  <a:t> – flattened feature vector (from the previous layer)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LU" dirty="0"/>
                  <a:t> – weights of the dense layer (matrix)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L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LU" dirty="0"/>
                  <a:t> - transpose of weight matrix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LU" dirty="0"/>
                  <a:t> – bias vector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6394D5-ACA2-126C-835F-364203415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11693"/>
                <a:ext cx="9149812" cy="4205960"/>
              </a:xfrm>
              <a:prstGeom prst="rect">
                <a:avLst/>
              </a:prstGeom>
              <a:blipFill>
                <a:blip r:embed="rId2"/>
                <a:stretch>
                  <a:fillRect l="-555" b="-1506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C71F43A-4694-D1DC-003E-B9D42477B9FF}"/>
              </a:ext>
            </a:extLst>
          </p:cNvPr>
          <p:cNvSpPr txBox="1"/>
          <p:nvPr/>
        </p:nvSpPr>
        <p:spPr>
          <a:xfrm>
            <a:off x="347133" y="4717653"/>
            <a:ext cx="114977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LU" dirty="0"/>
              <a:t>A weight matrix in a neural network is a matrix of trainable parameters that determine the strength of the connections between neurons.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LU" dirty="0"/>
              <a:t>Each weight controls how much influence a specific input has on the output.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LU" dirty="0"/>
              <a:t>A bias vector is a trainable vector added to the output of a neuron after the weighted sum, allowing the model to better fit the data by shifting the activation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LU" dirty="0"/>
              <a:t>Both weights and biases are updated during backpropagation using gradient descent to minimize the loss.</a:t>
            </a:r>
          </a:p>
        </p:txBody>
      </p:sp>
    </p:spTree>
    <p:extLst>
      <p:ext uri="{BB962C8B-B14F-4D97-AF65-F5344CB8AC3E}">
        <p14:creationId xmlns:p14="http://schemas.microsoft.com/office/powerpoint/2010/main" val="1734942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76C81-9BDE-53A2-2B19-EA0790B1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1CE9-F581-4745-84E4-66242A61DF32}" type="slidenum">
              <a:rPr lang="en-LU" smtClean="0"/>
              <a:t>23</a:t>
            </a:fld>
            <a:endParaRPr lang="en-L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179C94-5C4F-89AA-A1CE-AD635B03F998}"/>
              </a:ext>
            </a:extLst>
          </p:cNvPr>
          <p:cNvSpPr txBox="1"/>
          <p:nvPr/>
        </p:nvSpPr>
        <p:spPr>
          <a:xfrm>
            <a:off x="524933" y="406401"/>
            <a:ext cx="11142134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LU" dirty="0"/>
              <a:t>If we have 2 classes = meaning the model is trying to classify inputs into one of 2 possible categories (e.g., 2 types of objects), each class has a corresponding output neuron – so the final layer will output 2 values.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811103-319E-DD94-F2DB-0AC6FEFE54E0}"/>
                  </a:ext>
                </a:extLst>
              </p:cNvPr>
              <p:cNvSpPr txBox="1"/>
              <p:nvPr/>
            </p:nvSpPr>
            <p:spPr>
              <a:xfrm>
                <a:off x="524933" y="1656528"/>
                <a:ext cx="10092267" cy="39685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27</m:t>
                        </m:r>
                      </m:sup>
                    </m:sSup>
                  </m:oMath>
                </a14:m>
                <a:r>
                  <a:rPr lang="en-LU" dirty="0"/>
                  <a:t>- our flattened input from the previous layer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2×27</m:t>
                        </m:r>
                      </m:sup>
                    </m:sSup>
                  </m:oMath>
                </a14:m>
                <a:r>
                  <a:rPr lang="en-LU" dirty="0"/>
                  <a:t> - weight matrix for 2 classes; but we need a matrix 27x2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LU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1×2</m:t>
                        </m:r>
                      </m:sup>
                    </m:sSup>
                  </m:oMath>
                </a14:m>
                <a:r>
                  <a:rPr lang="en-LU" dirty="0"/>
                  <a:t> - bias vector for 2 classes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1,1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Sup>
                                                  <m:sSubSup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𝑓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1,1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(2)</m:t>
                                                    </m:r>
                                                  </m:sup>
                                                </m:sSubSup>
                                              </m:e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…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1,1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(3)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…</m:t>
                                                </m:r>
                                              </m:e>
                                              <m:e>
                                                <m:sSubSup>
                                                  <m:sSubSup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𝑓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3,3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(3)</m:t>
                                                    </m:r>
                                                  </m:sup>
                                                </m:sSubSup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1×27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1,1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1,2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27,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27,2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27×2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1×2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1×2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1×2</m:t>
                        </m:r>
                      </m:sub>
                    </m:sSub>
                  </m:oMath>
                </a14:m>
                <a:endParaRPr lang="en-LU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1×2</m:t>
                          </m:r>
                        </m:sup>
                      </m:sSup>
                    </m:oMath>
                  </m:oMathPara>
                </a14:m>
                <a:endParaRPr lang="en-L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811103-319E-DD94-F2DB-0AC6FEFE5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933" y="1656528"/>
                <a:ext cx="10092267" cy="3968587"/>
              </a:xfrm>
              <a:prstGeom prst="rect">
                <a:avLst/>
              </a:prstGeom>
              <a:blipFill>
                <a:blip r:embed="rId2"/>
                <a:stretch>
                  <a:fillRect l="-879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260DB0-A10E-A96F-C687-0E9933714923}"/>
                  </a:ext>
                </a:extLst>
              </p:cNvPr>
              <p:cNvSpPr txBox="1"/>
              <p:nvPr/>
            </p:nvSpPr>
            <p:spPr>
              <a:xfrm>
                <a:off x="1044264" y="5902293"/>
                <a:ext cx="97985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LU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LU" dirty="0"/>
                  <a:t> classes we will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LU" dirty="0"/>
                  <a:t> values (logits) as an output; the logits are the elements of a 1D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L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260DB0-A10E-A96F-C687-0E9933714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264" y="5902293"/>
                <a:ext cx="9798516" cy="369332"/>
              </a:xfrm>
              <a:prstGeom prst="rect">
                <a:avLst/>
              </a:prstGeom>
              <a:blipFill>
                <a:blip r:embed="rId3"/>
                <a:stretch>
                  <a:fillRect l="-518" t="-6667" b="-26667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788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8072C-DC03-A447-E15A-7BCCB177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1CE9-F581-4745-84E4-66242A61DF32}" type="slidenum">
              <a:rPr lang="en-LU" smtClean="0"/>
              <a:t>24</a:t>
            </a:fld>
            <a:endParaRPr lang="en-L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53E779-2A0F-642E-51C6-7FE8F7900E95}"/>
              </a:ext>
            </a:extLst>
          </p:cNvPr>
          <p:cNvSpPr txBox="1"/>
          <p:nvPr/>
        </p:nvSpPr>
        <p:spPr>
          <a:xfrm>
            <a:off x="112562" y="50028"/>
            <a:ext cx="4443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Fully Connected (Dense)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B37E5F-9FFC-58C7-6D0B-58C1C9799969}"/>
                  </a:ext>
                </a:extLst>
              </p:cNvPr>
              <p:cNvSpPr txBox="1"/>
              <p:nvPr/>
            </p:nvSpPr>
            <p:spPr>
              <a:xfrm>
                <a:off x="0" y="471166"/>
                <a:ext cx="8077148" cy="21298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+mj-lt"/>
                  <a:buAutoNum type="arabicPeriod" startAt="2"/>
                </a:pPr>
                <a:r>
                  <a:rPr lang="en-LU" dirty="0"/>
                  <a:t>Softmax Activation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dirty="0"/>
                  <a:t>M</a:t>
                </a:r>
                <a:r>
                  <a:rPr lang="en-LU" dirty="0"/>
                  <a:t>akes sure the CNN outputs sum to 1.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dirty="0"/>
                  <a:t>S</a:t>
                </a:r>
                <a:r>
                  <a:rPr lang="en-LU" dirty="0"/>
                  <a:t>oftmax operations are useful to scale model outputs into probabilities.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LU" dirty="0"/>
                  <a:t>Logits after flattening are not scaled between zero to one.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LU" dirty="0"/>
                  <a:t>Softmax turn raw scores (logits,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L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LU" dirty="0"/>
                  <a:t>) into probabilities.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B37E5F-9FFC-58C7-6D0B-58C1C9799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1166"/>
                <a:ext cx="8077148" cy="2129878"/>
              </a:xfrm>
              <a:prstGeom prst="rect">
                <a:avLst/>
              </a:prstGeom>
              <a:blipFill>
                <a:blip r:embed="rId2"/>
                <a:stretch>
                  <a:fillRect l="-629" b="-3550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B09207-9C5C-ECF1-0EDD-195C44E14F42}"/>
                  </a:ext>
                </a:extLst>
              </p:cNvPr>
              <p:cNvSpPr txBox="1"/>
              <p:nvPr/>
            </p:nvSpPr>
            <p:spPr>
              <a:xfrm>
                <a:off x="771752" y="2684005"/>
                <a:ext cx="10898156" cy="36483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0" dirty="0"/>
                  <a:t>Logits (before </a:t>
                </a:r>
                <a:r>
                  <a:rPr lang="en-US" b="0" dirty="0" err="1"/>
                  <a:t>sof</a:t>
                </a:r>
                <a:r>
                  <a:rPr lang="en-US" b="0" dirty="0"/>
                  <a:t>tmax):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=[2.0, 0.1]</m:t>
                    </m:r>
                  </m:oMath>
                </a14:m>
                <a:r>
                  <a:rPr lang="en-LU" dirty="0"/>
                  <a:t> – these numbers do not make sense as probabilities – they can be real values and do not sum to 1.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dirty="0"/>
                  <a:t>Probabilities (after </a:t>
                </a:r>
                <a:r>
                  <a:rPr lang="en-GB" dirty="0" err="1"/>
                  <a:t>softmax</a:t>
                </a:r>
                <a:r>
                  <a:rPr lang="en-GB" dirty="0"/>
                  <a:t>):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Sup>
                              <m:sSub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</m:sSubSup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</m:sSubSup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</m:sSubSup>
                          </m:sup>
                        </m:sSup>
                      </m:den>
                    </m:f>
                  </m:oMath>
                </a14:m>
                <a:r>
                  <a:rPr lang="en-US" sz="20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≈0.87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≈0.13</m:t>
                      </m:r>
                    </m:oMath>
                  </m:oMathPara>
                </a14:m>
                <a:endParaRPr lang="en-US" b="0" dirty="0"/>
              </a:p>
              <a:p>
                <a:pPr>
                  <a:lnSpc>
                    <a:spcPct val="150000"/>
                  </a:lnSpc>
                </a:pPr>
                <a:r>
                  <a:rPr lang="en-LU" dirty="0"/>
                  <a:t>All values are between 0 and 1, they sum exactly to 1, and the highest value represents the most likely class.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B09207-9C5C-ECF1-0EDD-195C44E14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752" y="2684005"/>
                <a:ext cx="10898156" cy="3648371"/>
              </a:xfrm>
              <a:prstGeom prst="rect">
                <a:avLst/>
              </a:prstGeom>
              <a:blipFill>
                <a:blip r:embed="rId3"/>
                <a:stretch>
                  <a:fillRect l="-1281" b="-3125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3FF2B52-F547-D601-662A-37E95EECC00E}"/>
              </a:ext>
            </a:extLst>
          </p:cNvPr>
          <p:cNvSpPr txBox="1"/>
          <p:nvPr/>
        </p:nvSpPr>
        <p:spPr>
          <a:xfrm>
            <a:off x="8610600" y="4757477"/>
            <a:ext cx="3108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U" dirty="0"/>
              <a:t>The model is 87% confident in class 1</a:t>
            </a:r>
          </a:p>
        </p:txBody>
      </p:sp>
    </p:spTree>
    <p:extLst>
      <p:ext uri="{BB962C8B-B14F-4D97-AF65-F5344CB8AC3E}">
        <p14:creationId xmlns:p14="http://schemas.microsoft.com/office/powerpoint/2010/main" val="2747748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AFD7-9AAE-CC94-DF1B-6B1DE31E8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1CE9-F581-4745-84E4-66242A61DF32}" type="slidenum">
              <a:rPr lang="en-LU" smtClean="0"/>
              <a:t>25</a:t>
            </a:fld>
            <a:endParaRPr lang="en-L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01EDE2F-20F0-82DE-AC28-F073834CDED7}"/>
                  </a:ext>
                </a:extLst>
              </p:cNvPr>
              <p:cNvSpPr txBox="1"/>
              <p:nvPr/>
            </p:nvSpPr>
            <p:spPr>
              <a:xfrm>
                <a:off x="156626" y="0"/>
                <a:ext cx="11599779" cy="71158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LU" b="1" dirty="0"/>
                  <a:t>Why not just normalization instead of softmax?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LU" dirty="0"/>
                  <a:t>Normalization just rescales the values (e.g., dividing by sum), but it does not make one class stand out strongly.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LU" dirty="0"/>
                  <a:t>Softmax uses exponentials </a:t>
                </a:r>
                <a:r>
                  <a:rPr lang="en-LU" dirty="0">
                    <a:sym typeface="Wingdings" pitchFamily="2" charset="2"/>
                  </a:rPr>
                  <a:t> it amplifies the largest logit, making the model more confident in its top prediction.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LU" dirty="0">
                    <a:sym typeface="Wingdings" pitchFamily="2" charset="2"/>
                  </a:rPr>
                  <a:t>It is smooth and differentiable, so it works with backpropagation.</a:t>
                </a:r>
              </a:p>
              <a:p>
                <a:pPr>
                  <a:lnSpc>
                    <a:spcPct val="150000"/>
                  </a:lnSpc>
                </a:pPr>
                <a:endParaRPr lang="en-LU" dirty="0">
                  <a:sym typeface="Wingdings" pitchFamily="2" charset="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LU" b="1" dirty="0"/>
                  <a:t>Why not Argmax?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LU" dirty="0"/>
                  <a:t>Argmax is a mathematical function that returns the index of the largest value in a list (1D vector)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dirty="0"/>
                  <a:t>I</a:t>
                </a:r>
                <a:r>
                  <a:rPr lang="en-LU" dirty="0"/>
                  <a:t>t is used to choose the predicted class in classification problems.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LU" dirty="0"/>
                  <a:t> 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𝑎𝑟𝑔𝑚𝑎𝑥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LU" dirty="0"/>
                  <a:t>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LU" dirty="0"/>
                  <a:t>It gives the position of the highest value, not the value itself.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dirty="0"/>
                  <a:t>I</a:t>
                </a:r>
                <a:r>
                  <a:rPr lang="en-LU" dirty="0"/>
                  <a:t>t does not tell how confident the model is, just what it think is the best option.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LU" dirty="0"/>
              </a:p>
              <a:p>
                <a:pPr>
                  <a:lnSpc>
                    <a:spcPct val="150000"/>
                  </a:lnSpc>
                </a:pPr>
                <a:r>
                  <a:rPr lang="en-LU" b="1" dirty="0"/>
                  <a:t>Why is Softmax better?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LU" dirty="0"/>
                  <a:t>Instead of just picking the largest value, it converts all values into probabilities.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LU" dirty="0"/>
                  <a:t>The results </a:t>
                </a:r>
                <a:r>
                  <a:rPr lang="en-GB" dirty="0"/>
                  <a:t>is a probability distribution = all values between 0 and 1 that sum to 1.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dirty="0"/>
                  <a:t>It keeps relative confidence between classes.</a:t>
                </a:r>
                <a:endParaRPr lang="en-LU" dirty="0"/>
              </a:p>
              <a:p>
                <a:pPr>
                  <a:lnSpc>
                    <a:spcPct val="150000"/>
                  </a:lnSpc>
                </a:pPr>
                <a:endParaRPr lang="en-LU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01EDE2F-20F0-82DE-AC28-F073834CD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26" y="0"/>
                <a:ext cx="11599779" cy="7115859"/>
              </a:xfrm>
              <a:prstGeom prst="rect">
                <a:avLst/>
              </a:prstGeom>
              <a:blipFill>
                <a:blip r:embed="rId2"/>
                <a:stretch>
                  <a:fillRect l="-438"/>
                </a:stretch>
              </a:blipFill>
            </p:spPr>
            <p:txBody>
              <a:bodyPr/>
              <a:lstStyle/>
              <a:p>
                <a:r>
                  <a:rPr lang="en-L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61779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BF182-8167-8457-EF16-9FE373C83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1CE9-F581-4745-84E4-66242A61DF32}" type="slidenum">
              <a:rPr lang="en-LU" smtClean="0"/>
              <a:t>26</a:t>
            </a:fld>
            <a:endParaRPr lang="en-L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1543F3-8485-0A86-6FCB-27F2F253181F}"/>
              </a:ext>
            </a:extLst>
          </p:cNvPr>
          <p:cNvSpPr txBox="1"/>
          <p:nvPr/>
        </p:nvSpPr>
        <p:spPr>
          <a:xfrm>
            <a:off x="263471" y="136525"/>
            <a:ext cx="11928529" cy="500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LU" b="1" dirty="0"/>
              <a:t>What happens after Softmax?</a:t>
            </a:r>
          </a:p>
          <a:p>
            <a:pPr>
              <a:lnSpc>
                <a:spcPct val="200000"/>
              </a:lnSpc>
            </a:pPr>
            <a:endParaRPr lang="en-LU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LU" dirty="0"/>
              <a:t>Once softmax gives us the predicted probabilities, we have: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LU" dirty="0"/>
              <a:t>Loss Computation – calculation of the loss (error) using a suitable loss function like Cross-Entropy.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LU" dirty="0"/>
              <a:t>Gradient Calculation – use of gradient descent to compute how much each weight and bias contributed to the error – this gives us the gradients.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LU" dirty="0"/>
              <a:t>Backpropagation – propagate the error backward through the network to update all the weights and biases (including convolutional kernels).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LU" dirty="0"/>
              <a:t>This cycle repeats for many epochs to improve the model.</a:t>
            </a:r>
          </a:p>
        </p:txBody>
      </p:sp>
    </p:spTree>
    <p:extLst>
      <p:ext uri="{BB962C8B-B14F-4D97-AF65-F5344CB8AC3E}">
        <p14:creationId xmlns:p14="http://schemas.microsoft.com/office/powerpoint/2010/main" val="2215201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B0BBE6-BD9E-B81E-7174-E0FAE121AE5A}"/>
              </a:ext>
            </a:extLst>
          </p:cNvPr>
          <p:cNvSpPr txBox="1"/>
          <p:nvPr/>
        </p:nvSpPr>
        <p:spPr>
          <a:xfrm>
            <a:off x="95693" y="116958"/>
            <a:ext cx="6996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b="1" dirty="0">
                <a:solidFill>
                  <a:srgbClr val="01A3B0"/>
                </a:solidFill>
              </a:rPr>
              <a:t>Session 1. Introduction to Convolutional Neural Networks (CNNs)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AC71E-CC72-07B0-A994-E7CABD922EC3}"/>
              </a:ext>
            </a:extLst>
          </p:cNvPr>
          <p:cNvSpPr txBox="1"/>
          <p:nvPr/>
        </p:nvSpPr>
        <p:spPr>
          <a:xfrm>
            <a:off x="244549" y="486290"/>
            <a:ext cx="4272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/>
              <a:t>2. Types of CNN architectures and design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DAE587-C205-FF8E-0FAA-5A38726E86C0}"/>
              </a:ext>
            </a:extLst>
          </p:cNvPr>
          <p:cNvSpPr txBox="1"/>
          <p:nvPr/>
        </p:nvSpPr>
        <p:spPr>
          <a:xfrm>
            <a:off x="288961" y="927129"/>
            <a:ext cx="11614077" cy="500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CNNs have evolved from simple image classifiers to deep, modular systems for visual understanding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From digit recognition (LeNet-5) to object detection, segmentation, and even video and medical imaging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Transition of architectural complexity: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LeNet5 (1998) </a:t>
            </a:r>
            <a:r>
              <a:rPr lang="en-GB" dirty="0">
                <a:sym typeface="Wingdings" pitchFamily="2" charset="2"/>
              </a:rPr>
              <a:t> </a:t>
            </a:r>
            <a:r>
              <a:rPr lang="en-GB" dirty="0" err="1">
                <a:sym typeface="Wingdings" pitchFamily="2" charset="2"/>
              </a:rPr>
              <a:t>AlexNet</a:t>
            </a:r>
            <a:r>
              <a:rPr lang="en-GB" dirty="0">
                <a:sym typeface="Wingdings" pitchFamily="2" charset="2"/>
              </a:rPr>
              <a:t> (2012, deep + GPU)  VGG (uniform blocks)  </a:t>
            </a:r>
            <a:r>
              <a:rPr lang="en-GB" dirty="0" err="1">
                <a:sym typeface="Wingdings" pitchFamily="2" charset="2"/>
              </a:rPr>
              <a:t>ResNet</a:t>
            </a:r>
            <a:r>
              <a:rPr lang="en-GB" dirty="0">
                <a:sym typeface="Wingdings" pitchFamily="2" charset="2"/>
              </a:rPr>
              <a:t> (residuals)  </a:t>
            </a:r>
            <a:r>
              <a:rPr lang="en-GB" dirty="0" err="1">
                <a:sym typeface="Wingdings" pitchFamily="2" charset="2"/>
              </a:rPr>
              <a:t>EfficientNet</a:t>
            </a:r>
            <a:r>
              <a:rPr lang="en-GB" dirty="0">
                <a:sym typeface="Wingdings" pitchFamily="2" charset="2"/>
              </a:rPr>
              <a:t> (scaling laws + optimization)</a:t>
            </a:r>
            <a:endParaRPr lang="en-GB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Architectural innovations are driven by hardware evolution (e.g., GPUs, TPUs) and algorithmic breakthroughs (e.g., </a:t>
            </a:r>
            <a:r>
              <a:rPr lang="en-GB" dirty="0" err="1"/>
              <a:t>ReLU</a:t>
            </a:r>
            <a:r>
              <a:rPr lang="en-GB" dirty="0"/>
              <a:t>, </a:t>
            </a:r>
            <a:r>
              <a:rPr lang="en-GB" dirty="0" err="1"/>
              <a:t>BatchNorm</a:t>
            </a:r>
            <a:r>
              <a:rPr lang="en-GB" dirty="0"/>
              <a:t>, skip connections)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Modern designs prioritize trade-offs between accuracy, latency, and energy consumption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This is critical for real-world deployments (e.g., autonomous driving, mobile devices, medical diagnostics)</a:t>
            </a:r>
          </a:p>
        </p:txBody>
      </p:sp>
    </p:spTree>
    <p:extLst>
      <p:ext uri="{BB962C8B-B14F-4D97-AF65-F5344CB8AC3E}">
        <p14:creationId xmlns:p14="http://schemas.microsoft.com/office/powerpoint/2010/main" val="32621287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7C8E38-1918-4E89-1025-9E68E9BD8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967482"/>
              </p:ext>
            </p:extLst>
          </p:nvPr>
        </p:nvGraphicFramePr>
        <p:xfrm>
          <a:off x="1938337" y="1202794"/>
          <a:ext cx="8315326" cy="44524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1266">
                  <a:extLst>
                    <a:ext uri="{9D8B030D-6E8A-4147-A177-3AD203B41FA5}">
                      <a16:colId xmlns:a16="http://schemas.microsoft.com/office/drawing/2014/main" val="3435849160"/>
                    </a:ext>
                  </a:extLst>
                </a:gridCol>
                <a:gridCol w="2078020">
                  <a:extLst>
                    <a:ext uri="{9D8B030D-6E8A-4147-A177-3AD203B41FA5}">
                      <a16:colId xmlns:a16="http://schemas.microsoft.com/office/drawing/2014/main" val="3305853359"/>
                    </a:ext>
                  </a:extLst>
                </a:gridCol>
                <a:gridCol w="2078020">
                  <a:extLst>
                    <a:ext uri="{9D8B030D-6E8A-4147-A177-3AD203B41FA5}">
                      <a16:colId xmlns:a16="http://schemas.microsoft.com/office/drawing/2014/main" val="3437471205"/>
                    </a:ext>
                  </a:extLst>
                </a:gridCol>
                <a:gridCol w="2078020">
                  <a:extLst>
                    <a:ext uri="{9D8B030D-6E8A-4147-A177-3AD203B41FA5}">
                      <a16:colId xmlns:a16="http://schemas.microsoft.com/office/drawing/2014/main" val="2626236669"/>
                    </a:ext>
                  </a:extLst>
                </a:gridCol>
              </a:tblGrid>
              <a:tr h="462341">
                <a:tc>
                  <a:txBody>
                    <a:bodyPr/>
                    <a:lstStyle/>
                    <a:p>
                      <a:pPr algn="ctr"/>
                      <a:r>
                        <a:rPr lang="en-LU" b="1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U" b="1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U" b="1" dirty="0"/>
                        <a:t>Key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U" b="1" dirty="0"/>
                        <a:t>Params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300336"/>
                  </a:ext>
                </a:extLst>
              </a:tr>
              <a:tr h="798014">
                <a:tc>
                  <a:txBody>
                    <a:bodyPr/>
                    <a:lstStyle/>
                    <a:p>
                      <a:pPr algn="ctr"/>
                      <a:r>
                        <a:rPr lang="en-LU" dirty="0"/>
                        <a:t>LeNet-5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U" dirty="0"/>
                        <a:t>1998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U" dirty="0"/>
                        <a:t>First CNN prototype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U" dirty="0"/>
                        <a:t>~ 60K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831660"/>
                  </a:ext>
                </a:extLst>
              </a:tr>
              <a:tr h="798014">
                <a:tc>
                  <a:txBody>
                    <a:bodyPr/>
                    <a:lstStyle/>
                    <a:p>
                      <a:pPr algn="ctr"/>
                      <a:r>
                        <a:rPr lang="en-LU" dirty="0"/>
                        <a:t>AlexNet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U" dirty="0"/>
                        <a:t>2012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U" dirty="0"/>
                        <a:t>ReLU, dropout, GPU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U" dirty="0"/>
                        <a:t>~ 60M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0939252"/>
                  </a:ext>
                </a:extLst>
              </a:tr>
              <a:tr h="798014">
                <a:tc>
                  <a:txBody>
                    <a:bodyPr/>
                    <a:lstStyle/>
                    <a:p>
                      <a:pPr algn="ctr"/>
                      <a:r>
                        <a:rPr lang="en-LU" dirty="0"/>
                        <a:t>VGG16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U" dirty="0"/>
                        <a:t>2014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U" dirty="0"/>
                        <a:t>Deep with 3x3 conv layers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U" dirty="0"/>
                        <a:t>~ 135M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1134387"/>
                  </a:ext>
                </a:extLst>
              </a:tr>
              <a:tr h="798014">
                <a:tc>
                  <a:txBody>
                    <a:bodyPr/>
                    <a:lstStyle/>
                    <a:p>
                      <a:pPr algn="ctr"/>
                      <a:r>
                        <a:rPr lang="en-LU" dirty="0"/>
                        <a:t>ResNet50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U" dirty="0"/>
                        <a:t>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U" dirty="0"/>
                        <a:t>Residual skip connections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U" dirty="0"/>
                        <a:t>~ 25M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5765719"/>
                  </a:ext>
                </a:extLst>
              </a:tr>
              <a:tr h="798014">
                <a:tc>
                  <a:txBody>
                    <a:bodyPr/>
                    <a:lstStyle/>
                    <a:p>
                      <a:pPr algn="ctr"/>
                      <a:r>
                        <a:rPr lang="en-LU" dirty="0"/>
                        <a:t>EfficientNet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U" dirty="0"/>
                        <a:t>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U" dirty="0"/>
                        <a:t>Compund scaling, optimized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U" dirty="0"/>
                        <a:t>~ 5M – 65M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6388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35089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E16245-22E5-1BEB-F07B-B3A76F863361}"/>
              </a:ext>
            </a:extLst>
          </p:cNvPr>
          <p:cNvSpPr txBox="1"/>
          <p:nvPr/>
        </p:nvSpPr>
        <p:spPr>
          <a:xfrm>
            <a:off x="7899253" y="94034"/>
            <a:ext cx="2227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U" sz="2000" b="1" dirty="0"/>
              <a:t>1. LeNet-5 (1998)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A1B08AF-A21C-B49B-342C-BD1852B0C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25" y="584200"/>
            <a:ext cx="5118100" cy="568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A924A0-D2B7-AAE5-A43F-A1EE12EE1730}"/>
              </a:ext>
            </a:extLst>
          </p:cNvPr>
          <p:cNvSpPr txBox="1"/>
          <p:nvPr/>
        </p:nvSpPr>
        <p:spPr>
          <a:xfrm>
            <a:off x="6006808" y="785873"/>
            <a:ext cx="6011967" cy="55494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sz="2000" b="1" dirty="0"/>
              <a:t>Purpose:</a:t>
            </a:r>
            <a:r>
              <a:rPr lang="en-GB" sz="2000" dirty="0"/>
              <a:t> Digit classification (MNIST)</a:t>
            </a:r>
          </a:p>
          <a:p>
            <a:pPr>
              <a:lnSpc>
                <a:spcPct val="200000"/>
              </a:lnSpc>
            </a:pPr>
            <a:r>
              <a:rPr lang="en-GB" sz="2000" b="1" dirty="0"/>
              <a:t>Input size:</a:t>
            </a:r>
            <a:r>
              <a:rPr lang="en-GB" sz="2000" dirty="0"/>
              <a:t> 32×32 grayscale</a:t>
            </a:r>
          </a:p>
          <a:p>
            <a:pPr>
              <a:lnSpc>
                <a:spcPct val="200000"/>
              </a:lnSpc>
            </a:pPr>
            <a:r>
              <a:rPr lang="en-GB" sz="2000" b="1" dirty="0"/>
              <a:t>Architecture depth:</a:t>
            </a:r>
            <a:r>
              <a:rPr lang="en-GB" sz="2000" dirty="0"/>
              <a:t> Very shallow</a:t>
            </a:r>
          </a:p>
          <a:p>
            <a:pPr>
              <a:lnSpc>
                <a:spcPct val="200000"/>
              </a:lnSpc>
            </a:pPr>
            <a:r>
              <a:rPr lang="en-GB" sz="2000" b="1" dirty="0"/>
              <a:t>Key features:</a:t>
            </a:r>
            <a:endParaRPr lang="en-GB" sz="2000" dirty="0"/>
          </a:p>
          <a:p>
            <a:pPr>
              <a:lnSpc>
                <a:spcPct val="200000"/>
              </a:lnSpc>
            </a:pPr>
            <a:r>
              <a:rPr lang="en-GB" sz="2000" dirty="0"/>
              <a:t>Uses </a:t>
            </a:r>
            <a:r>
              <a:rPr lang="en-GB" sz="2000" b="1" dirty="0"/>
              <a:t>tanh</a:t>
            </a:r>
            <a:r>
              <a:rPr lang="en-GB" sz="2000" dirty="0"/>
              <a:t> activation functions.</a:t>
            </a:r>
          </a:p>
          <a:p>
            <a:pPr>
              <a:lnSpc>
                <a:spcPct val="200000"/>
              </a:lnSpc>
            </a:pPr>
            <a:r>
              <a:rPr lang="en-GB" sz="2000" dirty="0"/>
              <a:t>Has only </a:t>
            </a:r>
            <a:r>
              <a:rPr lang="en-GB" sz="2000" b="1" dirty="0"/>
              <a:t>2 convolutional layers</a:t>
            </a:r>
            <a:r>
              <a:rPr lang="en-GB" sz="2000" dirty="0"/>
              <a:t> followed by pooling.</a:t>
            </a:r>
          </a:p>
          <a:p>
            <a:pPr>
              <a:lnSpc>
                <a:spcPct val="200000"/>
              </a:lnSpc>
            </a:pPr>
            <a:r>
              <a:rPr lang="en-GB" sz="2000" dirty="0"/>
              <a:t>Small number of parameters (~60K).</a:t>
            </a:r>
          </a:p>
          <a:p>
            <a:pPr>
              <a:lnSpc>
                <a:spcPct val="200000"/>
              </a:lnSpc>
            </a:pPr>
            <a:r>
              <a:rPr lang="en-GB" sz="2000" dirty="0"/>
              <a:t>Uses </a:t>
            </a:r>
            <a:r>
              <a:rPr lang="en-GB" sz="2000" b="1" dirty="0"/>
              <a:t>average pooling</a:t>
            </a:r>
            <a:r>
              <a:rPr lang="en-GB" sz="2000" dirty="0"/>
              <a:t>, not max pooling.</a:t>
            </a:r>
          </a:p>
          <a:p>
            <a:pPr>
              <a:lnSpc>
                <a:spcPct val="200000"/>
              </a:lnSpc>
            </a:pPr>
            <a:r>
              <a:rPr lang="en-GB" sz="2000" dirty="0"/>
              <a:t>Designed to run on CPUs — no GPU consideration.</a:t>
            </a:r>
          </a:p>
        </p:txBody>
      </p:sp>
    </p:spTree>
    <p:extLst>
      <p:ext uri="{BB962C8B-B14F-4D97-AF65-F5344CB8AC3E}">
        <p14:creationId xmlns:p14="http://schemas.microsoft.com/office/powerpoint/2010/main" val="19396543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6C10D1E-14B8-9E48-7F4E-8241D4055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8355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BEC985-86FA-A47C-5D9F-6B48951A2D48}"/>
              </a:ext>
            </a:extLst>
          </p:cNvPr>
          <p:cNvSpPr txBox="1"/>
          <p:nvPr/>
        </p:nvSpPr>
        <p:spPr>
          <a:xfrm>
            <a:off x="5449582" y="151179"/>
            <a:ext cx="674241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LU" sz="2000" b="1" dirty="0"/>
              <a:t>2. AlexNet-5 (2012)</a:t>
            </a:r>
          </a:p>
          <a:p>
            <a:pPr algn="ctr"/>
            <a:endParaRPr lang="en-LU" sz="2000" dirty="0"/>
          </a:p>
          <a:p>
            <a:pPr>
              <a:lnSpc>
                <a:spcPct val="200000"/>
              </a:lnSpc>
            </a:pPr>
            <a:r>
              <a:rPr lang="en-GB" sz="2000" b="1" dirty="0"/>
              <a:t>Purpose:</a:t>
            </a:r>
            <a:r>
              <a:rPr lang="en-GB" sz="2000" dirty="0"/>
              <a:t> ImageNet classification</a:t>
            </a:r>
          </a:p>
          <a:p>
            <a:pPr>
              <a:lnSpc>
                <a:spcPct val="200000"/>
              </a:lnSpc>
            </a:pPr>
            <a:r>
              <a:rPr lang="en-GB" sz="2000" b="1" dirty="0"/>
              <a:t>Input size:</a:t>
            </a:r>
            <a:r>
              <a:rPr lang="en-GB" sz="2000" dirty="0"/>
              <a:t> 224×224 RGB</a:t>
            </a:r>
          </a:p>
          <a:p>
            <a:pPr>
              <a:lnSpc>
                <a:spcPct val="200000"/>
              </a:lnSpc>
            </a:pPr>
            <a:r>
              <a:rPr lang="en-GB" sz="2000" b="1" dirty="0"/>
              <a:t>Architecture depth:</a:t>
            </a:r>
            <a:r>
              <a:rPr lang="en-GB" sz="2000" dirty="0"/>
              <a:t> Deep for its time (5 conv + 3 FC layers)</a:t>
            </a:r>
          </a:p>
          <a:p>
            <a:pPr>
              <a:lnSpc>
                <a:spcPct val="200000"/>
              </a:lnSpc>
            </a:pPr>
            <a:r>
              <a:rPr lang="en-GB" sz="2000" b="1" dirty="0"/>
              <a:t>Key innovations:</a:t>
            </a:r>
            <a:endParaRPr lang="en-GB" sz="2000" dirty="0"/>
          </a:p>
          <a:p>
            <a:pPr>
              <a:lnSpc>
                <a:spcPct val="200000"/>
              </a:lnSpc>
            </a:pPr>
            <a:r>
              <a:rPr lang="en-GB" sz="2000" dirty="0"/>
              <a:t>Introduced </a:t>
            </a:r>
            <a:r>
              <a:rPr lang="en-GB" sz="2000" b="1" dirty="0" err="1"/>
              <a:t>ReLU</a:t>
            </a:r>
            <a:r>
              <a:rPr lang="en-GB" sz="2000" dirty="0"/>
              <a:t> (faster convergence than tanh).</a:t>
            </a:r>
          </a:p>
          <a:p>
            <a:pPr>
              <a:lnSpc>
                <a:spcPct val="200000"/>
              </a:lnSpc>
            </a:pPr>
            <a:r>
              <a:rPr lang="en-GB" sz="2000" dirty="0"/>
              <a:t>Used </a:t>
            </a:r>
            <a:r>
              <a:rPr lang="en-GB" sz="2000" b="1" dirty="0"/>
              <a:t>GPU acceleration</a:t>
            </a:r>
            <a:r>
              <a:rPr lang="en-GB" sz="2000" dirty="0"/>
              <a:t>.</a:t>
            </a:r>
          </a:p>
          <a:p>
            <a:pPr>
              <a:lnSpc>
                <a:spcPct val="200000"/>
              </a:lnSpc>
            </a:pPr>
            <a:r>
              <a:rPr lang="en-GB" sz="2000" dirty="0"/>
              <a:t>Employed </a:t>
            </a:r>
            <a:r>
              <a:rPr lang="en-GB" sz="2000" b="1" dirty="0"/>
              <a:t>dropout</a:t>
            </a:r>
            <a:r>
              <a:rPr lang="en-GB" sz="2000" dirty="0"/>
              <a:t> to reduce overfitting.</a:t>
            </a:r>
          </a:p>
          <a:p>
            <a:pPr>
              <a:lnSpc>
                <a:spcPct val="200000"/>
              </a:lnSpc>
            </a:pPr>
            <a:r>
              <a:rPr lang="en-GB" sz="2000" dirty="0"/>
              <a:t>Used </a:t>
            </a:r>
            <a:r>
              <a:rPr lang="en-GB" sz="2000" b="1" dirty="0"/>
              <a:t>overlapping max pooling</a:t>
            </a:r>
            <a:r>
              <a:rPr lang="en-GB" sz="2000" dirty="0"/>
              <a:t>.</a:t>
            </a:r>
          </a:p>
          <a:p>
            <a:pPr>
              <a:lnSpc>
                <a:spcPct val="200000"/>
              </a:lnSpc>
            </a:pPr>
            <a:r>
              <a:rPr lang="en-GB" sz="2000" dirty="0"/>
              <a:t>Significantly more parameters (~60M).</a:t>
            </a:r>
          </a:p>
          <a:p>
            <a:endParaRPr lang="en-LU" sz="2000" dirty="0"/>
          </a:p>
        </p:txBody>
      </p:sp>
    </p:spTree>
    <p:extLst>
      <p:ext uri="{BB962C8B-B14F-4D97-AF65-F5344CB8AC3E}">
        <p14:creationId xmlns:p14="http://schemas.microsoft.com/office/powerpoint/2010/main" val="38382918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7055D26-8BBE-AA73-CF8B-0E863CB48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0242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B6AF9D-6952-C67B-FA23-937CC399F892}"/>
              </a:ext>
            </a:extLst>
          </p:cNvPr>
          <p:cNvSpPr txBox="1"/>
          <p:nvPr/>
        </p:nvSpPr>
        <p:spPr>
          <a:xfrm>
            <a:off x="4602439" y="192601"/>
            <a:ext cx="7699099" cy="6472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LU" sz="2000" b="1" dirty="0"/>
              <a:t>3. VGGNet (2014)</a:t>
            </a:r>
            <a:endParaRPr lang="en-LU" sz="2000" dirty="0"/>
          </a:p>
          <a:p>
            <a:pPr>
              <a:lnSpc>
                <a:spcPct val="200000"/>
              </a:lnSpc>
            </a:pPr>
            <a:r>
              <a:rPr lang="en-GB" sz="2000" b="1" dirty="0"/>
              <a:t>Purpose:</a:t>
            </a:r>
            <a:r>
              <a:rPr lang="en-GB" sz="2000" dirty="0"/>
              <a:t> ImageNet classification</a:t>
            </a:r>
          </a:p>
          <a:p>
            <a:pPr>
              <a:lnSpc>
                <a:spcPct val="200000"/>
              </a:lnSpc>
            </a:pPr>
            <a:r>
              <a:rPr lang="en-GB" sz="2000" b="1" dirty="0"/>
              <a:t>Input size:</a:t>
            </a:r>
            <a:r>
              <a:rPr lang="en-GB" sz="2000" dirty="0"/>
              <a:t> 224×224 RGB</a:t>
            </a:r>
          </a:p>
          <a:p>
            <a:pPr>
              <a:lnSpc>
                <a:spcPct val="200000"/>
              </a:lnSpc>
            </a:pPr>
            <a:r>
              <a:rPr lang="en-GB" sz="2000" b="1" dirty="0"/>
              <a:t>Architecture depth:</a:t>
            </a:r>
            <a:r>
              <a:rPr lang="en-GB" sz="2000" dirty="0"/>
              <a:t> Deeper than </a:t>
            </a:r>
            <a:r>
              <a:rPr lang="en-GB" sz="2000" dirty="0" err="1"/>
              <a:t>AlexNet</a:t>
            </a:r>
            <a:r>
              <a:rPr lang="en-GB" sz="2000" dirty="0"/>
              <a:t> (up to 19 layers)</a:t>
            </a:r>
          </a:p>
          <a:p>
            <a:pPr>
              <a:lnSpc>
                <a:spcPct val="200000"/>
              </a:lnSpc>
            </a:pPr>
            <a:r>
              <a:rPr lang="en-GB" sz="2000" b="1" dirty="0"/>
              <a:t>Key design:</a:t>
            </a:r>
            <a:endParaRPr lang="en-GB" sz="2000" dirty="0"/>
          </a:p>
          <a:p>
            <a:pPr>
              <a:lnSpc>
                <a:spcPct val="200000"/>
              </a:lnSpc>
            </a:pPr>
            <a:r>
              <a:rPr lang="en-GB" sz="2000" dirty="0"/>
              <a:t>Stacks of </a:t>
            </a:r>
            <a:r>
              <a:rPr lang="en-GB" sz="2000" b="1" dirty="0"/>
              <a:t>3×3 convolutional layers</a:t>
            </a:r>
            <a:r>
              <a:rPr lang="en-GB" sz="2000" dirty="0"/>
              <a:t> (uniform filter size).</a:t>
            </a:r>
          </a:p>
          <a:p>
            <a:pPr>
              <a:lnSpc>
                <a:spcPct val="200000"/>
              </a:lnSpc>
            </a:pPr>
            <a:r>
              <a:rPr lang="en-GB" sz="2000" dirty="0"/>
              <a:t>Simpler architecture — repeated blocks with increasing filters (64 → 512).</a:t>
            </a:r>
          </a:p>
          <a:p>
            <a:pPr>
              <a:lnSpc>
                <a:spcPct val="200000"/>
              </a:lnSpc>
            </a:pPr>
            <a:r>
              <a:rPr lang="en-GB" sz="2000" dirty="0"/>
              <a:t>Trained on </a:t>
            </a:r>
            <a:r>
              <a:rPr lang="en-GB" sz="2000" b="1" dirty="0"/>
              <a:t>GPUs</a:t>
            </a:r>
            <a:r>
              <a:rPr lang="en-GB" sz="2000" dirty="0"/>
              <a:t>, has massive parameter count (~138M for VGG-16).</a:t>
            </a:r>
          </a:p>
          <a:p>
            <a:pPr>
              <a:lnSpc>
                <a:spcPct val="200000"/>
              </a:lnSpc>
            </a:pPr>
            <a:r>
              <a:rPr lang="en-GB" sz="2000" dirty="0"/>
              <a:t>Uses </a:t>
            </a:r>
            <a:r>
              <a:rPr lang="en-GB" sz="2000" b="1" dirty="0"/>
              <a:t>only max pooling</a:t>
            </a:r>
            <a:r>
              <a:rPr lang="en-GB" sz="2000" dirty="0"/>
              <a:t> and </a:t>
            </a:r>
            <a:r>
              <a:rPr lang="en-GB" sz="2000" b="1" dirty="0" err="1"/>
              <a:t>ReLU</a:t>
            </a:r>
            <a:r>
              <a:rPr lang="en-GB" sz="2000" dirty="0"/>
              <a:t>, no batch normalization in original.</a:t>
            </a:r>
          </a:p>
        </p:txBody>
      </p:sp>
    </p:spTree>
    <p:extLst>
      <p:ext uri="{BB962C8B-B14F-4D97-AF65-F5344CB8AC3E}">
        <p14:creationId xmlns:p14="http://schemas.microsoft.com/office/powerpoint/2010/main" val="28768862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F6FAB0-44ED-B07A-5BFD-2FBBFA318371}"/>
              </a:ext>
            </a:extLst>
          </p:cNvPr>
          <p:cNvSpPr txBox="1"/>
          <p:nvPr/>
        </p:nvSpPr>
        <p:spPr>
          <a:xfrm>
            <a:off x="109538" y="77426"/>
            <a:ext cx="11972924" cy="6780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LU" sz="2000" b="1" dirty="0"/>
              <a:t>4. GoogLeNet (Inception2014)</a:t>
            </a:r>
          </a:p>
          <a:p>
            <a:pPr>
              <a:lnSpc>
                <a:spcPct val="200000"/>
              </a:lnSpc>
            </a:pPr>
            <a:r>
              <a:rPr lang="en-GB" sz="2000" b="1" dirty="0"/>
              <a:t>Key Innovations:</a:t>
            </a:r>
            <a:endParaRPr lang="en-GB" sz="2000" dirty="0"/>
          </a:p>
          <a:p>
            <a:pPr>
              <a:lnSpc>
                <a:spcPct val="200000"/>
              </a:lnSpc>
            </a:pPr>
            <a:r>
              <a:rPr lang="en-GB" sz="2000" dirty="0"/>
              <a:t>Introduced the </a:t>
            </a:r>
            <a:r>
              <a:rPr lang="en-GB" sz="2000" b="1" dirty="0"/>
              <a:t>Inception module</a:t>
            </a:r>
            <a:r>
              <a:rPr lang="en-GB" sz="2000" dirty="0"/>
              <a:t>: parallel convolutions with different kernel sizes (1×1, 3×3, 5×5) + max pooling, all </a:t>
            </a:r>
            <a:r>
              <a:rPr lang="en-GB" sz="2000" b="1" dirty="0"/>
              <a:t>concatenated</a:t>
            </a:r>
            <a:r>
              <a:rPr lang="en-GB" sz="2000" dirty="0"/>
              <a:t> into a single output.</a:t>
            </a:r>
          </a:p>
          <a:p>
            <a:pPr>
              <a:lnSpc>
                <a:spcPct val="200000"/>
              </a:lnSpc>
            </a:pPr>
            <a:r>
              <a:rPr lang="en-GB" sz="2000" dirty="0"/>
              <a:t>Used </a:t>
            </a:r>
            <a:r>
              <a:rPr lang="en-GB" sz="2000" b="1" dirty="0"/>
              <a:t>1×1 convolutions</a:t>
            </a:r>
            <a:r>
              <a:rPr lang="en-GB" sz="2000" dirty="0"/>
              <a:t> for dimensionality reduction.</a:t>
            </a:r>
          </a:p>
          <a:p>
            <a:pPr>
              <a:lnSpc>
                <a:spcPct val="200000"/>
              </a:lnSpc>
            </a:pPr>
            <a:r>
              <a:rPr lang="en-GB" sz="2000" dirty="0"/>
              <a:t>Reduced computation vs. </a:t>
            </a:r>
            <a:r>
              <a:rPr lang="en-GB" sz="2000" dirty="0" err="1"/>
              <a:t>VGGNet</a:t>
            </a:r>
            <a:r>
              <a:rPr lang="en-GB" sz="2000" dirty="0"/>
              <a:t> while increasing depth to </a:t>
            </a:r>
            <a:r>
              <a:rPr lang="en-GB" sz="2000" b="1" dirty="0"/>
              <a:t>22 layers</a:t>
            </a:r>
            <a:r>
              <a:rPr lang="en-GB" sz="2000" dirty="0"/>
              <a:t>.</a:t>
            </a:r>
          </a:p>
          <a:p>
            <a:pPr>
              <a:lnSpc>
                <a:spcPct val="200000"/>
              </a:lnSpc>
            </a:pPr>
            <a:r>
              <a:rPr lang="en-GB" sz="2000" dirty="0"/>
              <a:t>Removed fully connected layers, replacing them with </a:t>
            </a:r>
            <a:r>
              <a:rPr lang="en-GB" sz="2000" b="1" dirty="0"/>
              <a:t>global average pooling</a:t>
            </a:r>
            <a:r>
              <a:rPr lang="en-GB" sz="2000" dirty="0"/>
              <a:t>.</a:t>
            </a:r>
          </a:p>
          <a:p>
            <a:pPr>
              <a:lnSpc>
                <a:spcPct val="200000"/>
              </a:lnSpc>
            </a:pPr>
            <a:endParaRPr lang="en-GB" sz="2000" dirty="0"/>
          </a:p>
          <a:p>
            <a:pPr>
              <a:lnSpc>
                <a:spcPct val="200000"/>
              </a:lnSpc>
            </a:pPr>
            <a:r>
              <a:rPr lang="en-GB" sz="2000" b="1" dirty="0"/>
              <a:t>Key difference:</a:t>
            </a:r>
            <a:r>
              <a:rPr lang="en-GB" sz="2000" dirty="0"/>
              <a:t> </a:t>
            </a:r>
            <a:r>
              <a:rPr lang="en-GB" sz="2000" i="1" dirty="0"/>
              <a:t>Introduced the idea of </a:t>
            </a:r>
            <a:r>
              <a:rPr lang="en-GB" sz="2000" b="1" i="1" dirty="0"/>
              <a:t>multi-scale feature extraction within a single layer</a:t>
            </a:r>
            <a:r>
              <a:rPr lang="en-GB" sz="2000" i="1" dirty="0"/>
              <a:t> using parallel branches. Highly optimized for efficiency and speed.</a:t>
            </a:r>
            <a:endParaRPr lang="en-GB" sz="2000" dirty="0"/>
          </a:p>
          <a:p>
            <a:pPr algn="ctr">
              <a:lnSpc>
                <a:spcPct val="200000"/>
              </a:lnSpc>
            </a:pPr>
            <a:endParaRPr lang="en-LU" sz="2000" dirty="0"/>
          </a:p>
        </p:txBody>
      </p:sp>
    </p:spTree>
    <p:extLst>
      <p:ext uri="{BB962C8B-B14F-4D97-AF65-F5344CB8AC3E}">
        <p14:creationId xmlns:p14="http://schemas.microsoft.com/office/powerpoint/2010/main" val="2158884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B339B0-B3BE-9F18-FBEA-0E59241DCDA0}"/>
              </a:ext>
            </a:extLst>
          </p:cNvPr>
          <p:cNvSpPr txBox="1"/>
          <p:nvPr/>
        </p:nvSpPr>
        <p:spPr>
          <a:xfrm>
            <a:off x="109538" y="134576"/>
            <a:ext cx="11972924" cy="5549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LU" sz="2000" b="1" dirty="0"/>
              <a:t>5. ResNet (Residual Networks, 2015)</a:t>
            </a:r>
          </a:p>
          <a:p>
            <a:pPr>
              <a:lnSpc>
                <a:spcPct val="200000"/>
              </a:lnSpc>
            </a:pPr>
            <a:r>
              <a:rPr lang="en-GB" sz="2000" b="1" dirty="0"/>
              <a:t>Key Innovations:</a:t>
            </a:r>
            <a:endParaRPr lang="en-GB" sz="2000" dirty="0"/>
          </a:p>
          <a:p>
            <a:pPr>
              <a:lnSpc>
                <a:spcPct val="200000"/>
              </a:lnSpc>
            </a:pPr>
            <a:r>
              <a:rPr lang="en-GB" sz="2000" dirty="0"/>
              <a:t>Introduced </a:t>
            </a:r>
            <a:r>
              <a:rPr lang="en-GB" sz="2000" b="1" dirty="0"/>
              <a:t>residual blocks</a:t>
            </a:r>
            <a:r>
              <a:rPr lang="en-GB" sz="2000" dirty="0"/>
              <a:t> with </a:t>
            </a:r>
            <a:r>
              <a:rPr lang="en-GB" sz="2000" b="1" dirty="0"/>
              <a:t>identity skip connections</a:t>
            </a:r>
            <a:r>
              <a:rPr lang="en-GB" sz="2000" dirty="0"/>
              <a:t>:</a:t>
            </a:r>
          </a:p>
          <a:p>
            <a:pPr>
              <a:lnSpc>
                <a:spcPct val="200000"/>
              </a:lnSpc>
            </a:pPr>
            <a:r>
              <a:rPr lang="en-GB" sz="2000" dirty="0"/>
              <a:t>Enables training of </a:t>
            </a:r>
            <a:r>
              <a:rPr lang="en-GB" sz="2000" b="1" dirty="0"/>
              <a:t>very deep networks</a:t>
            </a:r>
            <a:r>
              <a:rPr lang="en-GB" sz="2000" dirty="0"/>
              <a:t> (50, 100, 150+ layers).</a:t>
            </a:r>
          </a:p>
          <a:p>
            <a:pPr>
              <a:lnSpc>
                <a:spcPct val="200000"/>
              </a:lnSpc>
            </a:pPr>
            <a:r>
              <a:rPr lang="en-GB" sz="2000" dirty="0"/>
              <a:t>Solves the </a:t>
            </a:r>
            <a:r>
              <a:rPr lang="en-GB" sz="2000" b="1" dirty="0"/>
              <a:t>vanishing gradient problem</a:t>
            </a:r>
            <a:r>
              <a:rPr lang="en-GB" sz="2000" dirty="0"/>
              <a:t> by allowing gradients to flow directly through shortcut connections.</a:t>
            </a:r>
          </a:p>
          <a:p>
            <a:pPr>
              <a:lnSpc>
                <a:spcPct val="200000"/>
              </a:lnSpc>
            </a:pPr>
            <a:r>
              <a:rPr lang="en-GB" sz="2000" dirty="0"/>
              <a:t>Achieved </a:t>
            </a:r>
            <a:r>
              <a:rPr lang="en-GB" sz="2000" b="1" dirty="0"/>
              <a:t>state-of-the-art</a:t>
            </a:r>
            <a:r>
              <a:rPr lang="en-GB" sz="2000" dirty="0"/>
              <a:t> ImageNet performance.</a:t>
            </a:r>
          </a:p>
          <a:p>
            <a:pPr>
              <a:lnSpc>
                <a:spcPct val="200000"/>
              </a:lnSpc>
            </a:pPr>
            <a:endParaRPr lang="en-GB" sz="2000" dirty="0"/>
          </a:p>
          <a:p>
            <a:pPr>
              <a:lnSpc>
                <a:spcPct val="200000"/>
              </a:lnSpc>
            </a:pPr>
            <a:r>
              <a:rPr lang="en-GB" sz="2000" b="1" dirty="0"/>
              <a:t>Key difference:</a:t>
            </a:r>
            <a:r>
              <a:rPr lang="en-GB" sz="2000" dirty="0"/>
              <a:t> </a:t>
            </a:r>
            <a:r>
              <a:rPr lang="en-GB" sz="2000" i="1" dirty="0"/>
              <a:t>Allowed training of extremely deep networks by making them </a:t>
            </a:r>
            <a:r>
              <a:rPr lang="en-GB" sz="2000" b="1" i="1" dirty="0"/>
              <a:t>easier to optimize</a:t>
            </a:r>
            <a:r>
              <a:rPr lang="en-GB" sz="2000" i="1" dirty="0"/>
              <a:t>. Skip connections are now standard in deep CNNs and transformers.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3283213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FDB3A5-6F0D-6195-844F-C58B3D7F3329}"/>
              </a:ext>
            </a:extLst>
          </p:cNvPr>
          <p:cNvSpPr txBox="1"/>
          <p:nvPr/>
        </p:nvSpPr>
        <p:spPr>
          <a:xfrm>
            <a:off x="171450" y="185737"/>
            <a:ext cx="3306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/>
              <a:t>CNN Design Consideration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0965E7-2B13-E399-F4AE-8ECDEAF185D0}"/>
              </a:ext>
            </a:extLst>
          </p:cNvPr>
          <p:cNvSpPr txBox="1"/>
          <p:nvPr/>
        </p:nvSpPr>
        <p:spPr>
          <a:xfrm>
            <a:off x="171450" y="1117565"/>
            <a:ext cx="4114800" cy="4622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1" dirty="0"/>
              <a:t>1. Depth vs. Width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Depth</a:t>
            </a:r>
            <a:r>
              <a:rPr lang="en-GB" dirty="0"/>
              <a:t>: More layers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higher abstraction power, but risk of vanishing gradients and overfitting.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Width</a:t>
            </a:r>
            <a:r>
              <a:rPr lang="en-GB" dirty="0"/>
              <a:t>: More channels per layer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richer feature representation, but heavier computation and memory usage.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Trade-off</a:t>
            </a:r>
            <a:r>
              <a:rPr lang="en-GB" dirty="0"/>
              <a:t>: Shallow &amp; wide models may converge faster; deep &amp; narrow may generalize better with skip connections.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1E5C42-2FA6-F095-862C-59F8DFD8D3C3}"/>
              </a:ext>
            </a:extLst>
          </p:cNvPr>
          <p:cNvSpPr txBox="1"/>
          <p:nvPr/>
        </p:nvSpPr>
        <p:spPr>
          <a:xfrm>
            <a:off x="4486275" y="1117565"/>
            <a:ext cx="4114800" cy="4622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1" dirty="0"/>
              <a:t>2. Kernel Size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3x3 kernels</a:t>
            </a:r>
            <a:r>
              <a:rPr lang="en-GB" dirty="0"/>
              <a:t>: Standard for hierarchical feature extraction;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1x1 kernels</a:t>
            </a:r>
            <a:r>
              <a:rPr lang="en-GB" dirty="0"/>
              <a:t>: Used for dimension reduction;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Larger kernels (e.g., 5x5, 7x7)</a:t>
            </a:r>
            <a:r>
              <a:rPr lang="en-GB" dirty="0"/>
              <a:t>: Capture broader context, but expensive.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Dilated convolutions</a:t>
            </a:r>
            <a:r>
              <a:rPr lang="en-GB" dirty="0"/>
              <a:t>: Expand receptive field without increasing parameters.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1708CD-5C9E-BE01-7A08-D9205D499B02}"/>
              </a:ext>
            </a:extLst>
          </p:cNvPr>
          <p:cNvSpPr txBox="1"/>
          <p:nvPr/>
        </p:nvSpPr>
        <p:spPr>
          <a:xfrm>
            <a:off x="8801100" y="1117565"/>
            <a:ext cx="3390900" cy="4622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1" dirty="0"/>
              <a:t>3. Pooling Layers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Max pooling</a:t>
            </a:r>
            <a:r>
              <a:rPr lang="en-GB" dirty="0"/>
              <a:t>: Selects strongest activation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better for sparse features.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Average pooling</a:t>
            </a:r>
            <a:r>
              <a:rPr lang="en-GB" dirty="0"/>
              <a:t>: Smooths features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better for dense patterns.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Global average pooling</a:t>
            </a:r>
            <a:r>
              <a:rPr lang="en-GB" dirty="0"/>
              <a:t>: Replaces fully connected layers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reduces overfitting and parameters.</a:t>
            </a:r>
          </a:p>
        </p:txBody>
      </p:sp>
    </p:spTree>
    <p:extLst>
      <p:ext uri="{BB962C8B-B14F-4D97-AF65-F5344CB8AC3E}">
        <p14:creationId xmlns:p14="http://schemas.microsoft.com/office/powerpoint/2010/main" val="31346722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42C35E-E383-3B24-C1D9-B726FA5B0C2B}"/>
              </a:ext>
            </a:extLst>
          </p:cNvPr>
          <p:cNvSpPr txBox="1"/>
          <p:nvPr/>
        </p:nvSpPr>
        <p:spPr>
          <a:xfrm>
            <a:off x="171450" y="185737"/>
            <a:ext cx="3306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/>
              <a:t>CNN Design Consideration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09199A-7E22-C8D9-40F8-675E360C44CD}"/>
              </a:ext>
            </a:extLst>
          </p:cNvPr>
          <p:cNvSpPr txBox="1"/>
          <p:nvPr/>
        </p:nvSpPr>
        <p:spPr>
          <a:xfrm>
            <a:off x="171450" y="1117565"/>
            <a:ext cx="3429000" cy="4622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1" dirty="0"/>
              <a:t>4. Normalization Techniques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 err="1"/>
              <a:t>BatchNorm</a:t>
            </a:r>
            <a:r>
              <a:rPr lang="en-GB" dirty="0"/>
              <a:t>: Normalizes across mini-batch; accelerates convergence, stabilizes gradients.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 err="1"/>
              <a:t>LayerNorm</a:t>
            </a:r>
            <a:r>
              <a:rPr lang="en-GB" b="1" dirty="0"/>
              <a:t> / </a:t>
            </a:r>
            <a:r>
              <a:rPr lang="en-GB" b="1" dirty="0" err="1"/>
              <a:t>GroupNorm</a:t>
            </a:r>
            <a:r>
              <a:rPr lang="en-GB" dirty="0"/>
              <a:t>: Better for small batch sizes or non-vision tasks.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 err="1"/>
              <a:t>WeightNorm</a:t>
            </a:r>
            <a:r>
              <a:rPr lang="en-GB" b="1" dirty="0"/>
              <a:t> / </a:t>
            </a:r>
            <a:r>
              <a:rPr lang="en-GB" b="1" dirty="0" err="1"/>
              <a:t>InstanceNorm</a:t>
            </a:r>
            <a:r>
              <a:rPr lang="en-GB" dirty="0"/>
              <a:t>: Specialized variants used in style transfer, GANs.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990BBB-1D06-19D2-CA43-393F802142AF}"/>
              </a:ext>
            </a:extLst>
          </p:cNvPr>
          <p:cNvSpPr txBox="1"/>
          <p:nvPr/>
        </p:nvSpPr>
        <p:spPr>
          <a:xfrm>
            <a:off x="3889772" y="1117565"/>
            <a:ext cx="3807619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1" dirty="0"/>
              <a:t>5. Activation Functions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 err="1"/>
              <a:t>ReLU</a:t>
            </a:r>
            <a:r>
              <a:rPr lang="en-GB" dirty="0"/>
              <a:t>: Fast, simple, sparsity-inducing; standard choice.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Swish</a:t>
            </a:r>
            <a:r>
              <a:rPr lang="en-GB" dirty="0"/>
              <a:t>: Smooth and non-monotonic; performs better in deep models.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GELU</a:t>
            </a:r>
            <a:r>
              <a:rPr lang="en-GB" dirty="0"/>
              <a:t>: Used in transformers; combines linearity and stochastic regularization.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5D85B2-10E4-778D-8728-30DD79421996}"/>
              </a:ext>
            </a:extLst>
          </p:cNvPr>
          <p:cNvSpPr txBox="1"/>
          <p:nvPr/>
        </p:nvSpPr>
        <p:spPr>
          <a:xfrm>
            <a:off x="7986713" y="1117565"/>
            <a:ext cx="4205287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1" dirty="0"/>
              <a:t> 6. Skip Connections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Identity mappings</a:t>
            </a:r>
            <a:r>
              <a:rPr lang="en-GB" dirty="0"/>
              <a:t> in </a:t>
            </a:r>
            <a:r>
              <a:rPr lang="en-GB" dirty="0" err="1"/>
              <a:t>ResNet</a:t>
            </a:r>
            <a:r>
              <a:rPr lang="en-GB" dirty="0"/>
              <a:t> allow gradients to bypass layers.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Alleviates vanishing gradients, improves convergence speed.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Essential for training deep architectures (50+ layers).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Dense connections (</a:t>
            </a:r>
            <a:r>
              <a:rPr lang="en-GB" dirty="0" err="1"/>
              <a:t>DenseNet</a:t>
            </a:r>
            <a:r>
              <a:rPr lang="en-GB" dirty="0"/>
              <a:t>) generalize this idea.</a:t>
            </a:r>
          </a:p>
        </p:txBody>
      </p:sp>
    </p:spTree>
    <p:extLst>
      <p:ext uri="{BB962C8B-B14F-4D97-AF65-F5344CB8AC3E}">
        <p14:creationId xmlns:p14="http://schemas.microsoft.com/office/powerpoint/2010/main" val="6081995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552F07-906C-A08F-0043-33D614612F23}"/>
              </a:ext>
            </a:extLst>
          </p:cNvPr>
          <p:cNvSpPr txBox="1"/>
          <p:nvPr/>
        </p:nvSpPr>
        <p:spPr>
          <a:xfrm>
            <a:off x="95693" y="116958"/>
            <a:ext cx="77715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>
                <a:solidFill>
                  <a:srgbClr val="01A3B0"/>
                </a:solidFill>
              </a:rPr>
              <a:t>Session 1. Introduction to Convolutional Neural Networks (CNNs)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084015-DF3F-8673-B705-14D4B1C94B3A}"/>
              </a:ext>
            </a:extLst>
          </p:cNvPr>
          <p:cNvSpPr txBox="1"/>
          <p:nvPr/>
        </p:nvSpPr>
        <p:spPr>
          <a:xfrm>
            <a:off x="244549" y="486290"/>
            <a:ext cx="16451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/>
              <a:t>3. Use cases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F3383B-79FE-EFE5-2C1C-D42A0D0C62D3}"/>
              </a:ext>
            </a:extLst>
          </p:cNvPr>
          <p:cNvSpPr txBox="1"/>
          <p:nvPr/>
        </p:nvSpPr>
        <p:spPr>
          <a:xfrm>
            <a:off x="816049" y="929837"/>
            <a:ext cx="79867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LU" b="1" dirty="0"/>
              <a:t>Image Classification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LU" dirty="0"/>
              <a:t>CNNs dominate image recognition tasks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LU" dirty="0"/>
              <a:t>Used in autonomous driving, surveillance, …</a:t>
            </a:r>
          </a:p>
          <a:p>
            <a:pPr marL="342900" indent="-342900">
              <a:buAutoNum type="arabicPeriod"/>
            </a:pPr>
            <a:r>
              <a:rPr lang="en-LU" b="1" dirty="0"/>
              <a:t>Object Detection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LU" dirty="0"/>
              <a:t>Locate and classify multiple object in an image</a:t>
            </a:r>
          </a:p>
          <a:p>
            <a:pPr marL="342900" indent="-342900">
              <a:buAutoNum type="arabicPeriod"/>
            </a:pPr>
            <a:r>
              <a:rPr lang="en-LU" b="1" dirty="0"/>
              <a:t>Semantic Segmentation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LU" dirty="0"/>
              <a:t>Classifies each pixel in an image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LU" dirty="0"/>
              <a:t>Applied in self-driving cars, agriculture, satellite imaging</a:t>
            </a:r>
          </a:p>
          <a:p>
            <a:pPr marL="342900" indent="-342900">
              <a:buAutoNum type="arabicPeriod"/>
            </a:pPr>
            <a:r>
              <a:rPr lang="en-LU" b="1" dirty="0"/>
              <a:t>Medical imaging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LU" dirty="0"/>
              <a:t>Disease detection in X-rays, MRIs, and CT scans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CNNs o</a:t>
            </a:r>
            <a:r>
              <a:rPr lang="en-LU" dirty="0"/>
              <a:t>utperform traditional diagnostics in some domains</a:t>
            </a:r>
          </a:p>
          <a:p>
            <a:pPr marL="342900" indent="-342900">
              <a:buAutoNum type="arabicPeriod"/>
            </a:pPr>
            <a:r>
              <a:rPr lang="en-LU" b="1" dirty="0"/>
              <a:t>Facial recognition and biometrics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LU" dirty="0"/>
              <a:t>Face detection, verificaiton, emotion recognition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LU" dirty="0"/>
              <a:t>Applications: security, identity verification, affective computing</a:t>
            </a:r>
          </a:p>
          <a:p>
            <a:pPr marL="342900" indent="-342900">
              <a:buAutoNum type="arabicPeriod"/>
            </a:pPr>
            <a:r>
              <a:rPr lang="en-LU" b="1" dirty="0"/>
              <a:t>Document and text recognition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LU" dirty="0"/>
              <a:t>Handwriting recognition, OCR, license plate reading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LU" dirty="0"/>
              <a:t>CNNs extract spatial character patterns efficiently</a:t>
            </a:r>
          </a:p>
          <a:p>
            <a:pPr marL="342900" indent="-342900">
              <a:buAutoNum type="arabicPeriod"/>
            </a:pPr>
            <a:r>
              <a:rPr lang="en-LU" b="1" dirty="0"/>
              <a:t>Video analysis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LU" dirty="0"/>
              <a:t>Activity recognition, anomaly detection</a:t>
            </a:r>
          </a:p>
          <a:p>
            <a:pPr marL="342900" indent="-342900">
              <a:buAutoNum type="arabicPeriod"/>
            </a:pPr>
            <a:r>
              <a:rPr lang="en-LU" b="1" dirty="0"/>
              <a:t>Scientific and industrial use</a:t>
            </a:r>
          </a:p>
        </p:txBody>
      </p:sp>
    </p:spTree>
    <p:extLst>
      <p:ext uri="{BB962C8B-B14F-4D97-AF65-F5344CB8AC3E}">
        <p14:creationId xmlns:p14="http://schemas.microsoft.com/office/powerpoint/2010/main" val="9119335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9651A9-C877-C110-F205-71CE7F303C42}"/>
              </a:ext>
            </a:extLst>
          </p:cNvPr>
          <p:cNvSpPr txBox="1"/>
          <p:nvPr/>
        </p:nvSpPr>
        <p:spPr>
          <a:xfrm>
            <a:off x="95693" y="116958"/>
            <a:ext cx="77715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>
                <a:solidFill>
                  <a:srgbClr val="01A3B0"/>
                </a:solidFill>
              </a:rPr>
              <a:t>Session 1. Introduction to Convolutional Neural Networks (CNNs)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605D5A-C24E-8AA0-AF4B-C79D6DB17E37}"/>
              </a:ext>
            </a:extLst>
          </p:cNvPr>
          <p:cNvSpPr txBox="1"/>
          <p:nvPr/>
        </p:nvSpPr>
        <p:spPr>
          <a:xfrm>
            <a:off x="244549" y="486290"/>
            <a:ext cx="17684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/>
              <a:t>4. Challenges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4688C7-804A-115D-21B4-49C4724C0E74}"/>
              </a:ext>
            </a:extLst>
          </p:cNvPr>
          <p:cNvSpPr txBox="1"/>
          <p:nvPr/>
        </p:nvSpPr>
        <p:spPr>
          <a:xfrm>
            <a:off x="244549" y="1016398"/>
            <a:ext cx="1138547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U" b="1" dirty="0"/>
              <a:t>1. </a:t>
            </a:r>
            <a:r>
              <a:rPr lang="en-GB" b="1" dirty="0"/>
              <a:t>Data Requirements</a:t>
            </a:r>
          </a:p>
          <a:p>
            <a:r>
              <a:rPr lang="en-GB" dirty="0"/>
              <a:t>CNNs need </a:t>
            </a:r>
            <a:r>
              <a:rPr lang="en-GB" b="1" dirty="0"/>
              <a:t>large labelled datasets</a:t>
            </a:r>
            <a:r>
              <a:rPr lang="en-GB" dirty="0"/>
              <a:t> to avoid overfitting.</a:t>
            </a:r>
          </a:p>
          <a:p>
            <a:r>
              <a:rPr lang="en-LU" b="1" dirty="0"/>
              <a:t>2. </a:t>
            </a:r>
            <a:r>
              <a:rPr lang="en-GB" b="1" dirty="0"/>
              <a:t>Computational Cost</a:t>
            </a:r>
          </a:p>
          <a:p>
            <a:r>
              <a:rPr lang="en-GB" dirty="0"/>
              <a:t>High training time and memory footprint.</a:t>
            </a:r>
          </a:p>
          <a:p>
            <a:r>
              <a:rPr lang="en-GB" dirty="0"/>
              <a:t>Need for </a:t>
            </a:r>
            <a:r>
              <a:rPr lang="en-GB" b="1" dirty="0"/>
              <a:t>GPUs/TPUs</a:t>
            </a:r>
            <a:r>
              <a:rPr lang="en-GB" dirty="0"/>
              <a:t> or HPC resources for deep or large-scale models.</a:t>
            </a:r>
          </a:p>
          <a:p>
            <a:r>
              <a:rPr lang="en-LU" b="1" dirty="0"/>
              <a:t>3. </a:t>
            </a:r>
            <a:r>
              <a:rPr lang="en-GB" b="1" dirty="0"/>
              <a:t>Interpretability</a:t>
            </a:r>
          </a:p>
          <a:p>
            <a:r>
              <a:rPr lang="en-GB" dirty="0"/>
              <a:t>CNNs are often </a:t>
            </a:r>
            <a:r>
              <a:rPr lang="en-GB" b="1" dirty="0"/>
              <a:t>black boxes</a:t>
            </a:r>
            <a:r>
              <a:rPr lang="en-GB" dirty="0"/>
              <a:t>; difficult to explain decisions.</a:t>
            </a:r>
          </a:p>
          <a:p>
            <a:r>
              <a:rPr lang="en-GB" dirty="0"/>
              <a:t>Techniques like Grad-CAM are used for visualization, but not always sufficient.</a:t>
            </a:r>
          </a:p>
          <a:p>
            <a:r>
              <a:rPr lang="en-LU" b="1" dirty="0"/>
              <a:t>4. </a:t>
            </a:r>
            <a:r>
              <a:rPr lang="en-GB" b="1" dirty="0"/>
              <a:t>Overfitting</a:t>
            </a:r>
          </a:p>
          <a:p>
            <a:r>
              <a:rPr lang="en-GB" dirty="0"/>
              <a:t>Especially problematic with small datasets or deep networks.</a:t>
            </a:r>
          </a:p>
          <a:p>
            <a:r>
              <a:rPr lang="en-GB" dirty="0"/>
              <a:t>Needs dropout, data augmentation, early stopping, etc.</a:t>
            </a:r>
          </a:p>
          <a:p>
            <a:r>
              <a:rPr lang="en-LU" b="1" dirty="0"/>
              <a:t>5. </a:t>
            </a:r>
            <a:r>
              <a:rPr lang="en-GB" b="1" dirty="0"/>
              <a:t>Adversarial Vulnerability</a:t>
            </a:r>
          </a:p>
          <a:p>
            <a:r>
              <a:rPr lang="en-GB" dirty="0"/>
              <a:t>CNNs are sensitive to small, imperceptible perturbations.</a:t>
            </a:r>
          </a:p>
          <a:p>
            <a:r>
              <a:rPr lang="en-GB" dirty="0"/>
              <a:t>Raises concerns in security-critical applications.</a:t>
            </a:r>
          </a:p>
          <a:p>
            <a:r>
              <a:rPr lang="en-LU" b="1" dirty="0"/>
              <a:t>6. </a:t>
            </a:r>
            <a:r>
              <a:rPr lang="en-GB" b="1" dirty="0"/>
              <a:t>Generalization and Transferability</a:t>
            </a:r>
          </a:p>
          <a:p>
            <a:r>
              <a:rPr lang="en-GB" dirty="0"/>
              <a:t>Models trained on one domain often fail to generalize to others.</a:t>
            </a:r>
          </a:p>
          <a:p>
            <a:r>
              <a:rPr lang="en-GB" dirty="0"/>
              <a:t>Domain adaptation and self-supervision are partial solutions.</a:t>
            </a:r>
          </a:p>
          <a:p>
            <a:r>
              <a:rPr lang="en-LU" b="1" dirty="0"/>
              <a:t>7. </a:t>
            </a:r>
            <a:r>
              <a:rPr lang="en-GB" b="1" dirty="0"/>
              <a:t>Deployment Constraints</a:t>
            </a:r>
          </a:p>
          <a:p>
            <a:r>
              <a:rPr lang="en-GB" dirty="0"/>
              <a:t>Model size and inference latency can be bottlenecks for </a:t>
            </a:r>
            <a:r>
              <a:rPr lang="en-GB" b="1" dirty="0"/>
              <a:t>edge or real-time systems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66826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44E012-D518-0BFE-F8B7-4484A93FCD4C}"/>
              </a:ext>
            </a:extLst>
          </p:cNvPr>
          <p:cNvSpPr txBox="1"/>
          <p:nvPr/>
        </p:nvSpPr>
        <p:spPr>
          <a:xfrm>
            <a:off x="95693" y="116958"/>
            <a:ext cx="77715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>
                <a:solidFill>
                  <a:srgbClr val="01A3B0"/>
                </a:solidFill>
              </a:rPr>
              <a:t>Session 1. Introduction to Convolutional Neural Networks (CNNs)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625552-FF99-A916-E3F3-088F7FDE3016}"/>
              </a:ext>
            </a:extLst>
          </p:cNvPr>
          <p:cNvSpPr txBox="1"/>
          <p:nvPr/>
        </p:nvSpPr>
        <p:spPr>
          <a:xfrm>
            <a:off x="244549" y="486290"/>
            <a:ext cx="57645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/>
              <a:t>Exercise: Designing a simple CNN in TensorFlow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244EF-1BAB-71C9-0172-30AF86608AA7}"/>
              </a:ext>
            </a:extLst>
          </p:cNvPr>
          <p:cNvSpPr txBox="1"/>
          <p:nvPr/>
        </p:nvSpPr>
        <p:spPr>
          <a:xfrm>
            <a:off x="244549" y="936009"/>
            <a:ext cx="11842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U" b="1" dirty="0"/>
              <a:t>Objective: </a:t>
            </a:r>
            <a:r>
              <a:rPr lang="en-GB" dirty="0"/>
              <a:t>Train and compare several convolutional neural networks on CIFAR-10 using TensorFlow, and benchmark performance on HPC resources.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C2319E-B15F-1C80-2A74-86F3921042CD}"/>
              </a:ext>
            </a:extLst>
          </p:cNvPr>
          <p:cNvSpPr txBox="1"/>
          <p:nvPr/>
        </p:nvSpPr>
        <p:spPr>
          <a:xfrm>
            <a:off x="244549" y="1582340"/>
            <a:ext cx="11428339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1" dirty="0"/>
              <a:t> Learning Goals: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 Understand architectural choices: depth, batch norm, dropout, etc.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 Compare training time and validation accuracy.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 Generate and interpret confusion matrices and prediction grids.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 Export metrics and </a:t>
            </a:r>
            <a:r>
              <a:rPr lang="en-GB" dirty="0" err="1"/>
              <a:t>analyze</a:t>
            </a:r>
            <a:r>
              <a:rPr lang="en-GB" dirty="0"/>
              <a:t> influence of model complexity.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13E0C5-79CD-05AD-E166-6FCC9B003925}"/>
              </a:ext>
            </a:extLst>
          </p:cNvPr>
          <p:cNvSpPr txBox="1"/>
          <p:nvPr/>
        </p:nvSpPr>
        <p:spPr>
          <a:xfrm>
            <a:off x="244549" y="3663276"/>
            <a:ext cx="8485114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1" dirty="0"/>
              <a:t>Key Steps: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Load and normalize</a:t>
            </a:r>
            <a:r>
              <a:rPr lang="en-GB" dirty="0"/>
              <a:t> CIFAR-10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Define four CNN models</a:t>
            </a:r>
            <a:r>
              <a:rPr lang="en-GB" dirty="0"/>
              <a:t> with increasing complexity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Train with callbacks</a:t>
            </a:r>
            <a:r>
              <a:rPr lang="en-GB" dirty="0"/>
              <a:t> (timing, early stopping, LR scheduling)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Log and save metrics</a:t>
            </a:r>
            <a:r>
              <a:rPr lang="en-GB" dirty="0"/>
              <a:t> per model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Compare validation accuracy/loss and confusion matrices</a:t>
            </a:r>
            <a:endParaRPr lang="en-GB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Visualize predictions</a:t>
            </a:r>
            <a:r>
              <a:rPr lang="en-GB" dirty="0"/>
              <a:t> using sample grid plots</a:t>
            </a:r>
          </a:p>
        </p:txBody>
      </p:sp>
    </p:spTree>
    <p:extLst>
      <p:ext uri="{BB962C8B-B14F-4D97-AF65-F5344CB8AC3E}">
        <p14:creationId xmlns:p14="http://schemas.microsoft.com/office/powerpoint/2010/main" val="23800817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8A8B5D-B75E-DAD5-F93A-06A29CABF30C}"/>
              </a:ext>
            </a:extLst>
          </p:cNvPr>
          <p:cNvSpPr txBox="1"/>
          <p:nvPr/>
        </p:nvSpPr>
        <p:spPr>
          <a:xfrm>
            <a:off x="95693" y="116958"/>
            <a:ext cx="58076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>
                <a:solidFill>
                  <a:srgbClr val="01A3B0"/>
                </a:solidFill>
              </a:rPr>
              <a:t>Session 2. HPC Fundamentals for Deep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D804E5-FAEA-59E8-9B45-0306415A194F}"/>
              </a:ext>
            </a:extLst>
          </p:cNvPr>
          <p:cNvSpPr txBox="1"/>
          <p:nvPr/>
        </p:nvSpPr>
        <p:spPr>
          <a:xfrm>
            <a:off x="244549" y="486290"/>
            <a:ext cx="4023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/>
              <a:t>1. Essentials of HPC architecture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E26206-55CF-716B-3257-AF850DCCE2E1}"/>
              </a:ext>
            </a:extLst>
          </p:cNvPr>
          <p:cNvSpPr txBox="1"/>
          <p:nvPr/>
        </p:nvSpPr>
        <p:spPr>
          <a:xfrm>
            <a:off x="244549" y="1072713"/>
            <a:ext cx="11771239" cy="5453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What is HPC?</a:t>
            </a:r>
          </a:p>
          <a:p>
            <a:pPr>
              <a:lnSpc>
                <a:spcPct val="150000"/>
              </a:lnSpc>
            </a:pPr>
            <a:r>
              <a:rPr lang="en-GB" dirty="0"/>
              <a:t>High-Performance Computing (HPC) is the use of aggregated computing power—typically thousands of CPU/GPU cores—to solve complex computational problems </a:t>
            </a:r>
            <a:r>
              <a:rPr lang="en-GB" b="1" dirty="0"/>
              <a:t>in parallel</a:t>
            </a:r>
            <a:r>
              <a:rPr lang="en-GB" dirty="0"/>
              <a:t>.</a:t>
            </a:r>
          </a:p>
          <a:p>
            <a:pPr>
              <a:lnSpc>
                <a:spcPct val="150000"/>
              </a:lnSpc>
            </a:pPr>
            <a:br>
              <a:rPr lang="en-GB" dirty="0"/>
            </a:br>
            <a:r>
              <a:rPr lang="en-GB" b="1" dirty="0"/>
              <a:t>Architecture Breakdown</a:t>
            </a:r>
          </a:p>
          <a:p>
            <a:pPr>
              <a:lnSpc>
                <a:spcPct val="150000"/>
              </a:lnSpc>
            </a:pPr>
            <a:r>
              <a:rPr lang="en-GB" b="1" dirty="0"/>
              <a:t>Compute nodes</a:t>
            </a:r>
            <a:r>
              <a:rPr lang="en-GB" dirty="0"/>
              <a:t>: Machines with CPUs, memory, and optionally GPUs.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Interconnect</a:t>
            </a:r>
            <a:r>
              <a:rPr lang="en-GB" dirty="0"/>
              <a:t>: Ultra-fast communication fabric (e.g., InfiniBand, </a:t>
            </a:r>
            <a:r>
              <a:rPr lang="en-GB" dirty="0" err="1"/>
              <a:t>NVLink</a:t>
            </a:r>
            <a:r>
              <a:rPr lang="en-GB" dirty="0"/>
              <a:t>) enabling data sharing between nodes.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Head/Login node</a:t>
            </a:r>
            <a:r>
              <a:rPr lang="en-GB" dirty="0"/>
              <a:t>: Where users log in, submit jobs, and access the filesystem.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Storage</a:t>
            </a:r>
            <a:r>
              <a:rPr lang="en-GB" dirty="0"/>
              <a:t>: Parallel file systems (e.g., Lustre, GPFS) shared across nodes.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r>
              <a:rPr lang="en-LU" b="1" dirty="0"/>
              <a:t> </a:t>
            </a:r>
            <a:r>
              <a:rPr lang="en-GB" b="1" dirty="0"/>
              <a:t>SLURM Scheduler</a:t>
            </a:r>
          </a:p>
          <a:p>
            <a:pPr>
              <a:lnSpc>
                <a:spcPct val="150000"/>
              </a:lnSpc>
            </a:pPr>
            <a:r>
              <a:rPr lang="en-GB" dirty="0"/>
              <a:t>Manages job queues, resources, and execution on HPC clusters.</a:t>
            </a:r>
          </a:p>
          <a:p>
            <a:pPr>
              <a:lnSpc>
                <a:spcPct val="150000"/>
              </a:lnSpc>
            </a:pPr>
            <a:r>
              <a:rPr lang="en-GB" dirty="0"/>
              <a:t>User submits jobs via SLURM scripts (</a:t>
            </a:r>
            <a:r>
              <a:rPr lang="en-GB" dirty="0" err="1"/>
              <a:t>sbatch</a:t>
            </a:r>
            <a:r>
              <a:rPr lang="en-GB" dirty="0"/>
              <a:t>, </a:t>
            </a:r>
            <a:r>
              <a:rPr lang="en-GB" dirty="0" err="1"/>
              <a:t>srun</a:t>
            </a:r>
            <a:r>
              <a:rPr lang="en-GB" dirty="0"/>
              <a:t>, etc.).</a:t>
            </a:r>
          </a:p>
        </p:txBody>
      </p:sp>
    </p:spTree>
    <p:extLst>
      <p:ext uri="{BB962C8B-B14F-4D97-AF65-F5344CB8AC3E}">
        <p14:creationId xmlns:p14="http://schemas.microsoft.com/office/powerpoint/2010/main" val="39291938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CC167F-7951-4EED-D536-F92EB2516E39}"/>
              </a:ext>
            </a:extLst>
          </p:cNvPr>
          <p:cNvSpPr txBox="1"/>
          <p:nvPr/>
        </p:nvSpPr>
        <p:spPr>
          <a:xfrm>
            <a:off x="150019" y="101082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1A3B0"/>
                </a:solidFill>
              </a:rPr>
              <a:t>Understanding the SLURM Scheduler in HPC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BB36D-E394-CDAB-6272-BCD0E0770672}"/>
              </a:ext>
            </a:extLst>
          </p:cNvPr>
          <p:cNvSpPr txBox="1"/>
          <p:nvPr/>
        </p:nvSpPr>
        <p:spPr>
          <a:xfrm>
            <a:off x="150019" y="501192"/>
            <a:ext cx="11780044" cy="3376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1" dirty="0"/>
              <a:t>What is SLURM?</a:t>
            </a:r>
          </a:p>
          <a:p>
            <a:pPr>
              <a:lnSpc>
                <a:spcPct val="150000"/>
              </a:lnSpc>
            </a:pPr>
            <a:r>
              <a:rPr lang="en-GB" b="1" dirty="0"/>
              <a:t>SLURM (Simple Linux Utility for Resource Management)</a:t>
            </a:r>
            <a:r>
              <a:rPr lang="en-GB" dirty="0"/>
              <a:t> is a widely-used, open-source workload manager for HPC clusters.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 Acts as the </a:t>
            </a:r>
            <a:r>
              <a:rPr lang="en-GB" b="1" dirty="0"/>
              <a:t>job scheduling system</a:t>
            </a:r>
            <a:r>
              <a:rPr lang="en-GB" dirty="0"/>
              <a:t>, responsible for: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 Allocating compute resources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 Queuing jobs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 Managing execution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 Handling job dependencies and priorities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4E3839-D665-D706-8B25-809192B9C72F}"/>
              </a:ext>
            </a:extLst>
          </p:cNvPr>
          <p:cNvSpPr txBox="1"/>
          <p:nvPr/>
        </p:nvSpPr>
        <p:spPr>
          <a:xfrm>
            <a:off x="150019" y="4277676"/>
            <a:ext cx="8782051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1" dirty="0"/>
              <a:t>Why Do We Need a Scheduler?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 HPC clusters serve </a:t>
            </a:r>
            <a:r>
              <a:rPr lang="en-GB" b="1" dirty="0"/>
              <a:t>multiple users and jobs</a:t>
            </a:r>
            <a:r>
              <a:rPr lang="en-GB" dirty="0"/>
              <a:t> simultaneously.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 Resources (CPUs, GPUs, memory) are finite.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 SLURM ensures </a:t>
            </a:r>
            <a:r>
              <a:rPr lang="en-GB" b="1" dirty="0"/>
              <a:t>fair, efficient, and prioritized usage</a:t>
            </a:r>
            <a:r>
              <a:rPr lang="en-GB" dirty="0"/>
              <a:t> of the cluster.</a:t>
            </a:r>
          </a:p>
        </p:txBody>
      </p:sp>
    </p:spTree>
    <p:extLst>
      <p:ext uri="{BB962C8B-B14F-4D97-AF65-F5344CB8AC3E}">
        <p14:creationId xmlns:p14="http://schemas.microsoft.com/office/powerpoint/2010/main" val="13964003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CA6AA8-B272-1370-04CF-4A7E8007C360}"/>
              </a:ext>
            </a:extLst>
          </p:cNvPr>
          <p:cNvSpPr txBox="1"/>
          <p:nvPr/>
        </p:nvSpPr>
        <p:spPr>
          <a:xfrm>
            <a:off x="0" y="316009"/>
            <a:ext cx="3586162" cy="6049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2000" b="1" dirty="0"/>
              <a:t>Basic SLURM Workflow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000" b="1" dirty="0"/>
              <a:t>User writes a job script</a:t>
            </a:r>
            <a:r>
              <a:rPr lang="en-GB" sz="2000" dirty="0"/>
              <a:t> (shell script with SLURM directives)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000" b="1" dirty="0"/>
              <a:t>Submit job</a:t>
            </a:r>
            <a:r>
              <a:rPr lang="en-GB" sz="2000" dirty="0"/>
              <a:t>: </a:t>
            </a:r>
            <a:r>
              <a:rPr lang="en-GB" sz="2000" dirty="0" err="1"/>
              <a:t>sbatch</a:t>
            </a:r>
            <a:r>
              <a:rPr lang="en-GB" sz="2000" dirty="0"/>
              <a:t> </a:t>
            </a:r>
            <a:r>
              <a:rPr lang="en-GB" sz="2000" dirty="0" err="1"/>
              <a:t>my_job.sh</a:t>
            </a:r>
            <a:endParaRPr lang="en-GB" sz="20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000" b="1" dirty="0"/>
              <a:t>SLURM queues and dispatches</a:t>
            </a:r>
            <a:r>
              <a:rPr lang="en-GB" sz="2000" dirty="0"/>
              <a:t> the job to available nodes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000" b="1" dirty="0"/>
              <a:t>Job runs</a:t>
            </a:r>
            <a:r>
              <a:rPr lang="en-GB" sz="2000" dirty="0"/>
              <a:t> with specified resources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000" b="1" dirty="0"/>
              <a:t>Output</a:t>
            </a:r>
            <a:r>
              <a:rPr lang="en-GB" sz="2000" dirty="0"/>
              <a:t> is saved to log files or user-defined paths</a:t>
            </a:r>
          </a:p>
        </p:txBody>
      </p:sp>
      <p:pic>
        <p:nvPicPr>
          <p:cNvPr id="7" name="Picture 6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916AF68F-B267-8D5D-25CE-353F27051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147" y="317630"/>
            <a:ext cx="8160678" cy="622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9175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613010-FBF3-E0E3-6A46-06F636B28C81}"/>
              </a:ext>
            </a:extLst>
          </p:cNvPr>
          <p:cNvSpPr txBox="1"/>
          <p:nvPr/>
        </p:nvSpPr>
        <p:spPr>
          <a:xfrm>
            <a:off x="0" y="67285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1A3B0"/>
                </a:solidFill>
              </a:rPr>
              <a:t> Why and When to Use HPC for Deep Learning?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78F2B6-705C-26B6-BE19-17BB98C6D89E}"/>
              </a:ext>
            </a:extLst>
          </p:cNvPr>
          <p:cNvSpPr txBox="1"/>
          <p:nvPr/>
        </p:nvSpPr>
        <p:spPr>
          <a:xfrm>
            <a:off x="109537" y="1000887"/>
            <a:ext cx="11972925" cy="1894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2000" dirty="0"/>
              <a:t>Deep Learning, particularly with CNNs and large-scale models, is both: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 Data-intensive</a:t>
            </a:r>
            <a:r>
              <a:rPr lang="en-GB" sz="2000" dirty="0"/>
              <a:t>: Training datasets like ImageNet or video data often exceed hundreds of GBs.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 Compute-heavy</a:t>
            </a:r>
            <a:r>
              <a:rPr lang="en-GB" sz="2000" dirty="0"/>
              <a:t>: Models may contain </a:t>
            </a:r>
            <a:r>
              <a:rPr lang="en-GB" sz="2000" b="1" dirty="0"/>
              <a:t>millions to billions of parameters</a:t>
            </a:r>
            <a:r>
              <a:rPr lang="en-GB" sz="2000" dirty="0"/>
              <a:t>—demanding powerful accelerators and fast interconnects.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A83729-BB1E-D843-C0EB-BE62884E183B}"/>
              </a:ext>
            </a:extLst>
          </p:cNvPr>
          <p:cNvSpPr txBox="1"/>
          <p:nvPr/>
        </p:nvSpPr>
        <p:spPr>
          <a:xfrm>
            <a:off x="0" y="3200400"/>
            <a:ext cx="12192000" cy="2356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2000" b="1" dirty="0"/>
              <a:t>HPC enables scalable training through:</a:t>
            </a:r>
            <a:endParaRPr lang="en-GB" sz="2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sz="2000" b="1" dirty="0"/>
              <a:t> </a:t>
            </a:r>
            <a:r>
              <a:rPr lang="en-GB" sz="2000" b="1" dirty="0"/>
              <a:t>Multi-GPU parallelism</a:t>
            </a:r>
            <a:r>
              <a:rPr lang="en-GB" sz="2000" dirty="0"/>
              <a:t>: Drastically reduces training time by distributing computation.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sz="2000" b="1" dirty="0"/>
              <a:t> </a:t>
            </a:r>
            <a:r>
              <a:rPr lang="en-GB" sz="2000" b="1" dirty="0"/>
              <a:t>Multi-node scaling</a:t>
            </a:r>
            <a:r>
              <a:rPr lang="en-GB" sz="2000" dirty="0"/>
              <a:t>: Handles models and batch sizes that exceed single-node memory limits.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sz="2000" b="1" dirty="0"/>
              <a:t> </a:t>
            </a:r>
            <a:r>
              <a:rPr lang="en-GB" sz="2000" b="1" dirty="0"/>
              <a:t>Concurrent experimentation</a:t>
            </a:r>
            <a:r>
              <a:rPr lang="en-GB" sz="2000" dirty="0"/>
              <a:t>: Essential for </a:t>
            </a:r>
            <a:r>
              <a:rPr lang="en-GB" sz="2000" b="1" dirty="0"/>
              <a:t>hyperparameter tuning</a:t>
            </a:r>
            <a:r>
              <a:rPr lang="en-GB" sz="2000" dirty="0"/>
              <a:t>, </a:t>
            </a:r>
            <a:r>
              <a:rPr lang="en-GB" sz="2000" b="1" dirty="0"/>
              <a:t>architecture search</a:t>
            </a:r>
            <a:r>
              <a:rPr lang="en-GB" sz="2000" dirty="0"/>
              <a:t>, and </a:t>
            </a:r>
            <a:r>
              <a:rPr lang="en-GB" sz="2000" b="1" dirty="0"/>
              <a:t>reproducibility</a:t>
            </a:r>
            <a:r>
              <a:rPr lang="en-GB" sz="2000" dirty="0"/>
              <a:t> under high load.</a:t>
            </a:r>
          </a:p>
        </p:txBody>
      </p:sp>
    </p:spTree>
    <p:extLst>
      <p:ext uri="{BB962C8B-B14F-4D97-AF65-F5344CB8AC3E}">
        <p14:creationId xmlns:p14="http://schemas.microsoft.com/office/powerpoint/2010/main" val="36083884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B1A8BA-C31D-A218-E88B-C85A395DE6C3}"/>
              </a:ext>
            </a:extLst>
          </p:cNvPr>
          <p:cNvSpPr txBox="1"/>
          <p:nvPr/>
        </p:nvSpPr>
        <p:spPr>
          <a:xfrm>
            <a:off x="235744" y="158234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1A3B0"/>
                </a:solidFill>
              </a:rPr>
              <a:t>When Is HPC a Must?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02A9F6-9A11-5E4E-2CDB-8B3D15A94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197151"/>
              </p:ext>
            </p:extLst>
          </p:nvPr>
        </p:nvGraphicFramePr>
        <p:xfrm>
          <a:off x="838200" y="1158021"/>
          <a:ext cx="10515600" cy="4485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0729262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07759464"/>
                    </a:ext>
                  </a:extLst>
                </a:gridCol>
              </a:tblGrid>
              <a:tr h="507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/>
                        <a:t>Scenario</a:t>
                      </a:r>
                      <a:endParaRPr lang="en-GB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 dirty="0"/>
                        <a:t>Why HPC Is Needed?</a:t>
                      </a:r>
                      <a:endParaRPr lang="en-GB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79567"/>
                  </a:ext>
                </a:extLst>
              </a:tr>
              <a:tr h="8970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/>
                        <a:t>Training deep models</a:t>
                      </a:r>
                      <a:endParaRPr lang="en-GB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/>
                        <a:t>E.g., ResNet-152, </a:t>
                      </a:r>
                      <a:r>
                        <a:rPr lang="en-GB" sz="2000" dirty="0" err="1"/>
                        <a:t>EfficientNet</a:t>
                      </a:r>
                      <a:r>
                        <a:rPr lang="en-GB" sz="2000" dirty="0"/>
                        <a:t>, transformers — require significant GPU memory and compute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9359901"/>
                  </a:ext>
                </a:extLst>
              </a:tr>
              <a:tr h="8970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 dirty="0"/>
                        <a:t>Hyperparameter tuning / Neural Architecture Search</a:t>
                      </a:r>
                      <a:endParaRPr lang="en-GB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/>
                        <a:t>Run </a:t>
                      </a:r>
                      <a:r>
                        <a:rPr lang="en-GB" sz="2000" b="1" dirty="0"/>
                        <a:t>hundreds of models</a:t>
                      </a:r>
                      <a:r>
                        <a:rPr lang="en-GB" sz="2000" dirty="0"/>
                        <a:t> in parallel to explore search space efficiently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3266872"/>
                  </a:ext>
                </a:extLst>
              </a:tr>
              <a:tr h="1287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/>
                        <a:t>Research workloads</a:t>
                      </a:r>
                      <a:endParaRPr lang="en-GB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/>
                        <a:t>Academic labs and industry R&amp;D teams often share infrastructure — </a:t>
                      </a:r>
                      <a:r>
                        <a:rPr lang="en-GB" sz="2000" b="1" dirty="0"/>
                        <a:t>multi-user support</a:t>
                      </a:r>
                      <a:r>
                        <a:rPr lang="en-GB" sz="2000" dirty="0"/>
                        <a:t>, quotas, job scheduling.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265186"/>
                  </a:ext>
                </a:extLst>
              </a:tr>
              <a:tr h="8970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/>
                        <a:t>Long training cycles</a:t>
                      </a:r>
                      <a:endParaRPr lang="en-GB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/>
                        <a:t>Jobs that run for </a:t>
                      </a:r>
                      <a:r>
                        <a:rPr lang="en-GB" sz="2000" b="1" dirty="0"/>
                        <a:t>days to weeks</a:t>
                      </a:r>
                      <a:r>
                        <a:rPr lang="en-GB" sz="2000" dirty="0"/>
                        <a:t> must be scheduled and checkpointed robustly.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336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5189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4A87B7-8A15-D100-869B-67BA824EFB20}"/>
              </a:ext>
            </a:extLst>
          </p:cNvPr>
          <p:cNvSpPr txBox="1"/>
          <p:nvPr/>
        </p:nvSpPr>
        <p:spPr>
          <a:xfrm>
            <a:off x="95693" y="116958"/>
            <a:ext cx="58076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>
                <a:solidFill>
                  <a:srgbClr val="01A3B0"/>
                </a:solidFill>
              </a:rPr>
              <a:t>Session 2. HPC Fundamentals for Deep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5FCC3B-CD58-D0A9-DD57-5F411FAA41CC}"/>
              </a:ext>
            </a:extLst>
          </p:cNvPr>
          <p:cNvSpPr txBox="1"/>
          <p:nvPr/>
        </p:nvSpPr>
        <p:spPr>
          <a:xfrm>
            <a:off x="244549" y="486290"/>
            <a:ext cx="3958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/>
              <a:t>2. GPU vs CPU for Deep Learning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194D1B-5C62-E8C5-7A0C-36476491F967}"/>
              </a:ext>
            </a:extLst>
          </p:cNvPr>
          <p:cNvSpPr txBox="1"/>
          <p:nvPr/>
        </p:nvSpPr>
        <p:spPr>
          <a:xfrm>
            <a:off x="95693" y="1527129"/>
            <a:ext cx="6100762" cy="3741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2000" b="1" dirty="0"/>
              <a:t>CPUs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General-purpose processors.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Designed for a mix of </a:t>
            </a:r>
            <a:r>
              <a:rPr lang="en-GB" sz="2000" b="1" dirty="0"/>
              <a:t>sequential and parallel execution</a:t>
            </a:r>
            <a:r>
              <a:rPr lang="en-GB" sz="2000" dirty="0"/>
              <a:t> (multi-core + multi-threaded).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Best for: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Data preprocessing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Control-heavy logic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Scheduling, file I/O, and orchestration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429F7-57BC-C8C7-51F0-5BE2A93F67CB}"/>
              </a:ext>
            </a:extLst>
          </p:cNvPr>
          <p:cNvSpPr txBox="1"/>
          <p:nvPr/>
        </p:nvSpPr>
        <p:spPr>
          <a:xfrm>
            <a:off x="6453907" y="1757961"/>
            <a:ext cx="5393532" cy="327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2000" b="1" dirty="0"/>
              <a:t>GPUs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Thousands of smaller cores for </a:t>
            </a:r>
            <a:r>
              <a:rPr lang="en-GB" sz="2000" b="1" dirty="0"/>
              <a:t>massively parallel</a:t>
            </a:r>
            <a:r>
              <a:rPr lang="en-GB" sz="2000" dirty="0"/>
              <a:t> workloads.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Designed to accelerate operations like: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Matrix multiplications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Tensor operations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Convolutions</a:t>
            </a:r>
          </a:p>
        </p:txBody>
      </p:sp>
    </p:spTree>
    <p:extLst>
      <p:ext uri="{BB962C8B-B14F-4D97-AF65-F5344CB8AC3E}">
        <p14:creationId xmlns:p14="http://schemas.microsoft.com/office/powerpoint/2010/main" val="38939669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DE8185-9BB8-BDE7-EF50-D5DB8E9A2543}"/>
              </a:ext>
            </a:extLst>
          </p:cNvPr>
          <p:cNvSpPr txBox="1"/>
          <p:nvPr/>
        </p:nvSpPr>
        <p:spPr>
          <a:xfrm>
            <a:off x="292894" y="229671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1A3B0"/>
                </a:solidFill>
              </a:rPr>
              <a:t>Deep Learning Workload Mapping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D8AED1-80F2-BAAC-67BA-0E4A161B5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312613"/>
              </p:ext>
            </p:extLst>
          </p:nvPr>
        </p:nvGraphicFramePr>
        <p:xfrm>
          <a:off x="695325" y="1355249"/>
          <a:ext cx="10515600" cy="3596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6004823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8771934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576790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/>
                        <a:t>Task</a:t>
                      </a:r>
                      <a:endParaRPr lang="en-GB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/>
                        <a:t>Ideal Hardware</a:t>
                      </a:r>
                      <a:endParaRPr lang="en-GB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/>
                        <a:t>Reason</a:t>
                      </a:r>
                      <a:endParaRPr lang="en-GB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8419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Data loading + augmentation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I/O-bound, control-heavy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0144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Forward + backward pass (training)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GPU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Parallelized matrix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3814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Loss function computation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GPU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Element-wise ops, fast with vectorization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797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Parameter updates (optimizers)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GPU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Low compute but frequent; better on-GPU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3394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Logging + metric aggregation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/>
                        <a:t>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/>
                        <a:t>Minimal compute, works asynchronously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525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2252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7C7A48-353C-1A55-D6C6-4B7B5BC8030A}"/>
              </a:ext>
            </a:extLst>
          </p:cNvPr>
          <p:cNvSpPr txBox="1"/>
          <p:nvPr/>
        </p:nvSpPr>
        <p:spPr>
          <a:xfrm>
            <a:off x="150019" y="115372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1A3B0"/>
                </a:solidFill>
              </a:rPr>
              <a:t>When to Use GPUs Over CPUs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56A2D9-F2C7-2BD7-63F1-55DB0E9C64B8}"/>
              </a:ext>
            </a:extLst>
          </p:cNvPr>
          <p:cNvSpPr txBox="1"/>
          <p:nvPr/>
        </p:nvSpPr>
        <p:spPr>
          <a:xfrm>
            <a:off x="328612" y="646957"/>
            <a:ext cx="10829925" cy="6049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2000" b="1" dirty="0"/>
              <a:t>Training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Always prefer GPUs (1–100x speedup).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Multi-GPU setups reduce epoch time and allow for bigger batch sizes.</a:t>
            </a:r>
          </a:p>
          <a:p>
            <a:pPr>
              <a:lnSpc>
                <a:spcPct val="150000"/>
              </a:lnSpc>
            </a:pPr>
            <a:endParaRPr lang="en-LU" sz="2000" b="1" dirty="0"/>
          </a:p>
          <a:p>
            <a:pPr>
              <a:lnSpc>
                <a:spcPct val="150000"/>
              </a:lnSpc>
              <a:buNone/>
            </a:pPr>
            <a:r>
              <a:rPr lang="en-GB" sz="2000" b="1" dirty="0"/>
              <a:t>Inference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Small models</a:t>
            </a:r>
            <a:r>
              <a:rPr lang="en-GB" sz="2000" dirty="0"/>
              <a:t> (e.g., on edge): CPU might suffice.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Large models or real-time</a:t>
            </a:r>
            <a:r>
              <a:rPr lang="en-GB" sz="2000" dirty="0"/>
              <a:t>: GPU is preferable.</a:t>
            </a:r>
          </a:p>
          <a:p>
            <a:pPr>
              <a:lnSpc>
                <a:spcPct val="150000"/>
              </a:lnSpc>
            </a:pPr>
            <a:endParaRPr lang="en-LU" sz="2000" b="1" dirty="0"/>
          </a:p>
          <a:p>
            <a:pPr>
              <a:lnSpc>
                <a:spcPct val="150000"/>
              </a:lnSpc>
              <a:buNone/>
            </a:pPr>
            <a:r>
              <a:rPr lang="en-GB" sz="2000" b="1" dirty="0"/>
              <a:t>Bottlenecks to Watch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GPU underutilization</a:t>
            </a:r>
            <a:r>
              <a:rPr lang="en-GB" sz="2000" dirty="0"/>
              <a:t> due to: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Data loader slowness (fix with </a:t>
            </a:r>
            <a:r>
              <a:rPr lang="en-GB" sz="2000" dirty="0" err="1"/>
              <a:t>num_workers</a:t>
            </a:r>
            <a:r>
              <a:rPr lang="en-GB" sz="2000" dirty="0"/>
              <a:t>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Small batch sizes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CPU-bound bottlenecks (e.g., image decoding)</a:t>
            </a:r>
          </a:p>
        </p:txBody>
      </p:sp>
    </p:spTree>
    <p:extLst>
      <p:ext uri="{BB962C8B-B14F-4D97-AF65-F5344CB8AC3E}">
        <p14:creationId xmlns:p14="http://schemas.microsoft.com/office/powerpoint/2010/main" val="25495149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601D32-B902-6063-200E-57923D13E647}"/>
              </a:ext>
            </a:extLst>
          </p:cNvPr>
          <p:cNvSpPr txBox="1"/>
          <p:nvPr/>
        </p:nvSpPr>
        <p:spPr>
          <a:xfrm>
            <a:off x="95693" y="116958"/>
            <a:ext cx="58076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>
                <a:solidFill>
                  <a:srgbClr val="01A3B0"/>
                </a:solidFill>
              </a:rPr>
              <a:t>Session 2. HPC Fundamentals for Deep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09A1E-F2A9-83D2-1181-B4AE550522BA}"/>
              </a:ext>
            </a:extLst>
          </p:cNvPr>
          <p:cNvSpPr txBox="1"/>
          <p:nvPr/>
        </p:nvSpPr>
        <p:spPr>
          <a:xfrm>
            <a:off x="244549" y="486290"/>
            <a:ext cx="3699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/>
              <a:t>3. Storage and I/O bottlenecks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EF13F1-E1DF-FAA0-930B-9D2D59DFC78A}"/>
              </a:ext>
            </a:extLst>
          </p:cNvPr>
          <p:cNvSpPr txBox="1"/>
          <p:nvPr/>
        </p:nvSpPr>
        <p:spPr>
          <a:xfrm>
            <a:off x="1377553" y="1178222"/>
            <a:ext cx="9436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HPC systems typically offer multiple tiers of storage optimized for different use cases: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892A8E2-A305-B86E-3314-E8ED54F9E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244016"/>
              </p:ext>
            </p:extLst>
          </p:nvPr>
        </p:nvGraphicFramePr>
        <p:xfrm>
          <a:off x="645573" y="2208709"/>
          <a:ext cx="10515600" cy="3505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9122537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070392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742602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14191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 dirty="0"/>
                        <a:t>Tier</a:t>
                      </a:r>
                      <a:endParaRPr lang="en-GB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/>
                        <a:t>Example</a:t>
                      </a:r>
                      <a:endParaRPr lang="en-GB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/>
                        <a:t>Characteristics</a:t>
                      </a:r>
                      <a:endParaRPr lang="en-GB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/>
                        <a:t>Usage</a:t>
                      </a:r>
                      <a:endParaRPr lang="en-GB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220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 dirty="0"/>
                        <a:t>Scratch</a:t>
                      </a:r>
                      <a:endParaRPr lang="en-GB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/scratch, node-local SSD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Temporary, fast, job-local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Training data, caching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195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 dirty="0"/>
                        <a:t>Project</a:t>
                      </a:r>
                      <a:endParaRPr lang="en-GB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/project, NFS or GPFS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Medium-speed, persistent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Model outputs, shared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972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 dirty="0"/>
                        <a:t>Archive</a:t>
                      </a:r>
                      <a:endParaRPr lang="en-GB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/archive, tape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Slow, long-term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Backup, publication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450162"/>
                  </a:ext>
                </a:extLst>
              </a:tr>
              <a:tr h="1725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 dirty="0"/>
                        <a:t>Isilon</a:t>
                      </a:r>
                      <a:endParaRPr lang="en-GB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/>
                        <a:t>/</a:t>
                      </a:r>
                      <a:r>
                        <a:rPr lang="en-GB" sz="2000" dirty="0" err="1"/>
                        <a:t>isilon</a:t>
                      </a:r>
                      <a:r>
                        <a:rPr lang="en-GB" sz="2000" dirty="0"/>
                        <a:t>, shared NAS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/>
                        <a:t>High-capacity, moderate-speed, shared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/>
                        <a:t>General user storage, I/O-bound reads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460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3800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A2F0C1-3F5A-B575-14AF-CC0016BAD71A}"/>
              </a:ext>
            </a:extLst>
          </p:cNvPr>
          <p:cNvSpPr txBox="1"/>
          <p:nvPr/>
        </p:nvSpPr>
        <p:spPr>
          <a:xfrm>
            <a:off x="0" y="172522"/>
            <a:ext cx="4886325" cy="413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1A3B0"/>
                </a:solidFill>
              </a:rPr>
              <a:t>Storage Bottlenecks in Deep 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04C7B7-4CE8-04E9-7CAB-B32364B9DCDD}"/>
              </a:ext>
            </a:extLst>
          </p:cNvPr>
          <p:cNvSpPr txBox="1"/>
          <p:nvPr/>
        </p:nvSpPr>
        <p:spPr>
          <a:xfrm>
            <a:off x="153589" y="693301"/>
            <a:ext cx="9076135" cy="3741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2000" b="1" dirty="0"/>
              <a:t>Challenges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Deep learning workloads often do: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Random access</a:t>
            </a:r>
            <a:r>
              <a:rPr lang="en-GB" sz="2000" dirty="0"/>
              <a:t> (e.g., image shuffling, augmentations)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Concurrent reads</a:t>
            </a:r>
            <a:r>
              <a:rPr lang="en-GB" sz="2000" dirty="0"/>
              <a:t> (from multiple workers or nodes)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If many jobs read from </a:t>
            </a:r>
            <a:r>
              <a:rPr lang="en-GB" sz="2000" b="1" dirty="0"/>
              <a:t>shared storage (e.g., Isilon)</a:t>
            </a:r>
            <a:r>
              <a:rPr lang="en-GB" sz="2000" dirty="0"/>
              <a:t> → leads to: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High </a:t>
            </a:r>
            <a:r>
              <a:rPr lang="en-GB" sz="2000" b="1" dirty="0"/>
              <a:t>latency</a:t>
            </a:r>
            <a:endParaRPr lang="en-GB" sz="20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Throughput degradation</a:t>
            </a:r>
            <a:endParaRPr lang="en-GB" sz="20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Occasional </a:t>
            </a:r>
            <a:r>
              <a:rPr lang="en-GB" sz="2000" b="1" dirty="0"/>
              <a:t>I/O throttling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B28913-ACDD-D227-50EB-CCD96F3D160E}"/>
              </a:ext>
            </a:extLst>
          </p:cNvPr>
          <p:cNvSpPr txBox="1"/>
          <p:nvPr/>
        </p:nvSpPr>
        <p:spPr>
          <a:xfrm>
            <a:off x="153589" y="4542095"/>
            <a:ext cx="6136480" cy="1894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2000" b="1" dirty="0"/>
              <a:t>Symptoms of I/O Bottlenecks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GPU underutilization (e.g., 20% usage)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 err="1"/>
              <a:t>num_workers</a:t>
            </a:r>
            <a:r>
              <a:rPr lang="en-GB" sz="2000" dirty="0"/>
              <a:t> does not help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Stalled training despite idle compute</a:t>
            </a:r>
          </a:p>
        </p:txBody>
      </p:sp>
    </p:spTree>
    <p:extLst>
      <p:ext uri="{BB962C8B-B14F-4D97-AF65-F5344CB8AC3E}">
        <p14:creationId xmlns:p14="http://schemas.microsoft.com/office/powerpoint/2010/main" val="14050582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5864E8-28A9-1F50-EF17-862EEA2099E9}"/>
              </a:ext>
            </a:extLst>
          </p:cNvPr>
          <p:cNvSpPr txBox="1"/>
          <p:nvPr/>
        </p:nvSpPr>
        <p:spPr>
          <a:xfrm>
            <a:off x="185738" y="172520"/>
            <a:ext cx="1850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1A3B0"/>
                </a:solidFill>
              </a:rPr>
              <a:t>Best Practices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F77B4C-BC68-CC1F-9564-839AEDAC08C5}"/>
              </a:ext>
            </a:extLst>
          </p:cNvPr>
          <p:cNvSpPr txBox="1"/>
          <p:nvPr/>
        </p:nvSpPr>
        <p:spPr>
          <a:xfrm>
            <a:off x="185738" y="172520"/>
            <a:ext cx="8851107" cy="6234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2000" b="1" dirty="0"/>
              <a:t> </a:t>
            </a:r>
          </a:p>
          <a:p>
            <a:pPr>
              <a:lnSpc>
                <a:spcPct val="150000"/>
              </a:lnSpc>
              <a:buNone/>
            </a:pPr>
            <a:r>
              <a:rPr lang="en-GB" sz="2000" b="1" dirty="0"/>
              <a:t>Optimize Data Placement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sz="2000" b="1" dirty="0"/>
              <a:t> </a:t>
            </a:r>
            <a:r>
              <a:rPr lang="en-GB" sz="2000" b="1" dirty="0"/>
              <a:t>Copy dataset to scratch</a:t>
            </a:r>
            <a:r>
              <a:rPr lang="en-GB" sz="2000" dirty="0"/>
              <a:t> during job start (local or parallel file system).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sz="2000" dirty="0"/>
              <a:t> </a:t>
            </a:r>
            <a:r>
              <a:rPr lang="en-GB" sz="2000" dirty="0"/>
              <a:t>Avoid streaming large datasets directly from /</a:t>
            </a:r>
            <a:r>
              <a:rPr lang="en-GB" sz="2000" dirty="0" err="1"/>
              <a:t>isilon</a:t>
            </a:r>
            <a:r>
              <a:rPr lang="en-GB" sz="2000" dirty="0"/>
              <a:t>.</a:t>
            </a:r>
          </a:p>
          <a:p>
            <a:pPr>
              <a:lnSpc>
                <a:spcPct val="150000"/>
              </a:lnSpc>
              <a:buNone/>
            </a:pPr>
            <a:endParaRPr lang="en-LU" sz="1400" b="1" dirty="0"/>
          </a:p>
          <a:p>
            <a:pPr>
              <a:lnSpc>
                <a:spcPct val="150000"/>
              </a:lnSpc>
              <a:buNone/>
            </a:pPr>
            <a:r>
              <a:rPr lang="en-GB" sz="2000" b="1" dirty="0"/>
              <a:t>Use Efficient Data Formats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Convert datasets to: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 err="1"/>
              <a:t>TFRecord</a:t>
            </a:r>
            <a:r>
              <a:rPr lang="en-GB" sz="2000" b="1" dirty="0"/>
              <a:t> (TensorFlow)</a:t>
            </a:r>
            <a:endParaRPr lang="en-GB" sz="2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HDF5</a:t>
            </a:r>
            <a:r>
              <a:rPr lang="en-GB" sz="2000" dirty="0"/>
              <a:t> or </a:t>
            </a:r>
            <a:r>
              <a:rPr lang="en-GB" sz="2000" b="1" dirty="0" err="1"/>
              <a:t>WebDataset</a:t>
            </a:r>
            <a:r>
              <a:rPr lang="en-GB" sz="2000" b="1" dirty="0"/>
              <a:t> (</a:t>
            </a:r>
            <a:r>
              <a:rPr lang="en-GB" sz="2000" b="1" dirty="0" err="1"/>
              <a:t>PyTorch</a:t>
            </a:r>
            <a:r>
              <a:rPr lang="en-GB" sz="2000" b="1" dirty="0"/>
              <a:t>)</a:t>
            </a:r>
            <a:endParaRPr lang="en-GB" sz="2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These reduce file system overhead and speed up batched loading.</a:t>
            </a:r>
          </a:p>
          <a:p>
            <a:pPr>
              <a:lnSpc>
                <a:spcPct val="150000"/>
              </a:lnSpc>
              <a:buNone/>
            </a:pPr>
            <a:endParaRPr lang="en-LU" sz="1400" b="1" dirty="0"/>
          </a:p>
          <a:p>
            <a:pPr>
              <a:lnSpc>
                <a:spcPct val="150000"/>
              </a:lnSpc>
              <a:buNone/>
            </a:pPr>
            <a:r>
              <a:rPr lang="en-GB" sz="2000" b="1" dirty="0"/>
              <a:t>Parallel Data Loading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Use high </a:t>
            </a:r>
            <a:r>
              <a:rPr lang="en-GB" sz="2000" dirty="0" err="1"/>
              <a:t>num_workers</a:t>
            </a:r>
            <a:r>
              <a:rPr lang="en-GB" sz="2000" dirty="0"/>
              <a:t> in </a:t>
            </a:r>
            <a:r>
              <a:rPr lang="en-GB" sz="2000" dirty="0" err="1"/>
              <a:t>DataLoader</a:t>
            </a:r>
            <a:r>
              <a:rPr lang="en-GB" sz="2000" dirty="0"/>
              <a:t>, but test empirically.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Pre-cache transformations and prefetch data to GPU when possible.</a:t>
            </a:r>
          </a:p>
        </p:txBody>
      </p:sp>
    </p:spTree>
    <p:extLst>
      <p:ext uri="{BB962C8B-B14F-4D97-AF65-F5344CB8AC3E}">
        <p14:creationId xmlns:p14="http://schemas.microsoft.com/office/powerpoint/2010/main" val="40947523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4078D0-AEDB-5206-1E62-1D7880FAB6A9}"/>
              </a:ext>
            </a:extLst>
          </p:cNvPr>
          <p:cNvSpPr txBox="1"/>
          <p:nvPr/>
        </p:nvSpPr>
        <p:spPr>
          <a:xfrm>
            <a:off x="95693" y="116958"/>
            <a:ext cx="58076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>
                <a:solidFill>
                  <a:srgbClr val="01A3B0"/>
                </a:solidFill>
              </a:rPr>
              <a:t>Session 2. HPC Fundamentals for Deep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63AF0-E188-3F2F-01A6-A46A463DB0A0}"/>
              </a:ext>
            </a:extLst>
          </p:cNvPr>
          <p:cNvSpPr txBox="1"/>
          <p:nvPr/>
        </p:nvSpPr>
        <p:spPr>
          <a:xfrm>
            <a:off x="244549" y="486290"/>
            <a:ext cx="2519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/>
              <a:t>4. Scaling strategies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15355-D2F3-64F1-3D3E-30D9925B4EE6}"/>
              </a:ext>
            </a:extLst>
          </p:cNvPr>
          <p:cNvSpPr txBox="1"/>
          <p:nvPr/>
        </p:nvSpPr>
        <p:spPr>
          <a:xfrm>
            <a:off x="244549" y="886400"/>
            <a:ext cx="8422480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1" dirty="0"/>
              <a:t>The Problem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Modern deep learning models are: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Data-hungry</a:t>
            </a:r>
            <a:r>
              <a:rPr lang="en-GB" dirty="0"/>
              <a:t>: Training datasets (e.g., ImageNet, LAION-5B) reach </a:t>
            </a:r>
            <a:r>
              <a:rPr lang="en-GB" b="1" dirty="0"/>
              <a:t>terabyte scale</a:t>
            </a:r>
            <a:r>
              <a:rPr lang="en-GB" dirty="0"/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Memory-intensive</a:t>
            </a:r>
            <a:r>
              <a:rPr lang="en-GB" dirty="0"/>
              <a:t>: Models like </a:t>
            </a:r>
            <a:r>
              <a:rPr lang="en-GB" b="1" dirty="0"/>
              <a:t>GPT-3</a:t>
            </a:r>
            <a:r>
              <a:rPr lang="en-GB" dirty="0"/>
              <a:t> require hundreds of GBs of GPU memory.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Time-consuming</a:t>
            </a:r>
            <a:r>
              <a:rPr lang="en-GB" dirty="0"/>
              <a:t>: Even with 1 GPU, training may take </a:t>
            </a:r>
            <a:r>
              <a:rPr lang="en-GB" b="1" dirty="0"/>
              <a:t>days to weeks</a:t>
            </a:r>
            <a:r>
              <a:rPr lang="en-GB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88F469-21CC-68B3-06D8-474B73343F65}"/>
              </a:ext>
            </a:extLst>
          </p:cNvPr>
          <p:cNvSpPr txBox="1"/>
          <p:nvPr/>
        </p:nvSpPr>
        <p:spPr>
          <a:xfrm>
            <a:off x="244549" y="4216607"/>
            <a:ext cx="6556301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1" dirty="0"/>
              <a:t>The Need to Scale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Single GPU</a:t>
            </a:r>
            <a:r>
              <a:rPr lang="en-GB" dirty="0"/>
              <a:t> is no longer sufficient for: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Large models (ResNet-152, EfficientNet-L2, LLMs)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Real-time or production pipelines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Hyperparameter tuning or Neural Architecture Search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E8D1F8-2256-F618-8BA0-05EC6403C825}"/>
              </a:ext>
            </a:extLst>
          </p:cNvPr>
          <p:cNvSpPr txBox="1"/>
          <p:nvPr/>
        </p:nvSpPr>
        <p:spPr>
          <a:xfrm>
            <a:off x="6096000" y="4216607"/>
            <a:ext cx="6086475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1" dirty="0"/>
              <a:t>HPC Enables: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Multi-GPU training</a:t>
            </a:r>
            <a:r>
              <a:rPr lang="en-GB" dirty="0"/>
              <a:t>: Across 1 node (intra-node scaling)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U" dirty="0"/>
              <a:t> </a:t>
            </a:r>
            <a:r>
              <a:rPr lang="en-GB" b="1" dirty="0"/>
              <a:t>Multi-node training</a:t>
            </a:r>
            <a:r>
              <a:rPr lang="en-GB" dirty="0"/>
              <a:t>: Across dozens to hundreds of nodes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Concurrent experiments</a:t>
            </a:r>
            <a:r>
              <a:rPr lang="en-GB" dirty="0"/>
              <a:t>: Grid search, population-based training, federated workloads</a:t>
            </a:r>
          </a:p>
        </p:txBody>
      </p:sp>
    </p:spTree>
    <p:extLst>
      <p:ext uri="{BB962C8B-B14F-4D97-AF65-F5344CB8AC3E}">
        <p14:creationId xmlns:p14="http://schemas.microsoft.com/office/powerpoint/2010/main" val="2527258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492153-10E0-66AD-095F-C2700DFCC1C4}"/>
              </a:ext>
            </a:extLst>
          </p:cNvPr>
          <p:cNvSpPr txBox="1"/>
          <p:nvPr/>
        </p:nvSpPr>
        <p:spPr>
          <a:xfrm>
            <a:off x="121444" y="215384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1A3B0"/>
                </a:solidFill>
              </a:rPr>
              <a:t>Data Parallelism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41A46D-A180-383F-04C1-FC4E85C6D12E}"/>
              </a:ext>
            </a:extLst>
          </p:cNvPr>
          <p:cNvSpPr txBox="1"/>
          <p:nvPr/>
        </p:nvSpPr>
        <p:spPr>
          <a:xfrm>
            <a:off x="492918" y="909816"/>
            <a:ext cx="9565482" cy="503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1" dirty="0"/>
              <a:t>Concept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Replicate the model</a:t>
            </a:r>
            <a:r>
              <a:rPr lang="en-GB" dirty="0"/>
              <a:t> on each GPU.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Each replica processes a </a:t>
            </a:r>
            <a:r>
              <a:rPr lang="en-GB" b="1" dirty="0"/>
              <a:t>different mini-batch</a:t>
            </a:r>
            <a:r>
              <a:rPr lang="en-GB" dirty="0"/>
              <a:t> of data.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Gradients are aggregated (e.g., via NCCL backend).</a:t>
            </a:r>
          </a:p>
          <a:p>
            <a:pPr>
              <a:lnSpc>
                <a:spcPct val="150000"/>
              </a:lnSpc>
              <a:buNone/>
            </a:pPr>
            <a:endParaRPr lang="en-GB" dirty="0"/>
          </a:p>
          <a:p>
            <a:pPr>
              <a:lnSpc>
                <a:spcPct val="150000"/>
              </a:lnSpc>
              <a:buNone/>
            </a:pPr>
            <a:r>
              <a:rPr lang="en-GB" b="1" dirty="0"/>
              <a:t>Libraries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 err="1"/>
              <a:t>PyTorch</a:t>
            </a:r>
            <a:r>
              <a:rPr lang="en-GB" dirty="0"/>
              <a:t>: </a:t>
            </a:r>
            <a:r>
              <a:rPr lang="en-GB" dirty="0" err="1"/>
              <a:t>torch.nn.parallel.DistributedDataParallel</a:t>
            </a:r>
            <a:r>
              <a:rPr lang="en-GB" dirty="0"/>
              <a:t> (DDP)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TensorFlow</a:t>
            </a:r>
            <a:r>
              <a:rPr lang="en-GB" dirty="0"/>
              <a:t>: </a:t>
            </a:r>
            <a:r>
              <a:rPr lang="en-GB" dirty="0" err="1"/>
              <a:t>tf.distribute.MultiWorkerMirroredStrategy</a:t>
            </a:r>
            <a:endParaRPr lang="en-GB" dirty="0"/>
          </a:p>
          <a:p>
            <a:pPr>
              <a:lnSpc>
                <a:spcPct val="150000"/>
              </a:lnSpc>
              <a:buNone/>
            </a:pPr>
            <a:endParaRPr lang="en-GB" dirty="0"/>
          </a:p>
          <a:p>
            <a:pPr>
              <a:lnSpc>
                <a:spcPct val="150000"/>
              </a:lnSpc>
              <a:buNone/>
            </a:pPr>
            <a:r>
              <a:rPr lang="en-GB" b="1" dirty="0"/>
              <a:t>Pros &amp; Use Case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Scales easily across GPUs and nodes.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Ideal for image classification, NLP, general CNN/RNN workloads.</a:t>
            </a:r>
          </a:p>
        </p:txBody>
      </p:sp>
    </p:spTree>
    <p:extLst>
      <p:ext uri="{BB962C8B-B14F-4D97-AF65-F5344CB8AC3E}">
        <p14:creationId xmlns:p14="http://schemas.microsoft.com/office/powerpoint/2010/main" val="14200541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A1DA3D-7F98-852D-8D92-4A6089389A79}"/>
              </a:ext>
            </a:extLst>
          </p:cNvPr>
          <p:cNvSpPr txBox="1"/>
          <p:nvPr/>
        </p:nvSpPr>
        <p:spPr>
          <a:xfrm>
            <a:off x="250031" y="201096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1A3B0"/>
                </a:solidFill>
              </a:rPr>
              <a:t>Model Parallelism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7A39BC-F17D-4A80-F812-0344ABDAAF8A}"/>
              </a:ext>
            </a:extLst>
          </p:cNvPr>
          <p:cNvSpPr txBox="1"/>
          <p:nvPr/>
        </p:nvSpPr>
        <p:spPr>
          <a:xfrm>
            <a:off x="250031" y="601206"/>
            <a:ext cx="11494294" cy="586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1" dirty="0"/>
              <a:t>Concept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Split </a:t>
            </a:r>
            <a:r>
              <a:rPr lang="en-GB" b="1" dirty="0"/>
              <a:t>parts of the model architecture</a:t>
            </a:r>
            <a:r>
              <a:rPr lang="en-GB" dirty="0"/>
              <a:t> across multiple GPUs.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E.g., layer 1 on GPU0, layer 2 on GPU1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Data moves </a:t>
            </a:r>
            <a:r>
              <a:rPr lang="en-GB" b="1" dirty="0"/>
              <a:t>sequentially through GPUs</a:t>
            </a:r>
            <a:r>
              <a:rPr lang="en-GB" dirty="0"/>
              <a:t>.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  <a:buNone/>
            </a:pPr>
            <a:r>
              <a:rPr lang="en-GB" b="1" dirty="0"/>
              <a:t>Use Case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Very large models (e.g., GPT-3, </a:t>
            </a:r>
            <a:r>
              <a:rPr lang="en-GB" dirty="0" err="1"/>
              <a:t>LLaMA</a:t>
            </a:r>
            <a:r>
              <a:rPr lang="en-GB" dirty="0"/>
              <a:t>, Megatron-LM).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When the model </a:t>
            </a:r>
            <a:r>
              <a:rPr lang="en-GB" b="1" dirty="0"/>
              <a:t>doesn’t fit in a single GPU’s memory</a:t>
            </a:r>
            <a:r>
              <a:rPr lang="en-GB" dirty="0"/>
              <a:t>.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  <a:buNone/>
            </a:pPr>
            <a:r>
              <a:rPr lang="en-GB" b="1" dirty="0"/>
              <a:t>Trade-offs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More complex to implement and debug.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May have </a:t>
            </a:r>
            <a:r>
              <a:rPr lang="en-GB" b="1" dirty="0"/>
              <a:t>communication bottlenecks</a:t>
            </a:r>
            <a:r>
              <a:rPr lang="en-GB" dirty="0"/>
              <a:t> between layers.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Rare in CNNs, common in extreme-scale LLMs.</a:t>
            </a:r>
          </a:p>
        </p:txBody>
      </p:sp>
    </p:spTree>
    <p:extLst>
      <p:ext uri="{BB962C8B-B14F-4D97-AF65-F5344CB8AC3E}">
        <p14:creationId xmlns:p14="http://schemas.microsoft.com/office/powerpoint/2010/main" val="2040202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8C09E5-E6BC-6710-0FBA-46C251E28B0D}"/>
              </a:ext>
            </a:extLst>
          </p:cNvPr>
          <p:cNvSpPr txBox="1"/>
          <p:nvPr/>
        </p:nvSpPr>
        <p:spPr>
          <a:xfrm>
            <a:off x="107156" y="301109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1A3B0"/>
                </a:solidFill>
              </a:rPr>
              <a:t>Mixed Precision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D8F47-6055-447E-A959-6789DD8D307C}"/>
              </a:ext>
            </a:extLst>
          </p:cNvPr>
          <p:cNvSpPr txBox="1"/>
          <p:nvPr/>
        </p:nvSpPr>
        <p:spPr>
          <a:xfrm>
            <a:off x="250031" y="1382286"/>
            <a:ext cx="1059418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b="1" dirty="0"/>
              <a:t>Concept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Use </a:t>
            </a:r>
            <a:r>
              <a:rPr lang="en-GB" sz="2000" b="1" dirty="0"/>
              <a:t>FP16 (16-bit floats)</a:t>
            </a:r>
            <a:r>
              <a:rPr lang="en-GB" sz="2000" dirty="0"/>
              <a:t> instead of full FP32.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Reduces memory usage and </a:t>
            </a:r>
            <a:r>
              <a:rPr lang="en-GB" sz="2000" b="1" dirty="0"/>
              <a:t>speeds up matrix operations</a:t>
            </a:r>
            <a:r>
              <a:rPr lang="en-GB" sz="2000" dirty="0"/>
              <a:t> on Tensor Cores.</a:t>
            </a:r>
            <a:br>
              <a:rPr lang="en-GB" sz="2000" dirty="0"/>
            </a:br>
            <a:endParaRPr lang="en-GB" sz="2000" dirty="0"/>
          </a:p>
          <a:p>
            <a:r>
              <a:rPr lang="en-GB" sz="2000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Train </a:t>
            </a:r>
            <a:r>
              <a:rPr lang="en-GB" sz="2000" b="1" dirty="0"/>
              <a:t>larger models or batch sizes</a:t>
            </a:r>
            <a:r>
              <a:rPr lang="en-GB" sz="2000" dirty="0"/>
              <a:t> with same hardware.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Achieve </a:t>
            </a:r>
            <a:r>
              <a:rPr lang="en-GB" sz="2000" b="1" dirty="0"/>
              <a:t>30–50% speedups</a:t>
            </a:r>
            <a:r>
              <a:rPr lang="en-GB" sz="2000" dirty="0"/>
              <a:t> on modern GPUs (e.g., NVIDIA A100, V100).</a:t>
            </a:r>
          </a:p>
          <a:p>
            <a:pPr>
              <a:buNone/>
            </a:pPr>
            <a:br>
              <a:rPr lang="en-GB" sz="2000" dirty="0"/>
            </a:br>
            <a:r>
              <a:rPr lang="en-GB" sz="2000" b="1" dirty="0"/>
              <a:t>Libraries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 err="1"/>
              <a:t>PyTorch</a:t>
            </a:r>
            <a:r>
              <a:rPr lang="en-GB" sz="2000" dirty="0"/>
              <a:t>: </a:t>
            </a:r>
            <a:r>
              <a:rPr lang="en-GB" sz="2000" dirty="0" err="1"/>
              <a:t>torch.cuda.amp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TensorFlow: </a:t>
            </a:r>
            <a:r>
              <a:rPr lang="en-GB" sz="2000" dirty="0" err="1"/>
              <a:t>tf.keras.mixed_precision</a:t>
            </a:r>
            <a:endParaRPr lang="en-GB" sz="2000" dirty="0"/>
          </a:p>
          <a:p>
            <a:pPr>
              <a:buNone/>
            </a:pPr>
            <a:br>
              <a:rPr lang="en-GB" sz="2000" dirty="0"/>
            </a:br>
            <a:r>
              <a:rPr lang="en-GB" sz="2000" dirty="0"/>
              <a:t>Use mixed precision whenever possible—especially with modern NVIDIA GPUs.</a:t>
            </a:r>
          </a:p>
        </p:txBody>
      </p:sp>
    </p:spTree>
    <p:extLst>
      <p:ext uri="{BB962C8B-B14F-4D97-AF65-F5344CB8AC3E}">
        <p14:creationId xmlns:p14="http://schemas.microsoft.com/office/powerpoint/2010/main" val="34473129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01D3FB-00A2-A290-C247-A649974367C3}"/>
              </a:ext>
            </a:extLst>
          </p:cNvPr>
          <p:cNvSpPr txBox="1"/>
          <p:nvPr/>
        </p:nvSpPr>
        <p:spPr>
          <a:xfrm>
            <a:off x="95693" y="116958"/>
            <a:ext cx="58076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>
                <a:solidFill>
                  <a:srgbClr val="01A3B0"/>
                </a:solidFill>
              </a:rPr>
              <a:t>Session 2. HPC Fundamentals for Deep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E0464B-5855-F181-22C4-C492326B5E16}"/>
              </a:ext>
            </a:extLst>
          </p:cNvPr>
          <p:cNvSpPr txBox="1"/>
          <p:nvPr/>
        </p:nvSpPr>
        <p:spPr>
          <a:xfrm>
            <a:off x="244549" y="486290"/>
            <a:ext cx="8242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/>
              <a:t>Exercise: SLURM job submission for training a DL model (CPU vs GPU)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B7BFEB-71CD-500E-1F9B-21E0168E61B3}"/>
              </a:ext>
            </a:extLst>
          </p:cNvPr>
          <p:cNvSpPr txBox="1"/>
          <p:nvPr/>
        </p:nvSpPr>
        <p:spPr>
          <a:xfrm>
            <a:off x="95693" y="1084282"/>
            <a:ext cx="11820082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dirty="0"/>
              <a:t>Objective: compare the performance of training a deep convolutional neural network (CNN) using SLURM on two hardware configurations: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CPU-only execution</a:t>
            </a:r>
            <a:endParaRPr lang="en-GB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GPU-accelerated execution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C6F78B-FEDF-39EF-50EB-C73AABE9E443}"/>
              </a:ext>
            </a:extLst>
          </p:cNvPr>
          <p:cNvSpPr txBox="1"/>
          <p:nvPr/>
        </p:nvSpPr>
        <p:spPr>
          <a:xfrm>
            <a:off x="61631" y="3042710"/>
            <a:ext cx="11468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Understand the practical impact of hardware acceleration on deep learning workloads using </a:t>
            </a:r>
            <a:r>
              <a:rPr lang="en-GB" dirty="0" err="1"/>
              <a:t>PyTorch</a:t>
            </a:r>
            <a:r>
              <a:rPr lang="en-GB" dirty="0"/>
              <a:t> and CIFAR-10.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ACA5A2-D154-71D9-ACFB-B00D2A600F61}"/>
              </a:ext>
            </a:extLst>
          </p:cNvPr>
          <p:cNvSpPr txBox="1"/>
          <p:nvPr/>
        </p:nvSpPr>
        <p:spPr>
          <a:xfrm>
            <a:off x="95693" y="3609924"/>
            <a:ext cx="10634220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Model</a:t>
            </a:r>
            <a:r>
              <a:rPr lang="en-GB" dirty="0"/>
              <a:t>: Reuse Model4, a multi-layer CNN originally defined in Exercise 1.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Dataset</a:t>
            </a:r>
            <a:r>
              <a:rPr lang="en-GB" dirty="0"/>
              <a:t>: CIFAR-10, loaded and normalized.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Framework</a:t>
            </a:r>
            <a:r>
              <a:rPr lang="en-GB" dirty="0"/>
              <a:t>: </a:t>
            </a:r>
            <a:r>
              <a:rPr lang="en-GB" dirty="0" err="1"/>
              <a:t>PyTorch</a:t>
            </a:r>
            <a:r>
              <a:rPr lang="en-GB" dirty="0"/>
              <a:t>, with optimized </a:t>
            </a:r>
            <a:r>
              <a:rPr lang="en-GB" dirty="0" err="1"/>
              <a:t>DataLoader</a:t>
            </a:r>
            <a:r>
              <a:rPr lang="en-GB" dirty="0"/>
              <a:t> setup (multi-core CPU, </a:t>
            </a:r>
            <a:r>
              <a:rPr lang="en-GB" dirty="0" err="1"/>
              <a:t>pin_memory</a:t>
            </a:r>
            <a:r>
              <a:rPr lang="en-GB" dirty="0"/>
              <a:t> for GPU).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Training</a:t>
            </a:r>
            <a:r>
              <a:rPr lang="en-GB" dirty="0"/>
              <a:t>: Run for 20 epochs and measure total training time.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5C5E3E-6162-52B1-63FB-91B90A95DF7F}"/>
              </a:ext>
            </a:extLst>
          </p:cNvPr>
          <p:cNvSpPr txBox="1"/>
          <p:nvPr/>
        </p:nvSpPr>
        <p:spPr>
          <a:xfrm>
            <a:off x="95692" y="5564521"/>
            <a:ext cx="95055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You will write and submit two SLURM batch scripts: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exc2_cpu.sh: Runs on a CPU partition (e.g., --partition=</a:t>
            </a:r>
            <a:r>
              <a:rPr lang="en-GB" dirty="0" err="1"/>
              <a:t>cpu</a:t>
            </a:r>
            <a:r>
              <a:rPr lang="en-GB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exc2_gpu.sh: Runs on a GPU partition with --</a:t>
            </a:r>
            <a:r>
              <a:rPr lang="en-GB" dirty="0" err="1"/>
              <a:t>gres</a:t>
            </a:r>
            <a:r>
              <a:rPr lang="en-GB" dirty="0"/>
              <a:t>=gpu:1</a:t>
            </a:r>
          </a:p>
        </p:txBody>
      </p:sp>
    </p:spTree>
    <p:extLst>
      <p:ext uri="{BB962C8B-B14F-4D97-AF65-F5344CB8AC3E}">
        <p14:creationId xmlns:p14="http://schemas.microsoft.com/office/powerpoint/2010/main" val="29627147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025FCA-A2EA-A8C8-8993-9040DEF0F0DA}"/>
              </a:ext>
            </a:extLst>
          </p:cNvPr>
          <p:cNvSpPr txBox="1"/>
          <p:nvPr/>
        </p:nvSpPr>
        <p:spPr>
          <a:xfrm>
            <a:off x="95693" y="116958"/>
            <a:ext cx="9116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>
                <a:solidFill>
                  <a:srgbClr val="01A3B0"/>
                </a:solidFill>
              </a:rPr>
              <a:t>Session 3. Scalable CNN training with Distributed Data Parallel (DDP) on HPC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92784B-88A8-BD28-8DB1-FA7EDF1DF6FE}"/>
              </a:ext>
            </a:extLst>
          </p:cNvPr>
          <p:cNvSpPr txBox="1"/>
          <p:nvPr/>
        </p:nvSpPr>
        <p:spPr>
          <a:xfrm>
            <a:off x="244549" y="486290"/>
            <a:ext cx="2336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dirty="0"/>
              <a:t>1. How DDP works?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7E9F09-1E5B-D048-4245-374E0C925568}"/>
              </a:ext>
            </a:extLst>
          </p:cNvPr>
          <p:cNvSpPr txBox="1"/>
          <p:nvPr/>
        </p:nvSpPr>
        <p:spPr>
          <a:xfrm>
            <a:off x="121665" y="1255732"/>
            <a:ext cx="1194867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 err="1"/>
              <a:t>DistributedDataParallel</a:t>
            </a:r>
            <a:r>
              <a:rPr lang="en-GB" b="1" dirty="0"/>
              <a:t> (DDP)</a:t>
            </a:r>
            <a:r>
              <a:rPr lang="en-GB" dirty="0"/>
              <a:t> is </a:t>
            </a:r>
            <a:r>
              <a:rPr lang="en-GB" dirty="0" err="1"/>
              <a:t>PyTorch’s</a:t>
            </a:r>
            <a:r>
              <a:rPr lang="en-GB" dirty="0"/>
              <a:t> high-performance, production-ready method for multi-GPU/multi-node training.</a:t>
            </a:r>
            <a:br>
              <a:rPr lang="en-GB" dirty="0"/>
            </a:br>
            <a:endParaRPr lang="en-GB" dirty="0"/>
          </a:p>
          <a:p>
            <a:pPr>
              <a:buNone/>
            </a:pPr>
            <a:r>
              <a:rPr lang="en-GB" b="1" dirty="0"/>
              <a:t>Core Concept</a:t>
            </a:r>
            <a:r>
              <a:rPr lang="en-GB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process gets its own model replica on a different GPU.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Gradients are </a:t>
            </a:r>
            <a:r>
              <a:rPr lang="en-GB" b="1" dirty="0"/>
              <a:t>synchronously averaged</a:t>
            </a:r>
            <a:r>
              <a:rPr lang="en-GB" dirty="0"/>
              <a:t> across processes using NCCL or </a:t>
            </a:r>
            <a:r>
              <a:rPr lang="en-GB" dirty="0" err="1"/>
              <a:t>Gloo</a:t>
            </a:r>
            <a:r>
              <a:rPr lang="en-GB" dirty="0"/>
              <a:t> backends.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b="1" dirty="0"/>
              <a:t>Workflow Overview</a:t>
            </a:r>
            <a:r>
              <a:rPr lang="en-GB" dirty="0"/>
              <a:t>:</a:t>
            </a:r>
          </a:p>
          <a:p>
            <a:pPr>
              <a:buFont typeface="+mj-lt"/>
              <a:buAutoNum type="arabicPeriod"/>
            </a:pPr>
            <a:r>
              <a:rPr lang="en-GB" dirty="0"/>
              <a:t>One process per GPU.</a:t>
            </a:r>
          </a:p>
          <a:p>
            <a:pPr>
              <a:buFont typeface="+mj-lt"/>
              <a:buAutoNum type="arabicPeriod"/>
            </a:pPr>
            <a:r>
              <a:rPr lang="en-GB" dirty="0"/>
              <a:t>Dataset is partitioned with </a:t>
            </a:r>
            <a:r>
              <a:rPr lang="en-GB" dirty="0" err="1"/>
              <a:t>DistributedSampler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Forward pass → backward pass → all-reduce → optimizer step.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b="1" dirty="0"/>
              <a:t>Key Advantages</a:t>
            </a:r>
            <a:r>
              <a:rPr lang="en-GB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Near-linear scaling across GPUs.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Lower communication overhead than </a:t>
            </a:r>
            <a:r>
              <a:rPr lang="en-GB" dirty="0" err="1"/>
              <a:t>DataParallel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Fully supports SLURM-managed multi-node training.</a:t>
            </a:r>
          </a:p>
        </p:txBody>
      </p:sp>
    </p:spTree>
    <p:extLst>
      <p:ext uri="{BB962C8B-B14F-4D97-AF65-F5344CB8AC3E}">
        <p14:creationId xmlns:p14="http://schemas.microsoft.com/office/powerpoint/2010/main" val="20236075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E68ADF-FC9D-69CC-B6BF-A15DAF448FD0}"/>
              </a:ext>
            </a:extLst>
          </p:cNvPr>
          <p:cNvSpPr txBox="1"/>
          <p:nvPr/>
        </p:nvSpPr>
        <p:spPr>
          <a:xfrm>
            <a:off x="95693" y="-25922"/>
            <a:ext cx="5179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>
                <a:solidFill>
                  <a:srgbClr val="01A3B0"/>
                </a:solidFill>
              </a:rPr>
              <a:t>Session 4. Optimization and Benchmarking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106BB-3D1D-42F1-93C8-99E1D5BD52DB}"/>
              </a:ext>
            </a:extLst>
          </p:cNvPr>
          <p:cNvSpPr txBox="1"/>
          <p:nvPr/>
        </p:nvSpPr>
        <p:spPr>
          <a:xfrm>
            <a:off x="244549" y="314834"/>
            <a:ext cx="5536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dirty="0"/>
              <a:t>1. Optimization of the training and best practices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F664FA-5F56-0491-4C37-4F5BB4EA61BB}"/>
              </a:ext>
            </a:extLst>
          </p:cNvPr>
          <p:cNvSpPr txBox="1"/>
          <p:nvPr/>
        </p:nvSpPr>
        <p:spPr>
          <a:xfrm>
            <a:off x="244549" y="714944"/>
            <a:ext cx="1179150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U" dirty="0"/>
              <a:t>Optimization in DL is not just about faster training – it is about making your models efficient, scalable, and production-ready.</a:t>
            </a:r>
          </a:p>
          <a:p>
            <a:r>
              <a:rPr lang="en-GB" b="1" dirty="0"/>
              <a:t>1. Reduce Training Time and Resource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Efficient use of GPUs and CPUs shortens training cycles.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Optimized data pipelines reduce I/O bottlenecks.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Mixed precision training can cut memory usage and speed up computation.</a:t>
            </a:r>
          </a:p>
          <a:p>
            <a:endParaRPr lang="en-GB" dirty="0"/>
          </a:p>
          <a:p>
            <a:r>
              <a:rPr lang="en-GB" b="1" dirty="0"/>
              <a:t>2. Improve Model Accuracy and Generalization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Proper learning rate schedules and regularization techniques help avoid overfitting.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Optimized architectures (e.g., fewer parameters, better layer design) can generalize better on unseen data.</a:t>
            </a:r>
          </a:p>
          <a:p>
            <a:endParaRPr lang="en-GB" dirty="0"/>
          </a:p>
          <a:p>
            <a:r>
              <a:rPr lang="en-GB" b="1" dirty="0"/>
              <a:t>3. Enable Reproducibility and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Exporting trained models in a consistent format (e.g., .pt, .</a:t>
            </a:r>
            <a:r>
              <a:rPr lang="en-GB" dirty="0" err="1"/>
              <a:t>onnx</a:t>
            </a:r>
            <a:r>
              <a:rPr lang="en-GB" dirty="0"/>
              <a:t>) ensures they can be reused or deployed.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Reproducible training pipelines are critical for scientific research and production environments.</a:t>
            </a:r>
          </a:p>
          <a:p>
            <a:endParaRPr lang="en-GB" dirty="0"/>
          </a:p>
          <a:p>
            <a:r>
              <a:rPr lang="en-GB" b="1" dirty="0"/>
              <a:t>4. Essential for Scaling on HPC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HPC clusters are designed for parallelism — optimization ensures your code scales across multiple GPUs or nodes.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Poorly optimized code can underutilize hardware, leading to wasted compute hours and longer queues.</a:t>
            </a:r>
          </a:p>
          <a:p>
            <a:endParaRPr lang="en-GB" dirty="0"/>
          </a:p>
          <a:p>
            <a:r>
              <a:rPr lang="en-GB" b="1" dirty="0"/>
              <a:t>5. Real-World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well-optimized model might train in </a:t>
            </a:r>
            <a:r>
              <a:rPr lang="en-GB" b="1" dirty="0"/>
              <a:t>half the time</a:t>
            </a:r>
            <a:r>
              <a:rPr lang="en-GB" dirty="0"/>
              <a:t> and use </a:t>
            </a:r>
            <a:r>
              <a:rPr lang="en-GB" b="1" dirty="0"/>
              <a:t>30–50% less memory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production, optimized inference can reduce latency from </a:t>
            </a:r>
            <a:r>
              <a:rPr lang="en-GB" b="1" dirty="0"/>
              <a:t>seconds to milliseconds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29765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935F417-D4FA-6E9F-9796-F85DD12F8740}"/>
              </a:ext>
            </a:extLst>
          </p:cNvPr>
          <p:cNvSpPr txBox="1"/>
          <p:nvPr/>
        </p:nvSpPr>
        <p:spPr>
          <a:xfrm>
            <a:off x="264318" y="260963"/>
            <a:ext cx="80938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GB" sz="2000" b="1" i="0" dirty="0">
                <a:solidFill>
                  <a:srgbClr val="01A3B0"/>
                </a:solidFill>
                <a:effectLst/>
              </a:rPr>
              <a:t>Training Optimization Techniques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6268C3-17E3-6D17-04B1-5E3192982510}"/>
              </a:ext>
            </a:extLst>
          </p:cNvPr>
          <p:cNvSpPr txBox="1"/>
          <p:nvPr/>
        </p:nvSpPr>
        <p:spPr>
          <a:xfrm>
            <a:off x="264318" y="912815"/>
            <a:ext cx="12294395" cy="557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GB" b="1" i="0" dirty="0">
                <a:solidFill>
                  <a:srgbClr val="424242"/>
                </a:solidFill>
                <a:effectLst/>
              </a:rPr>
              <a:t>1. Mixed Precision Training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424242"/>
                </a:solidFill>
                <a:effectLst/>
              </a:rPr>
              <a:t>Uses both 16-bit and 32-bit floating point operations.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424242"/>
                </a:solidFill>
                <a:effectLst/>
              </a:rPr>
              <a:t>Reduces memory usage and speeds up training on GPUs with Tensor Cores</a:t>
            </a:r>
            <a:endParaRPr lang="en-GB" dirty="0">
              <a:solidFill>
                <a:srgbClr val="424242"/>
              </a:solidFill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24242"/>
                </a:solidFill>
              </a:rPr>
              <a:t>Enabled in </a:t>
            </a:r>
            <a:r>
              <a:rPr lang="en-GB" dirty="0" err="1">
                <a:solidFill>
                  <a:srgbClr val="424242"/>
                </a:solidFill>
              </a:rPr>
              <a:t>PyTorch</a:t>
            </a:r>
            <a:r>
              <a:rPr lang="en-GB" dirty="0">
                <a:solidFill>
                  <a:srgbClr val="424242"/>
                </a:solidFill>
              </a:rPr>
              <a:t> via: </a:t>
            </a:r>
            <a:r>
              <a:rPr lang="en-GB" dirty="0" err="1">
                <a:solidFill>
                  <a:srgbClr val="424242"/>
                </a:solidFill>
              </a:rPr>
              <a:t>torch.cuda.amp.autocast</a:t>
            </a:r>
            <a:r>
              <a:rPr lang="en-GB" dirty="0">
                <a:solidFill>
                  <a:srgbClr val="424242"/>
                </a:solidFill>
              </a:rPr>
              <a:t>()</a:t>
            </a:r>
          </a:p>
          <a:p>
            <a:r>
              <a:rPr lang="en-GB" b="1" dirty="0"/>
              <a:t>2. Learning Rate Scheduling</a:t>
            </a:r>
          </a:p>
          <a:p>
            <a:r>
              <a:rPr lang="en-GB" dirty="0"/>
              <a:t>Dynamically adjusts the learning rate during training to improve convergence.</a:t>
            </a:r>
          </a:p>
          <a:p>
            <a:r>
              <a:rPr lang="en-GB" dirty="0"/>
              <a:t>Common schedulers:</a:t>
            </a:r>
          </a:p>
          <a:p>
            <a:pPr lvl="1"/>
            <a:r>
              <a:rPr lang="en-GB" b="1" dirty="0" err="1"/>
              <a:t>StepLR</a:t>
            </a:r>
            <a:r>
              <a:rPr lang="en-GB" dirty="0"/>
              <a:t>: Reduces LR at fixed intervals.</a:t>
            </a:r>
          </a:p>
          <a:p>
            <a:pPr lvl="1"/>
            <a:r>
              <a:rPr lang="en-GB" b="1" dirty="0" err="1"/>
              <a:t>CosineAnnealingLR</a:t>
            </a:r>
            <a:r>
              <a:rPr lang="en-GB" dirty="0"/>
              <a:t>: Smooth decay following a cosine curve.</a:t>
            </a:r>
          </a:p>
          <a:p>
            <a:pPr lvl="1"/>
            <a:r>
              <a:rPr lang="en-GB" b="1" dirty="0" err="1"/>
              <a:t>ReduceLROnPlateau</a:t>
            </a:r>
            <a:r>
              <a:rPr lang="en-GB" dirty="0"/>
              <a:t>: Reduces LR when a metric stops improving.</a:t>
            </a:r>
          </a:p>
          <a:p>
            <a:r>
              <a:rPr lang="en-GB" b="1" dirty="0"/>
              <a:t>3. Gradient Clipping</a:t>
            </a:r>
          </a:p>
          <a:p>
            <a:r>
              <a:rPr lang="en-GB" dirty="0"/>
              <a:t>Prevents exploding gradients in deep networks.</a:t>
            </a:r>
          </a:p>
          <a:p>
            <a:r>
              <a:rPr lang="en-GB" dirty="0"/>
              <a:t>Stabilizes training, especially in RNNs or deep CNNs.</a:t>
            </a:r>
          </a:p>
          <a:p>
            <a:r>
              <a:rPr lang="en-GB" dirty="0"/>
              <a:t>Enabled in </a:t>
            </a:r>
            <a:r>
              <a:rPr lang="en-GB" dirty="0" err="1"/>
              <a:t>PyTorch</a:t>
            </a:r>
            <a:r>
              <a:rPr lang="en-GB" dirty="0"/>
              <a:t> via </a:t>
            </a:r>
            <a:r>
              <a:rPr lang="en-GB" dirty="0" err="1"/>
              <a:t>torch.nn.utils.clip_grad_norm</a:t>
            </a:r>
            <a:r>
              <a:rPr lang="en-GB" dirty="0"/>
              <a:t>_(</a:t>
            </a:r>
            <a:r>
              <a:rPr lang="en-GB" dirty="0" err="1"/>
              <a:t>model.parameters</a:t>
            </a:r>
            <a:r>
              <a:rPr lang="en-GB" dirty="0"/>
              <a:t>(), </a:t>
            </a:r>
            <a:r>
              <a:rPr lang="en-GB" dirty="0" err="1"/>
              <a:t>max_norm</a:t>
            </a:r>
            <a:r>
              <a:rPr lang="en-GB" dirty="0"/>
              <a:t>=1.0)</a:t>
            </a:r>
          </a:p>
          <a:p>
            <a:r>
              <a:rPr lang="en-GB" b="1" dirty="0"/>
              <a:t>4. Batch Size and Data Loading</a:t>
            </a:r>
          </a:p>
          <a:p>
            <a:r>
              <a:rPr lang="en-GB" dirty="0"/>
              <a:t>Larger batch sizes improve GPU utilization but require more memory.</a:t>
            </a:r>
          </a:p>
          <a:p>
            <a:r>
              <a:rPr lang="en-GB" dirty="0"/>
              <a:t>Use </a:t>
            </a:r>
            <a:r>
              <a:rPr lang="en-GB" dirty="0" err="1"/>
              <a:t>num_workers</a:t>
            </a:r>
            <a:r>
              <a:rPr lang="en-GB" dirty="0"/>
              <a:t> to parallelize data loading.</a:t>
            </a:r>
          </a:p>
          <a:p>
            <a:r>
              <a:rPr lang="en-GB" dirty="0"/>
              <a:t>Enable </a:t>
            </a:r>
            <a:r>
              <a:rPr lang="en-GB" dirty="0" err="1"/>
              <a:t>pin_memory</a:t>
            </a:r>
            <a:r>
              <a:rPr lang="en-GB" dirty="0"/>
              <a:t>=True to speed up host-to-GPU transfers.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0846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5C6012-A58A-18DC-097C-F8A2CA29A2CA}"/>
              </a:ext>
            </a:extLst>
          </p:cNvPr>
          <p:cNvSpPr txBox="1"/>
          <p:nvPr/>
        </p:nvSpPr>
        <p:spPr>
          <a:xfrm>
            <a:off x="0" y="146648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GB" sz="2000" b="1" i="0" dirty="0">
                <a:solidFill>
                  <a:srgbClr val="01A3B0"/>
                </a:solidFill>
                <a:effectLst/>
              </a:rPr>
              <a:t>Benchmarking Your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F9C913-756D-8128-E8B4-61A55C3D1196}"/>
              </a:ext>
            </a:extLst>
          </p:cNvPr>
          <p:cNvSpPr txBox="1"/>
          <p:nvPr/>
        </p:nvSpPr>
        <p:spPr>
          <a:xfrm>
            <a:off x="66674" y="493441"/>
            <a:ext cx="11758613" cy="1038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GB" b="0" i="0" dirty="0">
                <a:solidFill>
                  <a:srgbClr val="424242"/>
                </a:solidFill>
                <a:effectLst/>
              </a:rPr>
              <a:t>Benchmarking helps you understand how efficiently your model uses compute resources and how training performance scales. It’s essential for: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GB" b="0" i="0" dirty="0">
                <a:solidFill>
                  <a:srgbClr val="424242"/>
                </a:solidFill>
                <a:effectLst/>
              </a:rPr>
              <a:t>Identifying bottlenecks, Comparing optimization strategies, Justifying resource usage on HPC systems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AA7A76-212A-C883-A9F9-EF8104C1116D}"/>
              </a:ext>
            </a:extLst>
          </p:cNvPr>
          <p:cNvSpPr txBox="1"/>
          <p:nvPr/>
        </p:nvSpPr>
        <p:spPr>
          <a:xfrm>
            <a:off x="66674" y="1645318"/>
            <a:ext cx="6577014" cy="4719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GB" b="1" i="0" dirty="0">
                <a:solidFill>
                  <a:srgbClr val="424242"/>
                </a:solidFill>
                <a:effectLst/>
              </a:rPr>
              <a:t>Key Metrics to Track:</a:t>
            </a:r>
          </a:p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GB" b="1" i="0" dirty="0">
                <a:solidFill>
                  <a:srgbClr val="424242"/>
                </a:solidFill>
                <a:effectLst/>
              </a:rPr>
              <a:t>Training Time per Epoch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424242"/>
                </a:solidFill>
                <a:effectLst/>
              </a:rPr>
              <a:t>Measures how long each epoch takes.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424242"/>
                </a:solidFill>
                <a:effectLst/>
              </a:rPr>
              <a:t>Helps compare different model versions or hardware setups.</a:t>
            </a:r>
          </a:p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GB" b="1" i="0" dirty="0">
                <a:solidFill>
                  <a:srgbClr val="424242"/>
                </a:solidFill>
                <a:effectLst/>
              </a:rPr>
              <a:t>GPU Utilization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424242"/>
                </a:solidFill>
                <a:effectLst/>
              </a:rPr>
              <a:t>Use </a:t>
            </a:r>
            <a:r>
              <a:rPr lang="en-GB" b="0" i="0" dirty="0" err="1">
                <a:solidFill>
                  <a:srgbClr val="424242"/>
                </a:solidFill>
                <a:effectLst/>
              </a:rPr>
              <a:t>nvidia-smi</a:t>
            </a:r>
            <a:r>
              <a:rPr lang="en-GB" b="0" i="0" dirty="0">
                <a:solidFill>
                  <a:srgbClr val="424242"/>
                </a:solidFill>
                <a:effectLst/>
              </a:rPr>
              <a:t> to monitor real-time GPU usage.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0" i="0" dirty="0" err="1">
                <a:solidFill>
                  <a:srgbClr val="424242"/>
                </a:solidFill>
                <a:effectLst/>
              </a:rPr>
              <a:t>PyTorch</a:t>
            </a:r>
            <a:r>
              <a:rPr lang="en-GB" b="0" i="0" dirty="0">
                <a:solidFill>
                  <a:srgbClr val="424242"/>
                </a:solidFill>
                <a:effectLst/>
              </a:rPr>
              <a:t> Profiler can show GPU kernel execution timelines.</a:t>
            </a:r>
          </a:p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GB" b="1" i="0" dirty="0">
                <a:solidFill>
                  <a:srgbClr val="424242"/>
                </a:solidFill>
                <a:effectLst/>
              </a:rPr>
              <a:t>Memory Usage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424242"/>
                </a:solidFill>
                <a:effectLst/>
              </a:rPr>
              <a:t>Track GPU memory allocation to avoid out-of-memory errors.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424242"/>
                </a:solidFill>
                <a:effectLst/>
              </a:rPr>
              <a:t>Helps tune batch size and model complexity.</a:t>
            </a:r>
          </a:p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GB" b="1" i="0" dirty="0">
                <a:solidFill>
                  <a:srgbClr val="424242"/>
                </a:solidFill>
                <a:effectLst/>
              </a:rPr>
              <a:t>Accuracy vs. Time Trade-off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424242"/>
                </a:solidFill>
                <a:effectLst/>
              </a:rPr>
              <a:t>Balance between training speed and model performance.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424242"/>
                </a:solidFill>
                <a:effectLst/>
              </a:rPr>
              <a:t>Useful for early stopping and model selection.</a:t>
            </a:r>
          </a:p>
        </p:txBody>
      </p:sp>
    </p:spTree>
    <p:extLst>
      <p:ext uri="{BB962C8B-B14F-4D97-AF65-F5344CB8AC3E}">
        <p14:creationId xmlns:p14="http://schemas.microsoft.com/office/powerpoint/2010/main" val="36804553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FC9B2-552F-603F-0EBC-EB78237AF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A8777F-5336-44C2-58C1-D0E59D25E9A3}"/>
              </a:ext>
            </a:extLst>
          </p:cNvPr>
          <p:cNvSpPr txBox="1"/>
          <p:nvPr/>
        </p:nvSpPr>
        <p:spPr>
          <a:xfrm>
            <a:off x="95693" y="116958"/>
            <a:ext cx="5170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>
                <a:solidFill>
                  <a:srgbClr val="01A3B0"/>
                </a:solidFill>
              </a:rPr>
              <a:t>Session 4. Optimization and Benchmarking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E82049-FD34-24F1-02A7-A5FA869E2209}"/>
              </a:ext>
            </a:extLst>
          </p:cNvPr>
          <p:cNvSpPr txBox="1"/>
          <p:nvPr/>
        </p:nvSpPr>
        <p:spPr>
          <a:xfrm>
            <a:off x="244549" y="486290"/>
            <a:ext cx="36227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/>
              <a:t>2. Reproducible model export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E3854F-A7D4-F55B-8392-FC9EF7C292B0}"/>
              </a:ext>
            </a:extLst>
          </p:cNvPr>
          <p:cNvSpPr txBox="1"/>
          <p:nvPr/>
        </p:nvSpPr>
        <p:spPr>
          <a:xfrm>
            <a:off x="244549" y="1025480"/>
            <a:ext cx="11214026" cy="180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GB" b="1" i="0" dirty="0">
                <a:solidFill>
                  <a:srgbClr val="424242"/>
                </a:solidFill>
                <a:effectLst/>
              </a:rPr>
              <a:t>Why Export Your Model?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GB" b="0" i="0" dirty="0">
                <a:solidFill>
                  <a:srgbClr val="424242"/>
                </a:solidFill>
                <a:effectLst/>
              </a:rPr>
              <a:t>Exporting trained models is a critical step for: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LU" b="0" i="0" dirty="0">
                <a:solidFill>
                  <a:srgbClr val="424242"/>
                </a:solidFill>
                <a:effectLst/>
              </a:rPr>
              <a:t> </a:t>
            </a:r>
            <a:r>
              <a:rPr lang="en-GB" b="1" i="0" dirty="0">
                <a:solidFill>
                  <a:srgbClr val="424242"/>
                </a:solidFill>
                <a:effectLst/>
              </a:rPr>
              <a:t>Sharing across teams</a:t>
            </a:r>
            <a:r>
              <a:rPr lang="en-GB" b="0" i="0" dirty="0">
                <a:solidFill>
                  <a:srgbClr val="424242"/>
                </a:solidFill>
                <a:effectLst/>
              </a:rPr>
              <a:t>: Collaborators can load and test the model without retraining.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LU" b="0" i="0" dirty="0">
                <a:solidFill>
                  <a:srgbClr val="424242"/>
                </a:solidFill>
                <a:effectLst/>
              </a:rPr>
              <a:t> </a:t>
            </a:r>
            <a:r>
              <a:rPr lang="en-GB" b="1" i="0" dirty="0">
                <a:solidFill>
                  <a:srgbClr val="424242"/>
                </a:solidFill>
                <a:effectLst/>
              </a:rPr>
              <a:t>Reusing for inference or fine-tuning</a:t>
            </a:r>
            <a:r>
              <a:rPr lang="en-GB" b="0" i="0" dirty="0">
                <a:solidFill>
                  <a:srgbClr val="424242"/>
                </a:solidFill>
                <a:effectLst/>
              </a:rPr>
              <a:t>: Save time by building on existing work.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424242"/>
                </a:solidFill>
                <a:effectLst/>
              </a:rPr>
              <a:t> Ensuring reproducibility</a:t>
            </a:r>
            <a:r>
              <a:rPr lang="en-GB" b="0" i="0" dirty="0">
                <a:solidFill>
                  <a:srgbClr val="424242"/>
                </a:solidFill>
                <a:effectLst/>
              </a:rPr>
              <a:t>: Store exact model weights and architecture for future validation or publication.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CF0FD2-9B08-288C-177B-0CAC0B397C95}"/>
              </a:ext>
            </a:extLst>
          </p:cNvPr>
          <p:cNvSpPr txBox="1"/>
          <p:nvPr/>
        </p:nvSpPr>
        <p:spPr>
          <a:xfrm>
            <a:off x="244549" y="3168669"/>
            <a:ext cx="10194132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</a:pPr>
            <a:r>
              <a:rPr lang="en-GB" b="1" i="0" dirty="0">
                <a:solidFill>
                  <a:srgbClr val="424242"/>
                </a:solidFill>
                <a:effectLst/>
              </a:rPr>
              <a:t>Export Only the Weights (Recommended for Flexibility)</a:t>
            </a:r>
          </a:p>
          <a:p>
            <a:pPr marL="285750" indent="-285750"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24242"/>
                </a:solidFill>
              </a:rPr>
              <a:t>Saves only the learned parameters</a:t>
            </a:r>
          </a:p>
          <a:p>
            <a:pPr marL="285750" indent="-285750"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424242"/>
                </a:solidFill>
                <a:effectLst/>
              </a:rPr>
              <a:t>Requires the model architecture to be redefined when loading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F5F4D5-7512-1FCA-CD0B-797D44EFF7EA}"/>
              </a:ext>
            </a:extLst>
          </p:cNvPr>
          <p:cNvSpPr txBox="1"/>
          <p:nvPr/>
        </p:nvSpPr>
        <p:spPr>
          <a:xfrm>
            <a:off x="244549" y="4740488"/>
            <a:ext cx="6100762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</a:pPr>
            <a:r>
              <a:rPr lang="en-GB" b="1" i="0" dirty="0">
                <a:solidFill>
                  <a:srgbClr val="424242"/>
                </a:solidFill>
                <a:effectLst/>
              </a:rPr>
              <a:t>Export the Entire Model (Less Flexible)</a:t>
            </a:r>
          </a:p>
          <a:p>
            <a:pPr marL="285750" indent="-285750"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424242"/>
                </a:solidFill>
                <a:effectLst/>
              </a:rPr>
              <a:t>Saves both the architecture and weights</a:t>
            </a:r>
          </a:p>
          <a:p>
            <a:pPr marL="285750" indent="-285750"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24242"/>
                </a:solidFill>
              </a:rPr>
              <a:t>Easier to load, but less portable across environments</a:t>
            </a:r>
            <a:endParaRPr lang="en-GB" i="0" dirty="0">
              <a:solidFill>
                <a:srgbClr val="42424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909185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907F0-2337-49DD-9E2D-2255448F2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547129-B9F1-3B75-EE89-D0F62248CAF9}"/>
              </a:ext>
            </a:extLst>
          </p:cNvPr>
          <p:cNvSpPr txBox="1"/>
          <p:nvPr/>
        </p:nvSpPr>
        <p:spPr>
          <a:xfrm>
            <a:off x="95693" y="116958"/>
            <a:ext cx="5179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>
                <a:solidFill>
                  <a:srgbClr val="01A3B0"/>
                </a:solidFill>
              </a:rPr>
              <a:t>Session 4. Optimization and Benchmarking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F77A79-499F-1EAB-2F67-7900A4F7903A}"/>
              </a:ext>
            </a:extLst>
          </p:cNvPr>
          <p:cNvSpPr txBox="1"/>
          <p:nvPr/>
        </p:nvSpPr>
        <p:spPr>
          <a:xfrm>
            <a:off x="244549" y="486290"/>
            <a:ext cx="39630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000" b="1" dirty="0"/>
              <a:t>3. Post-training inference 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AF8C70-F1B1-8FE5-8976-963BE1A85128}"/>
              </a:ext>
            </a:extLst>
          </p:cNvPr>
          <p:cNvSpPr txBox="1"/>
          <p:nvPr/>
        </p:nvSpPr>
        <p:spPr>
          <a:xfrm>
            <a:off x="244549" y="1071562"/>
            <a:ext cx="8742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/>
              <a:t>Inference testing ensures that the trained model performs well in real-worls scenarios. </a:t>
            </a:r>
          </a:p>
          <a:p>
            <a:r>
              <a:rPr lang="en-LU" dirty="0"/>
              <a:t>Validation of: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LU" dirty="0"/>
              <a:t>Model accuracy on unseen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LU" dirty="0"/>
              <a:t>Latency and performance on target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LU" dirty="0"/>
              <a:t>Readiness for deployment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79A258-F8BA-726B-AC18-3039B4E237AD}"/>
              </a:ext>
            </a:extLst>
          </p:cNvPr>
          <p:cNvSpPr txBox="1"/>
          <p:nvPr/>
        </p:nvSpPr>
        <p:spPr>
          <a:xfrm>
            <a:off x="244549" y="2734052"/>
            <a:ext cx="77278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U" b="1" dirty="0"/>
              <a:t>Key steps in inference testing:</a:t>
            </a:r>
          </a:p>
          <a:p>
            <a:pPr marL="342900" indent="-342900">
              <a:buAutoNum type="arabicPeriod"/>
            </a:pPr>
            <a:r>
              <a:rPr lang="en-LU" dirty="0"/>
              <a:t>Load the trained 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LU" dirty="0"/>
              <a:t>Load saved weights or the full model for disk</a:t>
            </a:r>
          </a:p>
          <a:p>
            <a:pPr marL="342900" indent="-342900">
              <a:buAutoNum type="arabicPeriod"/>
            </a:pPr>
            <a:r>
              <a:rPr lang="en-LU" dirty="0"/>
              <a:t>Switch to evaluation mode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D</a:t>
            </a:r>
            <a:r>
              <a:rPr lang="en-LU" dirty="0"/>
              <a:t>isables dropout and batch norm updates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E</a:t>
            </a:r>
            <a:r>
              <a:rPr lang="en-LU" dirty="0"/>
              <a:t>nsures consistent behaviour during inference</a:t>
            </a:r>
          </a:p>
          <a:p>
            <a:pPr marL="342900" indent="-342900">
              <a:buAutoNum type="arabicPeriod"/>
            </a:pPr>
            <a:r>
              <a:rPr lang="en-LU" dirty="0"/>
              <a:t>Run inference on test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U</a:t>
            </a:r>
            <a:r>
              <a:rPr lang="en-LU" dirty="0"/>
              <a:t>se torch.no_grad() to disable gradient tracking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P</a:t>
            </a:r>
            <a:r>
              <a:rPr lang="en-LU" dirty="0"/>
              <a:t>ass the test data through the model and collect predictions</a:t>
            </a:r>
          </a:p>
          <a:p>
            <a:pPr marL="342900" indent="-342900">
              <a:buAutoNum type="arabicPeriod"/>
            </a:pPr>
            <a:r>
              <a:rPr lang="en-LU" dirty="0"/>
              <a:t>Measure latency and accuracy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U</a:t>
            </a:r>
            <a:r>
              <a:rPr lang="en-LU" dirty="0"/>
              <a:t>se time.time() to measure inference duration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C</a:t>
            </a:r>
            <a:r>
              <a:rPr lang="en-LU" dirty="0"/>
              <a:t>ompare predictions to ground truth to compute accuracy</a:t>
            </a:r>
          </a:p>
        </p:txBody>
      </p:sp>
    </p:spTree>
    <p:extLst>
      <p:ext uri="{BB962C8B-B14F-4D97-AF65-F5344CB8AC3E}">
        <p14:creationId xmlns:p14="http://schemas.microsoft.com/office/powerpoint/2010/main" val="14540348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D0E637-C6B9-6358-BB83-63326A7199BF}"/>
              </a:ext>
            </a:extLst>
          </p:cNvPr>
          <p:cNvSpPr txBox="1"/>
          <p:nvPr/>
        </p:nvSpPr>
        <p:spPr>
          <a:xfrm>
            <a:off x="5327264" y="242888"/>
            <a:ext cx="1537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2400" b="1" dirty="0">
                <a:solidFill>
                  <a:srgbClr val="01A3B0"/>
                </a:solidFill>
              </a:rPr>
              <a:t>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983C06-F900-C6AD-D3F7-6F4288E5BD68}"/>
              </a:ext>
            </a:extLst>
          </p:cNvPr>
          <p:cNvSpPr txBox="1"/>
          <p:nvPr/>
        </p:nvSpPr>
        <p:spPr>
          <a:xfrm>
            <a:off x="242888" y="1843087"/>
            <a:ext cx="4319259" cy="27717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LU" sz="2000" b="1" dirty="0"/>
              <a:t>What HPC brings to Deep Learning?</a:t>
            </a:r>
          </a:p>
          <a:p>
            <a:pPr>
              <a:lnSpc>
                <a:spcPct val="150000"/>
              </a:lnSpc>
            </a:pPr>
            <a:endParaRPr lang="en-LU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LU" sz="2000" dirty="0"/>
              <a:t>Massive Parallelism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LU" sz="2000" dirty="0"/>
              <a:t>Faster Training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LU" sz="2000" dirty="0"/>
              <a:t>Efficient Resource Utilization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LU" sz="2000" dirty="0"/>
              <a:t>Large-Scale Data handling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0ABFFD-4382-8C6B-086E-78A471870D1C}"/>
              </a:ext>
            </a:extLst>
          </p:cNvPr>
          <p:cNvSpPr txBox="1"/>
          <p:nvPr/>
        </p:nvSpPr>
        <p:spPr>
          <a:xfrm>
            <a:off x="6096000" y="1558359"/>
            <a:ext cx="5705320" cy="3741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LU" sz="2000" b="1" dirty="0"/>
              <a:t>Why it matters?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Researchers</a:t>
            </a:r>
            <a:r>
              <a:rPr lang="en-GB" sz="2000" dirty="0"/>
              <a:t> can iterate faster and explore more ideas.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Engineers</a:t>
            </a:r>
            <a:r>
              <a:rPr lang="en-GB" sz="2000" dirty="0"/>
              <a:t> can deploy models that are better trained and more robust.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Organizations</a:t>
            </a:r>
            <a:r>
              <a:rPr lang="en-GB" sz="2000" dirty="0"/>
              <a:t> can scale AI solutions without bottlenecks.</a:t>
            </a:r>
          </a:p>
          <a:p>
            <a:pPr>
              <a:lnSpc>
                <a:spcPct val="150000"/>
              </a:lnSpc>
            </a:pPr>
            <a:endParaRPr lang="en-LU" sz="2000" dirty="0"/>
          </a:p>
        </p:txBody>
      </p:sp>
    </p:spTree>
    <p:extLst>
      <p:ext uri="{BB962C8B-B14F-4D97-AF65-F5344CB8AC3E}">
        <p14:creationId xmlns:p14="http://schemas.microsoft.com/office/powerpoint/2010/main" val="824998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</TotalTime>
  <Words>6622</Words>
  <Application>Microsoft Macintosh PowerPoint</Application>
  <PresentationFormat>Widescreen</PresentationFormat>
  <Paragraphs>878</Paragraphs>
  <Slides>61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Aptos</vt:lpstr>
      <vt:lpstr>Aptos Display</vt:lpstr>
      <vt:lpstr>Arial</vt:lpstr>
      <vt:lpstr>Cambria Math</vt:lpstr>
      <vt:lpstr>Wingdings</vt:lpstr>
      <vt:lpstr>Office Theme</vt:lpstr>
      <vt:lpstr>Scalable Deep Learning with CNN on HPC Infrastructure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Aleksandra RANCIC</dc:creator>
  <cp:lastModifiedBy>Aleksandra RANCIC</cp:lastModifiedBy>
  <cp:revision>25</cp:revision>
  <dcterms:created xsi:type="dcterms:W3CDTF">2025-05-20T10:18:53Z</dcterms:created>
  <dcterms:modified xsi:type="dcterms:W3CDTF">2025-06-10T11:08:45Z</dcterms:modified>
</cp:coreProperties>
</file>